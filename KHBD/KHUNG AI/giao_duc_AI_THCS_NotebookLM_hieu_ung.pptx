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thông điệp: giáo dục AI trong nhà trường là nhiệm vụ giáo dục năng lực, không phải cuộc đua công cụ. Với cấp THCS, giáo viên cần hiểu mục tiêu, cách tích hợp và cách dùng NotebookLM để biến văn bản nguồn thành bài trình bày tập huấn.
[Sources]
- 260818-QD2422-BanHanh-KhungAI.pdf, trang 1: Quyết định ban hành khung nội dung giáo dục AI.
- 260818-QD2422-KhungAI.pdf, trang 1, dòng 457-461: Tên khung nội dung giáo dục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rõ kết quả mong đợi của buổi tập huấn: giáo viên hiểu khung, có cách làm cụ thể và biết dùng NotebookLM như một trợ lý soạn bài trình bày từ nguồn đã kiểm chứng.
[Sources]
- 260818-QD2422-KhungAI.pdf, trang 3, dòng 550-562: Khung có tính mở, linh hoạt; nội dung cốt lõi 12 tiết/lớp/năm; môn học và hoạt động giáo dục củng cố, vận dụng nội dung AI.
- 260818-QD2422-KhungAI.pdf, trang 44-46, dòng 24-41 và 100-107: Định hướng phương pháp và cách tổ chức dạy học ở THCS.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Dẫn nhập bằng thực tế học sinh đã dùng AI, sau đó chuyển sang vai trò của nhà trường: dạy cách sử dụng AI có trách nhiệm, biết kiểm chứng và bảo vệ dữ liệu cá nhân.
[Sources]
- 260818-QD2422-KhungAI.pdf, trang 1, dòng 464-473: AI tác động sâu rộng đến đời sống, học tập và tư duy; giáo dục AI giúp học sinh thích ứng và phát triển năng lực AI.
- 260818-QD2422-KhungAI.pdf, trang 3, dòng 564-569: Khung nhấn mạnh công nghệ phục vụ con người, đạo đức, quyền riêng tư, công bằng và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cho giáo viên: Không cần biến mọi giáo viên thành kỹ sư AI. Trọng tâm của THCS là năng lực sử dụng AI an toàn, có căn cứ, có minh chứng và có sản phẩm học tập.
[Sources]
- 260818-QD2422-KhungAI.pdf, trang 1, dòng 490-493: Ở THCS, học sinh dùng công cụ AI để tạo sản phẩm số, giải quyết vấn đề học tập, có nền tảng nguyên lý và ý thức trách nhiệm.
- 260818-QD2422-KhungAI.pdf, trang 9, dòng 493-497: Khung không đồng nhất năng lực AI với kỹ năng viết câu lệnh, thao tác công cụ hoặc lập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Giáo viên cần nhớ bốn mạch không tách rời. Một nhiệm vụ học tập có thể đồng thời yêu cầu học sinh xác định mục đích, dùng công cụ, kiểm chứng và xử lý vấn đề đạo đức.
[Sources]
- 260818-QD2422-KhungAI.pdf, trang 1, dòng 474-483: Khung phát triển bốn mạch kiến thức chính.
- 260818-QD2422-KhungAI.pdf, trang 8, dòng 410-428: Bốn thành phần năng lực được huy động đồng thời trong nhiệm vụ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4 mục tiêu cấp THCS. Khi thiết kế tiết học, giáo viên nên tự hỏi: học sinh đã có cơ hội dùng AI, kiểm chứng AI, tạo sản phẩm và giải thích trách nhiệm chưa?
[Sources]
- 260818-QD2422-KhungAI.pdf, trang 4-5, dòng 623-640: Mục tiêu cấp THCS về đạo đức, nguyên lý AI, tạo sản phẩm số và tư duy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lộ trình từ lớp 6 đến lớp 9. Không cần đọc toàn bộ bảng trong văn bản; giáo viên cần hiểu hướng phát triển: từ nhận biết và an toàn, đến quyền riêng tư, rủi ro, trách nhiệm, tác động xã hội và dự án đơn giản.
[Sources]
- 260818-QD2422-KhungAI.pdf, trang 11-12, dòng 201-355: Bảng nội dung giáo dục AI cấp THCS theo lớp 6, 7, 8, 9.
- Hình ảnh trích từ 260818-QD2422-KhungAI.pdf, trang 11-12.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gợi ý triển khai thực tế, không phải phân phối chương trình bắt buộc. Nhà trường có thể bố trí theo tuần, theo tháng hoặc theo cụm chuyên đề, miễn đảm bảo nội dung cốt lõi 12 tiết và không gây quá tải.
[Sources]
- 260818-QD2422-KhungAI.pdf, trang 3, dòng 550-560: Nội dung cốt lõi 12 tiết/lớp/năm học; môn học và hoạt động giáo dục củng cố, vận dụng nội dung AI.
- 260818-QD2422-KhungAI.pdf, trang 46, dòng 120-138: Nội dung cốt lõi và mở rộng, bố trí phù hợp kế hoạch giáo dục, không gây áp lực quá tải.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hướng dẫn giáo viên bộ môn, tránh yêu cầu họ dạy kỹ thuật AI nặng. Mỗi môn có thể tích hợp bằng nhiệm vụ đặc thù: đặt vấn đề, dùng AI hỗ trợ, kiểm chứng bằng sách giáo khoa hoặc dữ liệu, rồi học sinh giải thích kết quả.
[Sources]
- 260818-QD2422-KhungAI.pdf, trang 44, dòng 30-41: Tăng cường dạy học liên môn, lồng ghép trong môn học, hoạt động giáo dục, STEM/STEAM; bảo đảm vai trò con người, đạo đức, an toàn và kiểm chứng.
- 260818-QD2422-KhungAI.pdf, trang 46, dòng 127-132: Lồng ghép trong môn học và hoạt động giáo dục nhưng không làm thay đổi hoặc gia tăng yêu cầu cần đạt của môn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này giúp giáo viên chuyển từ “cấm AI” sang “dạy cách dùng AI có kiểm chứng”. Đây là hoạt động dễ triển khai vì không cần học sinh tạo sản phẩm phức tạp.
[Sources]
- 260818-QD2422-KhungAI.pdf, trang 46, dòng 100-107: Ở THCS ưu tiên đặt câu hỏi, so sánh, kiểm chứng thông tin, phân tích dữ liệu và thiên lệch; ghi lại nguồn dữ liệu, câu lệnh, kết quả thử nghiệm và phản hồi.
- 260818-QD2422-KhungAI.pdf, trang 47, dòng 171-177: Đánh giá khả năng lựa chọn, sử dụng, kiểm chứng, giải thích lựa chọn, cung cấp minh chứng và khai báo việc sử dụng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này giúp học sinh hiểu dữ liệu và giới hạn của kết luận. Giáo viên có thể tổ chức không cần công cụ phức tạp; trọng tâm là kiểm chứng, giải thích và phát hiện sai lệch.
[Sources]
- 260818-QD2422-KhungAI.pdf, trang 4-5, dòng 632-637: THCS giúp học sinh hiểu nguyên lý cơ bản gồm dữ liệu, thuật toán, mô hình; lựa chọn và sử dụng công cụ AI để tạo sản phẩm số, kiểm tra, đánh giá và điều chỉnh.
- 260818-QD2422-KhungAI.pdf, trang 46, dòng 100-107: THCS chú trọng kiểm chứng, phân tích dữ liệu và thiên lệch.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dự án nhỏ phù hợp hoạt động trải nghiệm hoặc STEM. Giáo viên có thể yêu cầu học sinh tạo sản phẩm bằng công cụ quen thuộc, nhưng phải minh bạch cách dùng AI và có vòng cải tiến.
[Sources]
- 260818-QD2422-KhungAI.pdf, trang 44, dòng 30-37: Khuyến khích học sinh tạo sản phẩm số, mô hình hoặc phương án ứng dụng AI gắn với học tập và đời sống; lồng ghép liên môn/STEM.
- 260818-QD2422-KhungAI.pdf, trang 46, dòng 133-138: Nội dung mở rộng có thể tổ chức qua câu lạc bộ, dự án, hoạt động trải nghiệm, ngoại khoá hoặc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diễn trực tiếp nếu có mạng: tạo một notebook mới, tải hai PDF, sau đó dùng prompt mẫu ở slide tiếp theo để tạo dàn ý. Nhấn mạnh: không bấm tạo slide ngay; phải kiểm tra outline trước.
[Sources]
- Quy trình dùng NotebookLM là hướng dẫn thao tác sư phạm dựa trên yêu cầu của người dùng; nội dung triển khai bám theo 260818-QD2422-KhungAI.pdf, trang 44-47.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cho giáo viên sao chép prompt này. Sau khi NotebookLM tạo outline, giáo viên cần rà lại: slide nào quá dài, nội dung nào suy diễn, ví dụ nào không phù hợp điều kiện nhà trường.
[Sources]
- Prompt được thiết kế từ mục tiêu tập huấn và các nội dung của 260818-QD2422-KhungAI.pdf, đặc biệt trang 3-5, 11-12 và 44-47.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rõ để giáo viên không biến giáo dục AI thành thêm một bài kiểm tra. Minh chứng được lấy trong quá trình học sinh thực hiện nhiệm vụ, sản phẩm và hồ sơ học tập.
[Sources]
- 260818-QD2422-KhungAI.pdf, trang 47, dòng 147-163: Đánh giá bám yêu cầu cần đạt, đánh giá quá trình chủ đạo, không lập đầu điểm riêng và không tập trung vào mức thành thạo phần mềm.
- 260818-QD2422-KhungAI.pdf, trang 47, dòng 165-183: Nội dung đánh giá theo bốn thành phần năng lực AI, chú trọng minh chứng, khai báo sử dụng AI và trách nhiệm học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lộ trình hành động. Đề nghị mỗi tổ chuyên môn chọn một hoạt động thử nghiệm trước, sau đó nhà trường tổng hợp minh chứng và điều chỉnh kế hoạch.
[Sources]
- 260818-QD2422-KhungAI.pdf, trang 3, dòng 550-562: Khung có tính mở, linh hoạt, cơ sở giáo dục chủ động tổ chức phù hợp điều kiện thực tế.
- 260818-QD2422-KhungAI.pdf, trang 46, dòng 120-138: Chuyên đề 12 tiết, lồng ghép môn học, nội dung mở rộng qua câu lạc bộ, dự án, hoạt động trải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p:bgPr>
    </p:bg>
    <p:spTree>
      <p:nvGrpSpPr>
        <p:cNvPr id="1" name=""/>
        <p:cNvGrpSpPr/>
        <p:nvPr/>
      </p:nvGrpSpPr>
      <p:grpSpPr>
        <a:xfrm>
          <a:off x="0" y="0"/>
          <a:ext cx="0" cy="0"/>
          <a:chOff x="0" y="0"/>
          <a:chExt cx="0" cy="0"/>
        </a:xfrm>
      </p:grpSpPr>
      <p:pic>
        <p:nvPicPr>
          <p:cNvPr id="2" name="Image 0" descr="/mnt/data/ai_deck_assets/qd-1.png">    </p:cNvPr>
          <p:cNvPicPr>
            <a:picLocks noChangeAspect="1"/>
          </p:cNvPicPr>
          <p:nvPr/>
        </p:nvPicPr>
        <p:blipFill>
          <a:blip r:embed="rId1"/>
          <a:srcRect l="3565" r="3565" t="0" b="0"/>
          <a:stretch/>
        </p:blipFill>
        <p:spPr>
          <a:xfrm>
            <a:off x="7680960" y="0"/>
            <a:ext cx="4507992" cy="6858000"/>
          </a:xfrm>
          <a:prstGeom prst="rect">
            <a:avLst/>
          </a:prstGeom>
        </p:spPr>
      </p:pic>
      <p:sp>
        <p:nvSpPr>
          <p:cNvPr id="3" name="Text 0"/>
          <p:cNvSpPr/>
          <p:nvPr/>
        </p:nvSpPr>
        <p:spPr>
          <a:xfrm>
            <a:off x="658368" y="658368"/>
            <a:ext cx="3611880" cy="310896"/>
          </a:xfrm>
          <a:prstGeom prst="rect">
            <a:avLst/>
          </a:prstGeom>
          <a:solidFill>
            <a:srgbClr val="1F9D8A"/>
          </a:solidFill>
          <a:ln>
            <a:solidFill>
              <a:srgbClr val="1F9D8A">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BÀI GIẢNG TẬP HUẤN GIÁO VIÊN</a:t>
            </a:r>
            <a:endParaRPr lang="en-US" sz="1100" dirty="0"/>
          </a:p>
        </p:txBody>
      </p:sp>
      <p:sp>
        <p:nvSpPr>
          <p:cNvPr id="4" name="Text 1"/>
          <p:cNvSpPr/>
          <p:nvPr/>
        </p:nvSpPr>
        <p:spPr>
          <a:xfrm>
            <a:off x="658368" y="1243584"/>
            <a:ext cx="5715000" cy="14173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rial" pitchFamily="34" charset="0"/>
                <a:ea typeface="Arial" pitchFamily="34" charset="-122"/>
                <a:cs typeface="Arial" pitchFamily="34" charset="-120"/>
              </a:rPr>
              <a:t>Triển khai giáo dục AI</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trong trường THCS</a:t>
            </a:r>
            <a:endParaRPr lang="en-US" sz="3500" dirty="0"/>
          </a:p>
        </p:txBody>
      </p:sp>
      <p:sp>
        <p:nvSpPr>
          <p:cNvPr id="5" name="Shape 2"/>
          <p:cNvSpPr/>
          <p:nvPr/>
        </p:nvSpPr>
        <p:spPr>
          <a:xfrm>
            <a:off x="694944" y="2907792"/>
            <a:ext cx="2011680" cy="0"/>
          </a:xfrm>
          <a:prstGeom prst="line">
            <a:avLst/>
          </a:prstGeom>
          <a:noFill/>
          <a:ln w="12700">
            <a:solidFill>
              <a:srgbClr val="F3A712"/>
            </a:solidFill>
            <a:prstDash val="solid"/>
          </a:ln>
        </p:spPr>
      </p:sp>
      <p:sp>
        <p:nvSpPr>
          <p:cNvPr id="6" name="Text 3"/>
          <p:cNvSpPr/>
          <p:nvPr/>
        </p:nvSpPr>
        <p:spPr>
          <a:xfrm>
            <a:off x="694944" y="3246120"/>
            <a:ext cx="5577840" cy="822960"/>
          </a:xfrm>
          <a:prstGeom prst="rect">
            <a:avLst/>
          </a:prstGeom>
          <a:noFill/>
          <a:ln/>
        </p:spPr>
        <p:txBody>
          <a:bodyPr wrap="square" lIns="0" tIns="0" rIns="0" bIns="0" rtlCol="0" anchor="ctr">
            <a:normAutofit/>
          </a:bodyPr>
          <a:lstStyle/>
          <a:p>
            <a:pPr indent="0" marL="0">
              <a:buNone/>
            </a:pPr>
            <a:r>
              <a:rPr lang="en-US" sz="1700" dirty="0">
                <a:solidFill>
                  <a:srgbClr val="D6E6F2"/>
                </a:solidFill>
                <a:latin typeface="Arial" pitchFamily="34" charset="0"/>
                <a:ea typeface="Arial" pitchFamily="34" charset="-122"/>
                <a:cs typeface="Arial" pitchFamily="34" charset="-120"/>
              </a:rPr>
              <a:t>Theo Khung nội dung giáo dục trí tuệ nhân tạo cho học sinh phổ thông</a:t>
            </a:r>
            <a:endParaRPr lang="en-US" sz="1700" dirty="0"/>
          </a:p>
          <a:p>
            <a:pPr indent="0" marL="0">
              <a:buNone/>
            </a:pPr>
            <a:r>
              <a:rPr lang="en-US" sz="1700" dirty="0">
                <a:solidFill>
                  <a:srgbClr val="D6E6F2"/>
                </a:solidFill>
                <a:latin typeface="Arial" pitchFamily="34" charset="0"/>
                <a:ea typeface="Arial" pitchFamily="34" charset="-122"/>
                <a:cs typeface="Arial" pitchFamily="34" charset="-120"/>
              </a:rPr>
              <a:t>Kết hợp hướng dẫn dùng NotebookLM tạo bài trình bày từ nguồn PDF</a:t>
            </a:r>
            <a:endParaRPr lang="en-US" sz="1700" dirty="0"/>
          </a:p>
        </p:txBody>
      </p:sp>
      <p:sp>
        <p:nvSpPr>
          <p:cNvPr id="7" name="Text 4"/>
          <p:cNvSpPr/>
          <p:nvPr/>
        </p:nvSpPr>
        <p:spPr>
          <a:xfrm>
            <a:off x="694944" y="6126480"/>
            <a:ext cx="5760720" cy="256032"/>
          </a:xfrm>
          <a:prstGeom prst="rect">
            <a:avLst/>
          </a:prstGeom>
          <a:noFill/>
          <a:ln/>
        </p:spPr>
        <p:txBody>
          <a:bodyPr wrap="square" lIns="0" tIns="0" rIns="0" bIns="0" rtlCol="0" anchor="ctr"/>
          <a:lstStyle/>
          <a:p>
            <a:pPr indent="0" marL="0">
              <a:buNone/>
            </a:pPr>
            <a:r>
              <a:rPr lang="en-US" sz="1150" dirty="0">
                <a:solidFill>
                  <a:srgbClr val="C8D7E2"/>
                </a:solidFill>
                <a:latin typeface="Arial" pitchFamily="34" charset="0"/>
                <a:ea typeface="Arial" pitchFamily="34" charset="-122"/>
                <a:cs typeface="Arial" pitchFamily="34" charset="-120"/>
              </a:rPr>
              <a:t>Dành cho: Ban giám hiệu, tổ chuyên môn, giáo viên THCS</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MỤC TIÊU TẬP HUẤN</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Sau buổi này, giáo viên cần nắm được gì?</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22960" y="1508760"/>
            <a:ext cx="594360" cy="594360"/>
          </a:xfrm>
          <a:prstGeom prst="rect">
            <a:avLst/>
          </a:prstGeom>
          <a:solidFill>
            <a:srgbClr val="1F9D8A"/>
          </a:solidFill>
          <a:ln>
            <a:solidFill>
              <a:srgbClr val="FFFFFF">
                <a:alpha val="0"/>
              </a:srgbClr>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600200" y="1527048"/>
            <a:ext cx="4389120" cy="292608"/>
          </a:xfrm>
          <a:prstGeom prst="rect">
            <a:avLst/>
          </a:prstGeom>
          <a:noFill/>
          <a:ln/>
        </p:spPr>
        <p:txBody>
          <a:bodyPr wrap="square" lIns="0" tIns="0" rIns="0" bIns="0" rtlCol="0" anchor="ctr"/>
          <a:lstStyle/>
          <a:p>
            <a:pPr indent="0" marL="0">
              <a:buNone/>
            </a:pPr>
            <a:r>
              <a:rPr lang="en-US" sz="1900" b="1" dirty="0">
                <a:solidFill>
                  <a:srgbClr val="17324D"/>
                </a:solidFill>
                <a:latin typeface="Arial" pitchFamily="34" charset="0"/>
                <a:ea typeface="Arial" pitchFamily="34" charset="-122"/>
                <a:cs typeface="Arial" pitchFamily="34" charset="-120"/>
              </a:rPr>
              <a:t>Hiểu đúng</a:t>
            </a:r>
            <a:endParaRPr lang="en-US" sz="1900" dirty="0"/>
          </a:p>
        </p:txBody>
      </p:sp>
      <p:sp>
        <p:nvSpPr>
          <p:cNvPr id="8" name="Text 6"/>
          <p:cNvSpPr/>
          <p:nvPr/>
        </p:nvSpPr>
        <p:spPr>
          <a:xfrm>
            <a:off x="1600200" y="1984248"/>
            <a:ext cx="4389120" cy="914400"/>
          </a:xfrm>
          <a:prstGeom prst="rect">
            <a:avLst/>
          </a:prstGeom>
          <a:noFill/>
          <a:ln/>
        </p:spPr>
        <p:txBody>
          <a:bodyPr wrap="square" lIns="0" tIns="0" rIns="0" bIns="0" rtlCol="0" anchor="ctr">
            <a:normAutofit/>
          </a:bodyPr>
          <a:lstStyle/>
          <a:p>
            <a:pPr indent="0" marL="0">
              <a:buNone/>
            </a:pPr>
            <a:r>
              <a:rPr lang="en-US" sz="1520" dirty="0">
                <a:solidFill>
                  <a:srgbClr val="24323F"/>
                </a:solidFill>
                <a:latin typeface="Arial" pitchFamily="34" charset="0"/>
                <a:ea typeface="Arial" pitchFamily="34" charset="-122"/>
                <a:cs typeface="Arial" pitchFamily="34" charset="-120"/>
              </a:rPr>
              <a:t>AI trong THCS là giáo dục năng lực sử dụng, kiểm chứng và trách nhiệm; không chỉ là học phần mềm.</a:t>
            </a:r>
            <a:endParaRPr lang="en-US" sz="1520" dirty="0"/>
          </a:p>
        </p:txBody>
      </p:sp>
      <p:sp>
        <p:nvSpPr>
          <p:cNvPr id="9" name="Text 7"/>
          <p:cNvSpPr/>
          <p:nvPr/>
        </p:nvSpPr>
        <p:spPr>
          <a:xfrm>
            <a:off x="822960" y="3886200"/>
            <a:ext cx="594360" cy="594360"/>
          </a:xfrm>
          <a:prstGeom prst="rect">
            <a:avLst/>
          </a:prstGeom>
          <a:solidFill>
            <a:srgbClr val="F3A712"/>
          </a:solidFill>
          <a:ln>
            <a:solidFill>
              <a:srgbClr val="FFFFFF">
                <a:alpha val="0"/>
              </a:srgbClr>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600200" y="3904488"/>
            <a:ext cx="4389120" cy="292608"/>
          </a:xfrm>
          <a:prstGeom prst="rect">
            <a:avLst/>
          </a:prstGeom>
          <a:noFill/>
          <a:ln/>
        </p:spPr>
        <p:txBody>
          <a:bodyPr wrap="square" lIns="0" tIns="0" rIns="0" bIns="0" rtlCol="0" anchor="ctr"/>
          <a:lstStyle/>
          <a:p>
            <a:pPr indent="0" marL="0">
              <a:buNone/>
            </a:pPr>
            <a:r>
              <a:rPr lang="en-US" sz="1900" b="1" dirty="0">
                <a:solidFill>
                  <a:srgbClr val="17324D"/>
                </a:solidFill>
                <a:latin typeface="Arial" pitchFamily="34" charset="0"/>
                <a:ea typeface="Arial" pitchFamily="34" charset="-122"/>
                <a:cs typeface="Arial" pitchFamily="34" charset="-120"/>
              </a:rPr>
              <a:t>Biết triển khai</a:t>
            </a:r>
            <a:endParaRPr lang="en-US" sz="1900" dirty="0"/>
          </a:p>
        </p:txBody>
      </p:sp>
      <p:sp>
        <p:nvSpPr>
          <p:cNvPr id="11" name="Text 9"/>
          <p:cNvSpPr/>
          <p:nvPr/>
        </p:nvSpPr>
        <p:spPr>
          <a:xfrm>
            <a:off x="1600200" y="4361688"/>
            <a:ext cx="4389120" cy="914400"/>
          </a:xfrm>
          <a:prstGeom prst="rect">
            <a:avLst/>
          </a:prstGeom>
          <a:noFill/>
          <a:ln/>
        </p:spPr>
        <p:txBody>
          <a:bodyPr wrap="square" lIns="0" tIns="0" rIns="0" bIns="0" rtlCol="0" anchor="ctr">
            <a:normAutofit/>
          </a:bodyPr>
          <a:lstStyle/>
          <a:p>
            <a:pPr indent="0" marL="0">
              <a:buNone/>
            </a:pPr>
            <a:r>
              <a:rPr lang="en-US" sz="1520" dirty="0">
                <a:solidFill>
                  <a:srgbClr val="24323F"/>
                </a:solidFill>
                <a:latin typeface="Arial" pitchFamily="34" charset="0"/>
                <a:ea typeface="Arial" pitchFamily="34" charset="-122"/>
                <a:cs typeface="Arial" pitchFamily="34" charset="-120"/>
              </a:rPr>
              <a:t>Tổ chức 12 tiết/lớp/năm, kết hợp lồng ghép trong môn học và hoạt động giáo dục.</a:t>
            </a:r>
            <a:endParaRPr lang="en-US" sz="1520" dirty="0"/>
          </a:p>
        </p:txBody>
      </p:sp>
      <p:sp>
        <p:nvSpPr>
          <p:cNvPr id="12" name="Text 10"/>
          <p:cNvSpPr/>
          <p:nvPr/>
        </p:nvSpPr>
        <p:spPr>
          <a:xfrm>
            <a:off x="6309360" y="1508760"/>
            <a:ext cx="594360" cy="594360"/>
          </a:xfrm>
          <a:prstGeom prst="rect">
            <a:avLst/>
          </a:prstGeom>
          <a:solidFill>
            <a:srgbClr val="1F9D8A"/>
          </a:solidFill>
          <a:ln>
            <a:solidFill>
              <a:srgbClr val="FFFFFF">
                <a:alpha val="0"/>
              </a:srgbClr>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7086600" y="1527048"/>
            <a:ext cx="4389120" cy="292608"/>
          </a:xfrm>
          <a:prstGeom prst="rect">
            <a:avLst/>
          </a:prstGeom>
          <a:noFill/>
          <a:ln/>
        </p:spPr>
        <p:txBody>
          <a:bodyPr wrap="square" lIns="0" tIns="0" rIns="0" bIns="0" rtlCol="0" anchor="ctr"/>
          <a:lstStyle/>
          <a:p>
            <a:pPr indent="0" marL="0">
              <a:buNone/>
            </a:pPr>
            <a:r>
              <a:rPr lang="en-US" sz="1900" b="1" dirty="0">
                <a:solidFill>
                  <a:srgbClr val="17324D"/>
                </a:solidFill>
                <a:latin typeface="Arial" pitchFamily="34" charset="0"/>
                <a:ea typeface="Arial" pitchFamily="34" charset="-122"/>
                <a:cs typeface="Arial" pitchFamily="34" charset="-120"/>
              </a:rPr>
              <a:t>Biết tích hợp</a:t>
            </a:r>
            <a:endParaRPr lang="en-US" sz="1900" dirty="0"/>
          </a:p>
        </p:txBody>
      </p:sp>
      <p:sp>
        <p:nvSpPr>
          <p:cNvPr id="14" name="Text 12"/>
          <p:cNvSpPr/>
          <p:nvPr/>
        </p:nvSpPr>
        <p:spPr>
          <a:xfrm>
            <a:off x="7086600" y="1984248"/>
            <a:ext cx="4389120" cy="914400"/>
          </a:xfrm>
          <a:prstGeom prst="rect">
            <a:avLst/>
          </a:prstGeom>
          <a:noFill/>
          <a:ln/>
        </p:spPr>
        <p:txBody>
          <a:bodyPr wrap="square" lIns="0" tIns="0" rIns="0" bIns="0" rtlCol="0" anchor="ctr">
            <a:normAutofit/>
          </a:bodyPr>
          <a:lstStyle/>
          <a:p>
            <a:pPr indent="0" marL="0">
              <a:buNone/>
            </a:pPr>
            <a:r>
              <a:rPr lang="en-US" sz="1520" dirty="0">
                <a:solidFill>
                  <a:srgbClr val="24323F"/>
                </a:solidFill>
                <a:latin typeface="Arial" pitchFamily="34" charset="0"/>
                <a:ea typeface="Arial" pitchFamily="34" charset="-122"/>
                <a:cs typeface="Arial" pitchFamily="34" charset="-120"/>
              </a:rPr>
              <a:t>Thiết kế hoạt động học có AI: đặt vấn đề, dùng công cụ, kiểm chứng, tạo sản phẩm, phản hồi.</a:t>
            </a:r>
            <a:endParaRPr lang="en-US" sz="1520" dirty="0"/>
          </a:p>
        </p:txBody>
      </p:sp>
      <p:sp>
        <p:nvSpPr>
          <p:cNvPr id="15" name="Text 13"/>
          <p:cNvSpPr/>
          <p:nvPr/>
        </p:nvSpPr>
        <p:spPr>
          <a:xfrm>
            <a:off x="6309360" y="3886200"/>
            <a:ext cx="594360" cy="594360"/>
          </a:xfrm>
          <a:prstGeom prst="rect">
            <a:avLst/>
          </a:prstGeom>
          <a:solidFill>
            <a:srgbClr val="F3A712"/>
          </a:solidFill>
          <a:ln>
            <a:solidFill>
              <a:srgbClr val="FFFFFF">
                <a:alpha val="0"/>
              </a:srgbClr>
            </a:solid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6" name="Text 14"/>
          <p:cNvSpPr/>
          <p:nvPr/>
        </p:nvSpPr>
        <p:spPr>
          <a:xfrm>
            <a:off x="7086600" y="3904488"/>
            <a:ext cx="4389120" cy="292608"/>
          </a:xfrm>
          <a:prstGeom prst="rect">
            <a:avLst/>
          </a:prstGeom>
          <a:noFill/>
          <a:ln/>
        </p:spPr>
        <p:txBody>
          <a:bodyPr wrap="square" lIns="0" tIns="0" rIns="0" bIns="0" rtlCol="0" anchor="ctr"/>
          <a:lstStyle/>
          <a:p>
            <a:pPr indent="0" marL="0">
              <a:buNone/>
            </a:pPr>
            <a:r>
              <a:rPr lang="en-US" sz="1900" b="1" dirty="0">
                <a:solidFill>
                  <a:srgbClr val="17324D"/>
                </a:solidFill>
                <a:latin typeface="Arial" pitchFamily="34" charset="0"/>
                <a:ea typeface="Arial" pitchFamily="34" charset="-122"/>
                <a:cs typeface="Arial" pitchFamily="34" charset="-120"/>
              </a:rPr>
              <a:t>Biết dùng NotebookLM</a:t>
            </a:r>
            <a:endParaRPr lang="en-US" sz="1900" dirty="0"/>
          </a:p>
        </p:txBody>
      </p:sp>
      <p:sp>
        <p:nvSpPr>
          <p:cNvPr id="17" name="Text 15"/>
          <p:cNvSpPr/>
          <p:nvPr/>
        </p:nvSpPr>
        <p:spPr>
          <a:xfrm>
            <a:off x="7086600" y="4361688"/>
            <a:ext cx="4389120" cy="914400"/>
          </a:xfrm>
          <a:prstGeom prst="rect">
            <a:avLst/>
          </a:prstGeom>
          <a:noFill/>
          <a:ln/>
        </p:spPr>
        <p:txBody>
          <a:bodyPr wrap="square" lIns="0" tIns="0" rIns="0" bIns="0" rtlCol="0" anchor="ctr">
            <a:normAutofit/>
          </a:bodyPr>
          <a:lstStyle/>
          <a:p>
            <a:pPr indent="0" marL="0">
              <a:buNone/>
            </a:pPr>
            <a:r>
              <a:rPr lang="en-US" sz="1520" dirty="0">
                <a:solidFill>
                  <a:srgbClr val="24323F"/>
                </a:solidFill>
                <a:latin typeface="Arial" pitchFamily="34" charset="0"/>
                <a:ea typeface="Arial" pitchFamily="34" charset="-122"/>
                <a:cs typeface="Arial" pitchFamily="34" charset="-120"/>
              </a:rPr>
              <a:t>Tải nguồn PDF, hỏi - kiểm chứng - lập dàn ý - sinh slide - tạo lời thuyết trình.</a:t>
            </a:r>
            <a:endParaRPr lang="en-US" sz="1520" dirty="0"/>
          </a:p>
        </p:txBody>
      </p:sp>
      <p:sp>
        <p:nvSpPr>
          <p:cNvPr id="18" name="Text 16"/>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19" name="Text 17"/>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02</a:t>
            </a:r>
            <a:endParaRPr lang="en-US" sz="9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THÔNG ĐIỆP KHỞI ĐỘNG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Vì sao trường THCS phải bắt đầu từ bây giờ?</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22960" y="1417320"/>
            <a:ext cx="6035040" cy="73152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AI đang thay đổi cách học sinh học tập, tìm kiếm thông tin và tạo sản phẩm số.</a:t>
            </a:r>
            <a:endParaRPr lang="en-US" sz="2400" dirty="0"/>
          </a:p>
        </p:txBody>
      </p:sp>
      <p:sp>
        <p:nvSpPr>
          <p:cNvPr id="7" name="Text 5"/>
          <p:cNvSpPr/>
          <p:nvPr/>
        </p:nvSpPr>
        <p:spPr>
          <a:xfrm>
            <a:off x="822960" y="2450592"/>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143000" y="2423160"/>
            <a:ext cx="544068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Học sinh đã tiếp xúc với AI qua tìm kiếm, trợ lý ảo, ứng dụng học tập và công cụ tạo nội dung.</a:t>
            </a:r>
            <a:endParaRPr lang="en-US" sz="1600" dirty="0"/>
          </a:p>
        </p:txBody>
      </p:sp>
      <p:sp>
        <p:nvSpPr>
          <p:cNvPr id="9" name="Text 7"/>
          <p:cNvSpPr/>
          <p:nvPr/>
        </p:nvSpPr>
        <p:spPr>
          <a:xfrm>
            <a:off x="822960" y="2798064"/>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143000" y="2770632"/>
            <a:ext cx="544068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Nhà trường cần giúp học sinh dùng AI có mục đích, có kiểm chứng, không lệ thuộc.</a:t>
            </a:r>
            <a:endParaRPr lang="en-US" sz="1600" dirty="0"/>
          </a:p>
        </p:txBody>
      </p:sp>
      <p:sp>
        <p:nvSpPr>
          <p:cNvPr id="11" name="Text 9"/>
          <p:cNvSpPr/>
          <p:nvPr/>
        </p:nvSpPr>
        <p:spPr>
          <a:xfrm>
            <a:off x="822960" y="3145536"/>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143000" y="3118104"/>
            <a:ext cx="544068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Giáo viên là người thiết kế tình huống học, tiêu chí đánh giá và kiểm soát an toàn.</a:t>
            </a:r>
            <a:endParaRPr lang="en-US" sz="1600" dirty="0"/>
          </a:p>
        </p:txBody>
      </p:sp>
      <p:sp>
        <p:nvSpPr>
          <p:cNvPr id="13" name="Text 11"/>
          <p:cNvSpPr/>
          <p:nvPr/>
        </p:nvSpPr>
        <p:spPr>
          <a:xfrm>
            <a:off x="7452360" y="1481328"/>
            <a:ext cx="3794760" cy="3611880"/>
          </a:xfrm>
          <a:prstGeom prst="rect">
            <a:avLst/>
          </a:prstGeom>
          <a:solidFill>
            <a:srgbClr val="FFF3DD"/>
          </a:solidFill>
          <a:ln>
            <a:solidFill>
              <a:srgbClr val="F3D2A0"/>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800" dirty="0">
                <a:solidFill>
                  <a:srgbClr val="24323F"/>
                </a:solidFill>
                <a:latin typeface="Arial" pitchFamily="34" charset="0"/>
                <a:ea typeface="Arial" pitchFamily="34" charset="-122"/>
                <a:cs typeface="Arial" pitchFamily="34" charset="-120"/>
              </a:rPr>
              <a:t>Câu chốt để nói với GV:</a:t>
            </a:r>
            <a:endParaRPr lang="en-US" sz="1800" dirty="0"/>
          </a:p>
          <a:p>
            <a:pPr indent="0" marL="0">
              <a:buNone/>
            </a:pPr>
            <a:r>
              <a:rPr lang="en-US" sz="1800" dirty="0">
                <a:solidFill>
                  <a:srgbClr val="24323F"/>
                </a:solidFill>
                <a:latin typeface="Arial" pitchFamily="34" charset="0"/>
                <a:ea typeface="Arial" pitchFamily="34" charset="-122"/>
                <a:cs typeface="Arial" pitchFamily="34" charset="-120"/>
              </a:rPr>
              <a:t>“AI hỗ trợ học sinh học tốt hơn, nhưng con người vẫn quyết định, kiểm chứng và chịu trách nhiệm.”</a:t>
            </a:r>
            <a:endParaRPr lang="en-US" sz="1800" dirty="0"/>
          </a:p>
        </p:txBody>
      </p:sp>
      <p:sp>
        <p:nvSpPr>
          <p:cNvPr id="14" name="Text 12"/>
          <p:cNvSpPr/>
          <p:nvPr/>
        </p:nvSpPr>
        <p:spPr>
          <a:xfrm>
            <a:off x="7269480" y="5559552"/>
            <a:ext cx="3566160" cy="310896"/>
          </a:xfrm>
          <a:prstGeom prst="rect">
            <a:avLst/>
          </a:prstGeom>
          <a:solidFill>
            <a:srgbClr val="EF6F6C"/>
          </a:solidFill>
          <a:ln>
            <a:solidFill>
              <a:srgbClr val="EF6F6C">
                <a:alpha val="0"/>
              </a:srgbClr>
            </a:solidFill>
          </a:ln>
        </p:spPr>
        <p:txBody>
          <a:bodyPr wrap="square" lIns="1016" tIns="1016" rIns="1016" bIns="1016"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Không dạy AI như phong trào công cụ</a:t>
            </a:r>
            <a:endParaRPr lang="en-US" sz="1100" dirty="0"/>
          </a:p>
        </p:txBody>
      </p:sp>
      <p:sp>
        <p:nvSpPr>
          <p:cNvPr id="15" name="Text 13"/>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16" name="Text 14"/>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03</a:t>
            </a:r>
            <a:endParaRPr lang="en-US" sz="900" dirty="0"/>
          </a:p>
        </p:txBody>
      </p:sp>
    </p:spTree>
  </p:cSld>
  <p:clrMapOvr>
    <a:masterClrMapping/>
  </p:clrMapOvr>
  <p:transition spd="med">
    <p:wipe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ĐỊNH VỊ ĐÚNG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Giáo dục AI ở THCS không phải là “dạy lập trình AI”</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68680" y="1417320"/>
            <a:ext cx="4389120" cy="365760"/>
          </a:xfrm>
          <a:prstGeom prst="rect">
            <a:avLst/>
          </a:prstGeom>
          <a:noFill/>
          <a:ln/>
        </p:spPr>
        <p:txBody>
          <a:bodyPr wrap="square" lIns="0" tIns="0" rIns="0" bIns="0" rtlCol="0" anchor="ctr"/>
          <a:lstStyle/>
          <a:p>
            <a:pPr indent="0" marL="0">
              <a:buNone/>
            </a:pPr>
            <a:r>
              <a:rPr lang="en-US" sz="2000" b="1" dirty="0">
                <a:solidFill>
                  <a:srgbClr val="1F9D8A"/>
                </a:solidFill>
                <a:latin typeface="Arial" pitchFamily="34" charset="0"/>
                <a:ea typeface="Arial" pitchFamily="34" charset="-122"/>
                <a:cs typeface="Arial" pitchFamily="34" charset="-120"/>
              </a:rPr>
              <a:t>Cách hiểu nên dùng trong nhà trường</a:t>
            </a:r>
            <a:endParaRPr lang="en-US" sz="2000" dirty="0"/>
          </a:p>
        </p:txBody>
      </p:sp>
      <p:sp>
        <p:nvSpPr>
          <p:cNvPr id="7" name="Text 5"/>
          <p:cNvSpPr/>
          <p:nvPr/>
        </p:nvSpPr>
        <p:spPr>
          <a:xfrm>
            <a:off x="868680" y="1975104"/>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188720" y="1947672"/>
            <a:ext cx="461772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Dạy học sinh biết AI giúp gì và giới hạn ở đâu.</a:t>
            </a:r>
            <a:endParaRPr lang="en-US" sz="1600" dirty="0"/>
          </a:p>
        </p:txBody>
      </p:sp>
      <p:sp>
        <p:nvSpPr>
          <p:cNvPr id="9" name="Text 7"/>
          <p:cNvSpPr/>
          <p:nvPr/>
        </p:nvSpPr>
        <p:spPr>
          <a:xfrm>
            <a:off x="868680" y="2322576"/>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188720" y="2295144"/>
            <a:ext cx="461772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Biết đặt yêu cầu, dùng công cụ, kiểm chứng kết quả.</a:t>
            </a:r>
            <a:endParaRPr lang="en-US" sz="1600" dirty="0"/>
          </a:p>
        </p:txBody>
      </p:sp>
      <p:sp>
        <p:nvSpPr>
          <p:cNvPr id="11" name="Text 9"/>
          <p:cNvSpPr/>
          <p:nvPr/>
        </p:nvSpPr>
        <p:spPr>
          <a:xfrm>
            <a:off x="868680" y="2670048"/>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188720" y="2642616"/>
            <a:ext cx="461772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Biết bảo vệ dữ liệu cá nhân, tôn trọng bản quyền, không gian lận.</a:t>
            </a:r>
            <a:endParaRPr lang="en-US" sz="1600" dirty="0"/>
          </a:p>
        </p:txBody>
      </p:sp>
      <p:sp>
        <p:nvSpPr>
          <p:cNvPr id="13" name="Text 11"/>
          <p:cNvSpPr/>
          <p:nvPr/>
        </p:nvSpPr>
        <p:spPr>
          <a:xfrm>
            <a:off x="868680" y="3017520"/>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188720" y="2990088"/>
            <a:ext cx="461772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Biết hợp tác tạo sản phẩm số đơn giản, có giải thích và cải tiến.</a:t>
            </a:r>
            <a:endParaRPr lang="en-US" sz="1600" dirty="0"/>
          </a:p>
        </p:txBody>
      </p:sp>
      <p:sp>
        <p:nvSpPr>
          <p:cNvPr id="15" name="Shape 13"/>
          <p:cNvSpPr/>
          <p:nvPr/>
        </p:nvSpPr>
        <p:spPr>
          <a:xfrm>
            <a:off x="5989320" y="1371600"/>
            <a:ext cx="0" cy="4389120"/>
          </a:xfrm>
          <a:prstGeom prst="line">
            <a:avLst/>
          </a:prstGeom>
          <a:noFill/>
          <a:ln w="12700">
            <a:solidFill>
              <a:srgbClr val="D8E3E7"/>
            </a:solidFill>
            <a:prstDash val="solid"/>
          </a:ln>
        </p:spPr>
      </p:sp>
      <p:sp>
        <p:nvSpPr>
          <p:cNvPr id="16" name="Text 14"/>
          <p:cNvSpPr/>
          <p:nvPr/>
        </p:nvSpPr>
        <p:spPr>
          <a:xfrm>
            <a:off x="6446520" y="1417320"/>
            <a:ext cx="4389120" cy="365760"/>
          </a:xfrm>
          <a:prstGeom prst="rect">
            <a:avLst/>
          </a:prstGeom>
          <a:noFill/>
          <a:ln/>
        </p:spPr>
        <p:txBody>
          <a:bodyPr wrap="square" lIns="0" tIns="0" rIns="0" bIns="0" rtlCol="0" anchor="ctr"/>
          <a:lstStyle/>
          <a:p>
            <a:pPr indent="0" marL="0">
              <a:buNone/>
            </a:pPr>
            <a:r>
              <a:rPr lang="en-US" sz="2000" b="1" dirty="0">
                <a:solidFill>
                  <a:srgbClr val="EF6F6C"/>
                </a:solidFill>
                <a:latin typeface="Arial" pitchFamily="34" charset="0"/>
                <a:ea typeface="Arial" pitchFamily="34" charset="-122"/>
                <a:cs typeface="Arial" pitchFamily="34" charset="-120"/>
              </a:rPr>
              <a:t>Cách hiểu nên tránh</a:t>
            </a:r>
            <a:endParaRPr lang="en-US" sz="2000" dirty="0"/>
          </a:p>
        </p:txBody>
      </p:sp>
      <p:sp>
        <p:nvSpPr>
          <p:cNvPr id="17" name="Text 15"/>
          <p:cNvSpPr/>
          <p:nvPr/>
        </p:nvSpPr>
        <p:spPr>
          <a:xfrm>
            <a:off x="6446520" y="1975104"/>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6766560" y="1947672"/>
            <a:ext cx="443484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Đồng nhất AI với một phần mềm cụ thể.</a:t>
            </a:r>
            <a:endParaRPr lang="en-US" sz="1600" dirty="0"/>
          </a:p>
        </p:txBody>
      </p:sp>
      <p:sp>
        <p:nvSpPr>
          <p:cNvPr id="19" name="Text 17"/>
          <p:cNvSpPr/>
          <p:nvPr/>
        </p:nvSpPr>
        <p:spPr>
          <a:xfrm>
            <a:off x="6446520" y="2322576"/>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6766560" y="2295144"/>
            <a:ext cx="443484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Biến tiết học thành thao tác công cụ rời rạc.</a:t>
            </a:r>
            <a:endParaRPr lang="en-US" sz="1600" dirty="0"/>
          </a:p>
        </p:txBody>
      </p:sp>
      <p:sp>
        <p:nvSpPr>
          <p:cNvPr id="21" name="Text 19"/>
          <p:cNvSpPr/>
          <p:nvPr/>
        </p:nvSpPr>
        <p:spPr>
          <a:xfrm>
            <a:off x="6446520" y="2670048"/>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6766560" y="2642616"/>
            <a:ext cx="443484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Chỉ đánh giá prompt hoặc kết quả đẹp mắt.</a:t>
            </a:r>
            <a:endParaRPr lang="en-US" sz="1600" dirty="0"/>
          </a:p>
        </p:txBody>
      </p:sp>
      <p:sp>
        <p:nvSpPr>
          <p:cNvPr id="23" name="Text 21"/>
          <p:cNvSpPr/>
          <p:nvPr/>
        </p:nvSpPr>
        <p:spPr>
          <a:xfrm>
            <a:off x="6446520" y="3017520"/>
            <a:ext cx="228600" cy="228600"/>
          </a:xfrm>
          <a:prstGeom prst="rect">
            <a:avLst/>
          </a:prstGeom>
          <a:noFill/>
          <a:ln/>
        </p:spPr>
        <p:txBody>
          <a:bodyPr wrap="square" lIns="0" tIns="0" rIns="0" bIns="0" rtlCol="0" anchor="ctr"/>
          <a:lstStyle/>
          <a:p>
            <a:pPr algn="ctr" indent="0" marL="0">
              <a:buNone/>
            </a:pPr>
            <a:r>
              <a:rPr lang="en-US" sz="1800" dirty="0">
                <a:solidFill>
                  <a:srgbClr val="1F9D8A"/>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6766560" y="2990088"/>
            <a:ext cx="4434840" cy="347472"/>
          </a:xfrm>
          <a:prstGeom prst="rect">
            <a:avLst/>
          </a:prstGeom>
          <a:noFill/>
          <a:ln/>
        </p:spPr>
        <p:txBody>
          <a:bodyPr wrap="square" lIns="0" tIns="0" rIns="0" bIns="0"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Để AI thay thế tư duy, giải thích và trách nhiệm của học sinh.</a:t>
            </a:r>
            <a:endParaRPr lang="en-US" sz="1600" dirty="0"/>
          </a:p>
        </p:txBody>
      </p:sp>
      <p:sp>
        <p:nvSpPr>
          <p:cNvPr id="25" name="Text 23"/>
          <p:cNvSpPr/>
          <p:nvPr/>
        </p:nvSpPr>
        <p:spPr>
          <a:xfrm>
            <a:off x="1143000" y="5577840"/>
            <a:ext cx="9875520" cy="603504"/>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700" dirty="0">
                <a:solidFill>
                  <a:srgbClr val="24323F"/>
                </a:solidFill>
                <a:latin typeface="Arial" pitchFamily="34" charset="0"/>
                <a:ea typeface="Arial" pitchFamily="34" charset="-122"/>
                <a:cs typeface="Arial" pitchFamily="34" charset="-120"/>
              </a:rPr>
              <a:t>Nguyên tắc vận hành: Công cụ chỉ là phương tiện. Năng lực nằm ở cách học sinh hiểu, kiểm chứng, giải thích và chịu trách nhiệm.</a:t>
            </a:r>
            <a:endParaRPr lang="en-US" sz="1700" dirty="0"/>
          </a:p>
        </p:txBody>
      </p:sp>
      <p:sp>
        <p:nvSpPr>
          <p:cNvPr id="26" name="Text 24"/>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7" name="Text 25"/>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04</a:t>
            </a:r>
            <a:endParaRPr lang="en-US" sz="900" dirty="0"/>
          </a:p>
        </p:txBody>
      </p:sp>
    </p:spTree>
  </p:cSld>
  <p:clrMapOvr>
    <a:masterClrMapping/>
  </p:clrMapOvr>
  <p:transition spd="med">
    <p:split orient="horz" dir="out"/>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KHUNG NĂNG LỰC</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Bốn mạch năng lực AI cần phát triển</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4160520" y="2999232"/>
            <a:ext cx="3749040" cy="502920"/>
          </a:xfrm>
          <a:prstGeom prst="rect">
            <a:avLst/>
          </a:prstGeom>
          <a:solidFill>
            <a:srgbClr val="17324D"/>
          </a:solidFill>
          <a:ln>
            <a:solidFill>
              <a:srgbClr val="17324D">
                <a:alpha val="0"/>
              </a:srgbClr>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Năng lực AI của học sinh</a:t>
            </a:r>
            <a:endParaRPr lang="en-US" sz="2200" dirty="0"/>
          </a:p>
        </p:txBody>
      </p:sp>
      <p:sp>
        <p:nvSpPr>
          <p:cNvPr id="7" name="Text 5"/>
          <p:cNvSpPr/>
          <p:nvPr/>
        </p:nvSpPr>
        <p:spPr>
          <a:xfrm>
            <a:off x="868680" y="1554480"/>
            <a:ext cx="658368" cy="658368"/>
          </a:xfrm>
          <a:prstGeom prst="rect">
            <a:avLst/>
          </a:prstGeom>
          <a:solidFill>
            <a:srgbClr val="1F9D8A"/>
          </a:solidFill>
          <a:ln>
            <a:solidFill>
              <a:srgbClr val="FFFFFF">
                <a:alpha val="0"/>
              </a:srgbClr>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8" name="Text 6"/>
          <p:cNvSpPr/>
          <p:nvPr/>
        </p:nvSpPr>
        <p:spPr>
          <a:xfrm>
            <a:off x="1709928" y="1536192"/>
            <a:ext cx="3840480" cy="512064"/>
          </a:xfrm>
          <a:prstGeom prst="rect">
            <a:avLst/>
          </a:prstGeom>
          <a:noFill/>
          <a:ln/>
        </p:spPr>
        <p:txBody>
          <a:bodyPr wrap="square" lIns="0" tIns="0" rIns="0" bIns="0" rtlCol="0" anchor="ctr">
            <a:normAutofit/>
          </a:bodyPr>
          <a:lstStyle/>
          <a:p>
            <a:pPr indent="0" marL="0">
              <a:buNone/>
            </a:pPr>
            <a:r>
              <a:rPr lang="en-US" sz="1800" b="1" dirty="0">
                <a:solidFill>
                  <a:srgbClr val="17324D"/>
                </a:solidFill>
                <a:latin typeface="Arial" pitchFamily="34" charset="0"/>
                <a:ea typeface="Arial" pitchFamily="34" charset="-122"/>
                <a:cs typeface="Arial" pitchFamily="34" charset="-120"/>
              </a:rPr>
              <a:t>Tư duy lấy con người</a:t>
            </a:r>
            <a:endParaRPr lang="en-US" sz="1800" dirty="0"/>
          </a:p>
          <a:p>
            <a:pPr indent="0" marL="0">
              <a:buNone/>
            </a:pPr>
            <a:r>
              <a:rPr lang="en-US" sz="1800" b="1" dirty="0">
                <a:solidFill>
                  <a:srgbClr val="17324D"/>
                </a:solidFill>
                <a:latin typeface="Arial" pitchFamily="34" charset="0"/>
                <a:ea typeface="Arial" pitchFamily="34" charset="-122"/>
                <a:cs typeface="Arial" pitchFamily="34" charset="-120"/>
              </a:rPr>
              <a:t>làm trung tâm</a:t>
            </a:r>
            <a:endParaRPr lang="en-US" sz="1800" dirty="0"/>
          </a:p>
        </p:txBody>
      </p:sp>
      <p:sp>
        <p:nvSpPr>
          <p:cNvPr id="9" name="Text 7"/>
          <p:cNvSpPr/>
          <p:nvPr/>
        </p:nvSpPr>
        <p:spPr>
          <a:xfrm>
            <a:off x="1709928" y="2194560"/>
            <a:ext cx="3886200" cy="594360"/>
          </a:xfrm>
          <a:prstGeom prst="rect">
            <a:avLst/>
          </a:prstGeom>
          <a:noFill/>
          <a:ln/>
        </p:spPr>
        <p:txBody>
          <a:bodyPr wrap="square" lIns="0" tIns="0" rIns="0" bIns="0" rtlCol="0" anchor="ctr">
            <a:normAutofit/>
          </a:bodyPr>
          <a:lstStyle/>
          <a:p>
            <a:pPr indent="0" marL="0">
              <a:buNone/>
            </a:pPr>
            <a:r>
              <a:rPr lang="en-US" sz="1400" dirty="0">
                <a:solidFill>
                  <a:srgbClr val="24323F"/>
                </a:solidFill>
                <a:latin typeface="Arial" pitchFamily="34" charset="0"/>
                <a:ea typeface="Arial" pitchFamily="34" charset="-122"/>
                <a:cs typeface="Arial" pitchFamily="34" charset="-120"/>
              </a:rPr>
              <a:t>AI phục vụ con người; con người kiểm soát và chịu trách nhiệm.</a:t>
            </a:r>
            <a:endParaRPr lang="en-US" sz="1400" dirty="0"/>
          </a:p>
        </p:txBody>
      </p:sp>
      <p:sp>
        <p:nvSpPr>
          <p:cNvPr id="10" name="Text 8"/>
          <p:cNvSpPr/>
          <p:nvPr/>
        </p:nvSpPr>
        <p:spPr>
          <a:xfrm>
            <a:off x="6583680" y="1554480"/>
            <a:ext cx="658368" cy="658368"/>
          </a:xfrm>
          <a:prstGeom prst="rect">
            <a:avLst/>
          </a:prstGeom>
          <a:solidFill>
            <a:srgbClr val="EF6F6C"/>
          </a:solidFill>
          <a:ln>
            <a:solidFill>
              <a:srgbClr val="FFFFFF">
                <a:alpha val="0"/>
              </a:srgbClr>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B</a:t>
            </a:r>
            <a:endParaRPr lang="en-US" sz="2200" dirty="0"/>
          </a:p>
        </p:txBody>
      </p:sp>
      <p:sp>
        <p:nvSpPr>
          <p:cNvPr id="11" name="Text 9"/>
          <p:cNvSpPr/>
          <p:nvPr/>
        </p:nvSpPr>
        <p:spPr>
          <a:xfrm>
            <a:off x="7424928" y="1536192"/>
            <a:ext cx="3840480" cy="512064"/>
          </a:xfrm>
          <a:prstGeom prst="rect">
            <a:avLst/>
          </a:prstGeom>
          <a:noFill/>
          <a:ln/>
        </p:spPr>
        <p:txBody>
          <a:bodyPr wrap="square" lIns="0" tIns="0" rIns="0" bIns="0" rtlCol="0" anchor="ctr">
            <a:normAutofit/>
          </a:bodyPr>
          <a:lstStyle/>
          <a:p>
            <a:pPr indent="0" marL="0">
              <a:buNone/>
            </a:pPr>
            <a:r>
              <a:rPr lang="en-US" sz="1800" b="1" dirty="0">
                <a:solidFill>
                  <a:srgbClr val="17324D"/>
                </a:solidFill>
                <a:latin typeface="Arial" pitchFamily="34" charset="0"/>
                <a:ea typeface="Arial" pitchFamily="34" charset="-122"/>
                <a:cs typeface="Arial" pitchFamily="34" charset="-120"/>
              </a:rPr>
              <a:t>Đạo đức AI</a:t>
            </a:r>
            <a:endParaRPr lang="en-US" sz="1800" dirty="0"/>
          </a:p>
        </p:txBody>
      </p:sp>
      <p:sp>
        <p:nvSpPr>
          <p:cNvPr id="12" name="Text 10"/>
          <p:cNvSpPr/>
          <p:nvPr/>
        </p:nvSpPr>
        <p:spPr>
          <a:xfrm>
            <a:off x="7424928" y="2194560"/>
            <a:ext cx="3886200" cy="594360"/>
          </a:xfrm>
          <a:prstGeom prst="rect">
            <a:avLst/>
          </a:prstGeom>
          <a:noFill/>
          <a:ln/>
        </p:spPr>
        <p:txBody>
          <a:bodyPr wrap="square" lIns="0" tIns="0" rIns="0" bIns="0" rtlCol="0" anchor="ctr">
            <a:normAutofit/>
          </a:bodyPr>
          <a:lstStyle/>
          <a:p>
            <a:pPr indent="0" marL="0">
              <a:buNone/>
            </a:pPr>
            <a:r>
              <a:rPr lang="en-US" sz="1400" dirty="0">
                <a:solidFill>
                  <a:srgbClr val="24323F"/>
                </a:solidFill>
                <a:latin typeface="Arial" pitchFamily="34" charset="0"/>
                <a:ea typeface="Arial" pitchFamily="34" charset="-122"/>
                <a:cs typeface="Arial" pitchFamily="34" charset="-120"/>
              </a:rPr>
              <a:t>An toàn, riêng tư, bản quyền, công bằng, chống gian lận.</a:t>
            </a:r>
            <a:endParaRPr lang="en-US" sz="1400" dirty="0"/>
          </a:p>
        </p:txBody>
      </p:sp>
      <p:sp>
        <p:nvSpPr>
          <p:cNvPr id="13" name="Text 11"/>
          <p:cNvSpPr/>
          <p:nvPr/>
        </p:nvSpPr>
        <p:spPr>
          <a:xfrm>
            <a:off x="868680" y="3977640"/>
            <a:ext cx="658368" cy="658368"/>
          </a:xfrm>
          <a:prstGeom prst="rect">
            <a:avLst/>
          </a:prstGeom>
          <a:solidFill>
            <a:srgbClr val="F3A712"/>
          </a:solidFill>
          <a:ln>
            <a:solidFill>
              <a:srgbClr val="FFFFFF">
                <a:alpha val="0"/>
              </a:srgbClr>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t>
            </a:r>
            <a:endParaRPr lang="en-US" sz="2200" dirty="0"/>
          </a:p>
        </p:txBody>
      </p:sp>
      <p:sp>
        <p:nvSpPr>
          <p:cNvPr id="14" name="Text 12"/>
          <p:cNvSpPr/>
          <p:nvPr/>
        </p:nvSpPr>
        <p:spPr>
          <a:xfrm>
            <a:off x="1709928" y="3959352"/>
            <a:ext cx="3840480" cy="512064"/>
          </a:xfrm>
          <a:prstGeom prst="rect">
            <a:avLst/>
          </a:prstGeom>
          <a:noFill/>
          <a:ln/>
        </p:spPr>
        <p:txBody>
          <a:bodyPr wrap="square" lIns="0" tIns="0" rIns="0" bIns="0" rtlCol="0" anchor="ctr">
            <a:normAutofit/>
          </a:bodyPr>
          <a:lstStyle/>
          <a:p>
            <a:pPr indent="0" marL="0">
              <a:buNone/>
            </a:pPr>
            <a:r>
              <a:rPr lang="en-US" sz="1800" b="1" dirty="0">
                <a:solidFill>
                  <a:srgbClr val="17324D"/>
                </a:solidFill>
                <a:latin typeface="Arial" pitchFamily="34" charset="0"/>
                <a:ea typeface="Arial" pitchFamily="34" charset="-122"/>
                <a:cs typeface="Arial" pitchFamily="34" charset="-120"/>
              </a:rPr>
              <a:t>Kĩ thuật &amp; ứng dụng AI</a:t>
            </a:r>
            <a:endParaRPr lang="en-US" sz="1800" dirty="0"/>
          </a:p>
        </p:txBody>
      </p:sp>
      <p:sp>
        <p:nvSpPr>
          <p:cNvPr id="15" name="Text 13"/>
          <p:cNvSpPr/>
          <p:nvPr/>
        </p:nvSpPr>
        <p:spPr>
          <a:xfrm>
            <a:off x="1709928" y="4617720"/>
            <a:ext cx="3886200" cy="594360"/>
          </a:xfrm>
          <a:prstGeom prst="rect">
            <a:avLst/>
          </a:prstGeom>
          <a:noFill/>
          <a:ln/>
        </p:spPr>
        <p:txBody>
          <a:bodyPr wrap="square" lIns="0" tIns="0" rIns="0" bIns="0" rtlCol="0" anchor="ctr">
            <a:normAutofit/>
          </a:bodyPr>
          <a:lstStyle/>
          <a:p>
            <a:pPr indent="0" marL="0">
              <a:buNone/>
            </a:pPr>
            <a:r>
              <a:rPr lang="en-US" sz="1400" dirty="0">
                <a:solidFill>
                  <a:srgbClr val="24323F"/>
                </a:solidFill>
                <a:latin typeface="Arial" pitchFamily="34" charset="0"/>
                <a:ea typeface="Arial" pitchFamily="34" charset="-122"/>
                <a:cs typeface="Arial" pitchFamily="34" charset="-120"/>
              </a:rPr>
              <a:t>Dữ liệu, thuật toán, mô hình; sử dụng công cụ AI trong học tập.</a:t>
            </a:r>
            <a:endParaRPr lang="en-US" sz="1400" dirty="0"/>
          </a:p>
        </p:txBody>
      </p:sp>
      <p:sp>
        <p:nvSpPr>
          <p:cNvPr id="16" name="Text 14"/>
          <p:cNvSpPr/>
          <p:nvPr/>
        </p:nvSpPr>
        <p:spPr>
          <a:xfrm>
            <a:off x="6583680" y="3977640"/>
            <a:ext cx="658368" cy="658368"/>
          </a:xfrm>
          <a:prstGeom prst="rect">
            <a:avLst/>
          </a:prstGeom>
          <a:solidFill>
            <a:srgbClr val="17324D"/>
          </a:solidFill>
          <a:ln>
            <a:solidFill>
              <a:srgbClr val="FFFFFF">
                <a:alpha val="0"/>
              </a:srgbClr>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D</a:t>
            </a:r>
            <a:endParaRPr lang="en-US" sz="2200" dirty="0"/>
          </a:p>
        </p:txBody>
      </p:sp>
      <p:sp>
        <p:nvSpPr>
          <p:cNvPr id="17" name="Text 15"/>
          <p:cNvSpPr/>
          <p:nvPr/>
        </p:nvSpPr>
        <p:spPr>
          <a:xfrm>
            <a:off x="7424928" y="3959352"/>
            <a:ext cx="3840480" cy="512064"/>
          </a:xfrm>
          <a:prstGeom prst="rect">
            <a:avLst/>
          </a:prstGeom>
          <a:noFill/>
          <a:ln/>
        </p:spPr>
        <p:txBody>
          <a:bodyPr wrap="square" lIns="0" tIns="0" rIns="0" bIns="0" rtlCol="0" anchor="ctr">
            <a:normAutofit/>
          </a:bodyPr>
          <a:lstStyle/>
          <a:p>
            <a:pPr indent="0" marL="0">
              <a:buNone/>
            </a:pPr>
            <a:r>
              <a:rPr lang="en-US" sz="1800" b="1" dirty="0">
                <a:solidFill>
                  <a:srgbClr val="17324D"/>
                </a:solidFill>
                <a:latin typeface="Arial" pitchFamily="34" charset="0"/>
                <a:ea typeface="Arial" pitchFamily="34" charset="-122"/>
                <a:cs typeface="Arial" pitchFamily="34" charset="-120"/>
              </a:rPr>
              <a:t>Thiết kế hệ thống AI</a:t>
            </a:r>
            <a:endParaRPr lang="en-US" sz="1800" dirty="0"/>
          </a:p>
        </p:txBody>
      </p:sp>
      <p:sp>
        <p:nvSpPr>
          <p:cNvPr id="18" name="Text 16"/>
          <p:cNvSpPr/>
          <p:nvPr/>
        </p:nvSpPr>
        <p:spPr>
          <a:xfrm>
            <a:off x="7424928" y="4617720"/>
            <a:ext cx="3886200" cy="594360"/>
          </a:xfrm>
          <a:prstGeom prst="rect">
            <a:avLst/>
          </a:prstGeom>
          <a:noFill/>
          <a:ln/>
        </p:spPr>
        <p:txBody>
          <a:bodyPr wrap="square" lIns="0" tIns="0" rIns="0" bIns="0" rtlCol="0" anchor="ctr">
            <a:normAutofit/>
          </a:bodyPr>
          <a:lstStyle/>
          <a:p>
            <a:pPr indent="0" marL="0">
              <a:buNone/>
            </a:pPr>
            <a:r>
              <a:rPr lang="en-US" sz="1400" dirty="0">
                <a:solidFill>
                  <a:srgbClr val="24323F"/>
                </a:solidFill>
                <a:latin typeface="Arial" pitchFamily="34" charset="0"/>
                <a:ea typeface="Arial" pitchFamily="34" charset="-122"/>
                <a:cs typeface="Arial" pitchFamily="34" charset="-120"/>
              </a:rPr>
              <a:t>Đề xuất ý tưởng, thử nghiệm, đánh giá và cải tiến giải pháp.</a:t>
            </a:r>
            <a:endParaRPr lang="en-US" sz="1400" dirty="0"/>
          </a:p>
        </p:txBody>
      </p:sp>
      <p:sp>
        <p:nvSpPr>
          <p:cNvPr id="19" name="Text 1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0" name="Text 1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05</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MỤC TIÊU CẤP HỌC</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Mục tiêu cấp THCS: học để dùng đúng, hiểu đúng, làm được</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777240" y="1572768"/>
            <a:ext cx="475488" cy="475488"/>
          </a:xfrm>
          <a:prstGeom prst="rect">
            <a:avLst/>
          </a:prstGeom>
          <a:solidFill>
            <a:srgbClr val="1F9D8A"/>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371600" y="1572768"/>
            <a:ext cx="2057400" cy="502920"/>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rial" pitchFamily="34" charset="0"/>
                <a:ea typeface="Arial" pitchFamily="34" charset="-122"/>
                <a:cs typeface="Arial" pitchFamily="34" charset="-120"/>
              </a:rPr>
              <a:t>Đạo đức &amp; trách nhiệm</a:t>
            </a:r>
            <a:endParaRPr lang="en-US" sz="1550" dirty="0"/>
          </a:p>
        </p:txBody>
      </p:sp>
      <p:sp>
        <p:nvSpPr>
          <p:cNvPr id="8" name="Text 6"/>
          <p:cNvSpPr/>
          <p:nvPr/>
        </p:nvSpPr>
        <p:spPr>
          <a:xfrm>
            <a:off x="777240" y="2331720"/>
            <a:ext cx="2514600" cy="2011680"/>
          </a:xfrm>
          <a:prstGeom prst="rect">
            <a:avLst/>
          </a:prstGeom>
          <a:solidFill>
            <a:srgbClr val="FFFFFF"/>
          </a:solidFill>
          <a:ln>
            <a:solidFill>
              <a:srgbClr val="D8E3E7"/>
            </a:solidFill>
          </a:ln>
        </p:spPr>
        <p:txBody>
          <a:bodyPr wrap="square" lIns="1524" tIns="1524" rIns="1524" bIns="1524"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Nhận diện lợi ích, rủi ro, thiên vị dữ liệu, quyền riêng tư; ứng xử đúng pháp luật và văn hoá số.</a:t>
            </a:r>
            <a:endParaRPr lang="en-US" sz="1360" dirty="0"/>
          </a:p>
        </p:txBody>
      </p:sp>
      <p:sp>
        <p:nvSpPr>
          <p:cNvPr id="9" name="Text 7"/>
          <p:cNvSpPr/>
          <p:nvPr/>
        </p:nvSpPr>
        <p:spPr>
          <a:xfrm>
            <a:off x="3566160" y="1572768"/>
            <a:ext cx="475488" cy="475488"/>
          </a:xfrm>
          <a:prstGeom prst="rect">
            <a:avLst/>
          </a:prstGeom>
          <a:solidFill>
            <a:srgbClr val="F3A712"/>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p:nvPr/>
        </p:nvSpPr>
        <p:spPr>
          <a:xfrm>
            <a:off x="4160520" y="1572768"/>
            <a:ext cx="2057400" cy="502920"/>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rial" pitchFamily="34" charset="0"/>
                <a:ea typeface="Arial" pitchFamily="34" charset="-122"/>
                <a:cs typeface="Arial" pitchFamily="34" charset="-120"/>
              </a:rPr>
              <a:t>Hiểu nguyên lý cơ bản</a:t>
            </a:r>
            <a:endParaRPr lang="en-US" sz="1550" dirty="0"/>
          </a:p>
        </p:txBody>
      </p:sp>
      <p:sp>
        <p:nvSpPr>
          <p:cNvPr id="11" name="Text 9"/>
          <p:cNvSpPr/>
          <p:nvPr/>
        </p:nvSpPr>
        <p:spPr>
          <a:xfrm>
            <a:off x="3566160" y="2331720"/>
            <a:ext cx="2514600" cy="2011680"/>
          </a:xfrm>
          <a:prstGeom prst="rect">
            <a:avLst/>
          </a:prstGeom>
          <a:solidFill>
            <a:srgbClr val="FFFFFF"/>
          </a:solidFill>
          <a:ln>
            <a:solidFill>
              <a:srgbClr val="D8E3E7"/>
            </a:solidFill>
          </a:ln>
        </p:spPr>
        <p:txBody>
          <a:bodyPr wrap="square" lIns="1524" tIns="1524" rIns="1524" bIns="1524"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Biết dữ liệu, thuật toán, mô hình; dùng kiến thức này để giải quyết vấn đề học tập và đời sống.</a:t>
            </a:r>
            <a:endParaRPr lang="en-US" sz="1360" dirty="0"/>
          </a:p>
        </p:txBody>
      </p:sp>
      <p:sp>
        <p:nvSpPr>
          <p:cNvPr id="12" name="Text 10"/>
          <p:cNvSpPr/>
          <p:nvPr/>
        </p:nvSpPr>
        <p:spPr>
          <a:xfrm>
            <a:off x="6355080" y="1572768"/>
            <a:ext cx="475488" cy="475488"/>
          </a:xfrm>
          <a:prstGeom prst="rect">
            <a:avLst/>
          </a:prstGeom>
          <a:solidFill>
            <a:srgbClr val="1F9D8A"/>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p:nvPr/>
        </p:nvSpPr>
        <p:spPr>
          <a:xfrm>
            <a:off x="6949440" y="1572768"/>
            <a:ext cx="2057400" cy="502920"/>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rial" pitchFamily="34" charset="0"/>
                <a:ea typeface="Arial" pitchFamily="34" charset="-122"/>
                <a:cs typeface="Arial" pitchFamily="34" charset="-120"/>
              </a:rPr>
              <a:t>Tạo sản phẩm số</a:t>
            </a:r>
            <a:endParaRPr lang="en-US" sz="1550" dirty="0"/>
          </a:p>
        </p:txBody>
      </p:sp>
      <p:sp>
        <p:nvSpPr>
          <p:cNvPr id="14" name="Text 12"/>
          <p:cNvSpPr/>
          <p:nvPr/>
        </p:nvSpPr>
        <p:spPr>
          <a:xfrm>
            <a:off x="6355080" y="2331720"/>
            <a:ext cx="2514600" cy="2011680"/>
          </a:xfrm>
          <a:prstGeom prst="rect">
            <a:avLst/>
          </a:prstGeom>
          <a:solidFill>
            <a:srgbClr val="FFFFFF"/>
          </a:solidFill>
          <a:ln>
            <a:solidFill>
              <a:srgbClr val="D8E3E7"/>
            </a:solidFill>
          </a:ln>
        </p:spPr>
        <p:txBody>
          <a:bodyPr wrap="square" lIns="1524" tIns="1524" rIns="1524" bIns="1524"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Lựa chọn công cụ AI phù hợp, tạo sản phẩm đơn giản, kiểm tra và điều chỉnh theo phản hồi.</a:t>
            </a:r>
            <a:endParaRPr lang="en-US" sz="1360" dirty="0"/>
          </a:p>
        </p:txBody>
      </p:sp>
      <p:sp>
        <p:nvSpPr>
          <p:cNvPr id="15" name="Text 13"/>
          <p:cNvSpPr/>
          <p:nvPr/>
        </p:nvSpPr>
        <p:spPr>
          <a:xfrm>
            <a:off x="9144000" y="1572768"/>
            <a:ext cx="475488" cy="475488"/>
          </a:xfrm>
          <a:prstGeom prst="rect">
            <a:avLst/>
          </a:prstGeom>
          <a:solidFill>
            <a:srgbClr val="F3A712"/>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4"/>
          <p:cNvSpPr/>
          <p:nvPr/>
        </p:nvSpPr>
        <p:spPr>
          <a:xfrm>
            <a:off x="9738360" y="1572768"/>
            <a:ext cx="2057400" cy="502920"/>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rial" pitchFamily="34" charset="0"/>
                <a:ea typeface="Arial" pitchFamily="34" charset="-122"/>
                <a:cs typeface="Arial" pitchFamily="34" charset="-120"/>
              </a:rPr>
              <a:t>Tư duy thiết kế</a:t>
            </a:r>
            <a:endParaRPr lang="en-US" sz="1550" dirty="0"/>
          </a:p>
        </p:txBody>
      </p:sp>
      <p:sp>
        <p:nvSpPr>
          <p:cNvPr id="17" name="Text 15"/>
          <p:cNvSpPr/>
          <p:nvPr/>
        </p:nvSpPr>
        <p:spPr>
          <a:xfrm>
            <a:off x="9144000" y="2331720"/>
            <a:ext cx="2514600" cy="2011680"/>
          </a:xfrm>
          <a:prstGeom prst="rect">
            <a:avLst/>
          </a:prstGeom>
          <a:solidFill>
            <a:srgbClr val="FFFFFF"/>
          </a:solidFill>
          <a:ln>
            <a:solidFill>
              <a:srgbClr val="D8E3E7"/>
            </a:solidFill>
          </a:ln>
        </p:spPr>
        <p:txBody>
          <a:bodyPr wrap="square" lIns="1524" tIns="1524" rIns="1524" bIns="1524"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Hợp tác, chia sẻ, giải thích sản phẩm; bước đầu tìm hiểu nghề nghiệp liên quan đến AI.</a:t>
            </a:r>
            <a:endParaRPr lang="en-US" sz="1360" dirty="0"/>
          </a:p>
        </p:txBody>
      </p:sp>
      <p:sp>
        <p:nvSpPr>
          <p:cNvPr id="18" name="Text 16"/>
          <p:cNvSpPr/>
          <p:nvPr/>
        </p:nvSpPr>
        <p:spPr>
          <a:xfrm>
            <a:off x="1005840" y="5166360"/>
            <a:ext cx="10149840" cy="749808"/>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700" dirty="0">
                <a:solidFill>
                  <a:srgbClr val="24323F"/>
                </a:solidFill>
                <a:latin typeface="Arial" pitchFamily="34" charset="0"/>
                <a:ea typeface="Arial" pitchFamily="34" charset="-122"/>
                <a:cs typeface="Arial" pitchFamily="34" charset="-120"/>
              </a:rPr>
              <a:t>Mức cần đạt của THCS là “cơ bản nhưng có trách nhiệm”: học sinh có thể dùng AI trong nhiệm vụ học tập, nhưng phải biết kiểm chứng và giải thích.</a:t>
            </a:r>
            <a:endParaRPr lang="en-US" sz="1700" dirty="0"/>
          </a:p>
        </p:txBody>
      </p:sp>
      <p:sp>
        <p:nvSpPr>
          <p:cNvPr id="19" name="Text 1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0" name="Text 1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06</a:t>
            </a:r>
            <a:endParaRPr lang="en-US" sz="9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NỘI DUNG THCS</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Nội dung theo khối lớp 6–9: tăng dần độ tự chủ và trách nhiệm</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749808" y="1417320"/>
            <a:ext cx="2331720" cy="420624"/>
          </a:xfrm>
          <a:prstGeom prst="rect">
            <a:avLst/>
          </a:prstGeom>
          <a:solidFill>
            <a:srgbClr val="1F9D8A"/>
          </a:solidFill>
          <a:ln>
            <a:solidFill>
              <a:srgbClr val="FFFFFF">
                <a:alpha val="0"/>
              </a:srgbClr>
            </a:solid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Lớp 6</a:t>
            </a:r>
            <a:endParaRPr lang="en-US" sz="1800" dirty="0"/>
          </a:p>
        </p:txBody>
      </p:sp>
      <p:sp>
        <p:nvSpPr>
          <p:cNvPr id="7" name="Text 5"/>
          <p:cNvSpPr/>
          <p:nvPr/>
        </p:nvSpPr>
        <p:spPr>
          <a:xfrm>
            <a:off x="749808" y="2057400"/>
            <a:ext cx="2331720" cy="2606040"/>
          </a:xfrm>
          <a:prstGeom prst="rect">
            <a:avLst/>
          </a:prstGeom>
          <a:solidFill>
            <a:srgbClr val="FFFFFF"/>
          </a:solidFill>
          <a:ln>
            <a:solidFill>
              <a:srgbClr val="D8E3E7"/>
            </a:solidFill>
          </a:ln>
        </p:spPr>
        <p:txBody>
          <a:bodyPr wrap="square" lIns="1651" tIns="1651" rIns="1651" bIns="1651" rtlCol="0" anchor="ctr">
            <a:normAutofit/>
          </a:bodyPr>
          <a:lstStyle/>
          <a:p>
            <a:pPr indent="0" marL="0">
              <a:buNone/>
            </a:pPr>
            <a:r>
              <a:rPr lang="en-US" sz="1350" dirty="0">
                <a:solidFill>
                  <a:srgbClr val="24323F"/>
                </a:solidFill>
                <a:latin typeface="Arial" pitchFamily="34" charset="0"/>
                <a:ea typeface="Arial" pitchFamily="34" charset="-122"/>
                <a:cs typeface="Arial" pitchFamily="34" charset="-120"/>
              </a:rPr>
              <a:t>Con người tạo và điều khiển AI</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An toàn khi sử dụng AI</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Thành phần cơ bản và ứng dụng AI</a:t>
            </a:r>
            <a:endParaRPr lang="en-US" sz="1350" dirty="0"/>
          </a:p>
        </p:txBody>
      </p:sp>
      <p:sp>
        <p:nvSpPr>
          <p:cNvPr id="8" name="Text 6"/>
          <p:cNvSpPr/>
          <p:nvPr/>
        </p:nvSpPr>
        <p:spPr>
          <a:xfrm>
            <a:off x="3566160" y="1417320"/>
            <a:ext cx="2331720" cy="420624"/>
          </a:xfrm>
          <a:prstGeom prst="rect">
            <a:avLst/>
          </a:prstGeom>
          <a:solidFill>
            <a:srgbClr val="F3A712"/>
          </a:solidFill>
          <a:ln>
            <a:solidFill>
              <a:srgbClr val="FFFFFF">
                <a:alpha val="0"/>
              </a:srgbClr>
            </a:solid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Lớp 7</a:t>
            </a:r>
            <a:endParaRPr lang="en-US" sz="1800" dirty="0"/>
          </a:p>
        </p:txBody>
      </p:sp>
      <p:sp>
        <p:nvSpPr>
          <p:cNvPr id="9" name="Text 7"/>
          <p:cNvSpPr/>
          <p:nvPr/>
        </p:nvSpPr>
        <p:spPr>
          <a:xfrm>
            <a:off x="3566160" y="2057400"/>
            <a:ext cx="2331720" cy="2606040"/>
          </a:xfrm>
          <a:prstGeom prst="rect">
            <a:avLst/>
          </a:prstGeom>
          <a:solidFill>
            <a:srgbClr val="FFFFFF"/>
          </a:solidFill>
          <a:ln>
            <a:solidFill>
              <a:srgbClr val="D8E3E7"/>
            </a:solidFill>
          </a:ln>
        </p:spPr>
        <p:txBody>
          <a:bodyPr wrap="square" lIns="1651" tIns="1651" rIns="1651" bIns="1651" rtlCol="0" anchor="ctr">
            <a:normAutofit/>
          </a:bodyPr>
          <a:lstStyle/>
          <a:p>
            <a:pPr indent="0" marL="0">
              <a:buNone/>
            </a:pPr>
            <a:r>
              <a:rPr lang="en-US" sz="1350" dirty="0">
                <a:solidFill>
                  <a:srgbClr val="24323F"/>
                </a:solidFill>
                <a:latin typeface="Arial" pitchFamily="34" charset="0"/>
                <a:ea typeface="Arial" pitchFamily="34" charset="-122"/>
                <a:cs typeface="Arial" pitchFamily="34" charset="-120"/>
              </a:rPr>
              <a:t>Quyền riêng tư, xác thực kết quả</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Rủi ro dữ liệu</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Ý tưởng dự án AI từ thực tiễn</a:t>
            </a:r>
            <a:endParaRPr lang="en-US" sz="1350" dirty="0"/>
          </a:p>
        </p:txBody>
      </p:sp>
      <p:sp>
        <p:nvSpPr>
          <p:cNvPr id="10" name="Text 8"/>
          <p:cNvSpPr/>
          <p:nvPr/>
        </p:nvSpPr>
        <p:spPr>
          <a:xfrm>
            <a:off x="6382512" y="1417320"/>
            <a:ext cx="2331720" cy="420624"/>
          </a:xfrm>
          <a:prstGeom prst="rect">
            <a:avLst/>
          </a:prstGeom>
          <a:solidFill>
            <a:srgbClr val="EF6F6C"/>
          </a:solidFill>
          <a:ln>
            <a:solidFill>
              <a:srgbClr val="FFFFFF">
                <a:alpha val="0"/>
              </a:srgbClr>
            </a:solid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Lớp 8</a:t>
            </a:r>
            <a:endParaRPr lang="en-US" sz="1800" dirty="0"/>
          </a:p>
        </p:txBody>
      </p:sp>
      <p:sp>
        <p:nvSpPr>
          <p:cNvPr id="11" name="Text 9"/>
          <p:cNvSpPr/>
          <p:nvPr/>
        </p:nvSpPr>
        <p:spPr>
          <a:xfrm>
            <a:off x="6382512" y="2057400"/>
            <a:ext cx="2331720" cy="2606040"/>
          </a:xfrm>
          <a:prstGeom prst="rect">
            <a:avLst/>
          </a:prstGeom>
          <a:solidFill>
            <a:srgbClr val="FFFFFF"/>
          </a:solidFill>
          <a:ln>
            <a:solidFill>
              <a:srgbClr val="D8E3E7"/>
            </a:solidFill>
          </a:ln>
        </p:spPr>
        <p:txBody>
          <a:bodyPr wrap="square" lIns="1651" tIns="1651" rIns="1651" bIns="1651" rtlCol="0" anchor="ctr">
            <a:normAutofit/>
          </a:bodyPr>
          <a:lstStyle/>
          <a:p>
            <a:pPr indent="0" marL="0">
              <a:buNone/>
            </a:pPr>
            <a:r>
              <a:rPr lang="en-US" sz="1350" dirty="0">
                <a:solidFill>
                  <a:srgbClr val="24323F"/>
                </a:solidFill>
                <a:latin typeface="Arial" pitchFamily="34" charset="0"/>
                <a:ea typeface="Arial" pitchFamily="34" charset="-122"/>
                <a:cs typeface="Arial" pitchFamily="34" charset="-120"/>
              </a:rPr>
              <a:t>AI không thay thế con người</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Rủi ro lạm dụng, theo dõi, thao túng</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Kế hoạch dự án AI</a:t>
            </a:r>
            <a:endParaRPr lang="en-US" sz="1350" dirty="0"/>
          </a:p>
        </p:txBody>
      </p:sp>
      <p:sp>
        <p:nvSpPr>
          <p:cNvPr id="12" name="Text 10"/>
          <p:cNvSpPr/>
          <p:nvPr/>
        </p:nvSpPr>
        <p:spPr>
          <a:xfrm>
            <a:off x="9198864" y="1417320"/>
            <a:ext cx="2331720" cy="420624"/>
          </a:xfrm>
          <a:prstGeom prst="rect">
            <a:avLst/>
          </a:prstGeom>
          <a:solidFill>
            <a:srgbClr val="17324D"/>
          </a:solidFill>
          <a:ln>
            <a:solidFill>
              <a:srgbClr val="FFFFFF">
                <a:alpha val="0"/>
              </a:srgbClr>
            </a:solid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Lớp 9</a:t>
            </a:r>
            <a:endParaRPr lang="en-US" sz="1800" dirty="0"/>
          </a:p>
        </p:txBody>
      </p:sp>
      <p:sp>
        <p:nvSpPr>
          <p:cNvPr id="13" name="Text 11"/>
          <p:cNvSpPr/>
          <p:nvPr/>
        </p:nvSpPr>
        <p:spPr>
          <a:xfrm>
            <a:off x="9198864" y="2057400"/>
            <a:ext cx="2331720" cy="2606040"/>
          </a:xfrm>
          <a:prstGeom prst="rect">
            <a:avLst/>
          </a:prstGeom>
          <a:solidFill>
            <a:srgbClr val="FFFFFF"/>
          </a:solidFill>
          <a:ln>
            <a:solidFill>
              <a:srgbClr val="D8E3E7"/>
            </a:solidFill>
          </a:ln>
        </p:spPr>
        <p:txBody>
          <a:bodyPr wrap="square" lIns="1651" tIns="1651" rIns="1651" bIns="1651" rtlCol="0" anchor="ctr">
            <a:normAutofit/>
          </a:bodyPr>
          <a:lstStyle/>
          <a:p>
            <a:pPr indent="0" marL="0">
              <a:buNone/>
            </a:pPr>
            <a:r>
              <a:rPr lang="en-US" sz="1350" dirty="0">
                <a:solidFill>
                  <a:srgbClr val="24323F"/>
                </a:solidFill>
                <a:latin typeface="Arial" pitchFamily="34" charset="0"/>
                <a:ea typeface="Arial" pitchFamily="34" charset="-122"/>
                <a:cs typeface="Arial" pitchFamily="34" charset="-120"/>
              </a:rPr>
              <a:t>Tác động xã hội, thiên vị, nghề nghiệp</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Trách nhiệm khi sử dụng AI</a:t>
            </a:r>
            <a:endParaRPr lang="en-US" sz="1350" dirty="0"/>
          </a:p>
          <a:p>
            <a:pPr indent="0" marL="0">
              <a:buNone/>
            </a:pPr>
            <a:r>
              <a:rPr lang="en-US" sz="1350" dirty="0">
                <a:solidFill>
                  <a:srgbClr val="24323F"/>
                </a:solidFill>
                <a:latin typeface="Arial" pitchFamily="34" charset="0"/>
                <a:ea typeface="Arial" pitchFamily="34" charset="-122"/>
                <a:cs typeface="Arial" pitchFamily="34" charset="-120"/>
              </a:rPr>
              <a:t>Đánh giá và cải tiến sản phẩm AI</a:t>
            </a:r>
            <a:endParaRPr lang="en-US" sz="1350" dirty="0"/>
          </a:p>
        </p:txBody>
      </p:sp>
      <p:pic>
        <p:nvPicPr>
          <p:cNvPr id="14" name="Image 0" descr="/mnt/data/ai_deck_assets/thcs-11.png">    </p:cNvPr>
          <p:cNvPicPr>
            <a:picLocks noChangeAspect="1"/>
          </p:cNvPicPr>
          <p:nvPr/>
        </p:nvPicPr>
        <p:blipFill>
          <a:blip r:embed="rId1"/>
          <a:srcRect l="0" r="0" t="42933" b="42933"/>
          <a:stretch/>
        </p:blipFill>
        <p:spPr>
          <a:xfrm>
            <a:off x="822960" y="4983480"/>
            <a:ext cx="5029200" cy="1005840"/>
          </a:xfrm>
          <a:prstGeom prst="rect">
            <a:avLst/>
          </a:prstGeom>
        </p:spPr>
      </p:pic>
      <p:pic>
        <p:nvPicPr>
          <p:cNvPr id="15" name="Image 1" descr="/mnt/data/ai_deck_assets/thcs-12.png">    </p:cNvPr>
          <p:cNvPicPr>
            <a:picLocks noChangeAspect="1"/>
          </p:cNvPicPr>
          <p:nvPr/>
        </p:nvPicPr>
        <p:blipFill>
          <a:blip r:embed="rId2"/>
          <a:srcRect l="0" r="0" t="42933" b="42933"/>
          <a:stretch/>
        </p:blipFill>
        <p:spPr>
          <a:xfrm>
            <a:off x="6263640" y="4983480"/>
            <a:ext cx="5029200" cy="1005840"/>
          </a:xfrm>
          <a:prstGeom prst="rect">
            <a:avLst/>
          </a:prstGeom>
        </p:spPr>
      </p:pic>
      <p:sp>
        <p:nvSpPr>
          <p:cNvPr id="16" name="Text 12"/>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17" name="Text 13"/>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07</a:t>
            </a:r>
            <a:endParaRPr lang="en-US" sz="900" dirty="0"/>
          </a:p>
        </p:txBody>
      </p:sp>
    </p:spTree>
  </p:cSld>
  <p:clrMapOvr>
    <a:masterClrMapping/>
  </p:clrMapOvr>
  <p:transition spd="med">
    <p:wipe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KẾ HOẠCH NHÀ TRƯỜNG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Gợi ý tổ chức 12 tiết/lớp/năm học</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41248" y="1490472"/>
            <a:ext cx="868680" cy="420624"/>
          </a:xfrm>
          <a:prstGeom prst="rect">
            <a:avLst/>
          </a:prstGeom>
          <a:solidFill>
            <a:srgbClr val="1F9D8A"/>
          </a:solidFill>
          <a:ln>
            <a:solidFill>
              <a:srgbClr val="FFFFFF">
                <a:alpha val="0"/>
              </a:srgbClr>
            </a:solid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 tiết</a:t>
            </a:r>
            <a:endParaRPr lang="en-US" sz="1500" dirty="0"/>
          </a:p>
        </p:txBody>
      </p:sp>
      <p:sp>
        <p:nvSpPr>
          <p:cNvPr id="7" name="Text 5"/>
          <p:cNvSpPr/>
          <p:nvPr/>
        </p:nvSpPr>
        <p:spPr>
          <a:xfrm>
            <a:off x="1920240" y="1417320"/>
            <a:ext cx="2926080" cy="68580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rial" pitchFamily="34" charset="0"/>
                <a:ea typeface="Arial" pitchFamily="34" charset="-122"/>
                <a:cs typeface="Arial" pitchFamily="34" charset="-120"/>
              </a:rPr>
              <a:t>Mô-đun 1</a:t>
            </a:r>
            <a:endParaRPr lang="en-US" sz="1600" dirty="0"/>
          </a:p>
          <a:p>
            <a:pPr indent="0" marL="0">
              <a:buNone/>
            </a:pPr>
            <a:r>
              <a:rPr lang="en-US" sz="1600" b="1" dirty="0">
                <a:solidFill>
                  <a:srgbClr val="17324D"/>
                </a:solidFill>
                <a:latin typeface="Arial" pitchFamily="34" charset="0"/>
                <a:ea typeface="Arial" pitchFamily="34" charset="-122"/>
                <a:cs typeface="Arial" pitchFamily="34" charset="-120"/>
              </a:rPr>
              <a:t>Nhận thức &amp; an toàn</a:t>
            </a:r>
            <a:endParaRPr lang="en-US" sz="1600" dirty="0"/>
          </a:p>
        </p:txBody>
      </p:sp>
      <p:sp>
        <p:nvSpPr>
          <p:cNvPr id="8" name="Text 6"/>
          <p:cNvSpPr/>
          <p:nvPr/>
        </p:nvSpPr>
        <p:spPr>
          <a:xfrm>
            <a:off x="5074920" y="1435608"/>
            <a:ext cx="5669280" cy="658368"/>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AI là gì, AI giúp gì, giới hạn của AI, dữ liệu cá nhân, bản quyền.</a:t>
            </a:r>
            <a:endParaRPr lang="en-US" sz="1500" dirty="0"/>
          </a:p>
        </p:txBody>
      </p:sp>
      <p:sp>
        <p:nvSpPr>
          <p:cNvPr id="9" name="Shape 7"/>
          <p:cNvSpPr/>
          <p:nvPr/>
        </p:nvSpPr>
        <p:spPr>
          <a:xfrm>
            <a:off x="841248" y="2350008"/>
            <a:ext cx="9921240" cy="0"/>
          </a:xfrm>
          <a:prstGeom prst="line">
            <a:avLst/>
          </a:prstGeom>
          <a:noFill/>
          <a:ln w="12700">
            <a:solidFill>
              <a:srgbClr val="D8E3E7"/>
            </a:solidFill>
            <a:prstDash val="solid"/>
          </a:ln>
        </p:spPr>
      </p:sp>
      <p:sp>
        <p:nvSpPr>
          <p:cNvPr id="10" name="Text 8"/>
          <p:cNvSpPr/>
          <p:nvPr/>
        </p:nvSpPr>
        <p:spPr>
          <a:xfrm>
            <a:off x="841248" y="2660904"/>
            <a:ext cx="868680" cy="420624"/>
          </a:xfrm>
          <a:prstGeom prst="rect">
            <a:avLst/>
          </a:prstGeom>
          <a:solidFill>
            <a:srgbClr val="F3A712"/>
          </a:solidFill>
          <a:ln>
            <a:solidFill>
              <a:srgbClr val="FFFFFF">
                <a:alpha val="0"/>
              </a:srgbClr>
            </a:solid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 tiết</a:t>
            </a:r>
            <a:endParaRPr lang="en-US" sz="1500" dirty="0"/>
          </a:p>
        </p:txBody>
      </p:sp>
      <p:sp>
        <p:nvSpPr>
          <p:cNvPr id="11" name="Text 9"/>
          <p:cNvSpPr/>
          <p:nvPr/>
        </p:nvSpPr>
        <p:spPr>
          <a:xfrm>
            <a:off x="1920240" y="2587752"/>
            <a:ext cx="2926080" cy="68580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rial" pitchFamily="34" charset="0"/>
                <a:ea typeface="Arial" pitchFamily="34" charset="-122"/>
                <a:cs typeface="Arial" pitchFamily="34" charset="-120"/>
              </a:rPr>
              <a:t>Mô-đun 2</a:t>
            </a:r>
            <a:endParaRPr lang="en-US" sz="1600" dirty="0"/>
          </a:p>
          <a:p>
            <a:pPr indent="0" marL="0">
              <a:buNone/>
            </a:pPr>
            <a:r>
              <a:rPr lang="en-US" sz="1600" b="1" dirty="0">
                <a:solidFill>
                  <a:srgbClr val="17324D"/>
                </a:solidFill>
                <a:latin typeface="Arial" pitchFamily="34" charset="0"/>
                <a:ea typeface="Arial" pitchFamily="34" charset="-122"/>
                <a:cs typeface="Arial" pitchFamily="34" charset="-120"/>
              </a:rPr>
              <a:t>Dùng AI có kiểm chứng</a:t>
            </a:r>
            <a:endParaRPr lang="en-US" sz="1600" dirty="0"/>
          </a:p>
        </p:txBody>
      </p:sp>
      <p:sp>
        <p:nvSpPr>
          <p:cNvPr id="12" name="Text 10"/>
          <p:cNvSpPr/>
          <p:nvPr/>
        </p:nvSpPr>
        <p:spPr>
          <a:xfrm>
            <a:off x="5074920" y="2606040"/>
            <a:ext cx="5669280" cy="658368"/>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Đặt câu hỏi, so sánh kết quả, kiểm tra nguồn, phát hiện sai lệch.</a:t>
            </a:r>
            <a:endParaRPr lang="en-US" sz="1500" dirty="0"/>
          </a:p>
        </p:txBody>
      </p:sp>
      <p:sp>
        <p:nvSpPr>
          <p:cNvPr id="13" name="Shape 11"/>
          <p:cNvSpPr/>
          <p:nvPr/>
        </p:nvSpPr>
        <p:spPr>
          <a:xfrm>
            <a:off x="841248" y="3520440"/>
            <a:ext cx="9921240" cy="0"/>
          </a:xfrm>
          <a:prstGeom prst="line">
            <a:avLst/>
          </a:prstGeom>
          <a:noFill/>
          <a:ln w="12700">
            <a:solidFill>
              <a:srgbClr val="D8E3E7"/>
            </a:solidFill>
            <a:prstDash val="solid"/>
          </a:ln>
        </p:spPr>
      </p:sp>
      <p:sp>
        <p:nvSpPr>
          <p:cNvPr id="14" name="Text 12"/>
          <p:cNvSpPr/>
          <p:nvPr/>
        </p:nvSpPr>
        <p:spPr>
          <a:xfrm>
            <a:off x="841248" y="3831336"/>
            <a:ext cx="868680" cy="420624"/>
          </a:xfrm>
          <a:prstGeom prst="rect">
            <a:avLst/>
          </a:prstGeom>
          <a:solidFill>
            <a:srgbClr val="1F9D8A"/>
          </a:solidFill>
          <a:ln>
            <a:solidFill>
              <a:srgbClr val="FFFFFF">
                <a:alpha val="0"/>
              </a:srgbClr>
            </a:solid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 tiết</a:t>
            </a:r>
            <a:endParaRPr lang="en-US" sz="1500" dirty="0"/>
          </a:p>
        </p:txBody>
      </p:sp>
      <p:sp>
        <p:nvSpPr>
          <p:cNvPr id="15" name="Text 13"/>
          <p:cNvSpPr/>
          <p:nvPr/>
        </p:nvSpPr>
        <p:spPr>
          <a:xfrm>
            <a:off x="1920240" y="3758184"/>
            <a:ext cx="2926080" cy="68580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rial" pitchFamily="34" charset="0"/>
                <a:ea typeface="Arial" pitchFamily="34" charset="-122"/>
                <a:cs typeface="Arial" pitchFamily="34" charset="-120"/>
              </a:rPr>
              <a:t>Mô-đun 3</a:t>
            </a:r>
            <a:endParaRPr lang="en-US" sz="1600" dirty="0"/>
          </a:p>
          <a:p>
            <a:pPr indent="0" marL="0">
              <a:buNone/>
            </a:pPr>
            <a:r>
              <a:rPr lang="en-US" sz="1600" b="1" dirty="0">
                <a:solidFill>
                  <a:srgbClr val="17324D"/>
                </a:solidFill>
                <a:latin typeface="Arial" pitchFamily="34" charset="0"/>
                <a:ea typeface="Arial" pitchFamily="34" charset="-122"/>
                <a:cs typeface="Arial" pitchFamily="34" charset="-120"/>
              </a:rPr>
              <a:t>Tạo sản phẩm học tập</a:t>
            </a:r>
            <a:endParaRPr lang="en-US" sz="1600" dirty="0"/>
          </a:p>
        </p:txBody>
      </p:sp>
      <p:sp>
        <p:nvSpPr>
          <p:cNvPr id="16" name="Text 14"/>
          <p:cNvSpPr/>
          <p:nvPr/>
        </p:nvSpPr>
        <p:spPr>
          <a:xfrm>
            <a:off x="5074920" y="3776472"/>
            <a:ext cx="5669280" cy="658368"/>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Dùng AI hỗ trợ lập dàn ý, hình ảnh, bảng, tóm tắt; học sinh chỉnh sửa và giải thích.</a:t>
            </a:r>
            <a:endParaRPr lang="en-US" sz="1500" dirty="0"/>
          </a:p>
        </p:txBody>
      </p:sp>
      <p:sp>
        <p:nvSpPr>
          <p:cNvPr id="17" name="Shape 15"/>
          <p:cNvSpPr/>
          <p:nvPr/>
        </p:nvSpPr>
        <p:spPr>
          <a:xfrm>
            <a:off x="841248" y="4690872"/>
            <a:ext cx="9921240" cy="0"/>
          </a:xfrm>
          <a:prstGeom prst="line">
            <a:avLst/>
          </a:prstGeom>
          <a:noFill/>
          <a:ln w="12700">
            <a:solidFill>
              <a:srgbClr val="D8E3E7"/>
            </a:solidFill>
            <a:prstDash val="solid"/>
          </a:ln>
        </p:spPr>
      </p:sp>
      <p:sp>
        <p:nvSpPr>
          <p:cNvPr id="18" name="Text 16"/>
          <p:cNvSpPr/>
          <p:nvPr/>
        </p:nvSpPr>
        <p:spPr>
          <a:xfrm>
            <a:off x="841248" y="5001768"/>
            <a:ext cx="868680" cy="420624"/>
          </a:xfrm>
          <a:prstGeom prst="rect">
            <a:avLst/>
          </a:prstGeom>
          <a:solidFill>
            <a:srgbClr val="F3A712"/>
          </a:solidFill>
          <a:ln>
            <a:solidFill>
              <a:srgbClr val="FFFFFF">
                <a:alpha val="0"/>
              </a:srgbClr>
            </a:solid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 tiết</a:t>
            </a:r>
            <a:endParaRPr lang="en-US" sz="1500" dirty="0"/>
          </a:p>
        </p:txBody>
      </p:sp>
      <p:sp>
        <p:nvSpPr>
          <p:cNvPr id="19" name="Text 17"/>
          <p:cNvSpPr/>
          <p:nvPr/>
        </p:nvSpPr>
        <p:spPr>
          <a:xfrm>
            <a:off x="1920240" y="4928616"/>
            <a:ext cx="2926080" cy="68580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rial" pitchFamily="34" charset="0"/>
                <a:ea typeface="Arial" pitchFamily="34" charset="-122"/>
                <a:cs typeface="Arial" pitchFamily="34" charset="-120"/>
              </a:rPr>
              <a:t>Mô-đun 4</a:t>
            </a:r>
            <a:endParaRPr lang="en-US" sz="1600" dirty="0"/>
          </a:p>
          <a:p>
            <a:pPr indent="0" marL="0">
              <a:buNone/>
            </a:pPr>
            <a:r>
              <a:rPr lang="en-US" sz="1600" b="1" dirty="0">
                <a:solidFill>
                  <a:srgbClr val="17324D"/>
                </a:solidFill>
                <a:latin typeface="Arial" pitchFamily="34" charset="0"/>
                <a:ea typeface="Arial" pitchFamily="34" charset="-122"/>
                <a:cs typeface="Arial" pitchFamily="34" charset="-120"/>
              </a:rPr>
              <a:t>Dự án nhỏ &amp; phản hồi</a:t>
            </a:r>
            <a:endParaRPr lang="en-US" sz="1600" dirty="0"/>
          </a:p>
        </p:txBody>
      </p:sp>
      <p:sp>
        <p:nvSpPr>
          <p:cNvPr id="20" name="Text 18"/>
          <p:cNvSpPr/>
          <p:nvPr/>
        </p:nvSpPr>
        <p:spPr>
          <a:xfrm>
            <a:off x="5074920" y="4946904"/>
            <a:ext cx="5669280" cy="658368"/>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Nhóm học sinh tạo sản phẩm, công bố cách dùng AI, nhận phản hồi và cải tiến.</a:t>
            </a:r>
            <a:endParaRPr lang="en-US" sz="1500" dirty="0"/>
          </a:p>
        </p:txBody>
      </p:sp>
      <p:sp>
        <p:nvSpPr>
          <p:cNvPr id="21" name="Shape 19"/>
          <p:cNvSpPr/>
          <p:nvPr/>
        </p:nvSpPr>
        <p:spPr>
          <a:xfrm>
            <a:off x="841248" y="5861304"/>
            <a:ext cx="9921240" cy="0"/>
          </a:xfrm>
          <a:prstGeom prst="line">
            <a:avLst/>
          </a:prstGeom>
          <a:noFill/>
          <a:ln w="12700">
            <a:solidFill>
              <a:srgbClr val="D8E3E7"/>
            </a:solidFill>
            <a:prstDash val="solid"/>
          </a:ln>
        </p:spPr>
      </p:sp>
      <p:sp>
        <p:nvSpPr>
          <p:cNvPr id="22" name="Text 20"/>
          <p:cNvSpPr/>
          <p:nvPr/>
        </p:nvSpPr>
        <p:spPr>
          <a:xfrm>
            <a:off x="1097280" y="6035040"/>
            <a:ext cx="9784080" cy="384048"/>
          </a:xfrm>
          <a:prstGeom prst="rect">
            <a:avLst/>
          </a:prstGeom>
          <a:solidFill>
            <a:srgbClr val="EEF7FF"/>
          </a:solidFill>
          <a:ln>
            <a:solidFill>
              <a:srgbClr val="D8E3E7"/>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350" dirty="0">
                <a:solidFill>
                  <a:srgbClr val="24323F"/>
                </a:solidFill>
                <a:latin typeface="Arial" pitchFamily="34" charset="0"/>
                <a:ea typeface="Arial" pitchFamily="34" charset="-122"/>
                <a:cs typeface="Arial" pitchFamily="34" charset="-120"/>
              </a:rPr>
              <a:t>Không gây quá tải: bố trí trong kế hoạch giáo dục của nhà trường, 2 buổi/ngày hoặc chuyên đề phù hợp điều kiện thực tế.</a:t>
            </a:r>
            <a:endParaRPr lang="en-US" sz="1350" dirty="0"/>
          </a:p>
        </p:txBody>
      </p:sp>
      <p:sp>
        <p:nvSpPr>
          <p:cNvPr id="23" name="Text 21"/>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4" name="Text 22"/>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08</a:t>
            </a:r>
            <a:endParaRPr lang="en-US" sz="900" dirty="0"/>
          </a:p>
        </p:txBody>
      </p:sp>
    </p:spTree>
  </p:cSld>
  <p:clrMapOvr>
    <a:masterClrMapping/>
  </p:clrMapOvr>
  <p:transition spd="med">
    <p:split orient="horz" dir="out"/>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TÍCH HỢP</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Cách tích hợp vào môn học: không thêm việc, mà đổi cách tổ chức nhiệm vụ</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22960" y="1417320"/>
            <a:ext cx="1645920" cy="310896"/>
          </a:xfrm>
          <a:prstGeom prst="rect">
            <a:avLst/>
          </a:prstGeom>
          <a:noFill/>
          <a:ln/>
        </p:spPr>
        <p:txBody>
          <a:bodyPr wrap="square" lIns="0" tIns="0" rIns="0" bIns="0" rtlCol="0" anchor="ctr">
            <a:normAutofit/>
          </a:bodyPr>
          <a:lstStyle/>
          <a:p>
            <a:pPr indent="0" marL="0">
              <a:buNone/>
            </a:pPr>
            <a:r>
              <a:rPr lang="en-US" sz="1550" b="1" dirty="0">
                <a:solidFill>
                  <a:srgbClr val="1F9D8A"/>
                </a:solidFill>
                <a:latin typeface="Arial" pitchFamily="34" charset="0"/>
                <a:ea typeface="Arial" pitchFamily="34" charset="-122"/>
                <a:cs typeface="Arial" pitchFamily="34" charset="-120"/>
              </a:rPr>
              <a:t>Tin học</a:t>
            </a:r>
            <a:endParaRPr lang="en-US" sz="1550" dirty="0"/>
          </a:p>
        </p:txBody>
      </p:sp>
      <p:sp>
        <p:nvSpPr>
          <p:cNvPr id="7" name="Text 5"/>
          <p:cNvSpPr/>
          <p:nvPr/>
        </p:nvSpPr>
        <p:spPr>
          <a:xfrm>
            <a:off x="2651760" y="1389888"/>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dữ liệu, thuật toán, mô hình, prompt, kiểm chứng</a:t>
            </a:r>
            <a:endParaRPr lang="en-US" sz="1360" dirty="0"/>
          </a:p>
        </p:txBody>
      </p:sp>
      <p:sp>
        <p:nvSpPr>
          <p:cNvPr id="8" name="Text 6"/>
          <p:cNvSpPr/>
          <p:nvPr/>
        </p:nvSpPr>
        <p:spPr>
          <a:xfrm>
            <a:off x="6263640" y="1417320"/>
            <a:ext cx="1645920" cy="310896"/>
          </a:xfrm>
          <a:prstGeom prst="rect">
            <a:avLst/>
          </a:prstGeom>
          <a:noFill/>
          <a:ln/>
        </p:spPr>
        <p:txBody>
          <a:bodyPr wrap="square" lIns="0" tIns="0" rIns="0" bIns="0" rtlCol="0" anchor="ctr">
            <a:normAutofit/>
          </a:bodyPr>
          <a:lstStyle/>
          <a:p>
            <a:pPr indent="0" marL="0">
              <a:buNone/>
            </a:pPr>
            <a:r>
              <a:rPr lang="en-US" sz="1550" b="1" dirty="0">
                <a:solidFill>
                  <a:srgbClr val="F3A712"/>
                </a:solidFill>
                <a:latin typeface="Arial" pitchFamily="34" charset="0"/>
                <a:ea typeface="Arial" pitchFamily="34" charset="-122"/>
                <a:cs typeface="Arial" pitchFamily="34" charset="-120"/>
              </a:rPr>
              <a:t>Ngữ văn</a:t>
            </a:r>
            <a:endParaRPr lang="en-US" sz="1550" dirty="0"/>
          </a:p>
        </p:txBody>
      </p:sp>
      <p:sp>
        <p:nvSpPr>
          <p:cNvPr id="9" name="Text 7"/>
          <p:cNvSpPr/>
          <p:nvPr/>
        </p:nvSpPr>
        <p:spPr>
          <a:xfrm>
            <a:off x="8092440" y="1389888"/>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lập dàn ý, phản biện bài viết AI, chống sao chép</a:t>
            </a:r>
            <a:endParaRPr lang="en-US" sz="1360" dirty="0"/>
          </a:p>
        </p:txBody>
      </p:sp>
      <p:sp>
        <p:nvSpPr>
          <p:cNvPr id="10" name="Text 8"/>
          <p:cNvSpPr/>
          <p:nvPr/>
        </p:nvSpPr>
        <p:spPr>
          <a:xfrm>
            <a:off x="822960" y="2898648"/>
            <a:ext cx="1645920" cy="310896"/>
          </a:xfrm>
          <a:prstGeom prst="rect">
            <a:avLst/>
          </a:prstGeom>
          <a:noFill/>
          <a:ln/>
        </p:spPr>
        <p:txBody>
          <a:bodyPr wrap="square" lIns="0" tIns="0" rIns="0" bIns="0" rtlCol="0" anchor="ctr">
            <a:normAutofit/>
          </a:bodyPr>
          <a:lstStyle/>
          <a:p>
            <a:pPr indent="0" marL="0">
              <a:buNone/>
            </a:pPr>
            <a:r>
              <a:rPr lang="en-US" sz="1550" b="1" dirty="0">
                <a:solidFill>
                  <a:srgbClr val="1F9D8A"/>
                </a:solidFill>
                <a:latin typeface="Arial" pitchFamily="34" charset="0"/>
                <a:ea typeface="Arial" pitchFamily="34" charset="-122"/>
                <a:cs typeface="Arial" pitchFamily="34" charset="-120"/>
              </a:rPr>
              <a:t>Toán</a:t>
            </a:r>
            <a:endParaRPr lang="en-US" sz="1550" dirty="0"/>
          </a:p>
        </p:txBody>
      </p:sp>
      <p:sp>
        <p:nvSpPr>
          <p:cNvPr id="11" name="Text 9"/>
          <p:cNvSpPr/>
          <p:nvPr/>
        </p:nvSpPr>
        <p:spPr>
          <a:xfrm>
            <a:off x="2651760" y="2871216"/>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so sánh cách giải, phát hiện lỗi lập luận, trình bày bước giải</a:t>
            </a:r>
            <a:endParaRPr lang="en-US" sz="1360" dirty="0"/>
          </a:p>
        </p:txBody>
      </p:sp>
      <p:sp>
        <p:nvSpPr>
          <p:cNvPr id="12" name="Text 10"/>
          <p:cNvSpPr/>
          <p:nvPr/>
        </p:nvSpPr>
        <p:spPr>
          <a:xfrm>
            <a:off x="6263640" y="2898648"/>
            <a:ext cx="1645920" cy="310896"/>
          </a:xfrm>
          <a:prstGeom prst="rect">
            <a:avLst/>
          </a:prstGeom>
          <a:noFill/>
          <a:ln/>
        </p:spPr>
        <p:txBody>
          <a:bodyPr wrap="square" lIns="0" tIns="0" rIns="0" bIns="0" rtlCol="0" anchor="ctr">
            <a:normAutofit/>
          </a:bodyPr>
          <a:lstStyle/>
          <a:p>
            <a:pPr indent="0" marL="0">
              <a:buNone/>
            </a:pPr>
            <a:r>
              <a:rPr lang="en-US" sz="1550" b="1" dirty="0">
                <a:solidFill>
                  <a:srgbClr val="F3A712"/>
                </a:solidFill>
                <a:latin typeface="Arial" pitchFamily="34" charset="0"/>
                <a:ea typeface="Arial" pitchFamily="34" charset="-122"/>
                <a:cs typeface="Arial" pitchFamily="34" charset="-120"/>
              </a:rPr>
              <a:t>KHTN</a:t>
            </a:r>
            <a:endParaRPr lang="en-US" sz="1550" dirty="0"/>
          </a:p>
        </p:txBody>
      </p:sp>
      <p:sp>
        <p:nvSpPr>
          <p:cNvPr id="13" name="Text 11"/>
          <p:cNvSpPr/>
          <p:nvPr/>
        </p:nvSpPr>
        <p:spPr>
          <a:xfrm>
            <a:off x="8092440" y="2871216"/>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ý tưởng thí nghiệm, phân tích bảng số liệu, giải thích hiện tượng</a:t>
            </a:r>
            <a:endParaRPr lang="en-US" sz="1360" dirty="0"/>
          </a:p>
        </p:txBody>
      </p:sp>
      <p:sp>
        <p:nvSpPr>
          <p:cNvPr id="14" name="Text 12"/>
          <p:cNvSpPr/>
          <p:nvPr/>
        </p:nvSpPr>
        <p:spPr>
          <a:xfrm>
            <a:off x="822960" y="4379976"/>
            <a:ext cx="1645920" cy="310896"/>
          </a:xfrm>
          <a:prstGeom prst="rect">
            <a:avLst/>
          </a:prstGeom>
          <a:noFill/>
          <a:ln/>
        </p:spPr>
        <p:txBody>
          <a:bodyPr wrap="square" lIns="0" tIns="0" rIns="0" bIns="0" rtlCol="0" anchor="ctr">
            <a:normAutofit/>
          </a:bodyPr>
          <a:lstStyle/>
          <a:p>
            <a:pPr indent="0" marL="0">
              <a:buNone/>
            </a:pPr>
            <a:r>
              <a:rPr lang="en-US" sz="1550" b="1" dirty="0">
                <a:solidFill>
                  <a:srgbClr val="1F9D8A"/>
                </a:solidFill>
                <a:latin typeface="Arial" pitchFamily="34" charset="0"/>
                <a:ea typeface="Arial" pitchFamily="34" charset="-122"/>
                <a:cs typeface="Arial" pitchFamily="34" charset="-120"/>
              </a:rPr>
              <a:t>Lịch sử - Địa lí</a:t>
            </a:r>
            <a:endParaRPr lang="en-US" sz="1550" dirty="0"/>
          </a:p>
        </p:txBody>
      </p:sp>
      <p:sp>
        <p:nvSpPr>
          <p:cNvPr id="15" name="Text 13"/>
          <p:cNvSpPr/>
          <p:nvPr/>
        </p:nvSpPr>
        <p:spPr>
          <a:xfrm>
            <a:off x="2651760" y="4352544"/>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kiểm chứng nguồn, phát hiện thông tin sai, lập sơ đồ sự kiện</a:t>
            </a:r>
            <a:endParaRPr lang="en-US" sz="1360" dirty="0"/>
          </a:p>
        </p:txBody>
      </p:sp>
      <p:sp>
        <p:nvSpPr>
          <p:cNvPr id="16" name="Text 14"/>
          <p:cNvSpPr/>
          <p:nvPr/>
        </p:nvSpPr>
        <p:spPr>
          <a:xfrm>
            <a:off x="6263640" y="4379976"/>
            <a:ext cx="1645920" cy="310896"/>
          </a:xfrm>
          <a:prstGeom prst="rect">
            <a:avLst/>
          </a:prstGeom>
          <a:noFill/>
          <a:ln/>
        </p:spPr>
        <p:txBody>
          <a:bodyPr wrap="square" lIns="0" tIns="0" rIns="0" bIns="0" rtlCol="0" anchor="ctr">
            <a:normAutofit/>
          </a:bodyPr>
          <a:lstStyle/>
          <a:p>
            <a:pPr indent="0" marL="0">
              <a:buNone/>
            </a:pPr>
            <a:r>
              <a:rPr lang="en-US" sz="1550" b="1" dirty="0">
                <a:solidFill>
                  <a:srgbClr val="F3A712"/>
                </a:solidFill>
                <a:latin typeface="Arial" pitchFamily="34" charset="0"/>
                <a:ea typeface="Arial" pitchFamily="34" charset="-122"/>
                <a:cs typeface="Arial" pitchFamily="34" charset="-120"/>
              </a:rPr>
              <a:t>HĐTN/STEM</a:t>
            </a:r>
            <a:endParaRPr lang="en-US" sz="1550" dirty="0"/>
          </a:p>
        </p:txBody>
      </p:sp>
      <p:sp>
        <p:nvSpPr>
          <p:cNvPr id="17" name="Text 15"/>
          <p:cNvSpPr/>
          <p:nvPr/>
        </p:nvSpPr>
        <p:spPr>
          <a:xfrm>
            <a:off x="8092440" y="4352544"/>
            <a:ext cx="3566160" cy="621792"/>
          </a:xfrm>
          <a:prstGeom prst="rect">
            <a:avLst/>
          </a:prstGeom>
          <a:solidFill>
            <a:srgbClr val="FFFFFF"/>
          </a:solidFill>
          <a:ln>
            <a:solidFill>
              <a:srgbClr val="D8E3E7"/>
            </a:solidFill>
          </a:ln>
        </p:spPr>
        <p:txBody>
          <a:bodyPr wrap="square" lIns="1016" tIns="1016" rIns="1016" bIns="1016" rtlCol="0" anchor="ctr">
            <a:normAutofit/>
          </a:bodyPr>
          <a:lstStyle/>
          <a:p>
            <a:pPr indent="0" marL="0">
              <a:buNone/>
            </a:pPr>
            <a:r>
              <a:rPr lang="en-US" sz="1360" dirty="0">
                <a:solidFill>
                  <a:srgbClr val="24323F"/>
                </a:solidFill>
                <a:latin typeface="Arial" pitchFamily="34" charset="0"/>
                <a:ea typeface="Arial" pitchFamily="34" charset="-122"/>
                <a:cs typeface="Arial" pitchFamily="34" charset="-120"/>
              </a:rPr>
              <a:t>sản phẩm truyền thông, dự án nhỏ, quy tắc dùng AI an toàn</a:t>
            </a:r>
            <a:endParaRPr lang="en-US" sz="1360" dirty="0"/>
          </a:p>
        </p:txBody>
      </p:sp>
      <p:sp>
        <p:nvSpPr>
          <p:cNvPr id="18" name="Text 16"/>
          <p:cNvSpPr/>
          <p:nvPr/>
        </p:nvSpPr>
        <p:spPr>
          <a:xfrm>
            <a:off x="1143000" y="5870448"/>
            <a:ext cx="9875520" cy="475488"/>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Mẫu nhiệm vụ tích hợp: “Dùng AI để hỗ trợ, rồi học sinh phải kiểm chứng, chỉnh sửa, giải thích và nộp minh chứng.”</a:t>
            </a:r>
            <a:endParaRPr lang="en-US" sz="1600" dirty="0"/>
          </a:p>
        </p:txBody>
      </p:sp>
      <p:sp>
        <p:nvSpPr>
          <p:cNvPr id="19" name="Text 1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0" name="Text 1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09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MẪU HOẠT ĐỘNG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Ví dụ hoạt động 1: Kiểm chứng câu trả lời của AI</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68680" y="1325880"/>
            <a:ext cx="5852160" cy="320040"/>
          </a:xfrm>
          <a:prstGeom prst="rect">
            <a:avLst/>
          </a:prstGeom>
          <a:noFill/>
          <a:ln/>
        </p:spPr>
        <p:txBody>
          <a:bodyPr wrap="square" lIns="0" tIns="0" rIns="0" bIns="0" rtlCol="0" anchor="ctr"/>
          <a:lstStyle/>
          <a:p>
            <a:pPr indent="0" marL="0">
              <a:buNone/>
            </a:pPr>
            <a:r>
              <a:rPr lang="en-US" sz="1600" dirty="0">
                <a:solidFill>
                  <a:srgbClr val="5D6B78"/>
                </a:solidFill>
                <a:latin typeface="Arial" pitchFamily="34" charset="0"/>
                <a:ea typeface="Arial" pitchFamily="34" charset="-122"/>
                <a:cs typeface="Arial" pitchFamily="34" charset="-120"/>
              </a:rPr>
              <a:t>Phù hợp: Ngữ văn, Lịch sử - Địa lí, GDCD, KHTN</a:t>
            </a:r>
            <a:endParaRPr lang="en-US" sz="1600" dirty="0"/>
          </a:p>
        </p:txBody>
      </p:sp>
      <p:sp>
        <p:nvSpPr>
          <p:cNvPr id="7" name="Text 5"/>
          <p:cNvSpPr/>
          <p:nvPr/>
        </p:nvSpPr>
        <p:spPr>
          <a:xfrm>
            <a:off x="822960" y="1828800"/>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841248" y="23957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Đặt câu hỏi</a:t>
            </a:r>
            <a:endParaRPr lang="en-US" sz="1400" dirty="0"/>
          </a:p>
        </p:txBody>
      </p:sp>
      <p:sp>
        <p:nvSpPr>
          <p:cNvPr id="9" name="Text 7"/>
          <p:cNvSpPr/>
          <p:nvPr/>
        </p:nvSpPr>
        <p:spPr>
          <a:xfrm>
            <a:off x="841248" y="2761488"/>
            <a:ext cx="2564892" cy="182880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GV đưa một câu hỏi học tập và yêu cầu học sinh hỏi công cụ AI.</a:t>
            </a:r>
            <a:endParaRPr lang="en-US" sz="1150" dirty="0"/>
          </a:p>
        </p:txBody>
      </p:sp>
      <p:sp>
        <p:nvSpPr>
          <p:cNvPr id="10" name="Text 8"/>
          <p:cNvSpPr/>
          <p:nvPr/>
        </p:nvSpPr>
        <p:spPr>
          <a:xfrm>
            <a:off x="3497580" y="1828800"/>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3515868" y="23957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Đối chiếu nguồn</a:t>
            </a:r>
            <a:endParaRPr lang="en-US" sz="1400" dirty="0"/>
          </a:p>
        </p:txBody>
      </p:sp>
      <p:sp>
        <p:nvSpPr>
          <p:cNvPr id="12" name="Text 10"/>
          <p:cNvSpPr/>
          <p:nvPr/>
        </p:nvSpPr>
        <p:spPr>
          <a:xfrm>
            <a:off x="3515868" y="2761488"/>
            <a:ext cx="2564892" cy="182880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Học sinh so sánh câu trả lời với SGK, tài liệu GV cung cấp hoặc nguồn chính thống.</a:t>
            </a:r>
            <a:endParaRPr lang="en-US" sz="1150" dirty="0"/>
          </a:p>
        </p:txBody>
      </p:sp>
      <p:sp>
        <p:nvSpPr>
          <p:cNvPr id="13" name="Text 11"/>
          <p:cNvSpPr/>
          <p:nvPr/>
        </p:nvSpPr>
        <p:spPr>
          <a:xfrm>
            <a:off x="6172200" y="1828800"/>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6190488" y="23957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Đánh dấu lỗi</a:t>
            </a:r>
            <a:endParaRPr lang="en-US" sz="1400" dirty="0"/>
          </a:p>
        </p:txBody>
      </p:sp>
      <p:sp>
        <p:nvSpPr>
          <p:cNvPr id="15" name="Text 13"/>
          <p:cNvSpPr/>
          <p:nvPr/>
        </p:nvSpPr>
        <p:spPr>
          <a:xfrm>
            <a:off x="6190488" y="2761488"/>
            <a:ext cx="2564892" cy="182880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Tìm điểm đúng, sai, thiếu căn cứ, diễn đạt mơ hồ hoặc có thiên vị.</a:t>
            </a:r>
            <a:endParaRPr lang="en-US" sz="1150" dirty="0"/>
          </a:p>
        </p:txBody>
      </p:sp>
      <p:sp>
        <p:nvSpPr>
          <p:cNvPr id="16" name="Text 14"/>
          <p:cNvSpPr/>
          <p:nvPr/>
        </p:nvSpPr>
        <p:spPr>
          <a:xfrm>
            <a:off x="8846820" y="1828800"/>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7" name="Text 15"/>
          <p:cNvSpPr/>
          <p:nvPr/>
        </p:nvSpPr>
        <p:spPr>
          <a:xfrm>
            <a:off x="8865108" y="23957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Sửa &amp; giải thích</a:t>
            </a:r>
            <a:endParaRPr lang="en-US" sz="1400" dirty="0"/>
          </a:p>
        </p:txBody>
      </p:sp>
      <p:sp>
        <p:nvSpPr>
          <p:cNvPr id="18" name="Text 16"/>
          <p:cNvSpPr/>
          <p:nvPr/>
        </p:nvSpPr>
        <p:spPr>
          <a:xfrm>
            <a:off x="8865108" y="2761488"/>
            <a:ext cx="2564892" cy="182880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Viết lại câu trả lời cuối cùng, kèm minh chứng và ghi rõ đã dùng AI như thế nào.</a:t>
            </a:r>
            <a:endParaRPr lang="en-US" sz="1150" dirty="0"/>
          </a:p>
        </p:txBody>
      </p:sp>
      <p:sp>
        <p:nvSpPr>
          <p:cNvPr id="19" name="Text 17"/>
          <p:cNvSpPr/>
          <p:nvPr/>
        </p:nvSpPr>
        <p:spPr>
          <a:xfrm>
            <a:off x="1188720" y="5394960"/>
            <a:ext cx="9784080" cy="621792"/>
          </a:xfrm>
          <a:prstGeom prst="rect">
            <a:avLst/>
          </a:prstGeom>
          <a:solidFill>
            <a:srgbClr val="FFF3DD"/>
          </a:solidFill>
          <a:ln>
            <a:solidFill>
              <a:srgbClr val="F3D2A0"/>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700" dirty="0">
                <a:solidFill>
                  <a:srgbClr val="24323F"/>
                </a:solidFill>
                <a:latin typeface="Arial" pitchFamily="34" charset="0"/>
                <a:ea typeface="Arial" pitchFamily="34" charset="-122"/>
                <a:cs typeface="Arial" pitchFamily="34" charset="-120"/>
              </a:rPr>
              <a:t>Sản phẩm nộp: bảng “AI trả lời gì – em kiểm chứng ra sao – em sửa lại thế nào”.</a:t>
            </a:r>
            <a:endParaRPr lang="en-US" sz="1700" dirty="0"/>
          </a:p>
        </p:txBody>
      </p:sp>
      <p:sp>
        <p:nvSpPr>
          <p:cNvPr id="20" name="Text 18"/>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1" name="Text 19"/>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10</a:t>
            </a:r>
            <a:endParaRPr lang="en-US" sz="9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MẪU HOẠT ĐỘNG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Ví dụ hoạt động 2: Từ dữ liệu đến nhận xét</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68680" y="1325880"/>
            <a:ext cx="5212080" cy="320040"/>
          </a:xfrm>
          <a:prstGeom prst="rect">
            <a:avLst/>
          </a:prstGeom>
          <a:noFill/>
          <a:ln/>
        </p:spPr>
        <p:txBody>
          <a:bodyPr wrap="square" lIns="0" tIns="0" rIns="0" bIns="0" rtlCol="0" anchor="ctr"/>
          <a:lstStyle/>
          <a:p>
            <a:pPr indent="0" marL="0">
              <a:buNone/>
            </a:pPr>
            <a:r>
              <a:rPr lang="en-US" sz="1600" dirty="0">
                <a:solidFill>
                  <a:srgbClr val="5D6B78"/>
                </a:solidFill>
                <a:latin typeface="Arial" pitchFamily="34" charset="0"/>
                <a:ea typeface="Arial" pitchFamily="34" charset="-122"/>
                <a:cs typeface="Arial" pitchFamily="34" charset="-120"/>
              </a:rPr>
              <a:t>Phù hợp: Toán, Khoa học tự nhiên, Tin học</a:t>
            </a:r>
            <a:endParaRPr lang="en-US" sz="1600" dirty="0"/>
          </a:p>
        </p:txBody>
      </p:sp>
      <p:sp>
        <p:nvSpPr>
          <p:cNvPr id="7" name="Text 5"/>
          <p:cNvSpPr/>
          <p:nvPr/>
        </p:nvSpPr>
        <p:spPr>
          <a:xfrm>
            <a:off x="868680" y="1920240"/>
            <a:ext cx="1828800" cy="320040"/>
          </a:xfrm>
          <a:prstGeom prst="rect">
            <a:avLst/>
          </a:prstGeom>
          <a:noFill/>
          <a:ln/>
        </p:spPr>
        <p:txBody>
          <a:bodyPr wrap="square" lIns="0" tIns="0" rIns="0" bIns="0" rtlCol="0" anchor="ctr"/>
          <a:lstStyle/>
          <a:p>
            <a:pPr indent="0" marL="0">
              <a:buNone/>
            </a:pPr>
            <a:r>
              <a:rPr lang="en-US" sz="1600" b="1" dirty="0">
                <a:solidFill>
                  <a:srgbClr val="1F9D8A"/>
                </a:solidFill>
                <a:latin typeface="Arial" pitchFamily="34" charset="0"/>
                <a:ea typeface="Arial" pitchFamily="34" charset="-122"/>
                <a:cs typeface="Arial" pitchFamily="34" charset="-120"/>
              </a:rPr>
              <a:t>Bối cảnh</a:t>
            </a:r>
            <a:endParaRPr lang="en-US" sz="1600" dirty="0"/>
          </a:p>
        </p:txBody>
      </p:sp>
      <p:sp>
        <p:nvSpPr>
          <p:cNvPr id="8" name="Text 6"/>
          <p:cNvSpPr/>
          <p:nvPr/>
        </p:nvSpPr>
        <p:spPr>
          <a:xfrm>
            <a:off x="868680" y="2331720"/>
            <a:ext cx="4389120" cy="914400"/>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GV cung cấp bảng dữ liệu đơn giản: điểm khảo sát, nhiệt độ, chiều cao cây, kết quả thí nghiệm, số lượt đọc sách...</a:t>
            </a:r>
            <a:endParaRPr lang="en-US" sz="1500" dirty="0"/>
          </a:p>
        </p:txBody>
      </p:sp>
      <p:sp>
        <p:nvSpPr>
          <p:cNvPr id="9" name="Text 7"/>
          <p:cNvSpPr/>
          <p:nvPr/>
        </p:nvSpPr>
        <p:spPr>
          <a:xfrm>
            <a:off x="5852160" y="1920240"/>
            <a:ext cx="2377440" cy="320040"/>
          </a:xfrm>
          <a:prstGeom prst="rect">
            <a:avLst/>
          </a:prstGeom>
          <a:noFill/>
          <a:ln/>
        </p:spPr>
        <p:txBody>
          <a:bodyPr wrap="square" lIns="0" tIns="0" rIns="0" bIns="0" rtlCol="0" anchor="ctr"/>
          <a:lstStyle/>
          <a:p>
            <a:pPr indent="0" marL="0">
              <a:buNone/>
            </a:pPr>
            <a:r>
              <a:rPr lang="en-US" sz="1600" b="1" dirty="0">
                <a:solidFill>
                  <a:srgbClr val="1F9D8A"/>
                </a:solidFill>
                <a:latin typeface="Arial" pitchFamily="34" charset="0"/>
                <a:ea typeface="Arial" pitchFamily="34" charset="-122"/>
                <a:cs typeface="Arial" pitchFamily="34" charset="-120"/>
              </a:rPr>
              <a:t>Nhiệm vụ học sinh</a:t>
            </a:r>
            <a:endParaRPr lang="en-US" sz="1600" dirty="0"/>
          </a:p>
        </p:txBody>
      </p:sp>
      <p:sp>
        <p:nvSpPr>
          <p:cNvPr id="10" name="Text 8"/>
          <p:cNvSpPr/>
          <p:nvPr/>
        </p:nvSpPr>
        <p:spPr>
          <a:xfrm>
            <a:off x="5852160" y="2359152"/>
            <a:ext cx="228600" cy="228600"/>
          </a:xfrm>
          <a:prstGeom prst="rect">
            <a:avLst/>
          </a:prstGeom>
          <a:noFill/>
          <a:ln/>
        </p:spPr>
        <p:txBody>
          <a:bodyPr wrap="square" lIns="0" tIns="0" rIns="0" bIns="0" rtlCol="0" anchor="ctr"/>
          <a:lstStyle/>
          <a:p>
            <a:pPr algn="ctr" indent="0" marL="0">
              <a:buNone/>
            </a:pPr>
            <a:r>
              <a:rPr lang="en-US" sz="1700" dirty="0">
                <a:solidFill>
                  <a:srgbClr val="1F9D8A"/>
                </a:solidFill>
                <a:latin typeface="Arial" pitchFamily="34" charset="0"/>
                <a:ea typeface="Arial" pitchFamily="34" charset="-122"/>
                <a:cs typeface="Arial" pitchFamily="34" charset="-120"/>
              </a:rPr>
              <a:t>•</a:t>
            </a:r>
            <a:endParaRPr lang="en-US" sz="1700" dirty="0"/>
          </a:p>
        </p:txBody>
      </p:sp>
      <p:sp>
        <p:nvSpPr>
          <p:cNvPr id="11" name="Text 9"/>
          <p:cNvSpPr/>
          <p:nvPr/>
        </p:nvSpPr>
        <p:spPr>
          <a:xfrm>
            <a:off x="6172200" y="2331720"/>
            <a:ext cx="4617720" cy="347472"/>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Nhập dữ liệu vào bảng.</a:t>
            </a:r>
            <a:endParaRPr lang="en-US" sz="1500" dirty="0"/>
          </a:p>
        </p:txBody>
      </p:sp>
      <p:sp>
        <p:nvSpPr>
          <p:cNvPr id="12" name="Text 10"/>
          <p:cNvSpPr/>
          <p:nvPr/>
        </p:nvSpPr>
        <p:spPr>
          <a:xfrm>
            <a:off x="5852160" y="2706624"/>
            <a:ext cx="228600" cy="228600"/>
          </a:xfrm>
          <a:prstGeom prst="rect">
            <a:avLst/>
          </a:prstGeom>
          <a:noFill/>
          <a:ln/>
        </p:spPr>
        <p:txBody>
          <a:bodyPr wrap="square" lIns="0" tIns="0" rIns="0" bIns="0" rtlCol="0" anchor="ctr"/>
          <a:lstStyle/>
          <a:p>
            <a:pPr algn="ctr" indent="0" marL="0">
              <a:buNone/>
            </a:pPr>
            <a:r>
              <a:rPr lang="en-US" sz="1700" dirty="0">
                <a:solidFill>
                  <a:srgbClr val="1F9D8A"/>
                </a:solidFill>
                <a:latin typeface="Arial" pitchFamily="34" charset="0"/>
                <a:ea typeface="Arial" pitchFamily="34" charset="-122"/>
                <a:cs typeface="Arial" pitchFamily="34" charset="-120"/>
              </a:rPr>
              <a:t>•</a:t>
            </a:r>
            <a:endParaRPr lang="en-US" sz="1700" dirty="0"/>
          </a:p>
        </p:txBody>
      </p:sp>
      <p:sp>
        <p:nvSpPr>
          <p:cNvPr id="13" name="Text 11"/>
          <p:cNvSpPr/>
          <p:nvPr/>
        </p:nvSpPr>
        <p:spPr>
          <a:xfrm>
            <a:off x="6172200" y="2679192"/>
            <a:ext cx="4617720" cy="347472"/>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Nhờ AI gợi ý biểu đồ/nhận xét.</a:t>
            </a:r>
            <a:endParaRPr lang="en-US" sz="1500" dirty="0"/>
          </a:p>
        </p:txBody>
      </p:sp>
      <p:sp>
        <p:nvSpPr>
          <p:cNvPr id="14" name="Text 12"/>
          <p:cNvSpPr/>
          <p:nvPr/>
        </p:nvSpPr>
        <p:spPr>
          <a:xfrm>
            <a:off x="5852160" y="3054096"/>
            <a:ext cx="228600" cy="228600"/>
          </a:xfrm>
          <a:prstGeom prst="rect">
            <a:avLst/>
          </a:prstGeom>
          <a:noFill/>
          <a:ln/>
        </p:spPr>
        <p:txBody>
          <a:bodyPr wrap="square" lIns="0" tIns="0" rIns="0" bIns="0" rtlCol="0" anchor="ctr"/>
          <a:lstStyle/>
          <a:p>
            <a:pPr algn="ctr" indent="0" marL="0">
              <a:buNone/>
            </a:pPr>
            <a:r>
              <a:rPr lang="en-US" sz="1700" dirty="0">
                <a:solidFill>
                  <a:srgbClr val="1F9D8A"/>
                </a:solidFill>
                <a:latin typeface="Arial" pitchFamily="34" charset="0"/>
                <a:ea typeface="Arial" pitchFamily="34" charset="-122"/>
                <a:cs typeface="Arial" pitchFamily="34" charset="-120"/>
              </a:rPr>
              <a:t>•</a:t>
            </a:r>
            <a:endParaRPr lang="en-US" sz="1700" dirty="0"/>
          </a:p>
        </p:txBody>
      </p:sp>
      <p:sp>
        <p:nvSpPr>
          <p:cNvPr id="15" name="Text 13"/>
          <p:cNvSpPr/>
          <p:nvPr/>
        </p:nvSpPr>
        <p:spPr>
          <a:xfrm>
            <a:off x="6172200" y="3026664"/>
            <a:ext cx="4617720" cy="347472"/>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Kiểm tra lại phép tính và kết luận.</a:t>
            </a:r>
            <a:endParaRPr lang="en-US" sz="1500" dirty="0"/>
          </a:p>
        </p:txBody>
      </p:sp>
      <p:sp>
        <p:nvSpPr>
          <p:cNvPr id="16" name="Text 14"/>
          <p:cNvSpPr/>
          <p:nvPr/>
        </p:nvSpPr>
        <p:spPr>
          <a:xfrm>
            <a:off x="5852160" y="3401568"/>
            <a:ext cx="228600" cy="228600"/>
          </a:xfrm>
          <a:prstGeom prst="rect">
            <a:avLst/>
          </a:prstGeom>
          <a:noFill/>
          <a:ln/>
        </p:spPr>
        <p:txBody>
          <a:bodyPr wrap="square" lIns="0" tIns="0" rIns="0" bIns="0" rtlCol="0" anchor="ctr"/>
          <a:lstStyle/>
          <a:p>
            <a:pPr algn="ctr" indent="0" marL="0">
              <a:buNone/>
            </a:pPr>
            <a:r>
              <a:rPr lang="en-US" sz="1700" dirty="0">
                <a:solidFill>
                  <a:srgbClr val="1F9D8A"/>
                </a:solidFill>
                <a:latin typeface="Arial" pitchFamily="34" charset="0"/>
                <a:ea typeface="Arial" pitchFamily="34" charset="-122"/>
                <a:cs typeface="Arial" pitchFamily="34" charset="-120"/>
              </a:rPr>
              <a:t>•</a:t>
            </a:r>
            <a:endParaRPr lang="en-US" sz="1700" dirty="0"/>
          </a:p>
        </p:txBody>
      </p:sp>
      <p:sp>
        <p:nvSpPr>
          <p:cNvPr id="17" name="Text 15"/>
          <p:cNvSpPr/>
          <p:nvPr/>
        </p:nvSpPr>
        <p:spPr>
          <a:xfrm>
            <a:off x="6172200" y="3374136"/>
            <a:ext cx="4617720" cy="347472"/>
          </a:xfrm>
          <a:prstGeom prst="rect">
            <a:avLst/>
          </a:prstGeom>
          <a:noFill/>
          <a:ln/>
        </p:spPr>
        <p:txBody>
          <a:bodyPr wrap="square" lIns="0" tIns="0" rIns="0" bIns="0" rtlCol="0" anchor="ctr">
            <a:normAutofit/>
          </a:bodyPr>
          <a:lstStyle/>
          <a:p>
            <a:pPr indent="0" marL="0">
              <a:buNone/>
            </a:pPr>
            <a:r>
              <a:rPr lang="en-US" sz="1500" dirty="0">
                <a:solidFill>
                  <a:srgbClr val="24323F"/>
                </a:solidFill>
                <a:latin typeface="Arial" pitchFamily="34" charset="0"/>
                <a:ea typeface="Arial" pitchFamily="34" charset="-122"/>
                <a:cs typeface="Arial" pitchFamily="34" charset="-120"/>
              </a:rPr>
              <a:t>Nêu giới hạn: dữ liệu ít, sai số, cách thu thập.</a:t>
            </a:r>
            <a:endParaRPr lang="en-US" sz="1500" dirty="0"/>
          </a:p>
        </p:txBody>
      </p:sp>
      <p:sp>
        <p:nvSpPr>
          <p:cNvPr id="18" name="Text 16"/>
          <p:cNvSpPr/>
          <p:nvPr/>
        </p:nvSpPr>
        <p:spPr>
          <a:xfrm>
            <a:off x="1188720" y="5349240"/>
            <a:ext cx="9784080" cy="621792"/>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700" dirty="0">
                <a:solidFill>
                  <a:srgbClr val="24323F"/>
                </a:solidFill>
                <a:latin typeface="Arial" pitchFamily="34" charset="0"/>
                <a:ea typeface="Arial" pitchFamily="34" charset="-122"/>
                <a:cs typeface="Arial" pitchFamily="34" charset="-120"/>
              </a:rPr>
              <a:t>Điểm nhấn sư phạm: AI có thể gợi ý, nhưng học sinh phải hiểu dữ liệu và chịu trách nhiệm về kết luận.</a:t>
            </a:r>
            <a:endParaRPr lang="en-US" sz="1700" dirty="0"/>
          </a:p>
        </p:txBody>
      </p:sp>
      <p:sp>
        <p:nvSpPr>
          <p:cNvPr id="19" name="Text 1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0" name="Text 1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11</a:t>
            </a:r>
            <a:endParaRPr lang="en-US" sz="900" dirty="0"/>
          </a:p>
        </p:txBody>
      </p:sp>
    </p:spTree>
  </p:cSld>
  <p:clrMapOvr>
    <a:masterClrMapping/>
  </p:clrMapOvr>
  <p:transition spd="med">
    <p:wipe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MẪU HOẠT ĐỘNG</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Ví dụ hoạt động 3: Dự án nhỏ “AI an toàn trong trường học”</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914400" y="1389888"/>
            <a:ext cx="10287000" cy="658368"/>
          </a:xfrm>
          <a:prstGeom prst="rect">
            <a:avLst/>
          </a:prstGeom>
          <a:solidFill>
            <a:srgbClr val="EEF7FF"/>
          </a:solidFill>
          <a:ln>
            <a:solidFill>
              <a:srgbClr val="D8E3E7"/>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Đề bài: Nhóm học sinh thiết kế một sản phẩm truyền thông hướng dẫn bạn bè sử dụng AI an toàn, trung thực và có trách nhiệm.</a:t>
            </a:r>
            <a:endParaRPr lang="en-US" sz="1600" dirty="0"/>
          </a:p>
        </p:txBody>
      </p:sp>
      <p:sp>
        <p:nvSpPr>
          <p:cNvPr id="7" name="Text 5"/>
          <p:cNvSpPr/>
          <p:nvPr/>
        </p:nvSpPr>
        <p:spPr>
          <a:xfrm>
            <a:off x="868680" y="2606040"/>
            <a:ext cx="2240280" cy="329184"/>
          </a:xfrm>
          <a:prstGeom prst="rect">
            <a:avLst/>
          </a:prstGeom>
          <a:solidFill>
            <a:srgbClr val="1F9D8A"/>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Khảo sát</a:t>
            </a:r>
            <a:endParaRPr lang="en-US" sz="1600" dirty="0"/>
          </a:p>
        </p:txBody>
      </p:sp>
      <p:sp>
        <p:nvSpPr>
          <p:cNvPr id="8" name="Text 6"/>
          <p:cNvSpPr/>
          <p:nvPr/>
        </p:nvSpPr>
        <p:spPr>
          <a:xfrm>
            <a:off x="868680" y="3154680"/>
            <a:ext cx="2240280" cy="1325880"/>
          </a:xfrm>
          <a:prstGeom prst="rect">
            <a:avLst/>
          </a:prstGeom>
          <a:solidFill>
            <a:srgbClr val="FFFFFF"/>
          </a:solidFill>
          <a:ln>
            <a:solidFill>
              <a:srgbClr val="D8E3E7"/>
            </a:solidFill>
          </a:ln>
        </p:spPr>
        <p:txBody>
          <a:bodyPr wrap="square" lIns="1270" tIns="1270" rIns="1270" bIns="1270" rtlCol="0" anchor="ctr">
            <a:normAutofit/>
          </a:bodyPr>
          <a:lstStyle/>
          <a:p>
            <a:pPr indent="0" marL="0">
              <a:buNone/>
            </a:pPr>
            <a:r>
              <a:rPr lang="en-US" sz="1330" dirty="0">
                <a:solidFill>
                  <a:srgbClr val="24323F"/>
                </a:solidFill>
                <a:latin typeface="Arial" pitchFamily="34" charset="0"/>
                <a:ea typeface="Arial" pitchFamily="34" charset="-122"/>
                <a:cs typeface="Arial" pitchFamily="34" charset="-120"/>
              </a:rPr>
              <a:t>Học sinh hỏi bạn bè: các em đang dùng AI vào việc gì? Lo ngại điều gì?</a:t>
            </a:r>
            <a:endParaRPr lang="en-US" sz="1330" dirty="0"/>
          </a:p>
        </p:txBody>
      </p:sp>
      <p:sp>
        <p:nvSpPr>
          <p:cNvPr id="9" name="Text 7"/>
          <p:cNvSpPr/>
          <p:nvPr/>
        </p:nvSpPr>
        <p:spPr>
          <a:xfrm>
            <a:off x="3611880" y="2606040"/>
            <a:ext cx="2240280" cy="329184"/>
          </a:xfrm>
          <a:prstGeom prst="rect">
            <a:avLst/>
          </a:prstGeom>
          <a:solidFill>
            <a:srgbClr val="F3A712"/>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Tạo sản phẩm</a:t>
            </a:r>
            <a:endParaRPr lang="en-US" sz="1600" dirty="0"/>
          </a:p>
        </p:txBody>
      </p:sp>
      <p:sp>
        <p:nvSpPr>
          <p:cNvPr id="10" name="Text 8"/>
          <p:cNvSpPr/>
          <p:nvPr/>
        </p:nvSpPr>
        <p:spPr>
          <a:xfrm>
            <a:off x="3611880" y="3154680"/>
            <a:ext cx="2240280" cy="1325880"/>
          </a:xfrm>
          <a:prstGeom prst="rect">
            <a:avLst/>
          </a:prstGeom>
          <a:solidFill>
            <a:srgbClr val="FFFFFF"/>
          </a:solidFill>
          <a:ln>
            <a:solidFill>
              <a:srgbClr val="D8E3E7"/>
            </a:solidFill>
          </a:ln>
        </p:spPr>
        <p:txBody>
          <a:bodyPr wrap="square" lIns="1270" tIns="1270" rIns="1270" bIns="1270" rtlCol="0" anchor="ctr">
            <a:normAutofit/>
          </a:bodyPr>
          <a:lstStyle/>
          <a:p>
            <a:pPr indent="0" marL="0">
              <a:buNone/>
            </a:pPr>
            <a:r>
              <a:rPr lang="en-US" sz="1330" dirty="0">
                <a:solidFill>
                  <a:srgbClr val="24323F"/>
                </a:solidFill>
                <a:latin typeface="Arial" pitchFamily="34" charset="0"/>
                <a:ea typeface="Arial" pitchFamily="34" charset="-122"/>
                <a:cs typeface="Arial" pitchFamily="34" charset="-120"/>
              </a:rPr>
              <a:t>Poster, slide, video ngắn, checklist hoặc quy tắc lớp học.</a:t>
            </a:r>
            <a:endParaRPr lang="en-US" sz="1330" dirty="0"/>
          </a:p>
        </p:txBody>
      </p:sp>
      <p:sp>
        <p:nvSpPr>
          <p:cNvPr id="11" name="Text 9"/>
          <p:cNvSpPr/>
          <p:nvPr/>
        </p:nvSpPr>
        <p:spPr>
          <a:xfrm>
            <a:off x="6355080" y="2606040"/>
            <a:ext cx="2240280" cy="329184"/>
          </a:xfrm>
          <a:prstGeom prst="rect">
            <a:avLst/>
          </a:prstGeom>
          <a:solidFill>
            <a:srgbClr val="EF6F6C"/>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Khai báo AI</a:t>
            </a:r>
            <a:endParaRPr lang="en-US" sz="1600" dirty="0"/>
          </a:p>
        </p:txBody>
      </p:sp>
      <p:sp>
        <p:nvSpPr>
          <p:cNvPr id="12" name="Text 10"/>
          <p:cNvSpPr/>
          <p:nvPr/>
        </p:nvSpPr>
        <p:spPr>
          <a:xfrm>
            <a:off x="6355080" y="3154680"/>
            <a:ext cx="2240280" cy="1325880"/>
          </a:xfrm>
          <a:prstGeom prst="rect">
            <a:avLst/>
          </a:prstGeom>
          <a:solidFill>
            <a:srgbClr val="FFFFFF"/>
          </a:solidFill>
          <a:ln>
            <a:solidFill>
              <a:srgbClr val="D8E3E7"/>
            </a:solidFill>
          </a:ln>
        </p:spPr>
        <p:txBody>
          <a:bodyPr wrap="square" lIns="1270" tIns="1270" rIns="1270" bIns="1270" rtlCol="0" anchor="ctr">
            <a:normAutofit/>
          </a:bodyPr>
          <a:lstStyle/>
          <a:p>
            <a:pPr indent="0" marL="0">
              <a:buNone/>
            </a:pPr>
            <a:r>
              <a:rPr lang="en-US" sz="1330" dirty="0">
                <a:solidFill>
                  <a:srgbClr val="24323F"/>
                </a:solidFill>
                <a:latin typeface="Arial" pitchFamily="34" charset="0"/>
                <a:ea typeface="Arial" pitchFamily="34" charset="-122"/>
                <a:cs typeface="Arial" pitchFamily="34" charset="-120"/>
              </a:rPr>
              <a:t>Ghi rõ công cụ đã dùng, prompt chính, phần AI hỗ trợ và phần nhóm tự chỉnh sửa.</a:t>
            </a:r>
            <a:endParaRPr lang="en-US" sz="1330" dirty="0"/>
          </a:p>
        </p:txBody>
      </p:sp>
      <p:sp>
        <p:nvSpPr>
          <p:cNvPr id="13" name="Text 11"/>
          <p:cNvSpPr/>
          <p:nvPr/>
        </p:nvSpPr>
        <p:spPr>
          <a:xfrm>
            <a:off x="9098280" y="2606040"/>
            <a:ext cx="2240280" cy="329184"/>
          </a:xfrm>
          <a:prstGeom prst="rect">
            <a:avLst/>
          </a:prstGeom>
          <a:solidFill>
            <a:srgbClr val="17324D"/>
          </a:solidFill>
          <a:ln>
            <a:solidFill>
              <a:srgbClr val="FFFFFF">
                <a:alpha val="0"/>
              </a:srgbClr>
            </a:solid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Phản hồi</a:t>
            </a:r>
            <a:endParaRPr lang="en-US" sz="1600" dirty="0"/>
          </a:p>
        </p:txBody>
      </p:sp>
      <p:sp>
        <p:nvSpPr>
          <p:cNvPr id="14" name="Text 12"/>
          <p:cNvSpPr/>
          <p:nvPr/>
        </p:nvSpPr>
        <p:spPr>
          <a:xfrm>
            <a:off x="9098280" y="3154680"/>
            <a:ext cx="2240280" cy="1325880"/>
          </a:xfrm>
          <a:prstGeom prst="rect">
            <a:avLst/>
          </a:prstGeom>
          <a:solidFill>
            <a:srgbClr val="FFFFFF"/>
          </a:solidFill>
          <a:ln>
            <a:solidFill>
              <a:srgbClr val="D8E3E7"/>
            </a:solidFill>
          </a:ln>
        </p:spPr>
        <p:txBody>
          <a:bodyPr wrap="square" lIns="1270" tIns="1270" rIns="1270" bIns="1270" rtlCol="0" anchor="ctr">
            <a:normAutofit/>
          </a:bodyPr>
          <a:lstStyle/>
          <a:p>
            <a:pPr indent="0" marL="0">
              <a:buNone/>
            </a:pPr>
            <a:r>
              <a:rPr lang="en-US" sz="1330" dirty="0">
                <a:solidFill>
                  <a:srgbClr val="24323F"/>
                </a:solidFill>
                <a:latin typeface="Arial" pitchFamily="34" charset="0"/>
                <a:ea typeface="Arial" pitchFamily="34" charset="-122"/>
                <a:cs typeface="Arial" pitchFamily="34" charset="-120"/>
              </a:rPr>
              <a:t>Trưng bày sản phẩm, nhận góp ý, cải tiến phiên bản cuối.</a:t>
            </a:r>
            <a:endParaRPr lang="en-US" sz="1330" dirty="0"/>
          </a:p>
        </p:txBody>
      </p:sp>
      <p:sp>
        <p:nvSpPr>
          <p:cNvPr id="15" name="Text 13"/>
          <p:cNvSpPr/>
          <p:nvPr/>
        </p:nvSpPr>
        <p:spPr>
          <a:xfrm>
            <a:off x="1188720" y="5596128"/>
            <a:ext cx="9784080" cy="502920"/>
          </a:xfrm>
          <a:prstGeom prst="rect">
            <a:avLst/>
          </a:prstGeom>
          <a:solidFill>
            <a:srgbClr val="FFF3DD"/>
          </a:solidFill>
          <a:ln>
            <a:solidFill>
              <a:srgbClr val="F3D2A0"/>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600" dirty="0">
                <a:solidFill>
                  <a:srgbClr val="24323F"/>
                </a:solidFill>
                <a:latin typeface="Arial" pitchFamily="34" charset="0"/>
                <a:ea typeface="Arial" pitchFamily="34" charset="-122"/>
                <a:cs typeface="Arial" pitchFamily="34" charset="-120"/>
              </a:rPr>
              <a:t>Đánh giá bằng rubric: đúng nội dung – có minh chứng – có khai báo AI – có cải tiến sau phản hồi.</a:t>
            </a:r>
            <a:endParaRPr lang="en-US" sz="1600" dirty="0"/>
          </a:p>
        </p:txBody>
      </p:sp>
      <p:sp>
        <p:nvSpPr>
          <p:cNvPr id="16" name="Text 14"/>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17" name="Text 15"/>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12</a:t>
            </a:r>
            <a:endParaRPr lang="en-US" sz="900" dirty="0"/>
          </a:p>
        </p:txBody>
      </p:sp>
    </p:spTree>
  </p:cSld>
  <p:clrMapOvr>
    <a:masterClrMapping/>
  </p:clrMapOvr>
  <p:transition spd="med">
    <p:split orient="horz" dir="out"/>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CÔNG CỤ HỖ TRỢ GV</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Dùng NotebookLM để tạo bài trình bày từ nguồn PDF</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22960" y="1600200"/>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41248" y="21671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1. Nạp nguồn</a:t>
            </a:r>
            <a:endParaRPr lang="en-US" sz="1400" dirty="0"/>
          </a:p>
        </p:txBody>
      </p:sp>
      <p:sp>
        <p:nvSpPr>
          <p:cNvPr id="8" name="Text 6"/>
          <p:cNvSpPr/>
          <p:nvPr/>
        </p:nvSpPr>
        <p:spPr>
          <a:xfrm>
            <a:off x="841248" y="2532888"/>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Tải Quyết định, Khung AI, kế hoạch nhà trường, tài liệu môn học vào cùng một notebook.</a:t>
            </a:r>
            <a:endParaRPr lang="en-US" sz="1150" dirty="0"/>
          </a:p>
        </p:txBody>
      </p:sp>
      <p:sp>
        <p:nvSpPr>
          <p:cNvPr id="9" name="Text 7"/>
          <p:cNvSpPr/>
          <p:nvPr/>
        </p:nvSpPr>
        <p:spPr>
          <a:xfrm>
            <a:off x="3497580" y="1600200"/>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3515868" y="21671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2. Hỏi để hiểu</a:t>
            </a:r>
            <a:endParaRPr lang="en-US" sz="1400" dirty="0"/>
          </a:p>
        </p:txBody>
      </p:sp>
      <p:sp>
        <p:nvSpPr>
          <p:cNvPr id="11" name="Text 9"/>
          <p:cNvSpPr/>
          <p:nvPr/>
        </p:nvSpPr>
        <p:spPr>
          <a:xfrm>
            <a:off x="3515868" y="2532888"/>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Yêu cầu NotebookLM tóm tắt mục tiêu, nội dung THCS, yêu cầu cần đạt và cách tổ chức.</a:t>
            </a:r>
            <a:endParaRPr lang="en-US" sz="1150" dirty="0"/>
          </a:p>
        </p:txBody>
      </p:sp>
      <p:sp>
        <p:nvSpPr>
          <p:cNvPr id="12" name="Text 10"/>
          <p:cNvSpPr/>
          <p:nvPr/>
        </p:nvSpPr>
        <p:spPr>
          <a:xfrm>
            <a:off x="6172200" y="1600200"/>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6190488" y="21671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3. Lập outline</a:t>
            </a:r>
            <a:endParaRPr lang="en-US" sz="1400" dirty="0"/>
          </a:p>
        </p:txBody>
      </p:sp>
      <p:sp>
        <p:nvSpPr>
          <p:cNvPr id="14" name="Text 12"/>
          <p:cNvSpPr/>
          <p:nvPr/>
        </p:nvSpPr>
        <p:spPr>
          <a:xfrm>
            <a:off x="6190488" y="2532888"/>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Yêu cầu tạo cấu trúc slide theo đối tượng nghe là giáo viên THCS.</a:t>
            </a:r>
            <a:endParaRPr lang="en-US" sz="1150" dirty="0"/>
          </a:p>
        </p:txBody>
      </p:sp>
      <p:sp>
        <p:nvSpPr>
          <p:cNvPr id="15" name="Text 13"/>
          <p:cNvSpPr/>
          <p:nvPr/>
        </p:nvSpPr>
        <p:spPr>
          <a:xfrm>
            <a:off x="8846820" y="1600200"/>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p:nvPr/>
        </p:nvSpPr>
        <p:spPr>
          <a:xfrm>
            <a:off x="8865108" y="2167128"/>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4. Sinh slide</a:t>
            </a:r>
            <a:endParaRPr lang="en-US" sz="1400" dirty="0"/>
          </a:p>
        </p:txBody>
      </p:sp>
      <p:sp>
        <p:nvSpPr>
          <p:cNvPr id="17" name="Text 15"/>
          <p:cNvSpPr/>
          <p:nvPr/>
        </p:nvSpPr>
        <p:spPr>
          <a:xfrm>
            <a:off x="8865108" y="2532888"/>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Yêu cầu mỗi slide một thông điệp, ít chữ, có lời thuyết trình và câu hỏi phản biện.</a:t>
            </a:r>
            <a:endParaRPr lang="en-US" sz="1150" dirty="0"/>
          </a:p>
        </p:txBody>
      </p:sp>
      <p:sp>
        <p:nvSpPr>
          <p:cNvPr id="18" name="Text 16"/>
          <p:cNvSpPr/>
          <p:nvPr/>
        </p:nvSpPr>
        <p:spPr>
          <a:xfrm>
            <a:off x="1234440" y="5394960"/>
            <a:ext cx="9692640" cy="640080"/>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650" dirty="0">
                <a:solidFill>
                  <a:srgbClr val="24323F"/>
                </a:solidFill>
                <a:latin typeface="Arial" pitchFamily="34" charset="0"/>
                <a:ea typeface="Arial" pitchFamily="34" charset="-122"/>
                <a:cs typeface="Arial" pitchFamily="34" charset="-120"/>
              </a:rPr>
              <a:t>Nguyên tắc: NotebookLM chỉ là trợ lý xử lý nguồn. Giáo viên vẫn phải kiểm tra lại số liệu, thuật ngữ và tính phù hợp với điều kiện trường mình.</a:t>
            </a:r>
            <a:endParaRPr lang="en-US" sz="1650" dirty="0"/>
          </a:p>
        </p:txBody>
      </p:sp>
      <p:sp>
        <p:nvSpPr>
          <p:cNvPr id="19" name="Text 1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0" name="Text 1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13</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PROMPT THỰC HÀNH</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Prompt mẫu để yêu cầu NotebookLM tạo slide tập huấn</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777240" y="1353312"/>
            <a:ext cx="10744200" cy="4343400"/>
          </a:xfrm>
          <a:prstGeom prst="rect">
            <a:avLst/>
          </a:prstGeom>
          <a:solidFill>
            <a:srgbClr val="FFFFFF"/>
          </a:solidFill>
          <a:ln>
            <a:solidFill>
              <a:srgbClr val="1F9D8A"/>
            </a:solidFill>
          </a:ln>
        </p:spPr>
        <p:txBody>
          <a:bodyPr wrap="square" lIns="2286" tIns="2286" rIns="2286" bIns="2286" rtlCol="0" anchor="ctr">
            <a:normAutofit/>
          </a:bodyPr>
          <a:lstStyle/>
          <a:p>
            <a:pPr indent="0" marL="0">
              <a:buNone/>
            </a:pPr>
            <a:r>
              <a:rPr lang="en-US" sz="1520" dirty="0">
                <a:solidFill>
                  <a:srgbClr val="24323F"/>
                </a:solidFill>
                <a:latin typeface="Arial" pitchFamily="34" charset="0"/>
                <a:ea typeface="Arial" pitchFamily="34" charset="-122"/>
                <a:cs typeface="Arial" pitchFamily="34" charset="-120"/>
              </a:rPr>
              <a:t>Dựa trên các nguồn PDF đã tải lên, hãy tạo bản trình bày cho Ban giám hiệu dùng để hướng dẫn giáo viên THCS triển khai giáo dục AI trong nhà trường.</a:t>
            </a:r>
            <a:endParaRPr lang="en-US" sz="1520" dirty="0"/>
          </a:p>
          <a:p>
            <a:pPr indent="0" marL="0">
              <a:buNone/>
            </a:pPr>
            <a:endParaRPr lang="en-US" sz="1520" dirty="0"/>
          </a:p>
          <a:p>
            <a:pPr indent="0" marL="0">
              <a:buNone/>
            </a:pPr>
            <a:r>
              <a:rPr lang="en-US" sz="1520" dirty="0">
                <a:solidFill>
                  <a:srgbClr val="24323F"/>
                </a:solidFill>
                <a:latin typeface="Arial" pitchFamily="34" charset="0"/>
                <a:ea typeface="Arial" pitchFamily="34" charset="-122"/>
                <a:cs typeface="Arial" pitchFamily="34" charset="-120"/>
              </a:rPr>
              <a:t>Đối tượng nghe: giáo viên THCS, không chuyên sâu về công nghệ.</a:t>
            </a:r>
            <a:endParaRPr lang="en-US" sz="1520" dirty="0"/>
          </a:p>
          <a:p>
            <a:pPr indent="0" marL="0">
              <a:buNone/>
            </a:pPr>
            <a:r>
              <a:rPr lang="en-US" sz="1520" dirty="0">
                <a:solidFill>
                  <a:srgbClr val="24323F"/>
                </a:solidFill>
                <a:latin typeface="Arial" pitchFamily="34" charset="0"/>
                <a:ea typeface="Arial" pitchFamily="34" charset="-122"/>
                <a:cs typeface="Arial" pitchFamily="34" charset="-120"/>
              </a:rPr>
              <a:t>Yêu cầu: dễ hiểu, thực tế, có thể áp dụng ngay.</a:t>
            </a:r>
            <a:endParaRPr lang="en-US" sz="1520" dirty="0"/>
          </a:p>
          <a:p>
            <a:pPr indent="0" marL="0">
              <a:buNone/>
            </a:pPr>
            <a:r>
              <a:rPr lang="en-US" sz="1520" dirty="0">
                <a:solidFill>
                  <a:srgbClr val="24323F"/>
                </a:solidFill>
                <a:latin typeface="Arial" pitchFamily="34" charset="0"/>
                <a:ea typeface="Arial" pitchFamily="34" charset="-122"/>
                <a:cs typeface="Arial" pitchFamily="34" charset="-120"/>
              </a:rPr>
              <a:t>Mỗi slide chỉ có một thông điệp chính, ít chữ, có ví dụ hoạt động dạy học.</a:t>
            </a:r>
            <a:endParaRPr lang="en-US" sz="1520" dirty="0"/>
          </a:p>
          <a:p>
            <a:pPr indent="0" marL="0">
              <a:buNone/>
            </a:pPr>
            <a:r>
              <a:rPr lang="en-US" sz="1520" dirty="0">
                <a:solidFill>
                  <a:srgbClr val="24323F"/>
                </a:solidFill>
                <a:latin typeface="Arial" pitchFamily="34" charset="0"/>
                <a:ea typeface="Arial" pitchFamily="34" charset="-122"/>
                <a:cs typeface="Arial" pitchFamily="34" charset="-120"/>
              </a:rPr>
              <a:t>Ưu tiên: mục tiêu THCS, 4 mạch năng lực, nội dung lớp 6–9, 12 tiết/năm, tích hợp môn học, đánh giá minh chứng.</a:t>
            </a:r>
            <a:endParaRPr lang="en-US" sz="1520" dirty="0"/>
          </a:p>
          <a:p>
            <a:pPr indent="0" marL="0">
              <a:buNone/>
            </a:pPr>
            <a:r>
              <a:rPr lang="en-US" sz="1520" dirty="0">
                <a:solidFill>
                  <a:srgbClr val="24323F"/>
                </a:solidFill>
                <a:latin typeface="Arial" pitchFamily="34" charset="0"/>
                <a:ea typeface="Arial" pitchFamily="34" charset="-122"/>
                <a:cs typeface="Arial" pitchFamily="34" charset="-120"/>
              </a:rPr>
              <a:t>Có lời thuyết trình cho từng slide.</a:t>
            </a:r>
            <a:endParaRPr lang="en-US" sz="1520" dirty="0"/>
          </a:p>
        </p:txBody>
      </p:sp>
      <p:sp>
        <p:nvSpPr>
          <p:cNvPr id="7" name="Text 5"/>
          <p:cNvSpPr/>
          <p:nvPr/>
        </p:nvSpPr>
        <p:spPr>
          <a:xfrm>
            <a:off x="1188720" y="5989320"/>
            <a:ext cx="9784080" cy="347472"/>
          </a:xfrm>
          <a:prstGeom prst="rect">
            <a:avLst/>
          </a:prstGeom>
          <a:solidFill>
            <a:srgbClr val="FFF3DD"/>
          </a:solidFill>
          <a:ln>
            <a:solidFill>
              <a:srgbClr val="F3D2A0"/>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400" dirty="0">
                <a:solidFill>
                  <a:srgbClr val="24323F"/>
                </a:solidFill>
                <a:latin typeface="Arial" pitchFamily="34" charset="0"/>
                <a:ea typeface="Arial" pitchFamily="34" charset="-122"/>
                <a:cs typeface="Arial" pitchFamily="34" charset="-120"/>
              </a:rPr>
              <a:t>Mẹo: yêu cầu NotebookLM “chưa tạo slide, chỉ lập outline trước” để dễ kiểm soát mạch trình bày.</a:t>
            </a:r>
            <a:endParaRPr lang="en-US" sz="1400" dirty="0"/>
          </a:p>
        </p:txBody>
      </p:sp>
      <p:sp>
        <p:nvSpPr>
          <p:cNvPr id="8" name="Text 6"/>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9" name="Text 7"/>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14</a:t>
            </a:r>
            <a:endParaRPr lang="en-US" sz="9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ĐÁNH GIÁ</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Đánh giá: không lập đầu điểm riêng, chú trọng minh chứng năng lực</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68680" y="1389888"/>
            <a:ext cx="3840480" cy="320040"/>
          </a:xfrm>
          <a:prstGeom prst="rect">
            <a:avLst/>
          </a:prstGeom>
          <a:noFill/>
          <a:ln/>
        </p:spPr>
        <p:txBody>
          <a:bodyPr wrap="square" lIns="0" tIns="0" rIns="0" bIns="0" rtlCol="0" anchor="ctr"/>
          <a:lstStyle/>
          <a:p>
            <a:pPr indent="0" marL="0">
              <a:buNone/>
            </a:pPr>
            <a:r>
              <a:rPr lang="en-US" sz="1800" b="1" dirty="0">
                <a:solidFill>
                  <a:srgbClr val="1F9D8A"/>
                </a:solidFill>
                <a:latin typeface="Arial" pitchFamily="34" charset="0"/>
                <a:ea typeface="Arial" pitchFamily="34" charset="-122"/>
                <a:cs typeface="Arial" pitchFamily="34" charset="-120"/>
              </a:rPr>
              <a:t>Minh chứng nên thu thập</a:t>
            </a:r>
            <a:endParaRPr lang="en-US" sz="1800" dirty="0"/>
          </a:p>
        </p:txBody>
      </p:sp>
      <p:sp>
        <p:nvSpPr>
          <p:cNvPr id="7" name="Text 5"/>
          <p:cNvSpPr/>
          <p:nvPr/>
        </p:nvSpPr>
        <p:spPr>
          <a:xfrm>
            <a:off x="868680" y="1901952"/>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8" name="Text 6"/>
          <p:cNvSpPr/>
          <p:nvPr/>
        </p:nvSpPr>
        <p:spPr>
          <a:xfrm>
            <a:off x="1188720" y="1874520"/>
            <a:ext cx="461772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Phiếu kiểm chứng kết quả AI.</a:t>
            </a:r>
            <a:endParaRPr lang="en-US" sz="1550" dirty="0"/>
          </a:p>
        </p:txBody>
      </p:sp>
      <p:sp>
        <p:nvSpPr>
          <p:cNvPr id="9" name="Text 7"/>
          <p:cNvSpPr/>
          <p:nvPr/>
        </p:nvSpPr>
        <p:spPr>
          <a:xfrm>
            <a:off x="868680" y="2249424"/>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10" name="Text 8"/>
          <p:cNvSpPr/>
          <p:nvPr/>
        </p:nvSpPr>
        <p:spPr>
          <a:xfrm>
            <a:off x="1188720" y="2221992"/>
            <a:ext cx="461772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Prompt/câu lệnh hoặc yêu cầu đã dùng.</a:t>
            </a:r>
            <a:endParaRPr lang="en-US" sz="1550" dirty="0"/>
          </a:p>
        </p:txBody>
      </p:sp>
      <p:sp>
        <p:nvSpPr>
          <p:cNvPr id="11" name="Text 9"/>
          <p:cNvSpPr/>
          <p:nvPr/>
        </p:nvSpPr>
        <p:spPr>
          <a:xfrm>
            <a:off x="868680" y="2596896"/>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12" name="Text 10"/>
          <p:cNvSpPr/>
          <p:nvPr/>
        </p:nvSpPr>
        <p:spPr>
          <a:xfrm>
            <a:off x="1188720" y="2569464"/>
            <a:ext cx="461772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Sản phẩm học tập và phiên bản đã chỉnh sửa.</a:t>
            </a:r>
            <a:endParaRPr lang="en-US" sz="1550" dirty="0"/>
          </a:p>
        </p:txBody>
      </p:sp>
      <p:sp>
        <p:nvSpPr>
          <p:cNvPr id="13" name="Text 11"/>
          <p:cNvSpPr/>
          <p:nvPr/>
        </p:nvSpPr>
        <p:spPr>
          <a:xfrm>
            <a:off x="868680" y="2944368"/>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14" name="Text 12"/>
          <p:cNvSpPr/>
          <p:nvPr/>
        </p:nvSpPr>
        <p:spPr>
          <a:xfrm>
            <a:off x="1188720" y="2916936"/>
            <a:ext cx="461772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Phần giải thích: vì sao chọn công cụ, dữ liệu, kết luận.</a:t>
            </a:r>
            <a:endParaRPr lang="en-US" sz="1550" dirty="0"/>
          </a:p>
        </p:txBody>
      </p:sp>
      <p:sp>
        <p:nvSpPr>
          <p:cNvPr id="15" name="Text 13"/>
          <p:cNvSpPr/>
          <p:nvPr/>
        </p:nvSpPr>
        <p:spPr>
          <a:xfrm>
            <a:off x="868680" y="3291840"/>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16" name="Text 14"/>
          <p:cNvSpPr/>
          <p:nvPr/>
        </p:nvSpPr>
        <p:spPr>
          <a:xfrm>
            <a:off x="1188720" y="3264408"/>
            <a:ext cx="461772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Khai báo việc sử dụng AI.</a:t>
            </a:r>
            <a:endParaRPr lang="en-US" sz="1550" dirty="0"/>
          </a:p>
        </p:txBody>
      </p:sp>
      <p:sp>
        <p:nvSpPr>
          <p:cNvPr id="17" name="Text 15"/>
          <p:cNvSpPr/>
          <p:nvPr/>
        </p:nvSpPr>
        <p:spPr>
          <a:xfrm>
            <a:off x="6400800" y="1389888"/>
            <a:ext cx="3840480" cy="320040"/>
          </a:xfrm>
          <a:prstGeom prst="rect">
            <a:avLst/>
          </a:prstGeom>
          <a:noFill/>
          <a:ln/>
        </p:spPr>
        <p:txBody>
          <a:bodyPr wrap="square" lIns="0" tIns="0" rIns="0" bIns="0" rtlCol="0" anchor="ctr"/>
          <a:lstStyle/>
          <a:p>
            <a:pPr indent="0" marL="0">
              <a:buNone/>
            </a:pPr>
            <a:r>
              <a:rPr lang="en-US" sz="1800" b="1" dirty="0">
                <a:solidFill>
                  <a:srgbClr val="1F9D8A"/>
                </a:solidFill>
                <a:latin typeface="Arial" pitchFamily="34" charset="0"/>
                <a:ea typeface="Arial" pitchFamily="34" charset="-122"/>
                <a:cs typeface="Arial" pitchFamily="34" charset="-120"/>
              </a:rPr>
              <a:t>Tiêu chí quan sát</a:t>
            </a:r>
            <a:endParaRPr lang="en-US" sz="1800" dirty="0"/>
          </a:p>
        </p:txBody>
      </p:sp>
      <p:sp>
        <p:nvSpPr>
          <p:cNvPr id="18" name="Text 16"/>
          <p:cNvSpPr/>
          <p:nvPr/>
        </p:nvSpPr>
        <p:spPr>
          <a:xfrm>
            <a:off x="6400800" y="1901952"/>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19" name="Text 17"/>
          <p:cNvSpPr/>
          <p:nvPr/>
        </p:nvSpPr>
        <p:spPr>
          <a:xfrm>
            <a:off x="6720840" y="1874520"/>
            <a:ext cx="443484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Có mục đích sử dụng AI rõ ràng.</a:t>
            </a:r>
            <a:endParaRPr lang="en-US" sz="1550" dirty="0"/>
          </a:p>
        </p:txBody>
      </p:sp>
      <p:sp>
        <p:nvSpPr>
          <p:cNvPr id="20" name="Text 18"/>
          <p:cNvSpPr/>
          <p:nvPr/>
        </p:nvSpPr>
        <p:spPr>
          <a:xfrm>
            <a:off x="6400800" y="2249424"/>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21" name="Text 19"/>
          <p:cNvSpPr/>
          <p:nvPr/>
        </p:nvSpPr>
        <p:spPr>
          <a:xfrm>
            <a:off x="6720840" y="2221992"/>
            <a:ext cx="443484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Biết bảo vệ dữ liệu cá nhân và bản quyền.</a:t>
            </a:r>
            <a:endParaRPr lang="en-US" sz="1550" dirty="0"/>
          </a:p>
        </p:txBody>
      </p:sp>
      <p:sp>
        <p:nvSpPr>
          <p:cNvPr id="22" name="Text 20"/>
          <p:cNvSpPr/>
          <p:nvPr/>
        </p:nvSpPr>
        <p:spPr>
          <a:xfrm>
            <a:off x="6400800" y="2596896"/>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23" name="Text 21"/>
          <p:cNvSpPr/>
          <p:nvPr/>
        </p:nvSpPr>
        <p:spPr>
          <a:xfrm>
            <a:off x="6720840" y="2569464"/>
            <a:ext cx="443484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Biết kiểm chứng, phát hiện sai lệch.</a:t>
            </a:r>
            <a:endParaRPr lang="en-US" sz="1550" dirty="0"/>
          </a:p>
        </p:txBody>
      </p:sp>
      <p:sp>
        <p:nvSpPr>
          <p:cNvPr id="24" name="Text 22"/>
          <p:cNvSpPr/>
          <p:nvPr/>
        </p:nvSpPr>
        <p:spPr>
          <a:xfrm>
            <a:off x="6400800" y="2944368"/>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25" name="Text 23"/>
          <p:cNvSpPr/>
          <p:nvPr/>
        </p:nvSpPr>
        <p:spPr>
          <a:xfrm>
            <a:off x="6720840" y="2916936"/>
            <a:ext cx="443484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Biết hợp tác, trình bày, nhận phản hồi.</a:t>
            </a:r>
            <a:endParaRPr lang="en-US" sz="1550" dirty="0"/>
          </a:p>
        </p:txBody>
      </p:sp>
      <p:sp>
        <p:nvSpPr>
          <p:cNvPr id="26" name="Text 24"/>
          <p:cNvSpPr/>
          <p:nvPr/>
        </p:nvSpPr>
        <p:spPr>
          <a:xfrm>
            <a:off x="6400800" y="3291840"/>
            <a:ext cx="228600" cy="228600"/>
          </a:xfrm>
          <a:prstGeom prst="rect">
            <a:avLst/>
          </a:prstGeom>
          <a:noFill/>
          <a:ln/>
        </p:spPr>
        <p:txBody>
          <a:bodyPr wrap="square" lIns="0" tIns="0" rIns="0" bIns="0" rtlCol="0" anchor="ctr"/>
          <a:lstStyle/>
          <a:p>
            <a:pPr algn="ctr" indent="0" marL="0">
              <a:buNone/>
            </a:pPr>
            <a:r>
              <a:rPr lang="en-US" sz="1750" dirty="0">
                <a:solidFill>
                  <a:srgbClr val="1F9D8A"/>
                </a:solidFill>
                <a:latin typeface="Arial" pitchFamily="34" charset="0"/>
                <a:ea typeface="Arial" pitchFamily="34" charset="-122"/>
                <a:cs typeface="Arial" pitchFamily="34" charset="-120"/>
              </a:rPr>
              <a:t>•</a:t>
            </a:r>
            <a:endParaRPr lang="en-US" sz="1750" dirty="0"/>
          </a:p>
        </p:txBody>
      </p:sp>
      <p:sp>
        <p:nvSpPr>
          <p:cNvPr id="27" name="Text 25"/>
          <p:cNvSpPr/>
          <p:nvPr/>
        </p:nvSpPr>
        <p:spPr>
          <a:xfrm>
            <a:off x="6720840" y="3264408"/>
            <a:ext cx="4434840" cy="347472"/>
          </a:xfrm>
          <a:prstGeom prst="rect">
            <a:avLst/>
          </a:prstGeom>
          <a:noFill/>
          <a:ln/>
        </p:spPr>
        <p:txBody>
          <a:bodyPr wrap="square" lIns="0" tIns="0" rIns="0" bIns="0" rtlCol="0" anchor="ctr">
            <a:normAutofit/>
          </a:bodyPr>
          <a:lstStyle/>
          <a:p>
            <a:pPr indent="0" marL="0">
              <a:buNone/>
            </a:pPr>
            <a:r>
              <a:rPr lang="en-US" sz="1550" dirty="0">
                <a:solidFill>
                  <a:srgbClr val="24323F"/>
                </a:solidFill>
                <a:latin typeface="Arial" pitchFamily="34" charset="0"/>
                <a:ea typeface="Arial" pitchFamily="34" charset="-122"/>
                <a:cs typeface="Arial" pitchFamily="34" charset="-120"/>
              </a:rPr>
              <a:t>Có trách nhiệm với sản phẩm cuối cùng.</a:t>
            </a:r>
            <a:endParaRPr lang="en-US" sz="1550" dirty="0"/>
          </a:p>
        </p:txBody>
      </p:sp>
      <p:sp>
        <p:nvSpPr>
          <p:cNvPr id="28" name="Text 26"/>
          <p:cNvSpPr/>
          <p:nvPr/>
        </p:nvSpPr>
        <p:spPr>
          <a:xfrm>
            <a:off x="1188720" y="5577840"/>
            <a:ext cx="9784080" cy="566928"/>
          </a:xfrm>
          <a:prstGeom prst="rect">
            <a:avLst/>
          </a:prstGeom>
          <a:solidFill>
            <a:srgbClr val="E8F5F1"/>
          </a:solidFill>
          <a:ln>
            <a:solidFill>
              <a:srgbClr val="1F9D8A"/>
            </a:solidFill>
          </a:ln>
          <a:effectLst>
            <a:outerShdw sx="100000" sy="100000" kx="0" ky="0" algn="bl" rotWithShape="0" blurRad="12700" dist="12700" dir="2700000">
              <a:srgbClr val="000000">
                <a:alpha val="12000"/>
              </a:srgbClr>
            </a:outerShdw>
          </a:effectLst>
        </p:spPr>
        <p:txBody>
          <a:bodyPr wrap="square" lIns="1524" tIns="1524" rIns="1524" bIns="1524" rtlCol="0" anchor="ctr">
            <a:normAutofit/>
          </a:bodyPr>
          <a:lstStyle/>
          <a:p>
            <a:pPr indent="0" marL="0">
              <a:buNone/>
            </a:pPr>
            <a:r>
              <a:rPr lang="en-US" sz="1700" dirty="0">
                <a:solidFill>
                  <a:srgbClr val="24323F"/>
                </a:solidFill>
                <a:latin typeface="Arial" pitchFamily="34" charset="0"/>
                <a:ea typeface="Arial" pitchFamily="34" charset="-122"/>
                <a:cs typeface="Arial" pitchFamily="34" charset="-120"/>
              </a:rPr>
              <a:t>Đánh giá quá trình là chủ đạo; không đánh giá học sinh theo mức thành thạo một phần mềm hoặc nền tảng cụ thể.</a:t>
            </a:r>
            <a:endParaRPr lang="en-US" sz="1700" dirty="0"/>
          </a:p>
        </p:txBody>
      </p:sp>
      <p:sp>
        <p:nvSpPr>
          <p:cNvPr id="29" name="Text 27"/>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30" name="Text 28"/>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15</a:t>
            </a:r>
            <a:endParaRPr lang="en-US" sz="900" dirty="0"/>
          </a:p>
        </p:txBody>
      </p:sp>
    </p:spTree>
  </p:cSld>
  <p:clrMapOvr>
    <a:masterClrMapping/>
  </p:clrMapOvr>
  <p:transition spd="med">
    <p:wipe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94360" y="256032"/>
            <a:ext cx="2926080" cy="228600"/>
          </a:xfrm>
          <a:prstGeom prst="rect">
            <a:avLst/>
          </a:prstGeom>
          <a:noFill/>
          <a:ln/>
        </p:spPr>
        <p:txBody>
          <a:bodyPr wrap="square" lIns="0" tIns="0" rIns="0" bIns="0" rtlCol="0" anchor="ctr">
            <a:normAutofit/>
          </a:bodyPr>
          <a:lstStyle/>
          <a:p>
            <a:pPr indent="0" marL="0">
              <a:buNone/>
            </a:pPr>
            <a:r>
              <a:rPr lang="en-US" sz="750" b="1" dirty="0">
                <a:solidFill>
                  <a:srgbClr val="1F9D8A"/>
                </a:solidFill>
                <a:latin typeface="Arial" pitchFamily="34" charset="0"/>
                <a:ea typeface="Arial" pitchFamily="34" charset="-122"/>
                <a:cs typeface="Arial" pitchFamily="34" charset="-120"/>
              </a:rPr>
              <a:t>KẾT THÚC</a:t>
            </a:r>
            <a:endParaRPr lang="en-US" sz="750" dirty="0"/>
          </a:p>
        </p:txBody>
      </p:sp>
      <p:sp>
        <p:nvSpPr>
          <p:cNvPr id="3" name="Text 1"/>
          <p:cNvSpPr/>
          <p:nvPr/>
        </p:nvSpPr>
        <p:spPr>
          <a:xfrm>
            <a:off x="594360" y="502920"/>
            <a:ext cx="8138160" cy="457200"/>
          </a:xfrm>
          <a:prstGeom prst="rect">
            <a:avLst/>
          </a:prstGeom>
          <a:noFill/>
          <a:ln/>
        </p:spPr>
        <p:txBody>
          <a:bodyPr wrap="square" lIns="0" tIns="0" rIns="0" bIns="0" rtlCol="0" anchor="ctr">
            <a:normAutofit/>
          </a:bodyPr>
          <a:lstStyle/>
          <a:p>
            <a:pPr indent="0" marL="0">
              <a:buNone/>
            </a:pPr>
            <a:r>
              <a:rPr lang="en-US" sz="2400" b="1" dirty="0">
                <a:solidFill>
                  <a:srgbClr val="17324D"/>
                </a:solidFill>
                <a:latin typeface="Arial" pitchFamily="34" charset="0"/>
                <a:ea typeface="Arial" pitchFamily="34" charset="-122"/>
                <a:cs typeface="Arial" pitchFamily="34" charset="-120"/>
              </a:rPr>
              <a:t>Lộ trình triển khai ở trường THCS</a:t>
            </a:r>
            <a:endParaRPr lang="en-US" sz="2400" dirty="0"/>
          </a:p>
        </p:txBody>
      </p:sp>
      <p:sp>
        <p:nvSpPr>
          <p:cNvPr id="4" name="Shape 2"/>
          <p:cNvSpPr/>
          <p:nvPr/>
        </p:nvSpPr>
        <p:spPr>
          <a:xfrm>
            <a:off x="594360" y="1051560"/>
            <a:ext cx="10972800" cy="0"/>
          </a:xfrm>
          <a:prstGeom prst="line">
            <a:avLst/>
          </a:prstGeom>
          <a:noFill/>
          <a:ln w="12700">
            <a:solidFill>
              <a:srgbClr val="D8E3E7"/>
            </a:solidFill>
            <a:prstDash val="solid"/>
          </a:ln>
        </p:spPr>
      </p:sp>
      <p:sp>
        <p:nvSpPr>
          <p:cNvPr id="5" name="Shape 3"/>
          <p:cNvSpPr/>
          <p:nvPr/>
        </p:nvSpPr>
        <p:spPr>
          <a:xfrm>
            <a:off x="594360" y="1051560"/>
            <a:ext cx="1828800" cy="0"/>
          </a:xfrm>
          <a:prstGeom prst="line">
            <a:avLst/>
          </a:prstGeom>
          <a:noFill/>
          <a:ln w="12700">
            <a:solidFill>
              <a:srgbClr val="1F9D8A"/>
            </a:solidFill>
            <a:prstDash val="solid"/>
          </a:ln>
        </p:spPr>
      </p:sp>
      <p:sp>
        <p:nvSpPr>
          <p:cNvPr id="6" name="Text 4"/>
          <p:cNvSpPr/>
          <p:nvPr/>
        </p:nvSpPr>
        <p:spPr>
          <a:xfrm>
            <a:off x="822960" y="1536192"/>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41248" y="2103120"/>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Tháng 1</a:t>
            </a:r>
            <a:endParaRPr lang="en-US" sz="1400" dirty="0"/>
          </a:p>
        </p:txBody>
      </p:sp>
      <p:sp>
        <p:nvSpPr>
          <p:cNvPr id="8" name="Text 6"/>
          <p:cNvSpPr/>
          <p:nvPr/>
        </p:nvSpPr>
        <p:spPr>
          <a:xfrm>
            <a:off x="841248" y="2468880"/>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Tập huấn GV cốt cán, thống nhất quy tắc dùng AI an toàn trong trường.</a:t>
            </a:r>
            <a:endParaRPr lang="en-US" sz="1150" dirty="0"/>
          </a:p>
        </p:txBody>
      </p:sp>
      <p:sp>
        <p:nvSpPr>
          <p:cNvPr id="9" name="Text 7"/>
          <p:cNvSpPr/>
          <p:nvPr/>
        </p:nvSpPr>
        <p:spPr>
          <a:xfrm>
            <a:off x="3497580" y="1536192"/>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3515868" y="2103120"/>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Tháng 2</a:t>
            </a:r>
            <a:endParaRPr lang="en-US" sz="1400" dirty="0"/>
          </a:p>
        </p:txBody>
      </p:sp>
      <p:sp>
        <p:nvSpPr>
          <p:cNvPr id="11" name="Text 9"/>
          <p:cNvSpPr/>
          <p:nvPr/>
        </p:nvSpPr>
        <p:spPr>
          <a:xfrm>
            <a:off x="3515868" y="2468880"/>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Tổ chuyên môn chọn 1–2 bài/hoạt động để tích hợp thử nghiệm.</a:t>
            </a:r>
            <a:endParaRPr lang="en-US" sz="1150" dirty="0"/>
          </a:p>
        </p:txBody>
      </p:sp>
      <p:sp>
        <p:nvSpPr>
          <p:cNvPr id="12" name="Text 10"/>
          <p:cNvSpPr/>
          <p:nvPr/>
        </p:nvSpPr>
        <p:spPr>
          <a:xfrm>
            <a:off x="6172200" y="1536192"/>
            <a:ext cx="411480" cy="411480"/>
          </a:xfrm>
          <a:prstGeom prst="rect">
            <a:avLst/>
          </a:prstGeom>
          <a:solidFill>
            <a:srgbClr val="1F9D8A"/>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6190488" y="2103120"/>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Học kì I</a:t>
            </a:r>
            <a:endParaRPr lang="en-US" sz="1400" dirty="0"/>
          </a:p>
        </p:txBody>
      </p:sp>
      <p:sp>
        <p:nvSpPr>
          <p:cNvPr id="14" name="Text 12"/>
          <p:cNvSpPr/>
          <p:nvPr/>
        </p:nvSpPr>
        <p:spPr>
          <a:xfrm>
            <a:off x="6190488" y="2468880"/>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Tổ chức chuyên đề 12 tiết theo khối, thu minh chứng và phản hồi.</a:t>
            </a:r>
            <a:endParaRPr lang="en-US" sz="1150" dirty="0"/>
          </a:p>
        </p:txBody>
      </p:sp>
      <p:sp>
        <p:nvSpPr>
          <p:cNvPr id="15" name="Text 13"/>
          <p:cNvSpPr/>
          <p:nvPr/>
        </p:nvSpPr>
        <p:spPr>
          <a:xfrm>
            <a:off x="8846820" y="1536192"/>
            <a:ext cx="411480" cy="411480"/>
          </a:xfrm>
          <a:prstGeom prst="rect">
            <a:avLst/>
          </a:prstGeom>
          <a:solidFill>
            <a:srgbClr val="F3A712"/>
          </a:solidFill>
          <a:ln>
            <a:solidFill>
              <a:srgbClr val="FFFFFF">
                <a:alpha val="0"/>
              </a:srgbClr>
            </a:solid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p:nvPr/>
        </p:nvSpPr>
        <p:spPr>
          <a:xfrm>
            <a:off x="8865108" y="2103120"/>
            <a:ext cx="2564892" cy="320040"/>
          </a:xfrm>
          <a:prstGeom prst="rect">
            <a:avLst/>
          </a:prstGeom>
          <a:noFill/>
          <a:ln/>
        </p:spPr>
        <p:txBody>
          <a:bodyPr wrap="square" lIns="0" tIns="0" rIns="0" bIns="0" rtlCol="0" anchor="ctr">
            <a:normAutofit/>
          </a:bodyPr>
          <a:lstStyle/>
          <a:p>
            <a:pPr indent="0" marL="0">
              <a:buNone/>
            </a:pPr>
            <a:r>
              <a:rPr lang="en-US" sz="1400" b="1" dirty="0">
                <a:solidFill>
                  <a:srgbClr val="17324D"/>
                </a:solidFill>
                <a:latin typeface="Arial" pitchFamily="34" charset="0"/>
                <a:ea typeface="Arial" pitchFamily="34" charset="-122"/>
                <a:cs typeface="Arial" pitchFamily="34" charset="-120"/>
              </a:rPr>
              <a:t>Cuối năm</a:t>
            </a:r>
            <a:endParaRPr lang="en-US" sz="1400" dirty="0"/>
          </a:p>
        </p:txBody>
      </p:sp>
      <p:sp>
        <p:nvSpPr>
          <p:cNvPr id="17" name="Text 15"/>
          <p:cNvSpPr/>
          <p:nvPr/>
        </p:nvSpPr>
        <p:spPr>
          <a:xfrm>
            <a:off x="8865108" y="2468880"/>
            <a:ext cx="2564892" cy="2011680"/>
          </a:xfrm>
          <a:prstGeom prst="rect">
            <a:avLst/>
          </a:prstGeom>
          <a:noFill/>
          <a:ln/>
        </p:spPr>
        <p:txBody>
          <a:bodyPr wrap="square" lIns="0" tIns="0" rIns="0" bIns="0" rtlCol="0" anchor="ctr">
            <a:normAutofit/>
          </a:bodyPr>
          <a:lstStyle/>
          <a:p>
            <a:pPr indent="0" marL="0">
              <a:buNone/>
            </a:pPr>
            <a:r>
              <a:rPr lang="en-US" sz="1150" dirty="0">
                <a:solidFill>
                  <a:srgbClr val="24323F"/>
                </a:solidFill>
                <a:latin typeface="Arial" pitchFamily="34" charset="0"/>
                <a:ea typeface="Arial" pitchFamily="34" charset="-122"/>
                <a:cs typeface="Arial" pitchFamily="34" charset="-120"/>
              </a:rPr>
              <a:t>Rút kinh nghiệm, cập nhật ngân hàng hoạt động, xây dựng câu lạc bộ/dự án mở rộng.</a:t>
            </a:r>
            <a:endParaRPr lang="en-US" sz="1150" dirty="0"/>
          </a:p>
        </p:txBody>
      </p:sp>
      <p:sp>
        <p:nvSpPr>
          <p:cNvPr id="18" name="Text 16"/>
          <p:cNvSpPr/>
          <p:nvPr/>
        </p:nvSpPr>
        <p:spPr>
          <a:xfrm>
            <a:off x="1005840" y="5166360"/>
            <a:ext cx="2194560" cy="292608"/>
          </a:xfrm>
          <a:prstGeom prst="rect">
            <a:avLst/>
          </a:prstGeom>
          <a:noFill/>
          <a:ln/>
        </p:spPr>
        <p:txBody>
          <a:bodyPr wrap="square" lIns="0" tIns="0" rIns="0" bIns="0" rtlCol="0" anchor="ctr"/>
          <a:lstStyle/>
          <a:p>
            <a:pPr indent="0" marL="0">
              <a:buNone/>
            </a:pPr>
            <a:r>
              <a:rPr lang="en-US" sz="1600" b="1" dirty="0">
                <a:solidFill>
                  <a:srgbClr val="1F9D8A"/>
                </a:solidFill>
                <a:latin typeface="Arial" pitchFamily="34" charset="0"/>
                <a:ea typeface="Arial" pitchFamily="34" charset="-122"/>
                <a:cs typeface="Arial" pitchFamily="34" charset="-120"/>
              </a:rPr>
              <a:t>Thông điệp chốt</a:t>
            </a:r>
            <a:endParaRPr lang="en-US" sz="1600" dirty="0"/>
          </a:p>
        </p:txBody>
      </p:sp>
      <p:sp>
        <p:nvSpPr>
          <p:cNvPr id="19" name="Text 17"/>
          <p:cNvSpPr/>
          <p:nvPr/>
        </p:nvSpPr>
        <p:spPr>
          <a:xfrm>
            <a:off x="1005840" y="5532120"/>
            <a:ext cx="10058400" cy="585216"/>
          </a:xfrm>
          <a:prstGeom prst="rect">
            <a:avLst/>
          </a:prstGeom>
          <a:noFill/>
          <a:ln/>
        </p:spPr>
        <p:txBody>
          <a:bodyPr wrap="square" lIns="0" tIns="0" rIns="0" bIns="0" rtlCol="0" anchor="ctr">
            <a:normAutofit/>
          </a:bodyPr>
          <a:lstStyle/>
          <a:p>
            <a:pPr indent="0" marL="0">
              <a:buNone/>
            </a:pPr>
            <a:r>
              <a:rPr lang="en-US" sz="2000" b="1" dirty="0">
                <a:solidFill>
                  <a:srgbClr val="17324D"/>
                </a:solidFill>
                <a:latin typeface="Arial" pitchFamily="34" charset="0"/>
                <a:ea typeface="Arial" pitchFamily="34" charset="-122"/>
                <a:cs typeface="Arial" pitchFamily="34" charset="-120"/>
              </a:rPr>
              <a:t>Triển khai AI không bắt đầu từ công cụ, mà bắt đầu từ nhiệm vụ học tập có mục tiêu, có kiểm chứng, có đạo đức và có trách nhiệm.</a:t>
            </a:r>
            <a:endParaRPr lang="en-US" sz="2000" dirty="0"/>
          </a:p>
        </p:txBody>
      </p:sp>
      <p:sp>
        <p:nvSpPr>
          <p:cNvPr id="20" name="Text 18"/>
          <p:cNvSpPr/>
          <p:nvPr/>
        </p:nvSpPr>
        <p:spPr>
          <a:xfrm>
            <a:off x="594360" y="6519672"/>
            <a:ext cx="7772400" cy="182880"/>
          </a:xfrm>
          <a:prstGeom prst="rect">
            <a:avLst/>
          </a:prstGeom>
          <a:noFill/>
          <a:ln/>
        </p:spPr>
        <p:txBody>
          <a:bodyPr wrap="square" lIns="0" tIns="0" rIns="0" bIns="0" rtlCol="0" anchor="ctr"/>
          <a:lstStyle/>
          <a:p>
            <a:pPr indent="0" marL="0">
              <a:buNone/>
            </a:pPr>
            <a:r>
              <a:rPr lang="en-US" sz="700" dirty="0">
                <a:solidFill>
                  <a:srgbClr val="78909C"/>
                </a:solidFill>
                <a:latin typeface="Arial" pitchFamily="34" charset="0"/>
                <a:ea typeface="Arial" pitchFamily="34" charset="-122"/>
                <a:cs typeface="Arial" pitchFamily="34" charset="-120"/>
              </a:rPr>
              <a:t>Tập huấn GV THCS | Khung nội dung giáo dục AI</a:t>
            </a:r>
            <a:endParaRPr lang="en-US" sz="700" dirty="0"/>
          </a:p>
        </p:txBody>
      </p:sp>
      <p:sp>
        <p:nvSpPr>
          <p:cNvPr id="21" name="Text 19"/>
          <p:cNvSpPr/>
          <p:nvPr/>
        </p:nvSpPr>
        <p:spPr>
          <a:xfrm>
            <a:off x="11109960" y="6446520"/>
            <a:ext cx="502920" cy="256032"/>
          </a:xfrm>
          <a:prstGeom prst="rect">
            <a:avLst/>
          </a:prstGeom>
          <a:noFill/>
          <a:ln/>
        </p:spPr>
        <p:txBody>
          <a:bodyPr wrap="square" lIns="0" tIns="0" rIns="0" bIns="0" rtlCol="0" anchor="ctr"/>
          <a:lstStyle/>
          <a:p>
            <a:pPr algn="ctr" indent="0" marL="0">
              <a:buNone/>
            </a:pPr>
            <a:r>
              <a:rPr lang="en-US" sz="900" b="1" dirty="0">
                <a:solidFill>
                  <a:srgbClr val="17324D"/>
                </a:solidFill>
                <a:latin typeface="Arial" pitchFamily="34" charset="0"/>
                <a:ea typeface="Arial" pitchFamily="34" charset="-122"/>
                <a:cs typeface="Arial" pitchFamily="34" charset="-120"/>
              </a:rPr>
              <a:t>16</a:t>
            </a:r>
            <a:endParaRPr lang="en-US" sz="900" dirty="0"/>
          </a:p>
        </p:txBody>
      </p:sp>
    </p:spTree>
  </p:cSld>
  <p:clrMapOvr>
    <a:masterClrMapping/>
  </p:clrMapOvr>
  <p:transition spd="med">
    <p:split orient="horz" dir="o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Triển khai giáo dục AI trong trường THCS</dc:title>
  <dc:subject>Bài giảng hướng dẫn giáo viên THCS triển khai giáo dục AI bằng NotebookLM</dc:subject>
  <dc:creator>ChatGPT</dc:creator>
  <cp:lastModifiedBy>ChatGPT</cp:lastModifiedBy>
  <cp:revision>1</cp:revision>
  <dcterms:created xsi:type="dcterms:W3CDTF">2026-08-24T15:08:05Z</dcterms:created>
  <dcterms:modified xsi:type="dcterms:W3CDTF">2026-08-24T15:08:05Z</dcterms:modified>
</cp:coreProperties>
</file>