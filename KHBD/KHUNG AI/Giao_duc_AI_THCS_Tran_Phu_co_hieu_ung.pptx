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41511bc3464f66" /><Relationship Type="http://schemas.openxmlformats.org/officeDocument/2006/relationships/extended-properties" Target="/docProps/app.xml" Id="R8bb5b2ffedfc400a" /><Relationship Type="http://schemas.openxmlformats.org/officeDocument/2006/relationships/officeDocument" Target="/ppt/presentation.xml" Id="R78bfebcd9c2444c1" /></Relationships>
</file>

<file path=ppt/presentation.xml><?xml version="1.0" encoding="utf-8"?>
<p:presentation xmlns:p="http://schemas.openxmlformats.org/presentationml/2006/main">
  <p:sldMasterIdLst>
    <p:sldMasterId xmlns:r="http://schemas.openxmlformats.org/officeDocument/2006/relationships" id="2147483648" r:id="R66a25807999d4f71"/>
  </p:sldMasterIdLst>
  <p:notesMasterIdLst>
    <p:notesMasterId xmlns:r="http://schemas.openxmlformats.org/officeDocument/2006/relationships" r:id="R13b805aeb6b04af9"/>
  </p:notesMasterIdLst>
  <p:sldIdLst>
    <p:sldId xmlns:r="http://schemas.openxmlformats.org/officeDocument/2006/relationships" id="256" r:id="R91b1a2038ecf4456"/>
    <p:sldId xmlns:r="http://schemas.openxmlformats.org/officeDocument/2006/relationships" id="257" r:id="Re7c36bf69b1744a3"/>
    <p:sldId xmlns:r="http://schemas.openxmlformats.org/officeDocument/2006/relationships" id="258" r:id="R08c825b0ce4041a9"/>
    <p:sldId xmlns:r="http://schemas.openxmlformats.org/officeDocument/2006/relationships" id="259" r:id="Rcb189303d0454754"/>
    <p:sldId xmlns:r="http://schemas.openxmlformats.org/officeDocument/2006/relationships" id="260" r:id="Rc6c5c802e3f74e8f"/>
    <p:sldId xmlns:r="http://schemas.openxmlformats.org/officeDocument/2006/relationships" id="261" r:id="R51a1f2d36401492f"/>
    <p:sldId xmlns:r="http://schemas.openxmlformats.org/officeDocument/2006/relationships" id="262" r:id="R7a59f449c7d34fa5"/>
    <p:sldId xmlns:r="http://schemas.openxmlformats.org/officeDocument/2006/relationships" id="263" r:id="R6694924842a84344"/>
    <p:sldId xmlns:r="http://schemas.openxmlformats.org/officeDocument/2006/relationships" id="264" r:id="R2c2c26d791e344b3"/>
    <p:sldId xmlns:r="http://schemas.openxmlformats.org/officeDocument/2006/relationships" id="265" r:id="R20f392266af14bae"/>
    <p:sldId xmlns:r="http://schemas.openxmlformats.org/officeDocument/2006/relationships" id="266" r:id="Rdaca3c370eb64e8d"/>
    <p:sldId xmlns:r="http://schemas.openxmlformats.org/officeDocument/2006/relationships" id="267" r:id="Rf4b6edf714ea4b70"/>
    <p:sldId xmlns:r="http://schemas.openxmlformats.org/officeDocument/2006/relationships" id="268" r:id="R9d8ffb4e8c8c4199"/>
    <p:sldId xmlns:r="http://schemas.openxmlformats.org/officeDocument/2006/relationships" id="269" r:id="R1a0d5ceb1917443b"/>
    <p:sldId xmlns:r="http://schemas.openxmlformats.org/officeDocument/2006/relationships" id="270" r:id="R34723c6c3a1e4f9c"/>
    <p:sldId xmlns:r="http://schemas.openxmlformats.org/officeDocument/2006/relationships" id="271" r:id="R164734136b504329"/>
    <p:sldId xmlns:r="http://schemas.openxmlformats.org/officeDocument/2006/relationships" id="272" r:id="Ra4ddf1a056344413"/>
    <p:sldId xmlns:r="http://schemas.openxmlformats.org/officeDocument/2006/relationships" id="273" r:id="Rf420b39fc6da443c"/>
    <p:sldId xmlns:r="http://schemas.openxmlformats.org/officeDocument/2006/relationships" id="274" r:id="R35fd6be1bff64380"/>
    <p:sldId xmlns:r="http://schemas.openxmlformats.org/officeDocument/2006/relationships" id="275" r:id="R71f5c0f7b0fb410e"/>
    <p:sldId xmlns:r="http://schemas.openxmlformats.org/officeDocument/2006/relationships" id="276" r:id="Ra0f5c41fc19d45fc"/>
    <p:sldId xmlns:r="http://schemas.openxmlformats.org/officeDocument/2006/relationships" id="277" r:id="R62142ad0394a4505"/>
    <p:sldId xmlns:r="http://schemas.openxmlformats.org/officeDocument/2006/relationships" id="278" r:id="Rb6a90acc83f049b2"/>
    <p:sldId xmlns:r="http://schemas.openxmlformats.org/officeDocument/2006/relationships" id="279" r:id="Ra60e3222ab9b407e"/>
    <p:sldId xmlns:r="http://schemas.openxmlformats.org/officeDocument/2006/relationships" id="280" r:id="Re3ddf33730e94810"/>
    <p:sldId xmlns:r="http://schemas.openxmlformats.org/officeDocument/2006/relationships" id="281" r:id="Reffa7e622f1d4a3a"/>
    <p:sldId xmlns:r="http://schemas.openxmlformats.org/officeDocument/2006/relationships" id="282" r:id="R61f08d5803414699"/>
    <p:sldId xmlns:r="http://schemas.openxmlformats.org/officeDocument/2006/relationships" id="283" r:id="R0b810c07ed5b4a72"/>
    <p:sldId xmlns:r="http://schemas.openxmlformats.org/officeDocument/2006/relationships" id="284" r:id="R700024072a5244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7d6cc532a84dff" /><Relationship Type="http://schemas.openxmlformats.org/officeDocument/2006/relationships/slideMaster" Target="/ppt/slideMasters/slideMaster1.xml" Id="R66a25807999d4f71" /><Relationship Type="http://schemas.openxmlformats.org/officeDocument/2006/relationships/notesMaster" Target="/ppt/notesMasters/notesMaster1.xml" Id="R13b805aeb6b04af9" /><Relationship Type="http://schemas.openxmlformats.org/officeDocument/2006/relationships/presProps" Target="/ppt/presProps.xml" Id="Re6c10bd579d94b92" /><Relationship Type="http://schemas.openxmlformats.org/officeDocument/2006/relationships/tableStyles" Target="/ppt/tableStyles.xml" Id="R4df57098e8414e3d" /><Relationship Type="http://schemas.openxmlformats.org/officeDocument/2006/relationships/slide" Target="/ppt/slides/slide1.xml" Id="R91b1a2038ecf4456" /><Relationship Type="http://schemas.openxmlformats.org/officeDocument/2006/relationships/slide" Target="/ppt/slides/slide2.xml" Id="Re7c36bf69b1744a3" /><Relationship Type="http://schemas.openxmlformats.org/officeDocument/2006/relationships/slide" Target="/ppt/slides/slide3.xml" Id="R08c825b0ce4041a9" /><Relationship Type="http://schemas.openxmlformats.org/officeDocument/2006/relationships/slide" Target="/ppt/slides/slide4.xml" Id="Rcb189303d0454754" /><Relationship Type="http://schemas.openxmlformats.org/officeDocument/2006/relationships/slide" Target="/ppt/slides/slide5.xml" Id="Rc6c5c802e3f74e8f" /><Relationship Type="http://schemas.openxmlformats.org/officeDocument/2006/relationships/slide" Target="/ppt/slides/slide6.xml" Id="R51a1f2d36401492f" /><Relationship Type="http://schemas.openxmlformats.org/officeDocument/2006/relationships/slide" Target="/ppt/slides/slide7.xml" Id="R7a59f449c7d34fa5" /><Relationship Type="http://schemas.openxmlformats.org/officeDocument/2006/relationships/slide" Target="/ppt/slides/slide8.xml" Id="R6694924842a84344" /><Relationship Type="http://schemas.openxmlformats.org/officeDocument/2006/relationships/slide" Target="/ppt/slides/slide9.xml" Id="R2c2c26d791e344b3" /><Relationship Type="http://schemas.openxmlformats.org/officeDocument/2006/relationships/slide" Target="/ppt/slides/slide10.xml" Id="R20f392266af14bae" /><Relationship Type="http://schemas.openxmlformats.org/officeDocument/2006/relationships/slide" Target="/ppt/slides/slide11.xml" Id="Rdaca3c370eb64e8d" /><Relationship Type="http://schemas.openxmlformats.org/officeDocument/2006/relationships/slide" Target="/ppt/slides/slide12.xml" Id="Rf4b6edf714ea4b70" /><Relationship Type="http://schemas.openxmlformats.org/officeDocument/2006/relationships/slide" Target="/ppt/slides/slide13.xml" Id="R9d8ffb4e8c8c4199" /><Relationship Type="http://schemas.openxmlformats.org/officeDocument/2006/relationships/slide" Target="/ppt/slides/slide14.xml" Id="R1a0d5ceb1917443b" /><Relationship Type="http://schemas.openxmlformats.org/officeDocument/2006/relationships/slide" Target="/ppt/slides/slide15.xml" Id="R34723c6c3a1e4f9c" /><Relationship Type="http://schemas.openxmlformats.org/officeDocument/2006/relationships/slide" Target="/ppt/slides/slide16.xml" Id="R164734136b504329" /><Relationship Type="http://schemas.openxmlformats.org/officeDocument/2006/relationships/slide" Target="/ppt/slides/slide17.xml" Id="Ra4ddf1a056344413" /><Relationship Type="http://schemas.openxmlformats.org/officeDocument/2006/relationships/slide" Target="/ppt/slides/slide18.xml" Id="Rf420b39fc6da443c" /><Relationship Type="http://schemas.openxmlformats.org/officeDocument/2006/relationships/slide" Target="/ppt/slides/slide19.xml" Id="R35fd6be1bff64380" /><Relationship Type="http://schemas.openxmlformats.org/officeDocument/2006/relationships/slide" Target="/ppt/slides/slide20.xml" Id="R71f5c0f7b0fb410e" /><Relationship Type="http://schemas.openxmlformats.org/officeDocument/2006/relationships/slide" Target="/ppt/slides/slide21.xml" Id="Ra0f5c41fc19d45fc" /><Relationship Type="http://schemas.openxmlformats.org/officeDocument/2006/relationships/slide" Target="/ppt/slides/slide22.xml" Id="R62142ad0394a4505" /><Relationship Type="http://schemas.openxmlformats.org/officeDocument/2006/relationships/slide" Target="/ppt/slides/slide23.xml" Id="Rb6a90acc83f049b2" /><Relationship Type="http://schemas.openxmlformats.org/officeDocument/2006/relationships/slide" Target="/ppt/slides/slide24.xml" Id="Ra60e3222ab9b407e" /><Relationship Type="http://schemas.openxmlformats.org/officeDocument/2006/relationships/slide" Target="/ppt/slides/slide25.xml" Id="Re3ddf33730e94810" /><Relationship Type="http://schemas.openxmlformats.org/officeDocument/2006/relationships/slide" Target="/ppt/slides/slide26.xml" Id="Reffa7e622f1d4a3a" /><Relationship Type="http://schemas.openxmlformats.org/officeDocument/2006/relationships/slide" Target="/ppt/slides/slide27.xml" Id="R61f08d5803414699" /><Relationship Type="http://schemas.openxmlformats.org/officeDocument/2006/relationships/slide" Target="/ppt/slides/slide28.xml" Id="R0b810c07ed5b4a72" /><Relationship Type="http://schemas.openxmlformats.org/officeDocument/2006/relationships/slide" Target="/ppt/slides/slide29.xml" Id="R700024072a5244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c8c297520b45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dd022f20be4c24" /><Relationship Type="http://schemas.openxmlformats.org/officeDocument/2006/relationships/notesMaster" Target="/ppt/notesMasters/notesMaster1.xml" Id="Rbda89f6cabe343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7a50d95e354ed5" /><Relationship Type="http://schemas.openxmlformats.org/officeDocument/2006/relationships/notesMaster" Target="/ppt/notesMasters/notesMaster1.xml" Id="R99dd6c20fc744a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edece6b64c411b" /><Relationship Type="http://schemas.openxmlformats.org/officeDocument/2006/relationships/notesMaster" Target="/ppt/notesMasters/notesMaster1.xml" Id="R48427c11459e48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eb7fc88a064a74" /><Relationship Type="http://schemas.openxmlformats.org/officeDocument/2006/relationships/notesMaster" Target="/ppt/notesMasters/notesMaster1.xml" Id="R8e6f13b65aaf44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28ef001edc4dde" /><Relationship Type="http://schemas.openxmlformats.org/officeDocument/2006/relationships/notesMaster" Target="/ppt/notesMasters/notesMaster1.xml" Id="R8618f2269e564b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9ba348c0f642d6" /><Relationship Type="http://schemas.openxmlformats.org/officeDocument/2006/relationships/notesMaster" Target="/ppt/notesMasters/notesMaster1.xml" Id="R63c068f9ee814c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16bf08f7cf4a5f" /><Relationship Type="http://schemas.openxmlformats.org/officeDocument/2006/relationships/notesMaster" Target="/ppt/notesMasters/notesMaster1.xml" Id="Rf15a87bb2c3245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f749ec505c461f" /><Relationship Type="http://schemas.openxmlformats.org/officeDocument/2006/relationships/notesMaster" Target="/ppt/notesMasters/notesMaster1.xml" Id="R6bf2427894c947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6ac346f5fb453d" /><Relationship Type="http://schemas.openxmlformats.org/officeDocument/2006/relationships/notesMaster" Target="/ppt/notesMasters/notesMaster1.xml" Id="R18f54885d6134f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dfdb111da44766" /><Relationship Type="http://schemas.openxmlformats.org/officeDocument/2006/relationships/notesMaster" Target="/ppt/notesMasters/notesMaster1.xml" Id="Rc5d549e104cd46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4b92ff353e444f" /><Relationship Type="http://schemas.openxmlformats.org/officeDocument/2006/relationships/notesMaster" Target="/ppt/notesMasters/notesMaster1.xml" Id="R07bdb699d95c45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297c3f6b1549c0" /><Relationship Type="http://schemas.openxmlformats.org/officeDocument/2006/relationships/notesMaster" Target="/ppt/notesMasters/notesMaster1.xml" Id="R70486f50eb8843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d06cefb5ef4488" /><Relationship Type="http://schemas.openxmlformats.org/officeDocument/2006/relationships/notesMaster" Target="/ppt/notesMasters/notesMaster1.xml" Id="R4295c6776c8945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ec9afd44af42bc" /><Relationship Type="http://schemas.openxmlformats.org/officeDocument/2006/relationships/notesMaster" Target="/ppt/notesMasters/notesMaster1.xml" Id="R5e2d71e959ac40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a4d3d739304078" /><Relationship Type="http://schemas.openxmlformats.org/officeDocument/2006/relationships/notesMaster" Target="/ppt/notesMasters/notesMaster1.xml" Id="R564531c87e2e4f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4e4cd5c613476e" /><Relationship Type="http://schemas.openxmlformats.org/officeDocument/2006/relationships/notesMaster" Target="/ppt/notesMasters/notesMaster1.xml" Id="Rf448a5ed31684d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017d0422c643fb" /><Relationship Type="http://schemas.openxmlformats.org/officeDocument/2006/relationships/notesMaster" Target="/ppt/notesMasters/notesMaster1.xml" Id="R2e56ee60e95b4a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cd04832c914d2d" /><Relationship Type="http://schemas.openxmlformats.org/officeDocument/2006/relationships/notesMaster" Target="/ppt/notesMasters/notesMaster1.xml" Id="R07c21490f66048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3d657d8539247ad" /><Relationship Type="http://schemas.openxmlformats.org/officeDocument/2006/relationships/notesMaster" Target="/ppt/notesMasters/notesMaster1.xml" Id="R24bb3be5a6984da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79235fab384c4e" /><Relationship Type="http://schemas.openxmlformats.org/officeDocument/2006/relationships/notesMaster" Target="/ppt/notesMasters/notesMaster1.xml" Id="Rc475aa239c52485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44f755521c246a9" /><Relationship Type="http://schemas.openxmlformats.org/officeDocument/2006/relationships/notesMaster" Target="/ppt/notesMasters/notesMaster1.xml" Id="R0f7ca804d88d446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b3f9a43c6c94f65" /><Relationship Type="http://schemas.openxmlformats.org/officeDocument/2006/relationships/notesMaster" Target="/ppt/notesMasters/notesMaster1.xml" Id="Rc029130dba5945c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b7a1d85f9374187" /><Relationship Type="http://schemas.openxmlformats.org/officeDocument/2006/relationships/notesMaster" Target="/ppt/notesMasters/notesMaster1.xml" Id="R975e5d708e49490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ddf61f64a56454b" /><Relationship Type="http://schemas.openxmlformats.org/officeDocument/2006/relationships/notesMaster" Target="/ppt/notesMasters/notesMaster1.xml" Id="Rd3e8b74f227940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a6c35984607418f" /><Relationship Type="http://schemas.openxmlformats.org/officeDocument/2006/relationships/notesMaster" Target="/ppt/notesMasters/notesMaster1.xml" Id="R1b3eb398fff4497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f590df223f4075" /><Relationship Type="http://schemas.openxmlformats.org/officeDocument/2006/relationships/notesMaster" Target="/ppt/notesMasters/notesMaster1.xml" Id="R564baa81412343e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fdbe94c4ac14a6a" /><Relationship Type="http://schemas.openxmlformats.org/officeDocument/2006/relationships/notesMaster" Target="/ppt/notesMasters/notesMaster1.xml" Id="Rc3e5872d211f4d4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4127e7b42246cb" /><Relationship Type="http://schemas.openxmlformats.org/officeDocument/2006/relationships/notesMaster" Target="/ppt/notesMasters/notesMaster1.xml" Id="Reaadd6693afb4e5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d6db4121ace4ced" /><Relationship Type="http://schemas.openxmlformats.org/officeDocument/2006/relationships/notesMaster" Target="/ppt/notesMasters/notesMaster1.xml" Id="R13129454683d41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thông điệp: nhà trường không chờ một môn học AI riêng, mà chủ động tổ chức đúng Khung và gắn AI vào các nhiệm vụ học tập có thể kiểm chứng.</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ba lớp triển khai và nhấn mạnh rằng tích hợp không thay thế 12 tiết cốt lõi.</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Đặt vấn đề từ hành vi học tập thực tế của học sinh THCS và nhu cầu hình thành năng lực công dân số.</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số, ngày và phạm vi của Quyết định; không sa đà đọc toàn văn căn cứ pháp lý.</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Chuyển yêu cầu của Khung thành bốn nhiệm vụ quản trị cụ thể của nhà trường.</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năng lực AI với môn lập trình. Học sinh có thể đạt nhiều yêu cầu AI thông qua tình huống, dữ liệu, kiểm chứng và dự án không cần viết mã.</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bốn mục tiêu cấp THCS theo ngôn ngữ hành động của học sinh.</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không dạy bốn mạch thành bốn mảng rời. Một nhiệm vụ tốt đồng thời chạm vào vai trò con người, đạo đức, kỹ thuật và thiết kế.</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Lớp 6 chưa yêu cầu kỹ thuật sâu. Trọng tâm là nhận biết, dùng đúng và luôn kiểm tra lại.</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Lớp 7 tăng yêu cầu giải thích và kiểm chứng, đồng thời bắt đầu dự án sáng tạo đơn giản.</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Lớp 8 chuyển mạnh sang phân tích rủi ro và trách nhiệm, đồng thời biết tổ chức dự án có quy trình.</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Lớp 9 chuẩn bị cho bậc THPT bằng năng lực phản biện, tạo sản phẩm và cải tiến dựa trên dữ liệu.</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cấu trúc dễ quản lý: mỗi chuyên đề có một sản phẩm/minh chứng, phân bố trong năm học và liên kết với tích hợp môn học.</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năm bước này như một checklist khi tổ chuyên môn duyệt kế hoạch bài dạy có tích hợp AI.</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bảng này để các tổ chuyên môn xác định điểm vào tự nhiên của từng môn.</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lý do chọn Bài 13: bản thân nội dung có nhiều nguồn minh chứng trực quan để kiểm tra kết quả AI.</a:t>
            </a:r>
          </a:p>
          <a:p xmlns:a="http://schemas.openxmlformats.org/drawingml/2006/main">
            <a:r>
              <a:t/>
            </a:r>
          </a:p>
          <a:p xmlns:a="http://schemas.openxmlformats.org/drawingml/2006/main">
            <a:r>
              <a:t>[Sources]</a:t>
            </a:r>
          </a:p>
          <a:p xmlns:a="http://schemas.openxmlformats.org/drawingml/2006/main">
            <a:r>
              <a:t>- SGK Toán 6, Chương III - Số nguyên, Bài 13 - Tập hợp các số nguyên (ảnh do người dùng cung cấp).</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tích hợp không làm phát sinh thêm nội dung Toán; chỉ thay đổi cách tổ chức hoạt động và loại minh chứng học sinh tạo ra.</a:t>
            </a:r>
          </a:p>
          <a:p xmlns:a="http://schemas.openxmlformats.org/drawingml/2006/main">
            <a:r>
              <a:t/>
            </a:r>
          </a:p>
          <a:p xmlns:a="http://schemas.openxmlformats.org/drawingml/2006/main">
            <a:r>
              <a:t>[Sources]</a:t>
            </a:r>
          </a:p>
          <a:p xmlns:a="http://schemas.openxmlformats.org/drawingml/2006/main">
            <a:r>
              <a:t>- SGK Toán 6, Chương III - Số nguyên, Bài 13 - Tập hợp các số nguyên (ảnh do người dùng cung cấp).</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ví dụ tốt về AI trả lời trôi chảy nhưng suy luận vượt quá dữ kiện. Giáo viên đánh giá khả năng phát hiện điều kiện còn thiếu.</a:t>
            </a:r>
          </a:p>
          <a:p xmlns:a="http://schemas.openxmlformats.org/drawingml/2006/main">
            <a:r>
              <a:t/>
            </a:r>
          </a:p>
          <a:p xmlns:a="http://schemas.openxmlformats.org/drawingml/2006/main">
            <a:r>
              <a:t>[Sources]</a:t>
            </a:r>
          </a:p>
          <a:p xmlns:a="http://schemas.openxmlformats.org/drawingml/2006/main">
            <a:r>
              <a:t>- SGK Toán 6, Chương III - Số nguyên, Bài 13 - Tập hợp các số nguyên (ảnh do người dùng cung cấp).</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chấm việc AI có vẽ đẹp hay không; chấm khả năng dùng kiến thức trục số để phát hiện và sửa sai.</a:t>
            </a:r>
          </a:p>
          <a:p xmlns:a="http://schemas.openxmlformats.org/drawingml/2006/main">
            <a:r>
              <a:t/>
            </a:r>
          </a:p>
          <a:p xmlns:a="http://schemas.openxmlformats.org/drawingml/2006/main">
            <a:r>
              <a:t>[Sources]</a:t>
            </a:r>
          </a:p>
          <a:p xmlns:a="http://schemas.openxmlformats.org/drawingml/2006/main">
            <a:r>
              <a:t>- SGK Toán 6, Chương III - Số nguyên, Bài 13 - Tập hợp các số nguyên (ảnh do người dùng cung cấp).</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Phương án không thiết bị bảo đảm công bằng và chứng minh rằng giáo dục AI không phụ thuộc vào một nền tảng cụ thể.</a:t>
            </a:r>
          </a:p>
          <a:p xmlns:a="http://schemas.openxmlformats.org/drawingml/2006/main">
            <a:r>
              <a:t/>
            </a:r>
          </a:p>
          <a:p xmlns:a="http://schemas.openxmlformats.org/drawingml/2006/main">
            <a:r>
              <a:t>[Sources]</a:t>
            </a:r>
          </a:p>
          <a:p xmlns:a="http://schemas.openxmlformats.org/drawingml/2006/main">
            <a:r>
              <a:t>- SGK Toán 6, Chương III - Số nguyên, Bài 13 - Tập hợp các số nguyên (ảnh do người dùng cung cấp).</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Rubric này có thể đính kèm kế hoạch bài dạy. Không biến thành một bài kiểm tra AI riêng.</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ví dụ bảo đảm AI không viết thay và không làm mất tiếng nói cá nhân của học sinh.</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ví dụ ưu tiên dữ liệu, nguồn và tình huống thực tiễn; có thể triển khai bằng thiết bị chung hoặc mô phỏng giấy.</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 mô tả công cụ tạo kế hoạch bài dạy, học liệu, câu hỏi và nội dung đa phương tiện dựa trên nguồn người dùng cung cấp, có trích dẫn nội tuyến. Giáo viên vẫn phải kiểm tra và quyết định.</a:t>
            </a:r>
          </a:p>
          <a:p xmlns:a="http://schemas.openxmlformats.org/drawingml/2006/main">
            <a:r>
              <a:t/>
            </a:r>
          </a:p>
          <a:p xmlns:a="http://schemas.openxmlformats.org/drawingml/2006/main">
            <a:r>
              <a:t>[Sources]</a:t>
            </a:r>
          </a:p>
          <a:p xmlns:a="http://schemas.openxmlformats.org/drawingml/2006/main">
            <a:r>
              <a:t>- Google for Education, Gemini Notebook: https://edu.google.com/intl/ALL_us/ai-gemini-notebook/</a:t>
            </a:r>
          </a:p>
          <a:p xmlns:a="http://schemas.openxmlformats.org/drawingml/2006/main">
            <a:r>
              <a:t>- Google Notebook Help: https://support.google.com/notebooklm/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 thể dùng cùng quy trình để tạo câu hỏi phân hóa, phiếu học tập, rubric hoặc bản giải thích ở nhiều mức độ. Không sao chép thẳng đầu ra vào kế hoạch bài dạy.</a:t>
            </a:r>
          </a:p>
          <a:p xmlns:a="http://schemas.openxmlformats.org/drawingml/2006/main">
            <a:r>
              <a:t/>
            </a:r>
          </a:p>
          <a:p xmlns:a="http://schemas.openxmlformats.org/drawingml/2006/main">
            <a:r>
              <a:t>[Sources]</a:t>
            </a:r>
          </a:p>
          <a:p xmlns:a="http://schemas.openxmlformats.org/drawingml/2006/main">
            <a:r>
              <a:t>- Google for Education, Gemini Notebook: https://edu.google.com/intl/ALL_us/ai-gemini-notebook/</a:t>
            </a:r>
          </a:p>
          <a:p xmlns:a="http://schemas.openxmlformats.org/drawingml/2006/main">
            <a:r>
              <a:t>- SGK Toán 6, Chương III - Số nguyên, Bài 13 - Tập hợp các số nguyên (ảnh do người dùng cung cấp).</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Đặt vai trò giáo viên ở trung tâm của quy trình: định hướng, phê duyệt, giám sát và chịu trách nhiệm tại các khâu cần thiết.</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Bốn cửa kiểm soát có thể in thành poster tại phòng máy và dùng như checklist trong mọi môn học.</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ưu tiên thí điểm có kiểm soát rồi mở rộng. Không triển khai đồng loạt công cụ khi chưa có quy tắc và năng lực giáo viên.</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Khép lại bằng ba chủ thể chịu trách nhiệm. AI là công cụ hỗ trợ; mọi quyết định sư phạm và kết quả học tập vẫn do con người kiểm soát.</a:t>
            </a:r>
          </a:p>
          <a:p xmlns:a="http://schemas.openxmlformats.org/drawingml/2006/main">
            <a:r>
              <a:t/>
            </a:r>
          </a:p>
          <a:p xmlns:a="http://schemas.openxmlformats.org/drawingml/2006/main">
            <a:r>
              <a:t>[Sources]</a:t>
            </a:r>
          </a:p>
          <a:p xmlns:a="http://schemas.openxmlformats.org/drawingml/2006/main">
            <a:r>
              <a:t>- Quyết định 2422/QĐ-BGDĐT ngày 18/8/2026 và Khung nội dung giáo dục AI kèm theo (tệp do người dùng cung cấp).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2156862a654e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39d1a8f3a842ed" /><Relationship Type="http://schemas.openxmlformats.org/officeDocument/2006/relationships/slideLayout" Target="/ppt/slideLayouts/slideLayout1.xml" Id="R3344fc60488a4d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44fc60488a4d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0b6d97bb5a464b" /><Relationship Type="http://schemas.openxmlformats.org/officeDocument/2006/relationships/notesSlide" Target="/ppt/notesSlides/notesSlide1.xml" Id="Rc4d829116e5543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0fb8ac6c604773" /><Relationship Type="http://schemas.openxmlformats.org/officeDocument/2006/relationships/notesSlide" Target="/ppt/notesSlides/notesSlide2.xml" Id="Rb32a0075557043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154656bb824b13" /><Relationship Type="http://schemas.openxmlformats.org/officeDocument/2006/relationships/notesSlide" Target="/ppt/notesSlides/notesSlide3.xml" Id="R020b93578f724c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53885a2ea34c3a" /><Relationship Type="http://schemas.openxmlformats.org/officeDocument/2006/relationships/image" Target="/ppt/media/image.png" Id="R880fcfd916814ae3" /><Relationship Type="http://schemas.openxmlformats.org/officeDocument/2006/relationships/notesSlide" Target="/ppt/notesSlides/notesSlide4.xml" Id="R7d46425396584b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d8af9b198243aa" /><Relationship Type="http://schemas.openxmlformats.org/officeDocument/2006/relationships/notesSlide" Target="/ppt/notesSlides/notesSlide5.xml" Id="Rbce2a7eb38eb40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bc8eaabf91464e" /><Relationship Type="http://schemas.openxmlformats.org/officeDocument/2006/relationships/notesSlide" Target="/ppt/notesSlides/notesSlide6.xml" Id="Rf9bcad07667744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7e42e6e824467d" /><Relationship Type="http://schemas.openxmlformats.org/officeDocument/2006/relationships/notesSlide" Target="/ppt/notesSlides/notesSlide7.xml" Id="R44fd9a6eb1234d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b1e1e9b25848ec" /><Relationship Type="http://schemas.openxmlformats.org/officeDocument/2006/relationships/notesSlide" Target="/ppt/notesSlides/notesSlide8.xml" Id="R03408e2972934c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47fd466ca54d22" /><Relationship Type="http://schemas.openxmlformats.org/officeDocument/2006/relationships/notesSlide" Target="/ppt/notesSlides/notesSlide9.xml" Id="R73602f4b5beb4f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c764b2a1244ad9" /><Relationship Type="http://schemas.openxmlformats.org/officeDocument/2006/relationships/notesSlide" Target="/ppt/notesSlides/notesSlide10.xml" Id="Rb973ea139bcf46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b12954bd0742b9" /><Relationship Type="http://schemas.openxmlformats.org/officeDocument/2006/relationships/notesSlide" Target="/ppt/notesSlides/notesSlide11.xml" Id="Rda6b86f1e3d34c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5333d6198540a2" /><Relationship Type="http://schemas.openxmlformats.org/officeDocument/2006/relationships/notesSlide" Target="/ppt/notesSlides/notesSlide12.xml" Id="Rdd7fbe88021341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fbaacdaf4104bef" /><Relationship Type="http://schemas.openxmlformats.org/officeDocument/2006/relationships/notesSlide" Target="/ppt/notesSlides/notesSlide13.xml" Id="R74c16adc127646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0e4b5de75034a97" /><Relationship Type="http://schemas.openxmlformats.org/officeDocument/2006/relationships/notesSlide" Target="/ppt/notesSlides/notesSlide14.xml" Id="R49126c2252ef4f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a80b39ddc79456d" /><Relationship Type="http://schemas.openxmlformats.org/officeDocument/2006/relationships/notesSlide" Target="/ppt/notesSlides/notesSlide15.xml" Id="Rd04612188ca845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db2206f2d4c4635" /><Relationship Type="http://schemas.openxmlformats.org/officeDocument/2006/relationships/image" Target="/ppt/media/image2.png" Id="Reacd950b19404d1a" /><Relationship Type="http://schemas.openxmlformats.org/officeDocument/2006/relationships/notesSlide" Target="/ppt/notesSlides/notesSlide16.xml" Id="R22e77a20c1c84a6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86d4835c08f475e" /><Relationship Type="http://schemas.openxmlformats.org/officeDocument/2006/relationships/image" Target="/ppt/media/image3.png" Id="R201086c83eba4b71" /><Relationship Type="http://schemas.openxmlformats.org/officeDocument/2006/relationships/notesSlide" Target="/ppt/notesSlides/notesSlide17.xml" Id="R96b158ee434b43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d1204e291214898" /><Relationship Type="http://schemas.openxmlformats.org/officeDocument/2006/relationships/image" Target="/ppt/media/image4.png" Id="R1dad55117fa943b2" /><Relationship Type="http://schemas.openxmlformats.org/officeDocument/2006/relationships/notesSlide" Target="/ppt/notesSlides/notesSlide18.xml" Id="Rcc3ee4c852e542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f3832d12d8943f8" /><Relationship Type="http://schemas.openxmlformats.org/officeDocument/2006/relationships/image" Target="/ppt/media/image5.png" Id="Rdcfd25d1a67e400a" /><Relationship Type="http://schemas.openxmlformats.org/officeDocument/2006/relationships/notesSlide" Target="/ppt/notesSlides/notesSlide19.xml" Id="Ra86646e1cfa249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885ec3ab540495e" /><Relationship Type="http://schemas.openxmlformats.org/officeDocument/2006/relationships/image" Target="/ppt/media/image6.png" Id="Re05f1d2e7eba49e3" /><Relationship Type="http://schemas.openxmlformats.org/officeDocument/2006/relationships/notesSlide" Target="/ppt/notesSlides/notesSlide20.xml" Id="R3bdf20e53cb447f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0b4ef12b0d34c41" /><Relationship Type="http://schemas.openxmlformats.org/officeDocument/2006/relationships/notesSlide" Target="/ppt/notesSlides/notesSlide21.xml" Id="Rad01047fd8ec433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d983bc007c741a4" /><Relationship Type="http://schemas.openxmlformats.org/officeDocument/2006/relationships/notesSlide" Target="/ppt/notesSlides/notesSlide22.xml" Id="R675bfad2c03641b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106ce356d044bd2" /><Relationship Type="http://schemas.openxmlformats.org/officeDocument/2006/relationships/notesSlide" Target="/ppt/notesSlides/notesSlide23.xml" Id="R2359c43b05b74b9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393ce92707f40d8" /><Relationship Type="http://schemas.openxmlformats.org/officeDocument/2006/relationships/notesSlide" Target="/ppt/notesSlides/notesSlide24.xml" Id="R5b66f358ce3d450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58c0e9b1f1d43e5" /><Relationship Type="http://schemas.openxmlformats.org/officeDocument/2006/relationships/notesSlide" Target="/ppt/notesSlides/notesSlide25.xml" Id="R9d7ea7c1def241b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121926d889f4c2a" /><Relationship Type="http://schemas.openxmlformats.org/officeDocument/2006/relationships/notesSlide" Target="/ppt/notesSlides/notesSlide26.xml" Id="Ree5f212702b64b9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397f057eee8445f" /><Relationship Type="http://schemas.openxmlformats.org/officeDocument/2006/relationships/notesSlide" Target="/ppt/notesSlides/notesSlide27.xml" Id="Rd47a06cf29b14cd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d502d0a54c64226" /><Relationship Type="http://schemas.openxmlformats.org/officeDocument/2006/relationships/notesSlide" Target="/ppt/notesSlides/notesSlide28.xml" Id="Ra727a8afed864a7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bf1a2145cd74fcc" /><Relationship Type="http://schemas.openxmlformats.org/officeDocument/2006/relationships/notesSlide" Target="/ppt/notesSlides/notesSlide29.xml" Id="Ra71d47eebd10422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ver-left">
            <a:extLst xmlns:a="http://schemas.openxmlformats.org/drawingml/2006/main">
              <a:ext uri="{FF2B5EF4-FFF2-40B4-BE49-F238E27FC236}">
                <a16:creationId xmlns:a16="http://schemas.microsoft.com/office/drawing/2014/main" id="{F340466A-6C77-4ADB-89CC-74ED7AB3D0F5}"/>
              </a:ext>
            </a:extLst>
          </p:cNvPr>
          <p:cNvSpPr>
            <a:spLocks xmlns:a="http://schemas.openxmlformats.org/drawingml/2006/main" noGrp="1"/>
          </p:cNvSpPr>
          <p:nvPr/>
        </p:nvSpPr>
        <p:spPr>
          <a:xfrm xmlns:a="http://schemas.openxmlformats.org/drawingml/2006/main">
            <a:off x="0" y="0"/>
            <a:ext cx="7524750" cy="6858000"/>
          </a:xfrm>
          <a:prstGeom xmlns:a="http://schemas.openxmlformats.org/drawingml/2006/main" prst="rect">
            <a:avLst/>
          </a:prstGeom>
          <a:solidFill xmlns:a="http://schemas.openxmlformats.org/drawingml/2006/main">
            <a:srgbClr val="10131A"/>
          </a:solidFill>
          <a:ln xmlns:a="http://schemas.openxmlformats.org/drawingml/2006/main" w="0">
            <a:solidFill>
              <a:srgbClr val="10131A"/>
            </a:solidFill>
            <a:prstDash val="solid"/>
          </a:ln>
        </p:spPr>
      </p:sp>
      <p:sp>
        <p:nvSpPr>
          <p:cNvPr id="2" name="cover-accent">
            <a:extLst xmlns:a="http://schemas.openxmlformats.org/drawingml/2006/main">
              <a:ext uri="{FF2B5EF4-FFF2-40B4-BE49-F238E27FC236}">
                <a16:creationId xmlns:a16="http://schemas.microsoft.com/office/drawing/2014/main" id="{0AB0BD75-9DEC-40CC-88DB-8D5F9355985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4C2F0"/>
          </a:solidFill>
          <a:ln xmlns:a="http://schemas.openxmlformats.org/drawingml/2006/main" w="0">
            <a:solidFill>
              <a:srgbClr val="44C2F0"/>
            </a:solidFill>
            <a:prstDash val="solid"/>
          </a:ln>
        </p:spPr>
      </p:sp>
      <p:sp>
        <p:nvSpPr>
          <p:cNvPr id="3" name="cover-school">
            <a:extLst xmlns:a="http://schemas.openxmlformats.org/drawingml/2006/main">
              <a:ext uri="{FF2B5EF4-FFF2-40B4-BE49-F238E27FC236}">
                <a16:creationId xmlns:a16="http://schemas.microsoft.com/office/drawing/2014/main" id="{844F6DD3-A384-459B-A5AC-746D18CCB9D9}"/>
              </a:ext>
            </a:extLst>
          </p:cNvPr>
          <p:cNvSpPr>
            <a:spLocks xmlns:a="http://schemas.openxmlformats.org/drawingml/2006/main" noGrp="1"/>
          </p:cNvSpPr>
          <p:nvPr/>
        </p:nvSpPr>
        <p:spPr>
          <a:xfrm xmlns:a="http://schemas.openxmlformats.org/drawingml/2006/main">
            <a:off x="609600" y="5715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4C2F0"/>
                </a:solidFill>
              </a:defRPr>
            </a:pPr>
            <a:r>
              <a:rPr sz="1200" b="1">
                <a:solidFill>
                  <a:srgbClr val="44C2F0"/>
                </a:solidFill>
              </a:rPr>
              <a:t>TRƯỜNG THCS TRẦN PHÚ</a:t>
            </a:r>
          </a:p>
        </p:txBody>
      </p:sp>
      <p:sp>
        <p:nvSpPr>
          <p:cNvPr id="4" name="cover-title">
            <a:extLst xmlns:a="http://schemas.openxmlformats.org/drawingml/2006/main">
              <a:ext uri="{FF2B5EF4-FFF2-40B4-BE49-F238E27FC236}">
                <a16:creationId xmlns:a16="http://schemas.microsoft.com/office/drawing/2014/main" id="{BD2ABAA3-C352-4662-B3F9-A0FE06645939}"/>
              </a:ext>
            </a:extLst>
          </p:cNvPr>
          <p:cNvSpPr>
            <a:spLocks xmlns:a="http://schemas.openxmlformats.org/drawingml/2006/main" noGrp="1"/>
          </p:cNvSpPr>
          <p:nvPr/>
        </p:nvSpPr>
        <p:spPr>
          <a:xfrm xmlns:a="http://schemas.openxmlformats.org/drawingml/2006/main">
            <a:off x="609600" y="1428750"/>
            <a:ext cx="619125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FFFFFF"/>
                </a:solidFill>
              </a:defRPr>
            </a:pPr>
            <a:r>
              <a:rPr sz="4350" b="1">
                <a:solidFill>
                  <a:srgbClr val="FFFFFF"/>
                </a:solidFill>
              </a:rPr>
              <a:t>TRIỂN KHAI</a:t>
            </a:r>
          </a:p>
          <a:p xmlns:a="http://schemas.openxmlformats.org/drawingml/2006/main">
            <a:pPr algn="l">
              <a:defRPr sz="4350" b="1">
                <a:solidFill>
                  <a:srgbClr val="FFFFFF"/>
                </a:solidFill>
              </a:defRPr>
            </a:pPr>
            <a:r>
              <a:rPr sz="4350" b="1">
                <a:solidFill>
                  <a:srgbClr val="FFFFFF"/>
                </a:solidFill>
              </a:rPr>
              <a:t>GIÁO DỤC AI</a:t>
            </a:r>
          </a:p>
          <a:p xmlns:a="http://schemas.openxmlformats.org/drawingml/2006/main">
            <a:pPr algn="l">
              <a:defRPr sz="4350" b="1">
                <a:solidFill>
                  <a:srgbClr val="FFFFFF"/>
                </a:solidFill>
              </a:defRPr>
            </a:pPr>
            <a:r>
              <a:rPr sz="4350" b="1">
                <a:solidFill>
                  <a:srgbClr val="FFFFFF"/>
                </a:solidFill>
              </a:rPr>
              <a:t>Ở CẤP THCS</a:t>
            </a:r>
          </a:p>
        </p:txBody>
      </p:sp>
      <p:sp>
        <p:nvSpPr>
          <p:cNvPr id="5" name="cover-sub">
            <a:extLst xmlns:a="http://schemas.openxmlformats.org/drawingml/2006/main">
              <a:ext uri="{FF2B5EF4-FFF2-40B4-BE49-F238E27FC236}">
                <a16:creationId xmlns:a16="http://schemas.microsoft.com/office/drawing/2014/main" id="{35960800-0E62-4311-9411-3B83CE884E04}"/>
              </a:ext>
            </a:extLst>
          </p:cNvPr>
          <p:cNvSpPr>
            <a:spLocks xmlns:a="http://schemas.openxmlformats.org/drawingml/2006/main" noGrp="1"/>
          </p:cNvSpPr>
          <p:nvPr/>
        </p:nvSpPr>
        <p:spPr>
          <a:xfrm xmlns:a="http://schemas.openxmlformats.org/drawingml/2006/main">
            <a:off x="609600" y="4429125"/>
            <a:ext cx="609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D5D9E0"/>
                </a:solidFill>
              </a:defRPr>
            </a:pPr>
            <a:r>
              <a:rPr sz="1800" b="0">
                <a:solidFill>
                  <a:srgbClr val="D5D9E0"/>
                </a:solidFill>
              </a:rPr>
              <a:t>Từ Khung nội dung quốc gia đến chuyên đề 12 tiết và tích hợp trong từng môn học</a:t>
            </a:r>
          </a:p>
        </p:txBody>
      </p:sp>
      <p:sp>
        <p:nvSpPr>
          <p:cNvPr id="6" name="cover-date">
            <a:extLst xmlns:a="http://schemas.openxmlformats.org/drawingml/2006/main">
              <a:ext uri="{FF2B5EF4-FFF2-40B4-BE49-F238E27FC236}">
                <a16:creationId xmlns:a16="http://schemas.microsoft.com/office/drawing/2014/main" id="{F83993CF-B43C-42EE-8D67-C91CA38AF3D3}"/>
              </a:ext>
            </a:extLst>
          </p:cNvPr>
          <p:cNvSpPr>
            <a:spLocks xmlns:a="http://schemas.openxmlformats.org/drawingml/2006/main" noGrp="1"/>
          </p:cNvSpPr>
          <p:nvPr/>
        </p:nvSpPr>
        <p:spPr>
          <a:xfrm xmlns:a="http://schemas.openxmlformats.org/drawingml/2006/main">
            <a:off x="609600" y="595312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4C2F0"/>
                </a:solidFill>
              </a:defRPr>
            </a:pPr>
            <a:r>
              <a:rPr sz="1050" b="1">
                <a:solidFill>
                  <a:srgbClr val="44C2F0"/>
                </a:solidFill>
              </a:rPr>
              <a:t>BÁO CÁO TRIỂN KHAI • NĂM HỌC 2026–2027</a:t>
            </a:r>
          </a:p>
        </p:txBody>
      </p:sp>
      <p:sp>
        <p:nvSpPr>
          <p:cNvPr id="7" name="cover-ai">
            <a:extLst xmlns:a="http://schemas.openxmlformats.org/drawingml/2006/main">
              <a:ext uri="{FF2B5EF4-FFF2-40B4-BE49-F238E27FC236}">
                <a16:creationId xmlns:a16="http://schemas.microsoft.com/office/drawing/2014/main" id="{262DFBE7-7EA2-448A-BC1F-9DB6F9439943}"/>
              </a:ext>
            </a:extLst>
          </p:cNvPr>
          <p:cNvSpPr>
            <a:spLocks xmlns:a="http://schemas.openxmlformats.org/drawingml/2006/main" noGrp="1"/>
          </p:cNvSpPr>
          <p:nvPr/>
        </p:nvSpPr>
        <p:spPr>
          <a:xfrm xmlns:a="http://schemas.openxmlformats.org/drawingml/2006/main">
            <a:off x="7953375" y="809625"/>
            <a:ext cx="33337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0" b="1">
                <a:solidFill>
                  <a:srgbClr val="1769E0"/>
                </a:solidFill>
              </a:defRPr>
            </a:pPr>
            <a:r>
              <a:rPr sz="12000" b="1">
                <a:solidFill>
                  <a:srgbClr val="1769E0"/>
                </a:solidFill>
              </a:rPr>
              <a:t>AI</a:t>
            </a:r>
          </a:p>
        </p:txBody>
      </p:sp>
      <p:sp>
        <p:nvSpPr>
          <p:cNvPr id="8" name="cover-right">
            <a:extLst xmlns:a="http://schemas.openxmlformats.org/drawingml/2006/main">
              <a:ext uri="{FF2B5EF4-FFF2-40B4-BE49-F238E27FC236}">
                <a16:creationId xmlns:a16="http://schemas.microsoft.com/office/drawing/2014/main" id="{B52B4377-7B33-4730-8860-7D0470F14666}"/>
              </a:ext>
            </a:extLst>
          </p:cNvPr>
          <p:cNvSpPr>
            <a:spLocks xmlns:a="http://schemas.openxmlformats.org/drawingml/2006/main" noGrp="1"/>
          </p:cNvSpPr>
          <p:nvPr/>
        </p:nvSpPr>
        <p:spPr>
          <a:xfrm xmlns:a="http://schemas.openxmlformats.org/drawingml/2006/main">
            <a:off x="7953375" y="3524250"/>
            <a:ext cx="33337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0131A"/>
                </a:solidFill>
              </a:defRPr>
            </a:pPr>
            <a:r>
              <a:rPr sz="1875" b="1">
                <a:solidFill>
                  <a:srgbClr val="10131A"/>
                </a:solidFill>
              </a:rPr>
              <a:t>12 tiết cốt lõi</a:t>
            </a:r>
          </a:p>
          <a:p xmlns:a="http://schemas.openxmlformats.org/drawingml/2006/main">
            <a:pPr algn="ctr">
              <a:defRPr sz="1875" b="1">
                <a:solidFill>
                  <a:srgbClr val="10131A"/>
                </a:solidFill>
              </a:defRPr>
            </a:pPr>
            <a:r>
              <a:rPr sz="1875" b="1">
                <a:solidFill>
                  <a:srgbClr val="10131A"/>
                </a:solidFill>
              </a:rPr>
              <a:t>+</a:t>
            </a:r>
          </a:p>
          <a:p xmlns:a="http://schemas.openxmlformats.org/drawingml/2006/main">
            <a:pPr algn="ctr">
              <a:defRPr sz="1875" b="1">
                <a:solidFill>
                  <a:srgbClr val="10131A"/>
                </a:solidFill>
              </a:defRPr>
            </a:pPr>
            <a:r>
              <a:rPr sz="1875" b="1">
                <a:solidFill>
                  <a:srgbClr val="10131A"/>
                </a:solidFill>
              </a:rPr>
              <a:t>Tích hợp liên môn</a:t>
            </a:r>
          </a:p>
          <a:p xmlns:a="http://schemas.openxmlformats.org/drawingml/2006/main">
            <a:pPr algn="ctr">
              <a:defRPr sz="1875" b="1">
                <a:solidFill>
                  <a:srgbClr val="10131A"/>
                </a:solidFill>
              </a:defRPr>
            </a:pPr>
            <a:r>
              <a:rPr sz="1875" b="1">
                <a:solidFill>
                  <a:srgbClr val="10131A"/>
                </a:solidFill>
              </a:rPr>
              <a:t>+</a:t>
            </a:r>
          </a:p>
          <a:p xmlns:a="http://schemas.openxmlformats.org/drawingml/2006/main">
            <a:pPr algn="ctr">
              <a:defRPr sz="1875" b="1">
                <a:solidFill>
                  <a:srgbClr val="10131A"/>
                </a:solidFill>
              </a:defRPr>
            </a:pPr>
            <a:r>
              <a:rPr sz="1875" b="1">
                <a:solidFill>
                  <a:srgbClr val="10131A"/>
                </a:solidFill>
              </a:rPr>
              <a:t>Dự án mở rộng</a:t>
            </a:r>
          </a:p>
        </p:txBody>
      </p:sp>
    </p:spTree>
    <p:transition spd="fast">
      <p:fade/>
    </p:transition>
    <p:extLst>
      <p:ext uri="{BB962C8B-B14F-4D97-AF65-F5344CB8AC3E}">
        <p14:creationId xmlns:p14="http://schemas.microsoft.com/office/powerpoint/2010/main" val="11287421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2">
            <a:extLst xmlns:a="http://schemas.openxmlformats.org/drawingml/2006/main">
              <a:ext uri="{FF2B5EF4-FFF2-40B4-BE49-F238E27FC236}">
                <a16:creationId xmlns:a16="http://schemas.microsoft.com/office/drawing/2014/main" id="{51B3D7DD-62D8-4569-A739-1C3830D9E05E}"/>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THÔNG ĐIỆP ĐIỀU HÀNH</a:t>
            </a:r>
          </a:p>
        </p:txBody>
      </p:sp>
      <p:sp>
        <p:nvSpPr>
          <p:cNvPr id="2" name="title-2">
            <a:extLst xmlns:a="http://schemas.openxmlformats.org/drawingml/2006/main">
              <a:ext uri="{FF2B5EF4-FFF2-40B4-BE49-F238E27FC236}">
                <a16:creationId xmlns:a16="http://schemas.microsoft.com/office/drawing/2014/main" id="{B5B13F78-EA3F-46EB-89E7-9739B0233A88}"/>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Nhà trường triển khai theo ba lớp, không làm rời rạc</a:t>
            </a:r>
          </a:p>
        </p:txBody>
      </p:sp>
      <p:sp>
        <p:nvSpPr>
          <p:cNvPr id="3" name="rule-2">
            <a:extLst xmlns:a="http://schemas.openxmlformats.org/drawingml/2006/main">
              <a:ext uri="{FF2B5EF4-FFF2-40B4-BE49-F238E27FC236}">
                <a16:creationId xmlns:a16="http://schemas.microsoft.com/office/drawing/2014/main" id="{FBDC7E19-88DF-4833-BCCB-ED0375F3318E}"/>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2">
            <a:extLst xmlns:a="http://schemas.openxmlformats.org/drawingml/2006/main">
              <a:ext uri="{FF2B5EF4-FFF2-40B4-BE49-F238E27FC236}">
                <a16:creationId xmlns:a16="http://schemas.microsoft.com/office/drawing/2014/main" id="{CF7AC852-D6B5-4DD1-BAE2-304CA1275A86}"/>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02</a:t>
            </a:r>
          </a:p>
        </p:txBody>
      </p:sp>
      <p:sp>
        <p:nvSpPr>
          <p:cNvPr id="5" name="anim-02-core">
            <a:extLst xmlns:a="http://schemas.openxmlformats.org/drawingml/2006/main">
              <a:ext uri="{FF2B5EF4-FFF2-40B4-BE49-F238E27FC236}">
                <a16:creationId xmlns:a16="http://schemas.microsoft.com/office/drawing/2014/main" id="{279A8216-E1D4-4CA6-AF97-CC3A2EE08DFF}"/>
              </a:ext>
            </a:extLst>
          </p:cNvPr>
          <p:cNvSpPr>
            <a:spLocks xmlns:a="http://schemas.openxmlformats.org/drawingml/2006/main" noGrp="1"/>
          </p:cNvSpPr>
          <p:nvPr/>
        </p:nvSpPr>
        <p:spPr>
          <a:xfrm xmlns:a="http://schemas.openxmlformats.org/drawingml/2006/main">
            <a:off x="533400" y="2190750"/>
            <a:ext cx="3333750" cy="2667000"/>
          </a:xfrm>
          <a:prstGeom xmlns:a="http://schemas.openxmlformats.org/drawingml/2006/main" prst="roundRect">
            <a:avLst>
              <a:gd name="adj" fmla="val 4286"/>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131A"/>
                </a:solidFill>
              </a:defRPr>
            </a:pPr>
            <a:r>
              <a:rPr sz="1725" b="0">
                <a:solidFill>
                  <a:srgbClr val="10131A"/>
                </a:solidFill>
              </a:rPr>
              <a:t>LỚP 1 — CỐT LÕI</a:t>
            </a:r>
          </a:p>
          <a:p xmlns:a="http://schemas.openxmlformats.org/drawingml/2006/main">
            <a:pPr algn="l">
              <a:defRPr sz="1725" b="0">
                <a:solidFill>
                  <a:srgbClr val="10131A"/>
                </a:solidFill>
              </a:defRPr>
            </a:pPr>
            <a:r>
              <a:rPr sz="1725" b="0">
                <a:solidFill>
                  <a:srgbClr val="10131A"/>
                </a:solidFill>
              </a:rPr>
              <a:t>12 tiết/lớp/năm học</a:t>
            </a:r>
          </a:p>
          <a:p xmlns:a="http://schemas.openxmlformats.org/drawingml/2006/main">
            <a:pPr algn="l">
              <a:defRPr sz="1725" b="0">
                <a:solidFill>
                  <a:srgbClr val="10131A"/>
                </a:solidFill>
              </a:defRPr>
            </a:pPr>
            <a:r>
              <a:rPr sz="1725" b="0">
                <a:solidFill>
                  <a:srgbClr val="10131A"/>
                </a:solidFill>
              </a:rPr>
              <a:t>Bảo đảm yêu cầu cần đạt thiết yếu cho mọi học sinh.</a:t>
            </a:r>
          </a:p>
        </p:txBody>
      </p:sp>
      <p:sp>
        <p:nvSpPr>
          <p:cNvPr id="6" name="anim-02-core-accent">
            <a:extLst xmlns:a="http://schemas.openxmlformats.org/drawingml/2006/main">
              <a:ext uri="{FF2B5EF4-FFF2-40B4-BE49-F238E27FC236}">
                <a16:creationId xmlns:a16="http://schemas.microsoft.com/office/drawing/2014/main" id="{E3753A18-B8E8-4FDF-8270-D819848D84C7}"/>
              </a:ext>
            </a:extLst>
          </p:cNvPr>
          <p:cNvSpPr>
            <a:spLocks xmlns:a="http://schemas.openxmlformats.org/drawingml/2006/main" noGrp="1"/>
          </p:cNvSpPr>
          <p:nvPr/>
        </p:nvSpPr>
        <p:spPr>
          <a:xfrm xmlns:a="http://schemas.openxmlformats.org/drawingml/2006/main">
            <a:off x="533400" y="2190750"/>
            <a:ext cx="76200" cy="266700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7" name="anim-02-integrate">
            <a:extLst xmlns:a="http://schemas.openxmlformats.org/drawingml/2006/main">
              <a:ext uri="{FF2B5EF4-FFF2-40B4-BE49-F238E27FC236}">
                <a16:creationId xmlns:a16="http://schemas.microsoft.com/office/drawing/2014/main" id="{BDC6394D-79C7-4D5D-BA10-99745070E562}"/>
              </a:ext>
            </a:extLst>
          </p:cNvPr>
          <p:cNvSpPr>
            <a:spLocks xmlns:a="http://schemas.openxmlformats.org/drawingml/2006/main" noGrp="1"/>
          </p:cNvSpPr>
          <p:nvPr/>
        </p:nvSpPr>
        <p:spPr>
          <a:xfrm xmlns:a="http://schemas.openxmlformats.org/drawingml/2006/main">
            <a:off x="4429125" y="2190750"/>
            <a:ext cx="3333750" cy="2667000"/>
          </a:xfrm>
          <a:prstGeom xmlns:a="http://schemas.openxmlformats.org/drawingml/2006/main" prst="roundRect">
            <a:avLst>
              <a:gd name="adj" fmla="val 4286"/>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131A"/>
                </a:solidFill>
              </a:defRPr>
            </a:pPr>
            <a:r>
              <a:rPr sz="1725" b="0">
                <a:solidFill>
                  <a:srgbClr val="10131A"/>
                </a:solidFill>
              </a:rPr>
              <a:t>LỚP 2 — TÍCH HỢP</a:t>
            </a:r>
          </a:p>
          <a:p xmlns:a="http://schemas.openxmlformats.org/drawingml/2006/main">
            <a:pPr algn="l">
              <a:defRPr sz="1725" b="0">
                <a:solidFill>
                  <a:srgbClr val="10131A"/>
                </a:solidFill>
              </a:defRPr>
            </a:pPr>
            <a:r>
              <a:rPr sz="1725" b="0">
                <a:solidFill>
                  <a:srgbClr val="10131A"/>
                </a:solidFill>
              </a:rPr>
              <a:t>Các môn học và hoạt động giáo dục củng cố, vận dụng năng lực AI; không tăng yêu cầu cần đạt của môn.</a:t>
            </a:r>
          </a:p>
        </p:txBody>
      </p:sp>
      <p:sp>
        <p:nvSpPr>
          <p:cNvPr id="8" name="anim-02-integrate-accent">
            <a:extLst xmlns:a="http://schemas.openxmlformats.org/drawingml/2006/main">
              <a:ext uri="{FF2B5EF4-FFF2-40B4-BE49-F238E27FC236}">
                <a16:creationId xmlns:a16="http://schemas.microsoft.com/office/drawing/2014/main" id="{C0B897B7-FBE3-431C-A88E-3636CDAA305A}"/>
              </a:ext>
            </a:extLst>
          </p:cNvPr>
          <p:cNvSpPr>
            <a:spLocks xmlns:a="http://schemas.openxmlformats.org/drawingml/2006/main" noGrp="1"/>
          </p:cNvSpPr>
          <p:nvPr/>
        </p:nvSpPr>
        <p:spPr>
          <a:xfrm xmlns:a="http://schemas.openxmlformats.org/drawingml/2006/main">
            <a:off x="4429125" y="2190750"/>
            <a:ext cx="76200" cy="2667000"/>
          </a:xfrm>
          <a:prstGeom xmlns:a="http://schemas.openxmlformats.org/drawingml/2006/main" prst="rect">
            <a:avLst/>
          </a:prstGeom>
          <a:solidFill xmlns:a="http://schemas.openxmlformats.org/drawingml/2006/main">
            <a:srgbClr val="44C2F0"/>
          </a:solidFill>
          <a:ln xmlns:a="http://schemas.openxmlformats.org/drawingml/2006/main" w="0">
            <a:solidFill>
              <a:srgbClr val="44C2F0"/>
            </a:solidFill>
            <a:prstDash val="solid"/>
          </a:ln>
        </p:spPr>
      </p:sp>
      <p:sp>
        <p:nvSpPr>
          <p:cNvPr id="9" name="anim-02-expand">
            <a:extLst xmlns:a="http://schemas.openxmlformats.org/drawingml/2006/main">
              <a:ext uri="{FF2B5EF4-FFF2-40B4-BE49-F238E27FC236}">
                <a16:creationId xmlns:a16="http://schemas.microsoft.com/office/drawing/2014/main" id="{852089B3-B301-427C-9F7A-B2E0026AEE16}"/>
              </a:ext>
            </a:extLst>
          </p:cNvPr>
          <p:cNvSpPr>
            <a:spLocks xmlns:a="http://schemas.openxmlformats.org/drawingml/2006/main" noGrp="1"/>
          </p:cNvSpPr>
          <p:nvPr/>
        </p:nvSpPr>
        <p:spPr>
          <a:xfrm xmlns:a="http://schemas.openxmlformats.org/drawingml/2006/main">
            <a:off x="8324850" y="2190750"/>
            <a:ext cx="3333750" cy="2667000"/>
          </a:xfrm>
          <a:prstGeom xmlns:a="http://schemas.openxmlformats.org/drawingml/2006/main" prst="roundRect">
            <a:avLst>
              <a:gd name="adj" fmla="val 4286"/>
            </a:avLst>
          </a:prstGeom>
          <a:solidFill xmlns:a="http://schemas.openxmlformats.org/drawingml/2006/main">
            <a:srgbClr val="EAF7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131A"/>
                </a:solidFill>
              </a:defRPr>
            </a:pPr>
            <a:r>
              <a:rPr sz="1725" b="0">
                <a:solidFill>
                  <a:srgbClr val="10131A"/>
                </a:solidFill>
              </a:rPr>
              <a:t>LỚP 3 — MỞ RỘNG</a:t>
            </a:r>
          </a:p>
          <a:p xmlns:a="http://schemas.openxmlformats.org/drawingml/2006/main">
            <a:pPr algn="l">
              <a:defRPr sz="1725" b="0">
                <a:solidFill>
                  <a:srgbClr val="10131A"/>
                </a:solidFill>
              </a:defRPr>
            </a:pPr>
            <a:r>
              <a:rPr sz="1725" b="0">
                <a:solidFill>
                  <a:srgbClr val="10131A"/>
                </a:solidFill>
              </a:rPr>
              <a:t>CLB, dự án, STEM/STEAM, ngoại khóa; tổ chức theo nhu cầu và điều kiện, bảo đảm tiếp cận công bằng.</a:t>
            </a:r>
          </a:p>
        </p:txBody>
      </p:sp>
      <p:sp>
        <p:nvSpPr>
          <p:cNvPr id="10" name="anim-02-expand-accent">
            <a:extLst xmlns:a="http://schemas.openxmlformats.org/drawingml/2006/main">
              <a:ext uri="{FF2B5EF4-FFF2-40B4-BE49-F238E27FC236}">
                <a16:creationId xmlns:a16="http://schemas.microsoft.com/office/drawing/2014/main" id="{B494D88C-9A1E-452B-8CD0-11B24C99AE41}"/>
              </a:ext>
            </a:extLst>
          </p:cNvPr>
          <p:cNvSpPr>
            <a:spLocks xmlns:a="http://schemas.openxmlformats.org/drawingml/2006/main" noGrp="1"/>
          </p:cNvSpPr>
          <p:nvPr/>
        </p:nvSpPr>
        <p:spPr>
          <a:xfrm xmlns:a="http://schemas.openxmlformats.org/drawingml/2006/main">
            <a:off x="8324850" y="2190750"/>
            <a:ext cx="76200" cy="2667000"/>
          </a:xfrm>
          <a:prstGeom xmlns:a="http://schemas.openxmlformats.org/drawingml/2006/main" prst="rect">
            <a:avLst/>
          </a:prstGeom>
          <a:solidFill xmlns:a="http://schemas.openxmlformats.org/drawingml/2006/main">
            <a:srgbClr val="1B8A5A"/>
          </a:solidFill>
          <a:ln xmlns:a="http://schemas.openxmlformats.org/drawingml/2006/main" w="0">
            <a:solidFill>
              <a:srgbClr val="1B8A5A"/>
            </a:solidFill>
            <a:prstDash val="solid"/>
          </a:ln>
        </p:spPr>
      </p:sp>
      <p:sp>
        <p:nvSpPr>
          <p:cNvPr id="11" name="anim-02-takeaway">
            <a:extLst xmlns:a="http://schemas.openxmlformats.org/drawingml/2006/main">
              <a:ext uri="{FF2B5EF4-FFF2-40B4-BE49-F238E27FC236}">
                <a16:creationId xmlns:a16="http://schemas.microsoft.com/office/drawing/2014/main" id="{FF3DBD7D-20AB-4437-8304-702A740E55B4}"/>
              </a:ext>
            </a:extLst>
          </p:cNvPr>
          <p:cNvSpPr>
            <a:spLocks xmlns:a="http://schemas.openxmlformats.org/drawingml/2006/main" noGrp="1"/>
          </p:cNvSpPr>
          <p:nvPr/>
        </p:nvSpPr>
        <p:spPr>
          <a:xfrm xmlns:a="http://schemas.openxmlformats.org/drawingml/2006/main">
            <a:off x="1524000" y="5334000"/>
            <a:ext cx="914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0B2B5B"/>
                </a:solidFill>
              </a:defRPr>
            </a:pPr>
            <a:r>
              <a:rPr sz="1950" b="1">
                <a:solidFill>
                  <a:srgbClr val="0B2B5B"/>
                </a:solidFill>
              </a:rPr>
              <a:t>Điểm mấu chốt: 12 tiết tạo nền; môn học tạo năng lực vận dụng; dự án tạo chiều sâu.</a:t>
            </a:r>
          </a:p>
        </p:txBody>
      </p:sp>
      <p:sp>
        <p:nvSpPr>
          <p:cNvPr id="12" name="source-2">
            <a:extLst xmlns:a="http://schemas.openxmlformats.org/drawingml/2006/main">
              <a:ext uri="{FF2B5EF4-FFF2-40B4-BE49-F238E27FC236}">
                <a16:creationId xmlns:a16="http://schemas.microsoft.com/office/drawing/2014/main" id="{A5323652-D49B-43B3-961A-A65D2E7321B8}"/>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nội dung giáo dục AI, mục tổ chức nội dung cốt lõi và mở rộng.</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7"/>
                                          </p:tgtEl>
                                          <p:attrNameLst>
                                            <p:attrName>style.visibility</p:attrName>
                                          </p:attrNameLst>
                                        </p:cBhvr>
                                        <p:to>
                                          <p:strVal val="visible"/>
                                        </p:to>
                                      </p:set>
                                      <p:animEffect transition="in" filter="fade">
                                        <p:cBhvr>
                                          <p:cTn id="1011" dur="350"/>
                                          <p:tgtEl>
                                            <p:spTgt spid="7"/>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9"/>
                                          </p:tgtEl>
                                          <p:attrNameLst>
                                            <p:attrName>style.visibility</p:attrName>
                                          </p:attrNameLst>
                                        </p:cBhvr>
                                        <p:to>
                                          <p:strVal val="visible"/>
                                        </p:to>
                                      </p:set>
                                      <p:animEffect transition="in" filter="fade">
                                        <p:cBhvr>
                                          <p:cTn id="1016" dur="350"/>
                                          <p:tgtEl>
                                            <p:spTgt spid="9"/>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11"/>
                                          </p:tgtEl>
                                          <p:attrNameLst>
                                            <p:attrName>style.visibility</p:attrName>
                                          </p:attrNameLst>
                                        </p:cBhvr>
                                        <p:to>
                                          <p:strVal val="visible"/>
                                        </p:to>
                                      </p:set>
                                      <p:animEffect transition="in" filter="fade">
                                        <p:cBhvr>
                                          <p:cTn id="1021"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4426013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3">
            <a:extLst xmlns:a="http://schemas.openxmlformats.org/drawingml/2006/main">
              <a:ext uri="{FF2B5EF4-FFF2-40B4-BE49-F238E27FC236}">
                <a16:creationId xmlns:a16="http://schemas.microsoft.com/office/drawing/2014/main" id="{5BD7C82F-7229-4793-B111-F89EA9235296}"/>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01 / BỐI CẢNH</a:t>
            </a:r>
          </a:p>
        </p:txBody>
      </p:sp>
      <p:sp>
        <p:nvSpPr>
          <p:cNvPr id="2" name="title-3">
            <a:extLst xmlns:a="http://schemas.openxmlformats.org/drawingml/2006/main">
              <a:ext uri="{FF2B5EF4-FFF2-40B4-BE49-F238E27FC236}">
                <a16:creationId xmlns:a16="http://schemas.microsoft.com/office/drawing/2014/main" id="{814D0954-D5EA-4E2A-A281-80134AC5CECA}"/>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Vì sao trường THCS cần giáo dục AI ngay từ bây giờ?</a:t>
            </a:r>
          </a:p>
        </p:txBody>
      </p:sp>
      <p:sp>
        <p:nvSpPr>
          <p:cNvPr id="3" name="rule-3">
            <a:extLst xmlns:a="http://schemas.openxmlformats.org/drawingml/2006/main">
              <a:ext uri="{FF2B5EF4-FFF2-40B4-BE49-F238E27FC236}">
                <a16:creationId xmlns:a16="http://schemas.microsoft.com/office/drawing/2014/main" id="{FDD5756E-580D-4486-ABA6-6F6BE7019F87}"/>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3">
            <a:extLst xmlns:a="http://schemas.openxmlformats.org/drawingml/2006/main">
              <a:ext uri="{FF2B5EF4-FFF2-40B4-BE49-F238E27FC236}">
                <a16:creationId xmlns:a16="http://schemas.microsoft.com/office/drawing/2014/main" id="{08F2795A-653D-4CBA-A97C-36B0434E8BAD}"/>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03</a:t>
            </a:r>
          </a:p>
        </p:txBody>
      </p:sp>
      <p:sp>
        <p:nvSpPr>
          <p:cNvPr id="5" name="anim-03-big">
            <a:extLst xmlns:a="http://schemas.openxmlformats.org/drawingml/2006/main">
              <a:ext uri="{FF2B5EF4-FFF2-40B4-BE49-F238E27FC236}">
                <a16:creationId xmlns:a16="http://schemas.microsoft.com/office/drawing/2014/main" id="{98F91E4B-3E51-435B-ACD4-5449D41E8459}"/>
              </a:ext>
            </a:extLst>
          </p:cNvPr>
          <p:cNvSpPr>
            <a:spLocks xmlns:a="http://schemas.openxmlformats.org/drawingml/2006/main" noGrp="1"/>
          </p:cNvSpPr>
          <p:nvPr/>
        </p:nvSpPr>
        <p:spPr>
          <a:xfrm xmlns:a="http://schemas.openxmlformats.org/drawingml/2006/main">
            <a:off x="523875" y="2047875"/>
            <a:ext cx="5524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B2B5B"/>
                </a:solidFill>
              </a:defRPr>
            </a:pPr>
            <a:r>
              <a:rPr sz="3000" b="1">
                <a:solidFill>
                  <a:srgbClr val="0B2B5B"/>
                </a:solidFill>
              </a:rPr>
              <a:t>THCS là giai đoạn học sinh chuyển từ “dùng công cụ” sang “biết kiểm chứng và chịu trách nhiệm”.</a:t>
            </a:r>
          </a:p>
        </p:txBody>
      </p:sp>
      <p:sp>
        <p:nvSpPr>
          <p:cNvPr id="6" name="anim-03-reasons">
            <a:extLst xmlns:a="http://schemas.openxmlformats.org/drawingml/2006/main">
              <a:ext uri="{FF2B5EF4-FFF2-40B4-BE49-F238E27FC236}">
                <a16:creationId xmlns:a16="http://schemas.microsoft.com/office/drawing/2014/main" id="{4C3EC923-791C-471C-99B8-D8D0DC197BC3}"/>
              </a:ext>
            </a:extLst>
          </p:cNvPr>
          <p:cNvSpPr>
            <a:spLocks xmlns:a="http://schemas.openxmlformats.org/drawingml/2006/main" noGrp="1"/>
          </p:cNvSpPr>
          <p:nvPr/>
        </p:nvSpPr>
        <p:spPr>
          <a:xfrm xmlns:a="http://schemas.openxmlformats.org/drawingml/2006/main">
            <a:off x="6667500" y="2047875"/>
            <a:ext cx="4905375" cy="3286125"/>
          </a:xfrm>
          <a:prstGeom xmlns:a="http://schemas.openxmlformats.org/drawingml/2006/main" prst="roundRect">
            <a:avLst>
              <a:gd name="adj" fmla="val 3478"/>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 AI đã tham gia trực tiếp vào cách học sinh tìm kiếm, viết, dịch, tạo hình và ra quyết định.</a:t>
            </a:r>
          </a:p>
          <a:p xmlns:a="http://schemas.openxmlformats.org/drawingml/2006/main">
            <a:pPr algn="l">
              <a:defRPr sz="1650" b="0">
                <a:solidFill>
                  <a:srgbClr val="10131A"/>
                </a:solidFill>
              </a:defRPr>
            </a:pPr>
            <a:r>
              <a:rPr sz="1650" b="0">
                <a:solidFill>
                  <a:srgbClr val="10131A"/>
                </a:solidFill>
              </a:rPr>
              <a:t>• Nếu không được hướng dẫn, học sinh dễ phụ thuộc, sao chép, tin sai và lộ dữ liệu cá nhân.</a:t>
            </a:r>
          </a:p>
          <a:p xmlns:a="http://schemas.openxmlformats.org/drawingml/2006/main">
            <a:pPr algn="l">
              <a:defRPr sz="1650" b="0">
                <a:solidFill>
                  <a:srgbClr val="10131A"/>
                </a:solidFill>
              </a:defRPr>
            </a:pPr>
            <a:r>
              <a:rPr sz="1650" b="0">
                <a:solidFill>
                  <a:srgbClr val="10131A"/>
                </a:solidFill>
              </a:rPr>
              <a:t>• Nếu được hướng dẫn đúng, AI giúp cá thể hóa học tập, mở rộng tri thức và tạo sản phẩm số.</a:t>
            </a:r>
          </a:p>
          <a:p xmlns:a="http://schemas.openxmlformats.org/drawingml/2006/main">
            <a:pPr algn="l">
              <a:defRPr sz="1650" b="0">
                <a:solidFill>
                  <a:srgbClr val="10131A"/>
                </a:solidFill>
              </a:defRPr>
            </a:pPr>
            <a:r>
              <a:rPr sz="1650" b="0">
                <a:solidFill>
                  <a:srgbClr val="10131A"/>
                </a:solidFill>
              </a:rPr>
              <a:t>• Nhà trường phải hình thành thói quen: đặt mục tiêu – dùng AI – kiểm chứng – con người quyết định.</a:t>
            </a:r>
          </a:p>
        </p:txBody>
      </p:sp>
      <p:sp>
        <p:nvSpPr>
          <p:cNvPr id="7" name="anim-03-close">
            <a:extLst xmlns:a="http://schemas.openxmlformats.org/drawingml/2006/main">
              <a:ext uri="{FF2B5EF4-FFF2-40B4-BE49-F238E27FC236}">
                <a16:creationId xmlns:a16="http://schemas.microsoft.com/office/drawing/2014/main" id="{F1F76F66-49AB-4F70-B0F5-E9B1731C5151}"/>
              </a:ext>
            </a:extLst>
          </p:cNvPr>
          <p:cNvSpPr>
            <a:spLocks xmlns:a="http://schemas.openxmlformats.org/drawingml/2006/main" noGrp="1"/>
          </p:cNvSpPr>
          <p:nvPr/>
        </p:nvSpPr>
        <p:spPr>
          <a:xfrm xmlns:a="http://schemas.openxmlformats.org/drawingml/2006/main">
            <a:off x="1238250" y="5619750"/>
            <a:ext cx="971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769E0"/>
                </a:solidFill>
              </a:defRPr>
            </a:pPr>
            <a:r>
              <a:rPr sz="1950" b="1">
                <a:solidFill>
                  <a:srgbClr val="1769E0"/>
                </a:solidFill>
              </a:rPr>
              <a:t>Giáo dục AI là một phần của giáo dục công dân số, không chỉ là kỹ năng công nghệ.</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4335896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4">
            <a:extLst xmlns:a="http://schemas.openxmlformats.org/drawingml/2006/main">
              <a:ext uri="{FF2B5EF4-FFF2-40B4-BE49-F238E27FC236}">
                <a16:creationId xmlns:a16="http://schemas.microsoft.com/office/drawing/2014/main" id="{C651ACB8-69AB-4BA0-A4CD-F8BE7E69738E}"/>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02 / CĂN CỨ</a:t>
            </a:r>
          </a:p>
        </p:txBody>
      </p:sp>
      <p:sp>
        <p:nvSpPr>
          <p:cNvPr id="2" name="title-4">
            <a:extLst xmlns:a="http://schemas.openxmlformats.org/drawingml/2006/main">
              <a:ext uri="{FF2B5EF4-FFF2-40B4-BE49-F238E27FC236}">
                <a16:creationId xmlns:a16="http://schemas.microsoft.com/office/drawing/2014/main" id="{D2AF69CD-CF02-45A7-819D-6D1C71552741}"/>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Quyết định 2422 đặt nền tảng thống nhất để các trường triển khai</a:t>
            </a:r>
          </a:p>
        </p:txBody>
      </p:sp>
      <p:sp>
        <p:nvSpPr>
          <p:cNvPr id="3" name="rule-4">
            <a:extLst xmlns:a="http://schemas.openxmlformats.org/drawingml/2006/main">
              <a:ext uri="{FF2B5EF4-FFF2-40B4-BE49-F238E27FC236}">
                <a16:creationId xmlns:a16="http://schemas.microsoft.com/office/drawing/2014/main" id="{3E49CE0E-A51A-41D4-BC37-C77809EEF565}"/>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4">
            <a:extLst xmlns:a="http://schemas.openxmlformats.org/drawingml/2006/main">
              <a:ext uri="{FF2B5EF4-FFF2-40B4-BE49-F238E27FC236}">
                <a16:creationId xmlns:a16="http://schemas.microsoft.com/office/drawing/2014/main" id="{47307229-9171-47C4-9C1B-D668B98ACC9C}"/>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04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80fcfd916814ae3"/>
          <a:stretch xmlns:a="http://schemas.openxmlformats.org/drawingml/2006/main"/>
        </p:blipFill>
        <p:spPr>
          <a:xfrm xmlns:a="http://schemas.openxmlformats.org/drawingml/2006/main">
            <a:off x="1556483" y="1857375"/>
            <a:ext cx="2830635" cy="4000500"/>
          </a:xfrm>
          <a:prstGeom xmlns:a="http://schemas.openxmlformats.org/drawingml/2006/main" prst="roundRect">
            <a:avLst>
              <a:gd name="adj" fmla="val 2857"/>
            </a:avLst>
          </a:prstGeom>
        </p:spPr>
      </p:pic>
      <p:sp>
        <p:nvSpPr>
          <p:cNvPr id="6" name="anim-04-facts">
            <a:extLst xmlns:a="http://schemas.openxmlformats.org/drawingml/2006/main">
              <a:ext uri="{FF2B5EF4-FFF2-40B4-BE49-F238E27FC236}">
                <a16:creationId xmlns:a16="http://schemas.microsoft.com/office/drawing/2014/main" id="{0306265B-AD47-4071-990F-8DA6CDAFB7C0}"/>
              </a:ext>
            </a:extLst>
          </p:cNvPr>
          <p:cNvSpPr>
            <a:spLocks xmlns:a="http://schemas.openxmlformats.org/drawingml/2006/main" noGrp="1"/>
          </p:cNvSpPr>
          <p:nvPr/>
        </p:nvSpPr>
        <p:spPr>
          <a:xfrm xmlns:a="http://schemas.openxmlformats.org/drawingml/2006/main">
            <a:off x="6191250" y="2047875"/>
            <a:ext cx="4953000" cy="2381250"/>
          </a:xfrm>
          <a:prstGeom xmlns:a="http://schemas.openxmlformats.org/drawingml/2006/main" prst="roundRect">
            <a:avLst>
              <a:gd name="adj" fmla="val 4800"/>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0131A"/>
                </a:solidFill>
              </a:defRPr>
            </a:pPr>
            <a:r>
              <a:rPr sz="1875" b="0">
                <a:solidFill>
                  <a:srgbClr val="10131A"/>
                </a:solidFill>
              </a:rPr>
              <a:t>CĂN CỨ TRỰC TIẾP</a:t>
            </a:r>
          </a:p>
          <a:p xmlns:a="http://schemas.openxmlformats.org/drawingml/2006/main">
            <a:pPr algn="l">
              <a:defRPr sz="1875" b="0">
                <a:solidFill>
                  <a:srgbClr val="10131A"/>
                </a:solidFill>
              </a:defRPr>
            </a:pPr>
            <a:r>
              <a:rPr sz="1875" b="0">
                <a:solidFill>
                  <a:srgbClr val="10131A"/>
                </a:solidFill>
              </a:rPr>
              <a:t>• Quyết định số 2422/QĐ-BGDĐT</a:t>
            </a:r>
          </a:p>
          <a:p xmlns:a="http://schemas.openxmlformats.org/drawingml/2006/main">
            <a:pPr algn="l">
              <a:defRPr sz="1875" b="0">
                <a:solidFill>
                  <a:srgbClr val="10131A"/>
                </a:solidFill>
              </a:defRPr>
            </a:pPr>
            <a:r>
              <a:rPr sz="1875" b="0">
                <a:solidFill>
                  <a:srgbClr val="10131A"/>
                </a:solidFill>
              </a:rPr>
              <a:t>• Ngày ban hành: 18/8/2026</a:t>
            </a:r>
          </a:p>
          <a:p xmlns:a="http://schemas.openxmlformats.org/drawingml/2006/main">
            <a:pPr algn="l">
              <a:defRPr sz="1875" b="0">
                <a:solidFill>
                  <a:srgbClr val="10131A"/>
                </a:solidFill>
              </a:defRPr>
            </a:pPr>
            <a:r>
              <a:rPr sz="1875" b="0">
                <a:solidFill>
                  <a:srgbClr val="10131A"/>
                </a:solidFill>
              </a:rPr>
              <a:t>• Ban hành Khung nội dung giáo dục AI cho học sinh phổ thông</a:t>
            </a:r>
          </a:p>
          <a:p xmlns:a="http://schemas.openxmlformats.org/drawingml/2006/main">
            <a:pPr algn="l">
              <a:defRPr sz="1875" b="0">
                <a:solidFill>
                  <a:srgbClr val="10131A"/>
                </a:solidFill>
              </a:defRPr>
            </a:pPr>
            <a:r>
              <a:rPr sz="1875" b="0">
                <a:solidFill>
                  <a:srgbClr val="10131A"/>
                </a:solidFill>
              </a:rPr>
              <a:t>• Có hiệu lực kể từ ngày ký</a:t>
            </a:r>
          </a:p>
        </p:txBody>
      </p:sp>
      <p:sp>
        <p:nvSpPr>
          <p:cNvPr id="7" name="anim-04-facts-accent">
            <a:extLst xmlns:a="http://schemas.openxmlformats.org/drawingml/2006/main">
              <a:ext uri="{FF2B5EF4-FFF2-40B4-BE49-F238E27FC236}">
                <a16:creationId xmlns:a16="http://schemas.microsoft.com/office/drawing/2014/main" id="{ED982E03-A99A-4AA2-A7A4-F1F3CF6C2B13}"/>
              </a:ext>
            </a:extLst>
          </p:cNvPr>
          <p:cNvSpPr>
            <a:spLocks xmlns:a="http://schemas.openxmlformats.org/drawingml/2006/main" noGrp="1"/>
          </p:cNvSpPr>
          <p:nvPr/>
        </p:nvSpPr>
        <p:spPr>
          <a:xfrm xmlns:a="http://schemas.openxmlformats.org/drawingml/2006/main">
            <a:off x="6191250" y="2047875"/>
            <a:ext cx="76200" cy="238125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8" name="anim-04-meaning">
            <a:extLst xmlns:a="http://schemas.openxmlformats.org/drawingml/2006/main">
              <a:ext uri="{FF2B5EF4-FFF2-40B4-BE49-F238E27FC236}">
                <a16:creationId xmlns:a16="http://schemas.microsoft.com/office/drawing/2014/main" id="{8D94C1EF-520B-4731-A46F-EF0A53B73163}"/>
              </a:ext>
            </a:extLst>
          </p:cNvPr>
          <p:cNvSpPr>
            <a:spLocks xmlns:a="http://schemas.openxmlformats.org/drawingml/2006/main" noGrp="1"/>
          </p:cNvSpPr>
          <p:nvPr/>
        </p:nvSpPr>
        <p:spPr>
          <a:xfrm xmlns:a="http://schemas.openxmlformats.org/drawingml/2006/main">
            <a:off x="6191250" y="4714875"/>
            <a:ext cx="4953000" cy="1143000"/>
          </a:xfrm>
          <a:prstGeom xmlns:a="http://schemas.openxmlformats.org/drawingml/2006/main" prst="roundRect">
            <a:avLst>
              <a:gd name="adj" fmla="val 10000"/>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131A"/>
                </a:solidFill>
              </a:defRPr>
            </a:pPr>
            <a:r>
              <a:rPr sz="1500" b="0">
                <a:solidFill>
                  <a:srgbClr val="10131A"/>
                </a:solidFill>
              </a:rPr>
              <a:t>Ý NGHĨA VỚI TRƯỜNG THCS</a:t>
            </a:r>
          </a:p>
          <a:p xmlns:a="http://schemas.openxmlformats.org/drawingml/2006/main">
            <a:pPr algn="l">
              <a:defRPr sz="1500" b="0">
                <a:solidFill>
                  <a:srgbClr val="10131A"/>
                </a:solidFill>
              </a:defRPr>
            </a:pPr>
            <a:r>
              <a:rPr sz="1500" b="0">
                <a:solidFill>
                  <a:srgbClr val="10131A"/>
                </a:solidFill>
              </a:rPr>
              <a:t>Khung là chuẩn để xây dựng kế hoạch giáo dục, chuyên đề, tích hợp môn học, tổ chức đánh giá và lựa chọn công cụ phù hợp điều kiện nhà trường.</a:t>
            </a:r>
          </a:p>
        </p:txBody>
      </p:sp>
      <p:sp>
        <p:nvSpPr>
          <p:cNvPr id="9" name="anim-04-meaning-accent">
            <a:extLst xmlns:a="http://schemas.openxmlformats.org/drawingml/2006/main">
              <a:ext uri="{FF2B5EF4-FFF2-40B4-BE49-F238E27FC236}">
                <a16:creationId xmlns:a16="http://schemas.microsoft.com/office/drawing/2014/main" id="{73716E5D-347D-4EC6-972D-5F04CC4D1760}"/>
              </a:ext>
            </a:extLst>
          </p:cNvPr>
          <p:cNvSpPr>
            <a:spLocks xmlns:a="http://schemas.openxmlformats.org/drawingml/2006/main" noGrp="1"/>
          </p:cNvSpPr>
          <p:nvPr/>
        </p:nvSpPr>
        <p:spPr>
          <a:xfrm xmlns:a="http://schemas.openxmlformats.org/drawingml/2006/main">
            <a:off x="6191250" y="4714875"/>
            <a:ext cx="76200" cy="1143000"/>
          </a:xfrm>
          <a:prstGeom xmlns:a="http://schemas.openxmlformats.org/drawingml/2006/main" prst="rect">
            <a:avLst/>
          </a:prstGeom>
          <a:solidFill xmlns:a="http://schemas.openxmlformats.org/drawingml/2006/main">
            <a:srgbClr val="44C2F0"/>
          </a:solidFill>
          <a:ln xmlns:a="http://schemas.openxmlformats.org/drawingml/2006/main" w="0">
            <a:solidFill>
              <a:srgbClr val="44C2F0"/>
            </a:solidFill>
            <a:prstDash val="solid"/>
          </a:ln>
        </p:spPr>
      </p:sp>
      <p:sp>
        <p:nvSpPr>
          <p:cNvPr id="10" name="source-4">
            <a:extLst xmlns:a="http://schemas.openxmlformats.org/drawingml/2006/main">
              <a:ext uri="{FF2B5EF4-FFF2-40B4-BE49-F238E27FC236}">
                <a16:creationId xmlns:a16="http://schemas.microsoft.com/office/drawing/2014/main" id="{9C8A20E6-4CCA-4EEA-B767-007334FE1628}"/>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Quyết định 2422/QĐ-BGDĐT ngày 18/8/2026.</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6"/>
                                          </p:tgtEl>
                                          <p:attrNameLst>
                                            <p:attrName>style.visibility</p:attrName>
                                          </p:attrNameLst>
                                        </p:cBhvr>
                                        <p:to>
                                          <p:strVal val="visible"/>
                                        </p:to>
                                      </p:set>
                                      <p:animEffect transition="in" filter="fade">
                                        <p:cBhvr>
                                          <p:cTn id="1006" dur="350"/>
                                          <p:tgtEl>
                                            <p:spTgt spid="6"/>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8"/>
                                          </p:tgtEl>
                                          <p:attrNameLst>
                                            <p:attrName>style.visibility</p:attrName>
                                          </p:attrNameLst>
                                        </p:cBhvr>
                                        <p:to>
                                          <p:strVal val="visible"/>
                                        </p:to>
                                      </p:set>
                                      <p:animEffect transition="in" filter="fade">
                                        <p:cBhvr>
                                          <p:cTn id="1011"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578493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5">
            <a:extLst xmlns:a="http://schemas.openxmlformats.org/drawingml/2006/main">
              <a:ext uri="{FF2B5EF4-FFF2-40B4-BE49-F238E27FC236}">
                <a16:creationId xmlns:a16="http://schemas.microsoft.com/office/drawing/2014/main" id="{0C0B0263-02AF-4E96-B661-0203BA50F232}"/>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02 / CĂN CỨ</a:t>
            </a:r>
          </a:p>
        </p:txBody>
      </p:sp>
      <p:sp>
        <p:nvSpPr>
          <p:cNvPr id="2" name="title-5">
            <a:extLst xmlns:a="http://schemas.openxmlformats.org/drawingml/2006/main">
              <a:ext uri="{FF2B5EF4-FFF2-40B4-BE49-F238E27FC236}">
                <a16:creationId xmlns:a16="http://schemas.microsoft.com/office/drawing/2014/main" id="{6CDECF06-B538-476D-9ACF-BD2E0E5A57F9}"/>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Từ Khung quốc gia, trường THCS phải cụ thể hóa bốn việc</a:t>
            </a:r>
          </a:p>
        </p:txBody>
      </p:sp>
      <p:sp>
        <p:nvSpPr>
          <p:cNvPr id="3" name="rule-5">
            <a:extLst xmlns:a="http://schemas.openxmlformats.org/drawingml/2006/main">
              <a:ext uri="{FF2B5EF4-FFF2-40B4-BE49-F238E27FC236}">
                <a16:creationId xmlns:a16="http://schemas.microsoft.com/office/drawing/2014/main" id="{9FFAFA2B-2FD2-4751-8105-DB007A29BB4A}"/>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5">
            <a:extLst xmlns:a="http://schemas.openxmlformats.org/drawingml/2006/main">
              <a:ext uri="{FF2B5EF4-FFF2-40B4-BE49-F238E27FC236}">
                <a16:creationId xmlns:a16="http://schemas.microsoft.com/office/drawing/2014/main" id="{929D6058-66B0-4EA3-86E6-4C2B0F909543}"/>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05</a:t>
            </a:r>
          </a:p>
        </p:txBody>
      </p:sp>
      <p:sp>
        <p:nvSpPr>
          <p:cNvPr id="5" name="anim-05-a">
            <a:extLst xmlns:a="http://schemas.openxmlformats.org/drawingml/2006/main">
              <a:ext uri="{FF2B5EF4-FFF2-40B4-BE49-F238E27FC236}">
                <a16:creationId xmlns:a16="http://schemas.microsoft.com/office/drawing/2014/main" id="{6EC3B6CB-40A0-424E-96E6-F052468A860A}"/>
              </a:ext>
            </a:extLst>
          </p:cNvPr>
          <p:cNvSpPr>
            <a:spLocks xmlns:a="http://schemas.openxmlformats.org/drawingml/2006/main" noGrp="1"/>
          </p:cNvSpPr>
          <p:nvPr/>
        </p:nvSpPr>
        <p:spPr>
          <a:xfrm xmlns:a="http://schemas.openxmlformats.org/drawingml/2006/main">
            <a:off x="523875" y="1952625"/>
            <a:ext cx="5238750" cy="1619250"/>
          </a:xfrm>
          <a:prstGeom xmlns:a="http://schemas.openxmlformats.org/drawingml/2006/main" prst="roundRect">
            <a:avLst>
              <a:gd name="adj" fmla="val 7059"/>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1. XÂY DỰNG CHUYÊN ĐỀ</a:t>
            </a:r>
          </a:p>
          <a:p xmlns:a="http://schemas.openxmlformats.org/drawingml/2006/main">
            <a:pPr algn="l">
              <a:defRPr sz="1650" b="0">
                <a:solidFill>
                  <a:srgbClr val="10131A"/>
                </a:solidFill>
              </a:defRPr>
            </a:pPr>
            <a:r>
              <a:rPr sz="1650" b="0">
                <a:solidFill>
                  <a:srgbClr val="10131A"/>
                </a:solidFill>
              </a:rPr>
              <a:t>Bảo đảm 12 tiết cốt lõi cho từng lớp 6, 7, 8, 9; bố trí trong kế hoạch giáo dục nhà trường, không gây quá tải.</a:t>
            </a:r>
          </a:p>
        </p:txBody>
      </p:sp>
      <p:sp>
        <p:nvSpPr>
          <p:cNvPr id="6" name="anim-05-a-accent">
            <a:extLst xmlns:a="http://schemas.openxmlformats.org/drawingml/2006/main">
              <a:ext uri="{FF2B5EF4-FFF2-40B4-BE49-F238E27FC236}">
                <a16:creationId xmlns:a16="http://schemas.microsoft.com/office/drawing/2014/main" id="{387AA8A3-2811-4A8A-BEA8-991E926F3D5B}"/>
              </a:ext>
            </a:extLst>
          </p:cNvPr>
          <p:cNvSpPr>
            <a:spLocks xmlns:a="http://schemas.openxmlformats.org/drawingml/2006/main" noGrp="1"/>
          </p:cNvSpPr>
          <p:nvPr/>
        </p:nvSpPr>
        <p:spPr>
          <a:xfrm xmlns:a="http://schemas.openxmlformats.org/drawingml/2006/main">
            <a:off x="523875" y="1952625"/>
            <a:ext cx="76200" cy="161925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7" name="anim-05-b">
            <a:extLst xmlns:a="http://schemas.openxmlformats.org/drawingml/2006/main">
              <a:ext uri="{FF2B5EF4-FFF2-40B4-BE49-F238E27FC236}">
                <a16:creationId xmlns:a16="http://schemas.microsoft.com/office/drawing/2014/main" id="{DE755E9B-20B3-4E95-9873-5853F6459DBF}"/>
              </a:ext>
            </a:extLst>
          </p:cNvPr>
          <p:cNvSpPr>
            <a:spLocks xmlns:a="http://schemas.openxmlformats.org/drawingml/2006/main" noGrp="1"/>
          </p:cNvSpPr>
          <p:nvPr/>
        </p:nvSpPr>
        <p:spPr>
          <a:xfrm xmlns:a="http://schemas.openxmlformats.org/drawingml/2006/main">
            <a:off x="6429375" y="1952625"/>
            <a:ext cx="5238750" cy="1619250"/>
          </a:xfrm>
          <a:prstGeom xmlns:a="http://schemas.openxmlformats.org/drawingml/2006/main" prst="roundRect">
            <a:avLst>
              <a:gd name="adj" fmla="val 7059"/>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2. LỒNG GHÉP MÔN HỌC</a:t>
            </a:r>
          </a:p>
          <a:p xmlns:a="http://schemas.openxmlformats.org/drawingml/2006/main">
            <a:pPr algn="l">
              <a:defRPr sz="1650" b="0">
                <a:solidFill>
                  <a:srgbClr val="10131A"/>
                </a:solidFill>
              </a:defRPr>
            </a:pPr>
            <a:r>
              <a:rPr sz="1650" b="0">
                <a:solidFill>
                  <a:srgbClr val="10131A"/>
                </a:solidFill>
              </a:rPr>
              <a:t>Chọn điểm giao tự nhiên với yêu cầu cần đạt của môn; dùng để củng cố và vận dụng năng lực AI, không tăng chuẩn môn học.</a:t>
            </a:r>
          </a:p>
        </p:txBody>
      </p:sp>
      <p:sp>
        <p:nvSpPr>
          <p:cNvPr id="8" name="anim-05-b-accent">
            <a:extLst xmlns:a="http://schemas.openxmlformats.org/drawingml/2006/main">
              <a:ext uri="{FF2B5EF4-FFF2-40B4-BE49-F238E27FC236}">
                <a16:creationId xmlns:a16="http://schemas.microsoft.com/office/drawing/2014/main" id="{A9D82CA8-90F9-4046-861B-F3DD6F51EAEE}"/>
              </a:ext>
            </a:extLst>
          </p:cNvPr>
          <p:cNvSpPr>
            <a:spLocks xmlns:a="http://schemas.openxmlformats.org/drawingml/2006/main" noGrp="1"/>
          </p:cNvSpPr>
          <p:nvPr/>
        </p:nvSpPr>
        <p:spPr>
          <a:xfrm xmlns:a="http://schemas.openxmlformats.org/drawingml/2006/main">
            <a:off x="6429375" y="1952625"/>
            <a:ext cx="76200" cy="1619250"/>
          </a:xfrm>
          <a:prstGeom xmlns:a="http://schemas.openxmlformats.org/drawingml/2006/main" prst="rect">
            <a:avLst/>
          </a:prstGeom>
          <a:solidFill xmlns:a="http://schemas.openxmlformats.org/drawingml/2006/main">
            <a:srgbClr val="44C2F0"/>
          </a:solidFill>
          <a:ln xmlns:a="http://schemas.openxmlformats.org/drawingml/2006/main" w="0">
            <a:solidFill>
              <a:srgbClr val="44C2F0"/>
            </a:solidFill>
            <a:prstDash val="solid"/>
          </a:ln>
        </p:spPr>
      </p:sp>
      <p:sp>
        <p:nvSpPr>
          <p:cNvPr id="9" name="anim-05-c">
            <a:extLst xmlns:a="http://schemas.openxmlformats.org/drawingml/2006/main">
              <a:ext uri="{FF2B5EF4-FFF2-40B4-BE49-F238E27FC236}">
                <a16:creationId xmlns:a16="http://schemas.microsoft.com/office/drawing/2014/main" id="{CF4F065F-1662-4176-B6D0-598465B5666C}"/>
              </a:ext>
            </a:extLst>
          </p:cNvPr>
          <p:cNvSpPr>
            <a:spLocks xmlns:a="http://schemas.openxmlformats.org/drawingml/2006/main" noGrp="1"/>
          </p:cNvSpPr>
          <p:nvPr/>
        </p:nvSpPr>
        <p:spPr>
          <a:xfrm xmlns:a="http://schemas.openxmlformats.org/drawingml/2006/main">
            <a:off x="523875" y="4000500"/>
            <a:ext cx="5238750" cy="1619250"/>
          </a:xfrm>
          <a:prstGeom xmlns:a="http://schemas.openxmlformats.org/drawingml/2006/main" prst="roundRect">
            <a:avLst>
              <a:gd name="adj" fmla="val 7059"/>
            </a:avLst>
          </a:prstGeom>
          <a:solidFill xmlns:a="http://schemas.openxmlformats.org/drawingml/2006/main">
            <a:srgbClr val="EAF7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3. ĐÁNH GIÁ BẰNG MINH CHỨNG</a:t>
            </a:r>
          </a:p>
          <a:p xmlns:a="http://schemas.openxmlformats.org/drawingml/2006/main">
            <a:pPr algn="l">
              <a:defRPr sz="1650" b="0">
                <a:solidFill>
                  <a:srgbClr val="10131A"/>
                </a:solidFill>
              </a:defRPr>
            </a:pPr>
            <a:r>
              <a:rPr sz="1650" b="0">
                <a:solidFill>
                  <a:srgbClr val="10131A"/>
                </a:solidFill>
              </a:rPr>
              <a:t>Không có bài thi hay đầu điểm AI riêng; ghi nhận bằng nhận xét, mức độ đáp ứng, sản phẩm, nhật ký, bảng kiểm và phần giải thích.</a:t>
            </a:r>
          </a:p>
        </p:txBody>
      </p:sp>
      <p:sp>
        <p:nvSpPr>
          <p:cNvPr id="10" name="anim-05-c-accent">
            <a:extLst xmlns:a="http://schemas.openxmlformats.org/drawingml/2006/main">
              <a:ext uri="{FF2B5EF4-FFF2-40B4-BE49-F238E27FC236}">
                <a16:creationId xmlns:a16="http://schemas.microsoft.com/office/drawing/2014/main" id="{7D041303-7314-43FB-907D-FA3545340E68}"/>
              </a:ext>
            </a:extLst>
          </p:cNvPr>
          <p:cNvSpPr>
            <a:spLocks xmlns:a="http://schemas.openxmlformats.org/drawingml/2006/main" noGrp="1"/>
          </p:cNvSpPr>
          <p:nvPr/>
        </p:nvSpPr>
        <p:spPr>
          <a:xfrm xmlns:a="http://schemas.openxmlformats.org/drawingml/2006/main">
            <a:off x="523875" y="4000500"/>
            <a:ext cx="76200" cy="1619250"/>
          </a:xfrm>
          <a:prstGeom xmlns:a="http://schemas.openxmlformats.org/drawingml/2006/main" prst="rect">
            <a:avLst/>
          </a:prstGeom>
          <a:solidFill xmlns:a="http://schemas.openxmlformats.org/drawingml/2006/main">
            <a:srgbClr val="1B8A5A"/>
          </a:solidFill>
          <a:ln xmlns:a="http://schemas.openxmlformats.org/drawingml/2006/main" w="0">
            <a:solidFill>
              <a:srgbClr val="1B8A5A"/>
            </a:solidFill>
            <a:prstDash val="solid"/>
          </a:ln>
        </p:spPr>
      </p:sp>
      <p:sp>
        <p:nvSpPr>
          <p:cNvPr id="11" name="anim-05-d">
            <a:extLst xmlns:a="http://schemas.openxmlformats.org/drawingml/2006/main">
              <a:ext uri="{FF2B5EF4-FFF2-40B4-BE49-F238E27FC236}">
                <a16:creationId xmlns:a16="http://schemas.microsoft.com/office/drawing/2014/main" id="{656393F4-BC99-4CF9-8143-A4E45DEE3B94}"/>
              </a:ext>
            </a:extLst>
          </p:cNvPr>
          <p:cNvSpPr>
            <a:spLocks xmlns:a="http://schemas.openxmlformats.org/drawingml/2006/main" noGrp="1"/>
          </p:cNvSpPr>
          <p:nvPr/>
        </p:nvSpPr>
        <p:spPr>
          <a:xfrm xmlns:a="http://schemas.openxmlformats.org/drawingml/2006/main">
            <a:off x="6429375" y="4000500"/>
            <a:ext cx="5238750" cy="1619250"/>
          </a:xfrm>
          <a:prstGeom xmlns:a="http://schemas.openxmlformats.org/drawingml/2006/main" prst="roundRect">
            <a:avLst>
              <a:gd name="adj" fmla="val 7059"/>
            </a:avLst>
          </a:prstGeom>
          <a:solidFill xmlns:a="http://schemas.openxmlformats.org/drawingml/2006/main">
            <a:srgbClr val="FFF4E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4. BẢO ĐẢM CÔNG BẰNG</a:t>
            </a:r>
          </a:p>
          <a:p xmlns:a="http://schemas.openxmlformats.org/drawingml/2006/main">
            <a:pPr algn="l">
              <a:defRPr sz="1650" b="0">
                <a:solidFill>
                  <a:srgbClr val="10131A"/>
                </a:solidFill>
              </a:defRPr>
            </a:pPr>
            <a:r>
              <a:rPr sz="1650" b="0">
                <a:solidFill>
                  <a:srgbClr val="10131A"/>
                </a:solidFill>
              </a:rPr>
              <a:t>Không để học sinh bất lợi vì thiếu thiết bị, tài khoản hoặc Internet; luôn có phương án thiết bị dùng chung hoặc hoạt động không máy tính.</a:t>
            </a:r>
          </a:p>
        </p:txBody>
      </p:sp>
      <p:sp>
        <p:nvSpPr>
          <p:cNvPr id="12" name="anim-05-d-accent">
            <a:extLst xmlns:a="http://schemas.openxmlformats.org/drawingml/2006/main">
              <a:ext uri="{FF2B5EF4-FFF2-40B4-BE49-F238E27FC236}">
                <a16:creationId xmlns:a16="http://schemas.microsoft.com/office/drawing/2014/main" id="{B36180B7-0031-4E41-8FE6-AAB45D2D77FC}"/>
              </a:ext>
            </a:extLst>
          </p:cNvPr>
          <p:cNvSpPr>
            <a:spLocks xmlns:a="http://schemas.openxmlformats.org/drawingml/2006/main" noGrp="1"/>
          </p:cNvSpPr>
          <p:nvPr/>
        </p:nvSpPr>
        <p:spPr>
          <a:xfrm xmlns:a="http://schemas.openxmlformats.org/drawingml/2006/main">
            <a:off x="6429375" y="4000500"/>
            <a:ext cx="76200" cy="16192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13" name="source-5">
            <a:extLst xmlns:a="http://schemas.openxmlformats.org/drawingml/2006/main">
              <a:ext uri="{FF2B5EF4-FFF2-40B4-BE49-F238E27FC236}">
                <a16:creationId xmlns:a16="http://schemas.microsoft.com/office/drawing/2014/main" id="{C965A8B5-BBD4-4FCA-83EA-DF563AA43C57}"/>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mục V.5 và VI.</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7"/>
                                          </p:tgtEl>
                                          <p:attrNameLst>
                                            <p:attrName>style.visibility</p:attrName>
                                          </p:attrNameLst>
                                        </p:cBhvr>
                                        <p:to>
                                          <p:strVal val="visible"/>
                                        </p:to>
                                      </p:set>
                                      <p:animEffect transition="in" filter="fade">
                                        <p:cBhvr>
                                          <p:cTn id="1011" dur="350"/>
                                          <p:tgtEl>
                                            <p:spTgt spid="7"/>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9"/>
                                          </p:tgtEl>
                                          <p:attrNameLst>
                                            <p:attrName>style.visibility</p:attrName>
                                          </p:attrNameLst>
                                        </p:cBhvr>
                                        <p:to>
                                          <p:strVal val="visible"/>
                                        </p:to>
                                      </p:set>
                                      <p:animEffect transition="in" filter="fade">
                                        <p:cBhvr>
                                          <p:cTn id="1016" dur="350"/>
                                          <p:tgtEl>
                                            <p:spTgt spid="9"/>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11"/>
                                          </p:tgtEl>
                                          <p:attrNameLst>
                                            <p:attrName>style.visibility</p:attrName>
                                          </p:attrNameLst>
                                        </p:cBhvr>
                                        <p:to>
                                          <p:strVal val="visible"/>
                                        </p:to>
                                      </p:set>
                                      <p:animEffect transition="in" filter="fade">
                                        <p:cBhvr>
                                          <p:cTn id="1021"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20225874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6">
            <a:extLst xmlns:a="http://schemas.openxmlformats.org/drawingml/2006/main">
              <a:ext uri="{FF2B5EF4-FFF2-40B4-BE49-F238E27FC236}">
                <a16:creationId xmlns:a16="http://schemas.microsoft.com/office/drawing/2014/main" id="{069F18B4-F5E7-4C30-A152-8F4EB9D55D48}"/>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03 / NHẬN THỨC ĐÚNG</a:t>
            </a:r>
          </a:p>
        </p:txBody>
      </p:sp>
      <p:sp>
        <p:nvSpPr>
          <p:cNvPr id="2" name="title-6">
            <a:extLst xmlns:a="http://schemas.openxmlformats.org/drawingml/2006/main">
              <a:ext uri="{FF2B5EF4-FFF2-40B4-BE49-F238E27FC236}">
                <a16:creationId xmlns:a16="http://schemas.microsoft.com/office/drawing/2014/main" id="{9A1231D8-6092-4DB6-8DBE-C8CFF3D0505B}"/>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Giáo dục AI ở THCS không đồng nghĩa với dạy lập trình AI</a:t>
            </a:r>
          </a:p>
        </p:txBody>
      </p:sp>
      <p:sp>
        <p:nvSpPr>
          <p:cNvPr id="3" name="rule-6">
            <a:extLst xmlns:a="http://schemas.openxmlformats.org/drawingml/2006/main">
              <a:ext uri="{FF2B5EF4-FFF2-40B4-BE49-F238E27FC236}">
                <a16:creationId xmlns:a16="http://schemas.microsoft.com/office/drawing/2014/main" id="{63D309E5-C3CA-4B5E-8782-AB6DE22112D4}"/>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6">
            <a:extLst xmlns:a="http://schemas.openxmlformats.org/drawingml/2006/main">
              <a:ext uri="{FF2B5EF4-FFF2-40B4-BE49-F238E27FC236}">
                <a16:creationId xmlns:a16="http://schemas.microsoft.com/office/drawing/2014/main" id="{FFA6297D-B523-4E79-A170-2E6C6BD247C0}"/>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06</a:t>
            </a:r>
          </a:p>
        </p:txBody>
      </p:sp>
      <p:sp>
        <p:nvSpPr>
          <p:cNvPr id="5" name="anim-06-1">
            <a:extLst xmlns:a="http://schemas.openxmlformats.org/drawingml/2006/main">
              <a:ext uri="{FF2B5EF4-FFF2-40B4-BE49-F238E27FC236}">
                <a16:creationId xmlns:a16="http://schemas.microsoft.com/office/drawing/2014/main" id="{712C38BD-6698-4E38-B004-722A10E9A4E7}"/>
              </a:ext>
            </a:extLst>
          </p:cNvPr>
          <p:cNvSpPr>
            <a:spLocks xmlns:a="http://schemas.openxmlformats.org/drawingml/2006/main" noGrp="1"/>
          </p:cNvSpPr>
          <p:nvPr/>
        </p:nvSpPr>
        <p:spPr>
          <a:xfrm xmlns:a="http://schemas.openxmlformats.org/drawingml/2006/main">
            <a:off x="666750" y="2333625"/>
            <a:ext cx="2714625" cy="1143000"/>
          </a:xfrm>
          <a:prstGeom xmlns:a="http://schemas.openxmlformats.org/drawingml/2006/main" prst="ellipse">
            <a:avLst/>
          </a:prstGeom>
          <a:solidFill xmlns:a="http://schemas.openxmlformats.org/drawingml/2006/main">
            <a:srgbClr val="EAF5FB"/>
          </a:solidFill>
          <a:ln xmlns:a="http://schemas.openxmlformats.org/drawingml/2006/main" w="19050">
            <a:solidFill>
              <a:srgbClr val="1769E0"/>
            </a:solid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1769E0"/>
                </a:solidFill>
              </a:defRPr>
            </a:pPr>
            <a:r>
              <a:rPr sz="2700" b="1">
                <a:solidFill>
                  <a:srgbClr val="1769E0"/>
                </a:solidFill>
              </a:rPr>
              <a:t>HIỂU</a:t>
            </a:r>
          </a:p>
        </p:txBody>
      </p:sp>
      <p:sp>
        <p:nvSpPr>
          <p:cNvPr id="6" name="anim-06-2">
            <a:extLst xmlns:a="http://schemas.openxmlformats.org/drawingml/2006/main">
              <a:ext uri="{FF2B5EF4-FFF2-40B4-BE49-F238E27FC236}">
                <a16:creationId xmlns:a16="http://schemas.microsoft.com/office/drawing/2014/main" id="{DD00336A-65E5-41FB-92E3-CDACEC411DBD}"/>
              </a:ext>
            </a:extLst>
          </p:cNvPr>
          <p:cNvSpPr>
            <a:spLocks xmlns:a="http://schemas.openxmlformats.org/drawingml/2006/main" noGrp="1"/>
          </p:cNvSpPr>
          <p:nvPr/>
        </p:nvSpPr>
        <p:spPr>
          <a:xfrm xmlns:a="http://schemas.openxmlformats.org/drawingml/2006/main">
            <a:off x="4714875" y="2333625"/>
            <a:ext cx="2714625" cy="1143000"/>
          </a:xfrm>
          <a:prstGeom xmlns:a="http://schemas.openxmlformats.org/drawingml/2006/main" prst="ellipse">
            <a:avLst/>
          </a:prstGeom>
          <a:solidFill xmlns:a="http://schemas.openxmlformats.org/drawingml/2006/main">
            <a:srgbClr val="F0F2F5"/>
          </a:solidFill>
          <a:ln xmlns:a="http://schemas.openxmlformats.org/drawingml/2006/main" w="19050">
            <a:solidFill>
              <a:srgbClr val="44C2F0"/>
            </a:solid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0B2B5B"/>
                </a:solidFill>
              </a:defRPr>
            </a:pPr>
            <a:r>
              <a:rPr sz="2700" b="1">
                <a:solidFill>
                  <a:srgbClr val="0B2B5B"/>
                </a:solidFill>
              </a:rPr>
              <a:t>SỬ DỤNG</a:t>
            </a:r>
          </a:p>
        </p:txBody>
      </p:sp>
      <p:sp>
        <p:nvSpPr>
          <p:cNvPr id="7" name="anim-06-3">
            <a:extLst xmlns:a="http://schemas.openxmlformats.org/drawingml/2006/main">
              <a:ext uri="{FF2B5EF4-FFF2-40B4-BE49-F238E27FC236}">
                <a16:creationId xmlns:a16="http://schemas.microsoft.com/office/drawing/2014/main" id="{19B70A04-91B8-4F1F-93CC-48233B1012EE}"/>
              </a:ext>
            </a:extLst>
          </p:cNvPr>
          <p:cNvSpPr>
            <a:spLocks xmlns:a="http://schemas.openxmlformats.org/drawingml/2006/main" noGrp="1"/>
          </p:cNvSpPr>
          <p:nvPr/>
        </p:nvSpPr>
        <p:spPr>
          <a:xfrm xmlns:a="http://schemas.openxmlformats.org/drawingml/2006/main">
            <a:off x="8763000" y="2333625"/>
            <a:ext cx="2714625" cy="1143000"/>
          </a:xfrm>
          <a:prstGeom xmlns:a="http://schemas.openxmlformats.org/drawingml/2006/main" prst="ellipse">
            <a:avLst/>
          </a:prstGeom>
          <a:solidFill xmlns:a="http://schemas.openxmlformats.org/drawingml/2006/main">
            <a:srgbClr val="EAF7F0"/>
          </a:solidFill>
          <a:ln xmlns:a="http://schemas.openxmlformats.org/drawingml/2006/main" w="19050">
            <a:solidFill>
              <a:srgbClr val="1B8A5A"/>
            </a:solid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1B8A5A"/>
                </a:solidFill>
              </a:defRPr>
            </a:pPr>
            <a:r>
              <a:rPr sz="2700" b="1">
                <a:solidFill>
                  <a:srgbClr val="1B8A5A"/>
                </a:solidFill>
              </a:rPr>
              <a:t>THIẾT KẾ</a:t>
            </a:r>
          </a:p>
        </p:txBody>
      </p:sp>
      <p:sp>
        <p:nvSpPr>
          <p:cNvPr id="8" name="anim-06-explain1">
            <a:extLst xmlns:a="http://schemas.openxmlformats.org/drawingml/2006/main">
              <a:ext uri="{FF2B5EF4-FFF2-40B4-BE49-F238E27FC236}">
                <a16:creationId xmlns:a16="http://schemas.microsoft.com/office/drawing/2014/main" id="{CF87D1BA-2629-4B2C-A5FC-B8237A9A3AB1}"/>
              </a:ext>
            </a:extLst>
          </p:cNvPr>
          <p:cNvSpPr>
            <a:spLocks xmlns:a="http://schemas.openxmlformats.org/drawingml/2006/main" noGrp="1"/>
          </p:cNvSpPr>
          <p:nvPr/>
        </p:nvSpPr>
        <p:spPr>
          <a:xfrm xmlns:a="http://schemas.openxmlformats.org/drawingml/2006/main">
            <a:off x="714375" y="3905250"/>
            <a:ext cx="2619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10131A"/>
                </a:solidFill>
              </a:defRPr>
            </a:pPr>
            <a:r>
              <a:rPr sz="1575" b="0">
                <a:solidFill>
                  <a:srgbClr val="10131A"/>
                </a:solidFill>
              </a:rPr>
              <a:t>Dữ liệu – thuật toán – mô hình</a:t>
            </a:r>
          </a:p>
          <a:p xmlns:a="http://schemas.openxmlformats.org/drawingml/2006/main">
            <a:pPr algn="ctr">
              <a:defRPr sz="1575" b="0">
                <a:solidFill>
                  <a:srgbClr val="10131A"/>
                </a:solidFill>
              </a:defRPr>
            </a:pPr>
            <a:r>
              <a:rPr sz="1575" b="0">
                <a:solidFill>
                  <a:srgbClr val="10131A"/>
                </a:solidFill>
              </a:rPr>
              <a:t>Khả năng và giới hạn</a:t>
            </a:r>
          </a:p>
          <a:p xmlns:a="http://schemas.openxmlformats.org/drawingml/2006/main">
            <a:pPr algn="ctr">
              <a:defRPr sz="1575" b="0">
                <a:solidFill>
                  <a:srgbClr val="10131A"/>
                </a:solidFill>
              </a:defRPr>
            </a:pPr>
            <a:r>
              <a:rPr sz="1575" b="0">
                <a:solidFill>
                  <a:srgbClr val="10131A"/>
                </a:solidFill>
              </a:rPr>
              <a:t>Tác động xã hội</a:t>
            </a:r>
          </a:p>
        </p:txBody>
      </p:sp>
      <p:sp>
        <p:nvSpPr>
          <p:cNvPr id="9" name="anim-06-explain2">
            <a:extLst xmlns:a="http://schemas.openxmlformats.org/drawingml/2006/main">
              <a:ext uri="{FF2B5EF4-FFF2-40B4-BE49-F238E27FC236}">
                <a16:creationId xmlns:a16="http://schemas.microsoft.com/office/drawing/2014/main" id="{32F2CBB3-9DE4-499B-8BE0-C008450593E6}"/>
              </a:ext>
            </a:extLst>
          </p:cNvPr>
          <p:cNvSpPr>
            <a:spLocks xmlns:a="http://schemas.openxmlformats.org/drawingml/2006/main" noGrp="1"/>
          </p:cNvSpPr>
          <p:nvPr/>
        </p:nvSpPr>
        <p:spPr>
          <a:xfrm xmlns:a="http://schemas.openxmlformats.org/drawingml/2006/main">
            <a:off x="4762500" y="3905250"/>
            <a:ext cx="2619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10131A"/>
                </a:solidFill>
              </a:defRPr>
            </a:pPr>
            <a:r>
              <a:rPr sz="1575" b="0">
                <a:solidFill>
                  <a:srgbClr val="10131A"/>
                </a:solidFill>
              </a:rPr>
              <a:t>Chọn công cụ phù hợp</a:t>
            </a:r>
          </a:p>
          <a:p xmlns:a="http://schemas.openxmlformats.org/drawingml/2006/main">
            <a:pPr algn="ctr">
              <a:defRPr sz="1575" b="0">
                <a:solidFill>
                  <a:srgbClr val="10131A"/>
                </a:solidFill>
              </a:defRPr>
            </a:pPr>
            <a:r>
              <a:rPr sz="1575" b="0">
                <a:solidFill>
                  <a:srgbClr val="10131A"/>
                </a:solidFill>
              </a:rPr>
              <a:t>Đặt yêu cầu rõ</a:t>
            </a:r>
          </a:p>
          <a:p xmlns:a="http://schemas.openxmlformats.org/drawingml/2006/main">
            <a:pPr algn="ctr">
              <a:defRPr sz="1575" b="0">
                <a:solidFill>
                  <a:srgbClr val="10131A"/>
                </a:solidFill>
              </a:defRPr>
            </a:pPr>
            <a:r>
              <a:rPr sz="1575" b="0">
                <a:solidFill>
                  <a:srgbClr val="10131A"/>
                </a:solidFill>
              </a:rPr>
              <a:t>Kiểm chứng và chỉnh sửa</a:t>
            </a:r>
          </a:p>
        </p:txBody>
      </p:sp>
      <p:sp>
        <p:nvSpPr>
          <p:cNvPr id="10" name="anim-06-explain3">
            <a:extLst xmlns:a="http://schemas.openxmlformats.org/drawingml/2006/main">
              <a:ext uri="{FF2B5EF4-FFF2-40B4-BE49-F238E27FC236}">
                <a16:creationId xmlns:a16="http://schemas.microsoft.com/office/drawing/2014/main" id="{13C4086A-213C-4B8D-A01E-78F9E2392646}"/>
              </a:ext>
            </a:extLst>
          </p:cNvPr>
          <p:cNvSpPr>
            <a:spLocks xmlns:a="http://schemas.openxmlformats.org/drawingml/2006/main" noGrp="1"/>
          </p:cNvSpPr>
          <p:nvPr/>
        </p:nvSpPr>
        <p:spPr>
          <a:xfrm xmlns:a="http://schemas.openxmlformats.org/drawingml/2006/main">
            <a:off x="8810625" y="3905250"/>
            <a:ext cx="2619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10131A"/>
                </a:solidFill>
              </a:defRPr>
            </a:pPr>
            <a:r>
              <a:rPr sz="1575" b="0">
                <a:solidFill>
                  <a:srgbClr val="10131A"/>
                </a:solidFill>
              </a:rPr>
              <a:t>Xác định vấn đề</a:t>
            </a:r>
          </a:p>
          <a:p xmlns:a="http://schemas.openxmlformats.org/drawingml/2006/main">
            <a:pPr algn="ctr">
              <a:defRPr sz="1575" b="0">
                <a:solidFill>
                  <a:srgbClr val="10131A"/>
                </a:solidFill>
              </a:defRPr>
            </a:pPr>
            <a:r>
              <a:rPr sz="1575" b="0">
                <a:solidFill>
                  <a:srgbClr val="10131A"/>
                </a:solidFill>
              </a:rPr>
              <a:t>Tạo mẫu – thử nghiệm</a:t>
            </a:r>
          </a:p>
          <a:p xmlns:a="http://schemas.openxmlformats.org/drawingml/2006/main">
            <a:pPr algn="ctr">
              <a:defRPr sz="1575" b="0">
                <a:solidFill>
                  <a:srgbClr val="10131A"/>
                </a:solidFill>
              </a:defRPr>
            </a:pPr>
            <a:r>
              <a:rPr sz="1575" b="0">
                <a:solidFill>
                  <a:srgbClr val="10131A"/>
                </a:solidFill>
              </a:rPr>
              <a:t>Đánh giá và cải tiến</a:t>
            </a:r>
          </a:p>
        </p:txBody>
      </p:sp>
      <p:sp>
        <p:nvSpPr>
          <p:cNvPr id="11" name="anim-06-note">
            <a:extLst xmlns:a="http://schemas.openxmlformats.org/drawingml/2006/main">
              <a:ext uri="{FF2B5EF4-FFF2-40B4-BE49-F238E27FC236}">
                <a16:creationId xmlns:a16="http://schemas.microsoft.com/office/drawing/2014/main" id="{7C10DF96-EDAF-44A7-92C8-2FD1096C046B}"/>
              </a:ext>
            </a:extLst>
          </p:cNvPr>
          <p:cNvSpPr>
            <a:spLocks xmlns:a="http://schemas.openxmlformats.org/drawingml/2006/main" noGrp="1"/>
          </p:cNvSpPr>
          <p:nvPr/>
        </p:nvSpPr>
        <p:spPr>
          <a:xfrm xmlns:a="http://schemas.openxmlformats.org/drawingml/2006/main">
            <a:off x="1524000" y="5572125"/>
            <a:ext cx="914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D84A4A"/>
                </a:solidFill>
              </a:defRPr>
            </a:pPr>
            <a:r>
              <a:rPr sz="1875" b="1">
                <a:solidFill>
                  <a:srgbClr val="D84A4A"/>
                </a:solidFill>
              </a:rPr>
              <a:t>Lập trình là một lựa chọn mở rộng, không phải điểm xuất phát bắt buộc cho mọi học sinh THCS.</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8"/>
                                          </p:tgtEl>
                                          <p:attrNameLst>
                                            <p:attrName>style.visibility</p:attrName>
                                          </p:attrNameLst>
                                        </p:cBhvr>
                                        <p:to>
                                          <p:strVal val="visible"/>
                                        </p:to>
                                      </p:set>
                                      <p:animEffect transition="in" filter="fade">
                                        <p:cBhvr>
                                          <p:cTn id="1021" dur="350"/>
                                          <p:tgtEl>
                                            <p:spTgt spid="8"/>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9"/>
                                          </p:tgtEl>
                                          <p:attrNameLst>
                                            <p:attrName>style.visibility</p:attrName>
                                          </p:attrNameLst>
                                        </p:cBhvr>
                                        <p:to>
                                          <p:strVal val="visible"/>
                                        </p:to>
                                      </p:set>
                                      <p:animEffect transition="in" filter="fade">
                                        <p:cBhvr>
                                          <p:cTn id="1026" dur="350"/>
                                          <p:tgtEl>
                                            <p:spTgt spid="9"/>
                                          </p:tgtEl>
                                        </p:cBhvr>
                                      </p:animEffect>
                                    </p:childTnLst>
                                  </p:cTn>
                                </p:par>
                              </p:childTnLst>
                            </p:cTn>
                          </p:par>
                        </p:childTnLst>
                      </p:cTn>
                    </p:par>
                    <p:par>
                      <p:cTn id="1027" fill="hold">
                        <p:stCondLst>
                          <p:cond delay="indefinite"/>
                        </p:stCondLst>
                        <p:childTnLst>
                          <p:par>
                            <p:cTn id="1028" fill="hold">
                              <p:stCondLst>
                                <p:cond delay="0"/>
                              </p:stCondLst>
                              <p:childTnLst>
                                <p:par>
                                  <p:cTn id="1029" presetID="10" presetClass="entr" presetSubtype="0" fill="hold" grpId="0" nodeType="clickEffect">
                                    <p:stCondLst>
                                      <p:cond delay="0"/>
                                    </p:stCondLst>
                                    <p:childTnLst>
                                      <p:set>
                                        <p:cBhvr>
                                          <p:cTn id="1030" dur="1" fill="hold">
                                            <p:stCondLst>
                                              <p:cond delay="0"/>
                                            </p:stCondLst>
                                          </p:cTn>
                                          <p:tgtEl>
                                            <p:spTgt spid="10"/>
                                          </p:tgtEl>
                                          <p:attrNameLst>
                                            <p:attrName>style.visibility</p:attrName>
                                          </p:attrNameLst>
                                        </p:cBhvr>
                                        <p:to>
                                          <p:strVal val="visible"/>
                                        </p:to>
                                      </p:set>
                                      <p:animEffect transition="in" filter="fade">
                                        <p:cBhvr>
                                          <p:cTn id="1031" dur="350"/>
                                          <p:tgtEl>
                                            <p:spTgt spid="10"/>
                                          </p:tgtEl>
                                        </p:cBhvr>
                                      </p:animEffect>
                                    </p:childTnLst>
                                  </p:cTn>
                                </p:par>
                              </p:childTnLst>
                            </p:cTn>
                          </p:par>
                        </p:childTnLst>
                      </p:cTn>
                    </p:par>
                    <p:par>
                      <p:cTn id="1032" fill="hold">
                        <p:stCondLst>
                          <p:cond delay="indefinite"/>
                        </p:stCondLst>
                        <p:childTnLst>
                          <p:par>
                            <p:cTn id="1033" fill="hold">
                              <p:stCondLst>
                                <p:cond delay="0"/>
                              </p:stCondLst>
                              <p:childTnLst>
                                <p:par>
                                  <p:cTn id="1034" presetID="10" presetClass="entr" presetSubtype="0" fill="hold" grpId="0" nodeType="clickEffect">
                                    <p:stCondLst>
                                      <p:cond delay="0"/>
                                    </p:stCondLst>
                                    <p:childTnLst>
                                      <p:set>
                                        <p:cBhvr>
                                          <p:cTn id="1035" dur="1" fill="hold">
                                            <p:stCondLst>
                                              <p:cond delay="0"/>
                                            </p:stCondLst>
                                          </p:cTn>
                                          <p:tgtEl>
                                            <p:spTgt spid="11"/>
                                          </p:tgtEl>
                                          <p:attrNameLst>
                                            <p:attrName>style.visibility</p:attrName>
                                          </p:attrNameLst>
                                        </p:cBhvr>
                                        <p:to>
                                          <p:strVal val="visible"/>
                                        </p:to>
                                      </p:set>
                                      <p:animEffect transition="in" filter="fade">
                                        <p:cBhvr>
                                          <p:cTn id="1036"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8696233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7">
            <a:extLst xmlns:a="http://schemas.openxmlformats.org/drawingml/2006/main">
              <a:ext uri="{FF2B5EF4-FFF2-40B4-BE49-F238E27FC236}">
                <a16:creationId xmlns:a16="http://schemas.microsoft.com/office/drawing/2014/main" id="{E3E48521-538B-4A54-8521-5ACD29567618}"/>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04 / MỤC TIÊU</a:t>
            </a:r>
          </a:p>
        </p:txBody>
      </p:sp>
      <p:sp>
        <p:nvSpPr>
          <p:cNvPr id="2" name="title-7">
            <a:extLst xmlns:a="http://schemas.openxmlformats.org/drawingml/2006/main">
              <a:ext uri="{FF2B5EF4-FFF2-40B4-BE49-F238E27FC236}">
                <a16:creationId xmlns:a16="http://schemas.microsoft.com/office/drawing/2014/main" id="{5A08B489-9454-499D-8C39-7D1DB0B959AE}"/>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Cấp THCS hướng tới năng lực sử dụng, kiểm chứng và kiến tạo có trách nhiệm</a:t>
            </a:r>
          </a:p>
        </p:txBody>
      </p:sp>
      <p:sp>
        <p:nvSpPr>
          <p:cNvPr id="3" name="rule-7">
            <a:extLst xmlns:a="http://schemas.openxmlformats.org/drawingml/2006/main">
              <a:ext uri="{FF2B5EF4-FFF2-40B4-BE49-F238E27FC236}">
                <a16:creationId xmlns:a16="http://schemas.microsoft.com/office/drawing/2014/main" id="{05E2F615-6323-4381-84BD-EF5FDE724272}"/>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7">
            <a:extLst xmlns:a="http://schemas.openxmlformats.org/drawingml/2006/main">
              <a:ext uri="{FF2B5EF4-FFF2-40B4-BE49-F238E27FC236}">
                <a16:creationId xmlns:a16="http://schemas.microsoft.com/office/drawing/2014/main" id="{29142FBB-94ED-4FE9-9AAC-D1E963C741A1}"/>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07</a:t>
            </a:r>
          </a:p>
        </p:txBody>
      </p:sp>
      <p:sp>
        <p:nvSpPr>
          <p:cNvPr id="5" name="anim-07-ethic">
            <a:extLst xmlns:a="http://schemas.openxmlformats.org/drawingml/2006/main">
              <a:ext uri="{FF2B5EF4-FFF2-40B4-BE49-F238E27FC236}">
                <a16:creationId xmlns:a16="http://schemas.microsoft.com/office/drawing/2014/main" id="{4AC8751B-4644-4DF3-9AFC-DAD0D43590AA}"/>
              </a:ext>
            </a:extLst>
          </p:cNvPr>
          <p:cNvSpPr>
            <a:spLocks xmlns:a="http://schemas.openxmlformats.org/drawingml/2006/main" noGrp="1"/>
          </p:cNvSpPr>
          <p:nvPr/>
        </p:nvSpPr>
        <p:spPr>
          <a:xfrm xmlns:a="http://schemas.openxmlformats.org/drawingml/2006/main">
            <a:off x="523875" y="1952625"/>
            <a:ext cx="5238750" cy="1571625"/>
          </a:xfrm>
          <a:prstGeom xmlns:a="http://schemas.openxmlformats.org/drawingml/2006/main" prst="roundRect">
            <a:avLst>
              <a:gd name="adj" fmla="val 7273"/>
            </a:avLst>
          </a:prstGeom>
          <a:solidFill xmlns:a="http://schemas.openxmlformats.org/drawingml/2006/main">
            <a:srgbClr val="FFF0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ĐẠO ĐỨC VÀ AN TOÀN</a:t>
            </a:r>
          </a:p>
          <a:p xmlns:a="http://schemas.openxmlformats.org/drawingml/2006/main">
            <a:pPr algn="l">
              <a:defRPr sz="1650" b="0">
                <a:solidFill>
                  <a:srgbClr val="10131A"/>
                </a:solidFill>
              </a:defRPr>
            </a:pPr>
            <a:r>
              <a:rPr sz="1650" b="0">
                <a:solidFill>
                  <a:srgbClr val="10131A"/>
                </a:solidFill>
              </a:rPr>
              <a:t>Nhận diện lợi ích, rủi ro, thiên vị dữ liệu, quyền riêng tư và trách nhiệm cá nhân; ứng xử đúng pháp luật và văn hóa số.</a:t>
            </a:r>
          </a:p>
        </p:txBody>
      </p:sp>
      <p:sp>
        <p:nvSpPr>
          <p:cNvPr id="6" name="anim-07-ethic-accent">
            <a:extLst xmlns:a="http://schemas.openxmlformats.org/drawingml/2006/main">
              <a:ext uri="{FF2B5EF4-FFF2-40B4-BE49-F238E27FC236}">
                <a16:creationId xmlns:a16="http://schemas.microsoft.com/office/drawing/2014/main" id="{74B383AD-A94C-440F-B012-3917E995AFD2}"/>
              </a:ext>
            </a:extLst>
          </p:cNvPr>
          <p:cNvSpPr>
            <a:spLocks xmlns:a="http://schemas.openxmlformats.org/drawingml/2006/main" noGrp="1"/>
          </p:cNvSpPr>
          <p:nvPr/>
        </p:nvSpPr>
        <p:spPr>
          <a:xfrm xmlns:a="http://schemas.openxmlformats.org/drawingml/2006/main">
            <a:off x="523875" y="1952625"/>
            <a:ext cx="76200" cy="1571625"/>
          </a:xfrm>
          <a:prstGeom xmlns:a="http://schemas.openxmlformats.org/drawingml/2006/main" prst="rect">
            <a:avLst/>
          </a:prstGeom>
          <a:solidFill xmlns:a="http://schemas.openxmlformats.org/drawingml/2006/main">
            <a:srgbClr val="D84A4A"/>
          </a:solidFill>
          <a:ln xmlns:a="http://schemas.openxmlformats.org/drawingml/2006/main" w="0">
            <a:solidFill>
              <a:srgbClr val="D84A4A"/>
            </a:solidFill>
            <a:prstDash val="solid"/>
          </a:ln>
        </p:spPr>
      </p:sp>
      <p:sp>
        <p:nvSpPr>
          <p:cNvPr id="7" name="anim-07-basic">
            <a:extLst xmlns:a="http://schemas.openxmlformats.org/drawingml/2006/main">
              <a:ext uri="{FF2B5EF4-FFF2-40B4-BE49-F238E27FC236}">
                <a16:creationId xmlns:a16="http://schemas.microsoft.com/office/drawing/2014/main" id="{2545E1C7-545C-4805-BE2E-C6DAC37A7F09}"/>
              </a:ext>
            </a:extLst>
          </p:cNvPr>
          <p:cNvSpPr>
            <a:spLocks xmlns:a="http://schemas.openxmlformats.org/drawingml/2006/main" noGrp="1"/>
          </p:cNvSpPr>
          <p:nvPr/>
        </p:nvSpPr>
        <p:spPr>
          <a:xfrm xmlns:a="http://schemas.openxmlformats.org/drawingml/2006/main">
            <a:off x="6429375" y="1952625"/>
            <a:ext cx="5238750" cy="1571625"/>
          </a:xfrm>
          <a:prstGeom xmlns:a="http://schemas.openxmlformats.org/drawingml/2006/main" prst="roundRect">
            <a:avLst>
              <a:gd name="adj" fmla="val 7273"/>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HIỂU NGUYÊN LÝ CƠ BẢN</a:t>
            </a:r>
          </a:p>
          <a:p xmlns:a="http://schemas.openxmlformats.org/drawingml/2006/main">
            <a:pPr algn="l">
              <a:defRPr sz="1650" b="0">
                <a:solidFill>
                  <a:srgbClr val="10131A"/>
                </a:solidFill>
              </a:defRPr>
            </a:pPr>
            <a:r>
              <a:rPr sz="1650" b="0">
                <a:solidFill>
                  <a:srgbClr val="10131A"/>
                </a:solidFill>
              </a:rPr>
              <a:t>Hiểu quan hệ giữa dữ liệu, thuật toán và mô hình; vận dụng để giải quyết vấn đề gần gũi trong học tập và đời sống.</a:t>
            </a:r>
          </a:p>
        </p:txBody>
      </p:sp>
      <p:sp>
        <p:nvSpPr>
          <p:cNvPr id="8" name="anim-07-basic-accent">
            <a:extLst xmlns:a="http://schemas.openxmlformats.org/drawingml/2006/main">
              <a:ext uri="{FF2B5EF4-FFF2-40B4-BE49-F238E27FC236}">
                <a16:creationId xmlns:a16="http://schemas.microsoft.com/office/drawing/2014/main" id="{978BD9C6-EB69-4610-AD02-D60D87586273}"/>
              </a:ext>
            </a:extLst>
          </p:cNvPr>
          <p:cNvSpPr>
            <a:spLocks xmlns:a="http://schemas.openxmlformats.org/drawingml/2006/main" noGrp="1"/>
          </p:cNvSpPr>
          <p:nvPr/>
        </p:nvSpPr>
        <p:spPr>
          <a:xfrm xmlns:a="http://schemas.openxmlformats.org/drawingml/2006/main">
            <a:off x="6429375" y="1952625"/>
            <a:ext cx="76200" cy="1571625"/>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9" name="anim-07-use">
            <a:extLst xmlns:a="http://schemas.openxmlformats.org/drawingml/2006/main">
              <a:ext uri="{FF2B5EF4-FFF2-40B4-BE49-F238E27FC236}">
                <a16:creationId xmlns:a16="http://schemas.microsoft.com/office/drawing/2014/main" id="{4A80BAFA-22FA-4E65-B9DC-CF9882B4DE74}"/>
              </a:ext>
            </a:extLst>
          </p:cNvPr>
          <p:cNvSpPr>
            <a:spLocks xmlns:a="http://schemas.openxmlformats.org/drawingml/2006/main" noGrp="1"/>
          </p:cNvSpPr>
          <p:nvPr/>
        </p:nvSpPr>
        <p:spPr>
          <a:xfrm xmlns:a="http://schemas.openxmlformats.org/drawingml/2006/main">
            <a:off x="523875" y="4000500"/>
            <a:ext cx="5238750" cy="1571625"/>
          </a:xfrm>
          <a:prstGeom xmlns:a="http://schemas.openxmlformats.org/drawingml/2006/main" prst="roundRect">
            <a:avLst>
              <a:gd name="adj" fmla="val 7273"/>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TẠO SẢN PHẨM SỐ</a:t>
            </a:r>
          </a:p>
          <a:p xmlns:a="http://schemas.openxmlformats.org/drawingml/2006/main">
            <a:pPr algn="l">
              <a:defRPr sz="1650" b="0">
                <a:solidFill>
                  <a:srgbClr val="10131A"/>
                </a:solidFill>
              </a:defRPr>
            </a:pPr>
            <a:r>
              <a:rPr sz="1650" b="0">
                <a:solidFill>
                  <a:srgbClr val="10131A"/>
                </a:solidFill>
              </a:rPr>
              <a:t>Lựa chọn công cụ, mô hình hoặc tài nguyên trực quan; tạo sản phẩm đơn giản, kiểm tra, nhận phản hồi và điều chỉnh.</a:t>
            </a:r>
          </a:p>
        </p:txBody>
      </p:sp>
      <p:sp>
        <p:nvSpPr>
          <p:cNvPr id="10" name="anim-07-use-accent">
            <a:extLst xmlns:a="http://schemas.openxmlformats.org/drawingml/2006/main">
              <a:ext uri="{FF2B5EF4-FFF2-40B4-BE49-F238E27FC236}">
                <a16:creationId xmlns:a16="http://schemas.microsoft.com/office/drawing/2014/main" id="{4CAA65E7-2701-4B43-A883-4CA8312CC183}"/>
              </a:ext>
            </a:extLst>
          </p:cNvPr>
          <p:cNvSpPr>
            <a:spLocks xmlns:a="http://schemas.openxmlformats.org/drawingml/2006/main" noGrp="1"/>
          </p:cNvSpPr>
          <p:nvPr/>
        </p:nvSpPr>
        <p:spPr>
          <a:xfrm xmlns:a="http://schemas.openxmlformats.org/drawingml/2006/main">
            <a:off x="523875" y="4000500"/>
            <a:ext cx="76200" cy="1571625"/>
          </a:xfrm>
          <a:prstGeom xmlns:a="http://schemas.openxmlformats.org/drawingml/2006/main" prst="rect">
            <a:avLst/>
          </a:prstGeom>
          <a:solidFill xmlns:a="http://schemas.openxmlformats.org/drawingml/2006/main">
            <a:srgbClr val="44C2F0"/>
          </a:solidFill>
          <a:ln xmlns:a="http://schemas.openxmlformats.org/drawingml/2006/main" w="0">
            <a:solidFill>
              <a:srgbClr val="44C2F0"/>
            </a:solidFill>
            <a:prstDash val="solid"/>
          </a:ln>
        </p:spPr>
      </p:sp>
      <p:sp>
        <p:nvSpPr>
          <p:cNvPr id="11" name="anim-07-design">
            <a:extLst xmlns:a="http://schemas.openxmlformats.org/drawingml/2006/main">
              <a:ext uri="{FF2B5EF4-FFF2-40B4-BE49-F238E27FC236}">
                <a16:creationId xmlns:a16="http://schemas.microsoft.com/office/drawing/2014/main" id="{59609319-CD42-43FF-9AE7-77BAC369D9DD}"/>
              </a:ext>
            </a:extLst>
          </p:cNvPr>
          <p:cNvSpPr>
            <a:spLocks xmlns:a="http://schemas.openxmlformats.org/drawingml/2006/main" noGrp="1"/>
          </p:cNvSpPr>
          <p:nvPr/>
        </p:nvSpPr>
        <p:spPr>
          <a:xfrm xmlns:a="http://schemas.openxmlformats.org/drawingml/2006/main">
            <a:off x="6429375" y="4000500"/>
            <a:ext cx="5238750" cy="1571625"/>
          </a:xfrm>
          <a:prstGeom xmlns:a="http://schemas.openxmlformats.org/drawingml/2006/main" prst="roundRect">
            <a:avLst>
              <a:gd name="adj" fmla="val 7273"/>
            </a:avLst>
          </a:prstGeom>
          <a:solidFill xmlns:a="http://schemas.openxmlformats.org/drawingml/2006/main">
            <a:srgbClr val="EAF7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BƯỚC ĐẦU THIẾT KẾ</a:t>
            </a:r>
          </a:p>
          <a:p xmlns:a="http://schemas.openxmlformats.org/drawingml/2006/main">
            <a:pPr algn="l">
              <a:defRPr sz="1650" b="0">
                <a:solidFill>
                  <a:srgbClr val="10131A"/>
                </a:solidFill>
              </a:defRPr>
            </a:pPr>
            <a:r>
              <a:rPr sz="1650" b="0">
                <a:solidFill>
                  <a:srgbClr val="10131A"/>
                </a:solidFill>
              </a:rPr>
              <a:t>Hợp tác xác định vấn đề, thiết kế sản phẩm có ứng dụng AI, giải thích lựa chọn và tìm hiểu nghề nghiệp liên quan.</a:t>
            </a:r>
          </a:p>
        </p:txBody>
      </p:sp>
      <p:sp>
        <p:nvSpPr>
          <p:cNvPr id="12" name="anim-07-design-accent">
            <a:extLst xmlns:a="http://schemas.openxmlformats.org/drawingml/2006/main">
              <a:ext uri="{FF2B5EF4-FFF2-40B4-BE49-F238E27FC236}">
                <a16:creationId xmlns:a16="http://schemas.microsoft.com/office/drawing/2014/main" id="{6821C81F-9A4E-4C5D-A562-59FDE7F2C0CC}"/>
              </a:ext>
            </a:extLst>
          </p:cNvPr>
          <p:cNvSpPr>
            <a:spLocks xmlns:a="http://schemas.openxmlformats.org/drawingml/2006/main" noGrp="1"/>
          </p:cNvSpPr>
          <p:nvPr/>
        </p:nvSpPr>
        <p:spPr>
          <a:xfrm xmlns:a="http://schemas.openxmlformats.org/drawingml/2006/main">
            <a:off x="6429375" y="4000500"/>
            <a:ext cx="76200" cy="1571625"/>
          </a:xfrm>
          <a:prstGeom xmlns:a="http://schemas.openxmlformats.org/drawingml/2006/main" prst="rect">
            <a:avLst/>
          </a:prstGeom>
          <a:solidFill xmlns:a="http://schemas.openxmlformats.org/drawingml/2006/main">
            <a:srgbClr val="1B8A5A"/>
          </a:solidFill>
          <a:ln xmlns:a="http://schemas.openxmlformats.org/drawingml/2006/main" w="0">
            <a:solidFill>
              <a:srgbClr val="1B8A5A"/>
            </a:solidFill>
            <a:prstDash val="solid"/>
          </a:ln>
        </p:spPr>
      </p:sp>
      <p:sp>
        <p:nvSpPr>
          <p:cNvPr id="13" name="source-7">
            <a:extLst xmlns:a="http://schemas.openxmlformats.org/drawingml/2006/main">
              <a:ext uri="{FF2B5EF4-FFF2-40B4-BE49-F238E27FC236}">
                <a16:creationId xmlns:a16="http://schemas.microsoft.com/office/drawing/2014/main" id="{5B88DE2E-D756-4933-BFFF-FD04F116F649}"/>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mục II.3 - Mục tiêu cấp trung học cơ sở.</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7"/>
                                          </p:tgtEl>
                                          <p:attrNameLst>
                                            <p:attrName>style.visibility</p:attrName>
                                          </p:attrNameLst>
                                        </p:cBhvr>
                                        <p:to>
                                          <p:strVal val="visible"/>
                                        </p:to>
                                      </p:set>
                                      <p:animEffect transition="in" filter="fade">
                                        <p:cBhvr>
                                          <p:cTn id="1011" dur="350"/>
                                          <p:tgtEl>
                                            <p:spTgt spid="7"/>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9"/>
                                          </p:tgtEl>
                                          <p:attrNameLst>
                                            <p:attrName>style.visibility</p:attrName>
                                          </p:attrNameLst>
                                        </p:cBhvr>
                                        <p:to>
                                          <p:strVal val="visible"/>
                                        </p:to>
                                      </p:set>
                                      <p:animEffect transition="in" filter="fade">
                                        <p:cBhvr>
                                          <p:cTn id="1016" dur="350"/>
                                          <p:tgtEl>
                                            <p:spTgt spid="9"/>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11"/>
                                          </p:tgtEl>
                                          <p:attrNameLst>
                                            <p:attrName>style.visibility</p:attrName>
                                          </p:attrNameLst>
                                        </p:cBhvr>
                                        <p:to>
                                          <p:strVal val="visible"/>
                                        </p:to>
                                      </p:set>
                                      <p:animEffect transition="in" filter="fade">
                                        <p:cBhvr>
                                          <p:cTn id="1021"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6318271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8">
            <a:extLst xmlns:a="http://schemas.openxmlformats.org/drawingml/2006/main">
              <a:ext uri="{FF2B5EF4-FFF2-40B4-BE49-F238E27FC236}">
                <a16:creationId xmlns:a16="http://schemas.microsoft.com/office/drawing/2014/main" id="{0A83B11B-965D-46BE-9528-774C6D81DDE2}"/>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05 / KHUNG NĂNG LỰC</a:t>
            </a:r>
          </a:p>
        </p:txBody>
      </p:sp>
      <p:sp>
        <p:nvSpPr>
          <p:cNvPr id="2" name="title-8">
            <a:extLst xmlns:a="http://schemas.openxmlformats.org/drawingml/2006/main">
              <a:ext uri="{FF2B5EF4-FFF2-40B4-BE49-F238E27FC236}">
                <a16:creationId xmlns:a16="http://schemas.microsoft.com/office/drawing/2014/main" id="{16A64897-9B6C-457A-8B1E-4AFCA65A5672}"/>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Bốn mạch hòa quyện trong cùng một nhiệm vụ học tập</a:t>
            </a:r>
          </a:p>
        </p:txBody>
      </p:sp>
      <p:sp>
        <p:nvSpPr>
          <p:cNvPr id="3" name="rule-8">
            <a:extLst xmlns:a="http://schemas.openxmlformats.org/drawingml/2006/main">
              <a:ext uri="{FF2B5EF4-FFF2-40B4-BE49-F238E27FC236}">
                <a16:creationId xmlns:a16="http://schemas.microsoft.com/office/drawing/2014/main" id="{CC5B71CB-C110-42E5-868B-3AEE3B733B59}"/>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8">
            <a:extLst xmlns:a="http://schemas.openxmlformats.org/drawingml/2006/main">
              <a:ext uri="{FF2B5EF4-FFF2-40B4-BE49-F238E27FC236}">
                <a16:creationId xmlns:a16="http://schemas.microsoft.com/office/drawing/2014/main" id="{82FBE8A4-C6FD-4CD5-A80C-F2C8F34C6561}"/>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08</a:t>
            </a:r>
          </a:p>
        </p:txBody>
      </p:sp>
      <p:sp>
        <p:nvSpPr>
          <p:cNvPr id="5" name="anim-08-a">
            <a:extLst xmlns:a="http://schemas.openxmlformats.org/drawingml/2006/main">
              <a:ext uri="{FF2B5EF4-FFF2-40B4-BE49-F238E27FC236}">
                <a16:creationId xmlns:a16="http://schemas.microsoft.com/office/drawing/2014/main" id="{506C28D1-C627-4DB5-86F6-CFE79E997166}"/>
              </a:ext>
            </a:extLst>
          </p:cNvPr>
          <p:cNvSpPr>
            <a:spLocks xmlns:a="http://schemas.openxmlformats.org/drawingml/2006/main" noGrp="1"/>
          </p:cNvSpPr>
          <p:nvPr/>
        </p:nvSpPr>
        <p:spPr>
          <a:xfrm xmlns:a="http://schemas.openxmlformats.org/drawingml/2006/main">
            <a:off x="666750" y="2000250"/>
            <a:ext cx="4762500" cy="1619250"/>
          </a:xfrm>
          <a:prstGeom xmlns:a="http://schemas.openxmlformats.org/drawingml/2006/main" prst="roundRect">
            <a:avLst>
              <a:gd name="adj" fmla="val 7059"/>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131A"/>
                </a:solidFill>
              </a:defRPr>
            </a:pPr>
            <a:r>
              <a:rPr sz="1725" b="0">
                <a:solidFill>
                  <a:srgbClr val="10131A"/>
                </a:solidFill>
              </a:rPr>
              <a:t>A. CON NGƯỜI</a:t>
            </a:r>
          </a:p>
          <a:p xmlns:a="http://schemas.openxmlformats.org/drawingml/2006/main">
            <a:pPr algn="l">
              <a:defRPr sz="1725" b="0">
                <a:solidFill>
                  <a:srgbClr val="10131A"/>
                </a:solidFill>
              </a:defRPr>
            </a:pPr>
            <a:r>
              <a:rPr sz="1725" b="0">
                <a:solidFill>
                  <a:srgbClr val="10131A"/>
                </a:solidFill>
              </a:rPr>
              <a:t>AI phục vụ nhu cầu nào?</a:t>
            </a:r>
          </a:p>
          <a:p xmlns:a="http://schemas.openxmlformats.org/drawingml/2006/main">
            <a:pPr algn="l">
              <a:defRPr sz="1725" b="0">
                <a:solidFill>
                  <a:srgbClr val="10131A"/>
                </a:solidFill>
              </a:defRPr>
            </a:pPr>
            <a:r>
              <a:rPr sz="1725" b="0">
                <a:solidFill>
                  <a:srgbClr val="10131A"/>
                </a:solidFill>
              </a:rPr>
              <a:t>Ai giữ quyền quyết định?</a:t>
            </a:r>
          </a:p>
          <a:p xmlns:a="http://schemas.openxmlformats.org/drawingml/2006/main">
            <a:pPr algn="l">
              <a:defRPr sz="1725" b="0">
                <a:solidFill>
                  <a:srgbClr val="10131A"/>
                </a:solidFill>
              </a:defRPr>
            </a:pPr>
            <a:r>
              <a:rPr sz="1725" b="0">
                <a:solidFill>
                  <a:srgbClr val="10131A"/>
                </a:solidFill>
              </a:rPr>
              <a:t>Tác động đến ai?</a:t>
            </a:r>
          </a:p>
        </p:txBody>
      </p:sp>
      <p:sp>
        <p:nvSpPr>
          <p:cNvPr id="6" name="anim-08-a-accent">
            <a:extLst xmlns:a="http://schemas.openxmlformats.org/drawingml/2006/main">
              <a:ext uri="{FF2B5EF4-FFF2-40B4-BE49-F238E27FC236}">
                <a16:creationId xmlns:a16="http://schemas.microsoft.com/office/drawing/2014/main" id="{1C16128E-D874-4BB3-B1F9-528A9BD173B4}"/>
              </a:ext>
            </a:extLst>
          </p:cNvPr>
          <p:cNvSpPr>
            <a:spLocks xmlns:a="http://schemas.openxmlformats.org/drawingml/2006/main" noGrp="1"/>
          </p:cNvSpPr>
          <p:nvPr/>
        </p:nvSpPr>
        <p:spPr>
          <a:xfrm xmlns:a="http://schemas.openxmlformats.org/drawingml/2006/main">
            <a:off x="666750" y="2000250"/>
            <a:ext cx="76200" cy="161925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7" name="anim-08-b">
            <a:extLst xmlns:a="http://schemas.openxmlformats.org/drawingml/2006/main">
              <a:ext uri="{FF2B5EF4-FFF2-40B4-BE49-F238E27FC236}">
                <a16:creationId xmlns:a16="http://schemas.microsoft.com/office/drawing/2014/main" id="{DC58103D-AC01-494D-B7B2-F69E3D408ABC}"/>
              </a:ext>
            </a:extLst>
          </p:cNvPr>
          <p:cNvSpPr>
            <a:spLocks xmlns:a="http://schemas.openxmlformats.org/drawingml/2006/main" noGrp="1"/>
          </p:cNvSpPr>
          <p:nvPr/>
        </p:nvSpPr>
        <p:spPr>
          <a:xfrm xmlns:a="http://schemas.openxmlformats.org/drawingml/2006/main">
            <a:off x="6762750" y="2000250"/>
            <a:ext cx="4762500" cy="1619250"/>
          </a:xfrm>
          <a:prstGeom xmlns:a="http://schemas.openxmlformats.org/drawingml/2006/main" prst="roundRect">
            <a:avLst>
              <a:gd name="adj" fmla="val 7059"/>
            </a:avLst>
          </a:prstGeom>
          <a:solidFill xmlns:a="http://schemas.openxmlformats.org/drawingml/2006/main">
            <a:srgbClr val="FFF0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131A"/>
                </a:solidFill>
              </a:defRPr>
            </a:pPr>
            <a:r>
              <a:rPr sz="1725" b="0">
                <a:solidFill>
                  <a:srgbClr val="10131A"/>
                </a:solidFill>
              </a:rPr>
              <a:t>B. ĐẠO ĐỨC</a:t>
            </a:r>
          </a:p>
          <a:p xmlns:a="http://schemas.openxmlformats.org/drawingml/2006/main">
            <a:pPr algn="l">
              <a:defRPr sz="1725" b="0">
                <a:solidFill>
                  <a:srgbClr val="10131A"/>
                </a:solidFill>
              </a:defRPr>
            </a:pPr>
            <a:r>
              <a:rPr sz="1725" b="0">
                <a:solidFill>
                  <a:srgbClr val="10131A"/>
                </a:solidFill>
              </a:rPr>
              <a:t>Có an toàn, công bằng, minh bạch?</a:t>
            </a:r>
          </a:p>
          <a:p xmlns:a="http://schemas.openxmlformats.org/drawingml/2006/main">
            <a:pPr algn="l">
              <a:defRPr sz="1725" b="0">
                <a:solidFill>
                  <a:srgbClr val="10131A"/>
                </a:solidFill>
              </a:defRPr>
            </a:pPr>
            <a:r>
              <a:rPr sz="1725" b="0">
                <a:solidFill>
                  <a:srgbClr val="10131A"/>
                </a:solidFill>
              </a:rPr>
              <a:t>Dữ liệu cá nhân và bản quyền được bảo vệ?</a:t>
            </a:r>
          </a:p>
        </p:txBody>
      </p:sp>
      <p:sp>
        <p:nvSpPr>
          <p:cNvPr id="8" name="anim-08-b-accent">
            <a:extLst xmlns:a="http://schemas.openxmlformats.org/drawingml/2006/main">
              <a:ext uri="{FF2B5EF4-FFF2-40B4-BE49-F238E27FC236}">
                <a16:creationId xmlns:a16="http://schemas.microsoft.com/office/drawing/2014/main" id="{9E68F177-DF6B-4E5B-A9D8-A075878E67C8}"/>
              </a:ext>
            </a:extLst>
          </p:cNvPr>
          <p:cNvSpPr>
            <a:spLocks xmlns:a="http://schemas.openxmlformats.org/drawingml/2006/main" noGrp="1"/>
          </p:cNvSpPr>
          <p:nvPr/>
        </p:nvSpPr>
        <p:spPr>
          <a:xfrm xmlns:a="http://schemas.openxmlformats.org/drawingml/2006/main">
            <a:off x="6762750" y="2000250"/>
            <a:ext cx="76200" cy="1619250"/>
          </a:xfrm>
          <a:prstGeom xmlns:a="http://schemas.openxmlformats.org/drawingml/2006/main" prst="rect">
            <a:avLst/>
          </a:prstGeom>
          <a:solidFill xmlns:a="http://schemas.openxmlformats.org/drawingml/2006/main">
            <a:srgbClr val="D84A4A"/>
          </a:solidFill>
          <a:ln xmlns:a="http://schemas.openxmlformats.org/drawingml/2006/main" w="0">
            <a:solidFill>
              <a:srgbClr val="D84A4A"/>
            </a:solidFill>
            <a:prstDash val="solid"/>
          </a:ln>
        </p:spPr>
      </p:sp>
      <p:sp>
        <p:nvSpPr>
          <p:cNvPr id="9" name="anim-08-c">
            <a:extLst xmlns:a="http://schemas.openxmlformats.org/drawingml/2006/main">
              <a:ext uri="{FF2B5EF4-FFF2-40B4-BE49-F238E27FC236}">
                <a16:creationId xmlns:a16="http://schemas.microsoft.com/office/drawing/2014/main" id="{F504B151-5579-4912-A6D7-000985609AC1}"/>
              </a:ext>
            </a:extLst>
          </p:cNvPr>
          <p:cNvSpPr>
            <a:spLocks xmlns:a="http://schemas.openxmlformats.org/drawingml/2006/main" noGrp="1"/>
          </p:cNvSpPr>
          <p:nvPr/>
        </p:nvSpPr>
        <p:spPr>
          <a:xfrm xmlns:a="http://schemas.openxmlformats.org/drawingml/2006/main">
            <a:off x="666750" y="4095750"/>
            <a:ext cx="4762500" cy="1619250"/>
          </a:xfrm>
          <a:prstGeom xmlns:a="http://schemas.openxmlformats.org/drawingml/2006/main" prst="roundRect">
            <a:avLst>
              <a:gd name="adj" fmla="val 7059"/>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131A"/>
                </a:solidFill>
              </a:defRPr>
            </a:pPr>
            <a:r>
              <a:rPr sz="1725" b="0">
                <a:solidFill>
                  <a:srgbClr val="10131A"/>
                </a:solidFill>
              </a:rPr>
              <a:t>C. KỸ THUẬT – ỨNG DỤNG</a:t>
            </a:r>
          </a:p>
          <a:p xmlns:a="http://schemas.openxmlformats.org/drawingml/2006/main">
            <a:pPr algn="l">
              <a:defRPr sz="1725" b="0">
                <a:solidFill>
                  <a:srgbClr val="10131A"/>
                </a:solidFill>
              </a:defRPr>
            </a:pPr>
            <a:r>
              <a:rPr sz="1725" b="0">
                <a:solidFill>
                  <a:srgbClr val="10131A"/>
                </a:solidFill>
              </a:rPr>
              <a:t>Dữ liệu, thuật toán, mô hình hoạt động ra sao?</a:t>
            </a:r>
          </a:p>
          <a:p xmlns:a="http://schemas.openxmlformats.org/drawingml/2006/main">
            <a:pPr algn="l">
              <a:defRPr sz="1725" b="0">
                <a:solidFill>
                  <a:srgbClr val="10131A"/>
                </a:solidFill>
              </a:defRPr>
            </a:pPr>
            <a:r>
              <a:rPr sz="1725" b="0">
                <a:solidFill>
                  <a:srgbClr val="10131A"/>
                </a:solidFill>
              </a:rPr>
              <a:t>Công cụ nào phù hợp?</a:t>
            </a:r>
          </a:p>
        </p:txBody>
      </p:sp>
      <p:sp>
        <p:nvSpPr>
          <p:cNvPr id="10" name="anim-08-c-accent">
            <a:extLst xmlns:a="http://schemas.openxmlformats.org/drawingml/2006/main">
              <a:ext uri="{FF2B5EF4-FFF2-40B4-BE49-F238E27FC236}">
                <a16:creationId xmlns:a16="http://schemas.microsoft.com/office/drawing/2014/main" id="{24179D35-A130-44EA-B4CB-4C7973D3B8BF}"/>
              </a:ext>
            </a:extLst>
          </p:cNvPr>
          <p:cNvSpPr>
            <a:spLocks xmlns:a="http://schemas.openxmlformats.org/drawingml/2006/main" noGrp="1"/>
          </p:cNvSpPr>
          <p:nvPr/>
        </p:nvSpPr>
        <p:spPr>
          <a:xfrm xmlns:a="http://schemas.openxmlformats.org/drawingml/2006/main">
            <a:off x="666750" y="4095750"/>
            <a:ext cx="76200" cy="1619250"/>
          </a:xfrm>
          <a:prstGeom xmlns:a="http://schemas.openxmlformats.org/drawingml/2006/main" prst="rect">
            <a:avLst/>
          </a:prstGeom>
          <a:solidFill xmlns:a="http://schemas.openxmlformats.org/drawingml/2006/main">
            <a:srgbClr val="44C2F0"/>
          </a:solidFill>
          <a:ln xmlns:a="http://schemas.openxmlformats.org/drawingml/2006/main" w="0">
            <a:solidFill>
              <a:srgbClr val="44C2F0"/>
            </a:solidFill>
            <a:prstDash val="solid"/>
          </a:ln>
        </p:spPr>
      </p:sp>
      <p:sp>
        <p:nvSpPr>
          <p:cNvPr id="11" name="anim-08-d">
            <a:extLst xmlns:a="http://schemas.openxmlformats.org/drawingml/2006/main">
              <a:ext uri="{FF2B5EF4-FFF2-40B4-BE49-F238E27FC236}">
                <a16:creationId xmlns:a16="http://schemas.microsoft.com/office/drawing/2014/main" id="{71424AD1-5731-4D9E-AEAA-0CDC353D4571}"/>
              </a:ext>
            </a:extLst>
          </p:cNvPr>
          <p:cNvSpPr>
            <a:spLocks xmlns:a="http://schemas.openxmlformats.org/drawingml/2006/main" noGrp="1"/>
          </p:cNvSpPr>
          <p:nvPr/>
        </p:nvSpPr>
        <p:spPr>
          <a:xfrm xmlns:a="http://schemas.openxmlformats.org/drawingml/2006/main">
            <a:off x="6762750" y="4095750"/>
            <a:ext cx="4762500" cy="1619250"/>
          </a:xfrm>
          <a:prstGeom xmlns:a="http://schemas.openxmlformats.org/drawingml/2006/main" prst="roundRect">
            <a:avLst>
              <a:gd name="adj" fmla="val 7059"/>
            </a:avLst>
          </a:prstGeom>
          <a:solidFill xmlns:a="http://schemas.openxmlformats.org/drawingml/2006/main">
            <a:srgbClr val="EAF7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131A"/>
                </a:solidFill>
              </a:defRPr>
            </a:pPr>
            <a:r>
              <a:rPr sz="1725" b="0">
                <a:solidFill>
                  <a:srgbClr val="10131A"/>
                </a:solidFill>
              </a:rPr>
              <a:t>D. THIẾT KẾ HỆ THỐNG</a:t>
            </a:r>
          </a:p>
          <a:p xmlns:a="http://schemas.openxmlformats.org/drawingml/2006/main">
            <a:pPr algn="l">
              <a:defRPr sz="1725" b="0">
                <a:solidFill>
                  <a:srgbClr val="10131A"/>
                </a:solidFill>
              </a:defRPr>
            </a:pPr>
            <a:r>
              <a:rPr sz="1725" b="0">
                <a:solidFill>
                  <a:srgbClr val="10131A"/>
                </a:solidFill>
              </a:rPr>
              <a:t>Vấn đề là gì?</a:t>
            </a:r>
          </a:p>
          <a:p xmlns:a="http://schemas.openxmlformats.org/drawingml/2006/main">
            <a:pPr algn="l">
              <a:defRPr sz="1725" b="0">
                <a:solidFill>
                  <a:srgbClr val="10131A"/>
                </a:solidFill>
              </a:defRPr>
            </a:pPr>
            <a:r>
              <a:rPr sz="1725" b="0">
                <a:solidFill>
                  <a:srgbClr val="10131A"/>
                </a:solidFill>
              </a:rPr>
              <a:t>Thử nghiệm thế nào?</a:t>
            </a:r>
          </a:p>
          <a:p xmlns:a="http://schemas.openxmlformats.org/drawingml/2006/main">
            <a:pPr algn="l">
              <a:defRPr sz="1725" b="0">
                <a:solidFill>
                  <a:srgbClr val="10131A"/>
                </a:solidFill>
              </a:defRPr>
            </a:pPr>
            <a:r>
              <a:rPr sz="1725" b="0">
                <a:solidFill>
                  <a:srgbClr val="10131A"/>
                </a:solidFill>
              </a:rPr>
              <a:t>Cải tiến dựa trên minh chứng nào?</a:t>
            </a:r>
          </a:p>
        </p:txBody>
      </p:sp>
      <p:sp>
        <p:nvSpPr>
          <p:cNvPr id="12" name="anim-08-d-accent">
            <a:extLst xmlns:a="http://schemas.openxmlformats.org/drawingml/2006/main">
              <a:ext uri="{FF2B5EF4-FFF2-40B4-BE49-F238E27FC236}">
                <a16:creationId xmlns:a16="http://schemas.microsoft.com/office/drawing/2014/main" id="{6FDCDF76-0740-4324-8BE8-68E678078DC2}"/>
              </a:ext>
            </a:extLst>
          </p:cNvPr>
          <p:cNvSpPr>
            <a:spLocks xmlns:a="http://schemas.openxmlformats.org/drawingml/2006/main" noGrp="1"/>
          </p:cNvSpPr>
          <p:nvPr/>
        </p:nvSpPr>
        <p:spPr>
          <a:xfrm xmlns:a="http://schemas.openxmlformats.org/drawingml/2006/main">
            <a:off x="6762750" y="4095750"/>
            <a:ext cx="76200" cy="1619250"/>
          </a:xfrm>
          <a:prstGeom xmlns:a="http://schemas.openxmlformats.org/drawingml/2006/main" prst="rect">
            <a:avLst/>
          </a:prstGeom>
          <a:solidFill xmlns:a="http://schemas.openxmlformats.org/drawingml/2006/main">
            <a:srgbClr val="1B8A5A"/>
          </a:solidFill>
          <a:ln xmlns:a="http://schemas.openxmlformats.org/drawingml/2006/main" w="0">
            <a:solidFill>
              <a:srgbClr val="1B8A5A"/>
            </a:solidFill>
            <a:prstDash val="solid"/>
          </a:ln>
        </p:spPr>
      </p:sp>
      <p:sp>
        <p:nvSpPr>
          <p:cNvPr id="13" name="anim-08-center">
            <a:extLst xmlns:a="http://schemas.openxmlformats.org/drawingml/2006/main">
              <a:ext uri="{FF2B5EF4-FFF2-40B4-BE49-F238E27FC236}">
                <a16:creationId xmlns:a16="http://schemas.microsoft.com/office/drawing/2014/main" id="{21A3163C-1E5C-4FB3-A09F-1A549E45FDC6}"/>
              </a:ext>
            </a:extLst>
          </p:cNvPr>
          <p:cNvSpPr>
            <a:spLocks xmlns:a="http://schemas.openxmlformats.org/drawingml/2006/main" noGrp="1"/>
          </p:cNvSpPr>
          <p:nvPr/>
        </p:nvSpPr>
        <p:spPr>
          <a:xfrm xmlns:a="http://schemas.openxmlformats.org/drawingml/2006/main">
            <a:off x="5286375" y="3028950"/>
            <a:ext cx="1619250" cy="1381125"/>
          </a:xfrm>
          <a:prstGeom xmlns:a="http://schemas.openxmlformats.org/drawingml/2006/main" prst="ellipse">
            <a:avLst/>
          </a:prstGeom>
          <a:solidFill xmlns:a="http://schemas.openxmlformats.org/drawingml/2006/main">
            <a:srgbClr val="10131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MỘT</a:t>
            </a:r>
          </a:p>
          <a:p xmlns:a="http://schemas.openxmlformats.org/drawingml/2006/main">
            <a:pPr algn="ctr">
              <a:defRPr sz="1800" b="1">
                <a:solidFill>
                  <a:srgbClr val="FFFFFF"/>
                </a:solidFill>
              </a:defRPr>
            </a:pPr>
            <a:r>
              <a:rPr sz="1800" b="1">
                <a:solidFill>
                  <a:srgbClr val="FFFFFF"/>
                </a:solidFill>
              </a:rPr>
              <a:t>NHIỆM VỤ</a:t>
            </a:r>
          </a:p>
        </p:txBody>
      </p:sp>
      <p:sp>
        <p:nvSpPr>
          <p:cNvPr id="14" name="source-8">
            <a:extLst xmlns:a="http://schemas.openxmlformats.org/drawingml/2006/main">
              <a:ext uri="{FF2B5EF4-FFF2-40B4-BE49-F238E27FC236}">
                <a16:creationId xmlns:a16="http://schemas.microsoft.com/office/drawing/2014/main" id="{F61CAE4D-F53E-4648-BFF7-6E7CC86485D1}"/>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bốn mạch nội dung A–B–C–D.</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7"/>
                                          </p:tgtEl>
                                          <p:attrNameLst>
                                            <p:attrName>style.visibility</p:attrName>
                                          </p:attrNameLst>
                                        </p:cBhvr>
                                        <p:to>
                                          <p:strVal val="visible"/>
                                        </p:to>
                                      </p:set>
                                      <p:animEffect transition="in" filter="fade">
                                        <p:cBhvr>
                                          <p:cTn id="1011" dur="350"/>
                                          <p:tgtEl>
                                            <p:spTgt spid="7"/>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9"/>
                                          </p:tgtEl>
                                          <p:attrNameLst>
                                            <p:attrName>style.visibility</p:attrName>
                                          </p:attrNameLst>
                                        </p:cBhvr>
                                        <p:to>
                                          <p:strVal val="visible"/>
                                        </p:to>
                                      </p:set>
                                      <p:animEffect transition="in" filter="fade">
                                        <p:cBhvr>
                                          <p:cTn id="1016" dur="350"/>
                                          <p:tgtEl>
                                            <p:spTgt spid="9"/>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11"/>
                                          </p:tgtEl>
                                          <p:attrNameLst>
                                            <p:attrName>style.visibility</p:attrName>
                                          </p:attrNameLst>
                                        </p:cBhvr>
                                        <p:to>
                                          <p:strVal val="visible"/>
                                        </p:to>
                                      </p:set>
                                      <p:animEffect transition="in" filter="fade">
                                        <p:cBhvr>
                                          <p:cTn id="1021" dur="350"/>
                                          <p:tgtEl>
                                            <p:spTgt spid="11"/>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13"/>
                                          </p:tgtEl>
                                          <p:attrNameLst>
                                            <p:attrName>style.visibility</p:attrName>
                                          </p:attrNameLst>
                                        </p:cBhvr>
                                        <p:to>
                                          <p:strVal val="visible"/>
                                        </p:to>
                                      </p:set>
                                      <p:animEffect transition="in" filter="fade">
                                        <p:cBhvr>
                                          <p:cTn id="1026"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8016544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9">
            <a:extLst xmlns:a="http://schemas.openxmlformats.org/drawingml/2006/main">
              <a:ext uri="{FF2B5EF4-FFF2-40B4-BE49-F238E27FC236}">
                <a16:creationId xmlns:a16="http://schemas.microsoft.com/office/drawing/2014/main" id="{DC15FE05-DA8C-4801-B15F-427D82D64E5F}"/>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06 / THEO KHỐI LỚP</a:t>
            </a:r>
          </a:p>
        </p:txBody>
      </p:sp>
      <p:sp>
        <p:nvSpPr>
          <p:cNvPr id="2" name="title-9">
            <a:extLst xmlns:a="http://schemas.openxmlformats.org/drawingml/2006/main">
              <a:ext uri="{FF2B5EF4-FFF2-40B4-BE49-F238E27FC236}">
                <a16:creationId xmlns:a16="http://schemas.microsoft.com/office/drawing/2014/main" id="{6E26EE1A-05B2-4476-9333-D28B5B4953CC}"/>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Lớp 6: làm quen có kiểm soát, hình thành thói quen kiểm chứng</a:t>
            </a:r>
          </a:p>
        </p:txBody>
      </p:sp>
      <p:sp>
        <p:nvSpPr>
          <p:cNvPr id="3" name="rule-9">
            <a:extLst xmlns:a="http://schemas.openxmlformats.org/drawingml/2006/main">
              <a:ext uri="{FF2B5EF4-FFF2-40B4-BE49-F238E27FC236}">
                <a16:creationId xmlns:a16="http://schemas.microsoft.com/office/drawing/2014/main" id="{4523890E-5564-487E-B0DD-6B129EEA4633}"/>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9">
            <a:extLst xmlns:a="http://schemas.openxmlformats.org/drawingml/2006/main">
              <a:ext uri="{FF2B5EF4-FFF2-40B4-BE49-F238E27FC236}">
                <a16:creationId xmlns:a16="http://schemas.microsoft.com/office/drawing/2014/main" id="{B8A8D442-20D6-43DD-94E2-ABE6693A4CA2}"/>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09</a:t>
            </a:r>
          </a:p>
        </p:txBody>
      </p:sp>
      <p:sp>
        <p:nvSpPr>
          <p:cNvPr id="5" name="anim-09-grade">
            <a:extLst xmlns:a="http://schemas.openxmlformats.org/drawingml/2006/main">
              <a:ext uri="{FF2B5EF4-FFF2-40B4-BE49-F238E27FC236}">
                <a16:creationId xmlns:a16="http://schemas.microsoft.com/office/drawing/2014/main" id="{9995E704-20EF-45C4-B2EC-7126F80873F3}"/>
              </a:ext>
            </a:extLst>
          </p:cNvPr>
          <p:cNvSpPr>
            <a:spLocks xmlns:a="http://schemas.openxmlformats.org/drawingml/2006/main" noGrp="1"/>
          </p:cNvSpPr>
          <p:nvPr/>
        </p:nvSpPr>
        <p:spPr>
          <a:xfrm xmlns:a="http://schemas.openxmlformats.org/drawingml/2006/main">
            <a:off x="666750" y="2095500"/>
            <a:ext cx="2476500" cy="2476500"/>
          </a:xfrm>
          <a:prstGeom xmlns:a="http://schemas.openxmlformats.org/drawingml/2006/main" prst="ellipse">
            <a:avLst/>
          </a:prstGeom>
          <a:solidFill xmlns:a="http://schemas.openxmlformats.org/drawingml/2006/main">
            <a:srgbClr val="1769E0"/>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0" b="1">
                <a:solidFill>
                  <a:srgbClr val="FFFFFF"/>
                </a:solidFill>
              </a:defRPr>
            </a:pPr>
            <a:r>
              <a:rPr sz="9750" b="1">
                <a:solidFill>
                  <a:srgbClr val="FFFFFF"/>
                </a:solidFill>
              </a:rPr>
              <a:t>6</a:t>
            </a:r>
          </a:p>
        </p:txBody>
      </p:sp>
      <p:sp>
        <p:nvSpPr>
          <p:cNvPr id="6" name="anim-09-list">
            <a:extLst xmlns:a="http://schemas.openxmlformats.org/drawingml/2006/main">
              <a:ext uri="{FF2B5EF4-FFF2-40B4-BE49-F238E27FC236}">
                <a16:creationId xmlns:a16="http://schemas.microsoft.com/office/drawing/2014/main" id="{1FD84C22-7F31-4B81-A69C-0ABCF783CE5E}"/>
              </a:ext>
            </a:extLst>
          </p:cNvPr>
          <p:cNvSpPr>
            <a:spLocks xmlns:a="http://schemas.openxmlformats.org/drawingml/2006/main" noGrp="1"/>
          </p:cNvSpPr>
          <p:nvPr/>
        </p:nvSpPr>
        <p:spPr>
          <a:xfrm xmlns:a="http://schemas.openxmlformats.org/drawingml/2006/main">
            <a:off x="4000500" y="2000250"/>
            <a:ext cx="7429500" cy="3429000"/>
          </a:xfrm>
          <a:prstGeom xmlns:a="http://schemas.openxmlformats.org/drawingml/2006/main" prst="roundRect">
            <a:avLst>
              <a:gd name="adj" fmla="val 3333"/>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131A"/>
                </a:solidFill>
              </a:defRPr>
            </a:pPr>
            <a:r>
              <a:rPr sz="1725" b="0">
                <a:solidFill>
                  <a:srgbClr val="10131A"/>
                </a:solidFill>
              </a:rPr>
              <a:t>• Con người tạo và điều khiển AI; AI chỉ là công cụ hỗ trợ.</a:t>
            </a:r>
          </a:p>
          <a:p xmlns:a="http://schemas.openxmlformats.org/drawingml/2006/main">
            <a:pPr algn="l">
              <a:defRPr sz="1725" b="0">
                <a:solidFill>
                  <a:srgbClr val="10131A"/>
                </a:solidFill>
              </a:defRPr>
            </a:pPr>
            <a:r>
              <a:rPr sz="1725" b="0">
                <a:solidFill>
                  <a:srgbClr val="10131A"/>
                </a:solidFill>
              </a:rPr>
              <a:t>• Kiểm tra lại kết quả AI bằng SGK, nguồn tin cậy hoặc hỏi thầy cô.</a:t>
            </a:r>
          </a:p>
          <a:p xmlns:a="http://schemas.openxmlformats.org/drawingml/2006/main">
            <a:pPr algn="l">
              <a:defRPr sz="1725" b="0">
                <a:solidFill>
                  <a:srgbClr val="10131A"/>
                </a:solidFill>
              </a:defRPr>
            </a:pPr>
            <a:r>
              <a:rPr sz="1725" b="0">
                <a:solidFill>
                  <a:srgbClr val="10131A"/>
                </a:solidFill>
              </a:rPr>
              <a:t>• Nhận biết dữ liệu, thuật toán và các bước hoạt động cơ bản.</a:t>
            </a:r>
          </a:p>
          <a:p xmlns:a="http://schemas.openxmlformats.org/drawingml/2006/main">
            <a:pPr algn="l">
              <a:defRPr sz="1725" b="0">
                <a:solidFill>
                  <a:srgbClr val="10131A"/>
                </a:solidFill>
              </a:defRPr>
            </a:pPr>
            <a:r>
              <a:rPr sz="1725" b="0">
                <a:solidFill>
                  <a:srgbClr val="10131A"/>
                </a:solidFill>
              </a:rPr>
              <a:t>• Bảo vệ dữ liệu cá nhân; nhận diện mặt tốt và mặt xấu của công cụ.</a:t>
            </a:r>
          </a:p>
          <a:p xmlns:a="http://schemas.openxmlformats.org/drawingml/2006/main">
            <a:pPr algn="l">
              <a:defRPr sz="1725" b="0">
                <a:solidFill>
                  <a:srgbClr val="10131A"/>
                </a:solidFill>
              </a:defRPr>
            </a:pPr>
            <a:r>
              <a:rPr sz="1725" b="0">
                <a:solidFill>
                  <a:srgbClr val="10131A"/>
                </a:solidFill>
              </a:rPr>
              <a:t>• Lựa chọn tình huống nên/không nên dùng AI; kết hợp thế mạnh người – máy.</a:t>
            </a:r>
          </a:p>
        </p:txBody>
      </p:sp>
      <p:sp>
        <p:nvSpPr>
          <p:cNvPr id="7" name="anim-09-tag">
            <a:extLst xmlns:a="http://schemas.openxmlformats.org/drawingml/2006/main">
              <a:ext uri="{FF2B5EF4-FFF2-40B4-BE49-F238E27FC236}">
                <a16:creationId xmlns:a16="http://schemas.microsoft.com/office/drawing/2014/main" id="{B64FAC26-A18E-44AE-B507-4A144BD678EB}"/>
              </a:ext>
            </a:extLst>
          </p:cNvPr>
          <p:cNvSpPr>
            <a:spLocks xmlns:a="http://schemas.openxmlformats.org/drawingml/2006/main" noGrp="1"/>
          </p:cNvSpPr>
          <p:nvPr/>
        </p:nvSpPr>
        <p:spPr>
          <a:xfrm xmlns:a="http://schemas.openxmlformats.org/drawingml/2006/main">
            <a:off x="2571750" y="5715000"/>
            <a:ext cx="704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769E0"/>
                </a:solidFill>
              </a:defRPr>
            </a:pPr>
            <a:r>
              <a:rPr sz="1650" b="1">
                <a:solidFill>
                  <a:srgbClr val="1769E0"/>
                </a:solidFill>
              </a:rPr>
              <a:t>Từ khóa triển khai: TRẢI NGHIỆM • AN TOÀN • KIỂM TRA LẠI</a:t>
            </a:r>
          </a:p>
        </p:txBody>
      </p:sp>
      <p:sp>
        <p:nvSpPr>
          <p:cNvPr id="8" name="source-9">
            <a:extLst xmlns:a="http://schemas.openxmlformats.org/drawingml/2006/main">
              <a:ext uri="{FF2B5EF4-FFF2-40B4-BE49-F238E27FC236}">
                <a16:creationId xmlns:a16="http://schemas.microsoft.com/office/drawing/2014/main" id="{0CBC0BDF-3FAB-4BC5-BB0E-D126F07CE9B2}"/>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yêu cầu cần đạt lớp 6.</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519311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0">
            <a:extLst xmlns:a="http://schemas.openxmlformats.org/drawingml/2006/main">
              <a:ext uri="{FF2B5EF4-FFF2-40B4-BE49-F238E27FC236}">
                <a16:creationId xmlns:a16="http://schemas.microsoft.com/office/drawing/2014/main" id="{5A552896-0714-4454-A04B-BBFB702DF971}"/>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06 / THEO KHỐI LỚP</a:t>
            </a:r>
          </a:p>
        </p:txBody>
      </p:sp>
      <p:sp>
        <p:nvSpPr>
          <p:cNvPr id="2" name="title-10">
            <a:extLst xmlns:a="http://schemas.openxmlformats.org/drawingml/2006/main">
              <a:ext uri="{FF2B5EF4-FFF2-40B4-BE49-F238E27FC236}">
                <a16:creationId xmlns:a16="http://schemas.microsoft.com/office/drawing/2014/main" id="{2766CDE5-3945-40C0-B0C2-E071DD685D2E}"/>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Lớp 7: xác thực, giữ quyền tự chủ và làm dự án nhỏ</a:t>
            </a:r>
          </a:p>
        </p:txBody>
      </p:sp>
      <p:sp>
        <p:nvSpPr>
          <p:cNvPr id="3" name="rule-10">
            <a:extLst xmlns:a="http://schemas.openxmlformats.org/drawingml/2006/main">
              <a:ext uri="{FF2B5EF4-FFF2-40B4-BE49-F238E27FC236}">
                <a16:creationId xmlns:a16="http://schemas.microsoft.com/office/drawing/2014/main" id="{B15E541A-44E3-4911-BD6A-7C17A9448A74}"/>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10">
            <a:extLst xmlns:a="http://schemas.openxmlformats.org/drawingml/2006/main">
              <a:ext uri="{FF2B5EF4-FFF2-40B4-BE49-F238E27FC236}">
                <a16:creationId xmlns:a16="http://schemas.microsoft.com/office/drawing/2014/main" id="{C70A925D-90DF-4974-8166-919692F872CE}"/>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10</a:t>
            </a:r>
          </a:p>
        </p:txBody>
      </p:sp>
      <p:sp>
        <p:nvSpPr>
          <p:cNvPr id="5" name="anim-10-grade">
            <a:extLst xmlns:a="http://schemas.openxmlformats.org/drawingml/2006/main">
              <a:ext uri="{FF2B5EF4-FFF2-40B4-BE49-F238E27FC236}">
                <a16:creationId xmlns:a16="http://schemas.microsoft.com/office/drawing/2014/main" id="{0848370D-B3F9-4182-ADB9-48CC93BE48D1}"/>
              </a:ext>
            </a:extLst>
          </p:cNvPr>
          <p:cNvSpPr>
            <a:spLocks xmlns:a="http://schemas.openxmlformats.org/drawingml/2006/main" noGrp="1"/>
          </p:cNvSpPr>
          <p:nvPr/>
        </p:nvSpPr>
        <p:spPr>
          <a:xfrm xmlns:a="http://schemas.openxmlformats.org/drawingml/2006/main">
            <a:off x="666750" y="2095500"/>
            <a:ext cx="2476500" cy="2476500"/>
          </a:xfrm>
          <a:prstGeom xmlns:a="http://schemas.openxmlformats.org/drawingml/2006/main" prst="ellipse">
            <a:avLst/>
          </a:prstGeom>
          <a:solidFill xmlns:a="http://schemas.openxmlformats.org/drawingml/2006/main">
            <a:srgbClr val="44C2F0"/>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0" b="1">
                <a:solidFill>
                  <a:srgbClr val="0B2B5B"/>
                </a:solidFill>
              </a:defRPr>
            </a:pPr>
            <a:r>
              <a:rPr sz="9750" b="1">
                <a:solidFill>
                  <a:srgbClr val="0B2B5B"/>
                </a:solidFill>
              </a:rPr>
              <a:t>7</a:t>
            </a:r>
          </a:p>
        </p:txBody>
      </p:sp>
      <p:sp>
        <p:nvSpPr>
          <p:cNvPr id="6" name="anim-10-list">
            <a:extLst xmlns:a="http://schemas.openxmlformats.org/drawingml/2006/main">
              <a:ext uri="{FF2B5EF4-FFF2-40B4-BE49-F238E27FC236}">
                <a16:creationId xmlns:a16="http://schemas.microsoft.com/office/drawing/2014/main" id="{5A4C29D7-CD50-469E-94D8-9B52F3290291}"/>
              </a:ext>
            </a:extLst>
          </p:cNvPr>
          <p:cNvSpPr>
            <a:spLocks xmlns:a="http://schemas.openxmlformats.org/drawingml/2006/main" noGrp="1"/>
          </p:cNvSpPr>
          <p:nvPr/>
        </p:nvSpPr>
        <p:spPr>
          <a:xfrm xmlns:a="http://schemas.openxmlformats.org/drawingml/2006/main">
            <a:off x="4000500" y="2000250"/>
            <a:ext cx="7429500" cy="3429000"/>
          </a:xfrm>
          <a:prstGeom xmlns:a="http://schemas.openxmlformats.org/drawingml/2006/main" prst="roundRect">
            <a:avLst>
              <a:gd name="adj" fmla="val 3333"/>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131A"/>
                </a:solidFill>
              </a:defRPr>
            </a:pPr>
            <a:r>
              <a:rPr sz="1725" b="0">
                <a:solidFill>
                  <a:srgbClr val="10131A"/>
                </a:solidFill>
              </a:rPr>
              <a:t>• Giải thích vì sao con người cần giữ quyền quyết định khi sử dụng AI.</a:t>
            </a:r>
          </a:p>
          <a:p xmlns:a="http://schemas.openxmlformats.org/drawingml/2006/main">
            <a:pPr algn="l">
              <a:defRPr sz="1725" b="0">
                <a:solidFill>
                  <a:srgbClr val="10131A"/>
                </a:solidFill>
              </a:defRPr>
            </a:pPr>
            <a:r>
              <a:rPr sz="1725" b="0">
                <a:solidFill>
                  <a:srgbClr val="10131A"/>
                </a:solidFill>
              </a:rPr>
              <a:t>• Kiểm chứng thông tin AI bằng ít nhất một nguồn đáng tin cậy khác.</a:t>
            </a:r>
          </a:p>
          <a:p xmlns:a="http://schemas.openxmlformats.org/drawingml/2006/main">
            <a:pPr algn="l">
              <a:defRPr sz="1725" b="0">
                <a:solidFill>
                  <a:srgbClr val="10131A"/>
                </a:solidFill>
              </a:defRPr>
            </a:pPr>
            <a:r>
              <a:rPr sz="1725" b="0">
                <a:solidFill>
                  <a:srgbClr val="10131A"/>
                </a:solidFill>
              </a:rPr>
              <a:t>• Nhận diện vấn đề đạo đức từ dữ liệu huấn luyện và nguy cơ thiếu công bằng.</a:t>
            </a:r>
          </a:p>
          <a:p xmlns:a="http://schemas.openxmlformats.org/drawingml/2006/main">
            <a:pPr algn="l">
              <a:defRPr sz="1725" b="0">
                <a:solidFill>
                  <a:srgbClr val="10131A"/>
                </a:solidFill>
              </a:defRPr>
            </a:pPr>
            <a:r>
              <a:rPr sz="1725" b="0">
                <a:solidFill>
                  <a:srgbClr val="10131A"/>
                </a:solidFill>
              </a:rPr>
              <a:t>• Tìm hiểu cách AI học từ dữ liệu đã phân loại/gán nhãn.</a:t>
            </a:r>
          </a:p>
          <a:p xmlns:a="http://schemas.openxmlformats.org/drawingml/2006/main">
            <a:pPr algn="l">
              <a:defRPr sz="1725" b="0">
                <a:solidFill>
                  <a:srgbClr val="10131A"/>
                </a:solidFill>
              </a:defRPr>
            </a:pPr>
            <a:r>
              <a:rPr sz="1725" b="0">
                <a:solidFill>
                  <a:srgbClr val="10131A"/>
                </a:solidFill>
              </a:rPr>
              <a:t>• Đề xuất ý tưởng dự án từ vấn đề trường học hoặc cộng đồng; lập kế hoạch nhóm.</a:t>
            </a:r>
          </a:p>
        </p:txBody>
      </p:sp>
      <p:sp>
        <p:nvSpPr>
          <p:cNvPr id="7" name="anim-10-tag">
            <a:extLst xmlns:a="http://schemas.openxmlformats.org/drawingml/2006/main">
              <a:ext uri="{FF2B5EF4-FFF2-40B4-BE49-F238E27FC236}">
                <a16:creationId xmlns:a16="http://schemas.microsoft.com/office/drawing/2014/main" id="{0862B15A-7C27-45D9-B319-ED8B36C74108}"/>
              </a:ext>
            </a:extLst>
          </p:cNvPr>
          <p:cNvSpPr>
            <a:spLocks xmlns:a="http://schemas.openxmlformats.org/drawingml/2006/main" noGrp="1"/>
          </p:cNvSpPr>
          <p:nvPr/>
        </p:nvSpPr>
        <p:spPr>
          <a:xfrm xmlns:a="http://schemas.openxmlformats.org/drawingml/2006/main">
            <a:off x="2190750" y="5715000"/>
            <a:ext cx="781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B2B5B"/>
                </a:solidFill>
              </a:defRPr>
            </a:pPr>
            <a:r>
              <a:rPr sz="1650" b="1">
                <a:solidFill>
                  <a:srgbClr val="0B2B5B"/>
                </a:solidFill>
              </a:rPr>
              <a:t>Từ khóa triển khai: XÁC THỰC • QUYỀN TỰ CHỦ • Ý TƯỞNG DỰ ÁN</a:t>
            </a:r>
          </a:p>
        </p:txBody>
      </p:sp>
      <p:sp>
        <p:nvSpPr>
          <p:cNvPr id="8" name="source-10">
            <a:extLst xmlns:a="http://schemas.openxmlformats.org/drawingml/2006/main">
              <a:ext uri="{FF2B5EF4-FFF2-40B4-BE49-F238E27FC236}">
                <a16:creationId xmlns:a16="http://schemas.microsoft.com/office/drawing/2014/main" id="{39402BD3-9379-40CE-9CA0-F81631B529B5}"/>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yêu cầu cần đạt lớp 7.</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9001540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1">
            <a:extLst xmlns:a="http://schemas.openxmlformats.org/drawingml/2006/main">
              <a:ext uri="{FF2B5EF4-FFF2-40B4-BE49-F238E27FC236}">
                <a16:creationId xmlns:a16="http://schemas.microsoft.com/office/drawing/2014/main" id="{D09052DD-8910-435D-B9B6-4159513409BA}"/>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06 / THEO KHỐI LỚP</a:t>
            </a:r>
          </a:p>
        </p:txBody>
      </p:sp>
      <p:sp>
        <p:nvSpPr>
          <p:cNvPr id="2" name="title-11">
            <a:extLst xmlns:a="http://schemas.openxmlformats.org/drawingml/2006/main">
              <a:ext uri="{FF2B5EF4-FFF2-40B4-BE49-F238E27FC236}">
                <a16:creationId xmlns:a16="http://schemas.microsoft.com/office/drawing/2014/main" id="{5D74C6FD-88EF-4B30-85DC-B402DA2026FB}"/>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Lớp 8: phân tích rủi ro, trách nhiệm và thiết kế giải pháp đơn giản</a:t>
            </a:r>
          </a:p>
        </p:txBody>
      </p:sp>
      <p:sp>
        <p:nvSpPr>
          <p:cNvPr id="3" name="rule-11">
            <a:extLst xmlns:a="http://schemas.openxmlformats.org/drawingml/2006/main">
              <a:ext uri="{FF2B5EF4-FFF2-40B4-BE49-F238E27FC236}">
                <a16:creationId xmlns:a16="http://schemas.microsoft.com/office/drawing/2014/main" id="{B5135E34-2F0B-4711-8564-6B7F82C5257C}"/>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11">
            <a:extLst xmlns:a="http://schemas.openxmlformats.org/drawingml/2006/main">
              <a:ext uri="{FF2B5EF4-FFF2-40B4-BE49-F238E27FC236}">
                <a16:creationId xmlns:a16="http://schemas.microsoft.com/office/drawing/2014/main" id="{25DC330D-6912-4250-A03B-5E3F542B4F1D}"/>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11</a:t>
            </a:r>
          </a:p>
        </p:txBody>
      </p:sp>
      <p:sp>
        <p:nvSpPr>
          <p:cNvPr id="5" name="anim-11-grade">
            <a:extLst xmlns:a="http://schemas.openxmlformats.org/drawingml/2006/main">
              <a:ext uri="{FF2B5EF4-FFF2-40B4-BE49-F238E27FC236}">
                <a16:creationId xmlns:a16="http://schemas.microsoft.com/office/drawing/2014/main" id="{CF5DB67C-0546-4062-AA96-5CA82BB0049C}"/>
              </a:ext>
            </a:extLst>
          </p:cNvPr>
          <p:cNvSpPr>
            <a:spLocks xmlns:a="http://schemas.openxmlformats.org/drawingml/2006/main" noGrp="1"/>
          </p:cNvSpPr>
          <p:nvPr/>
        </p:nvSpPr>
        <p:spPr>
          <a:xfrm xmlns:a="http://schemas.openxmlformats.org/drawingml/2006/main">
            <a:off x="666750" y="2095500"/>
            <a:ext cx="2476500" cy="247650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0" b="1">
                <a:solidFill>
                  <a:srgbClr val="FFFFFF"/>
                </a:solidFill>
              </a:defRPr>
            </a:pPr>
            <a:r>
              <a:rPr sz="9750" b="1">
                <a:solidFill>
                  <a:srgbClr val="FFFFFF"/>
                </a:solidFill>
              </a:rPr>
              <a:t>8</a:t>
            </a:r>
          </a:p>
        </p:txBody>
      </p:sp>
      <p:sp>
        <p:nvSpPr>
          <p:cNvPr id="6" name="anim-11-list">
            <a:extLst xmlns:a="http://schemas.openxmlformats.org/drawingml/2006/main">
              <a:ext uri="{FF2B5EF4-FFF2-40B4-BE49-F238E27FC236}">
                <a16:creationId xmlns:a16="http://schemas.microsoft.com/office/drawing/2014/main" id="{611D55B7-D14A-43EC-8282-6B22E12FE697}"/>
              </a:ext>
            </a:extLst>
          </p:cNvPr>
          <p:cNvSpPr>
            <a:spLocks xmlns:a="http://schemas.openxmlformats.org/drawingml/2006/main" noGrp="1"/>
          </p:cNvSpPr>
          <p:nvPr/>
        </p:nvSpPr>
        <p:spPr>
          <a:xfrm xmlns:a="http://schemas.openxmlformats.org/drawingml/2006/main">
            <a:off x="4000500" y="1952625"/>
            <a:ext cx="7429500" cy="3571875"/>
          </a:xfrm>
          <a:prstGeom xmlns:a="http://schemas.openxmlformats.org/drawingml/2006/main" prst="roundRect">
            <a:avLst>
              <a:gd name="adj" fmla="val 3200"/>
            </a:avLst>
          </a:prstGeom>
          <a:solidFill xmlns:a="http://schemas.openxmlformats.org/drawingml/2006/main">
            <a:srgbClr val="FFF4E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 Nhận thức AI không thay thế con người trong các lĩnh vực cần thấu hiểu, đạo đức và sáng tạo.</a:t>
            </a:r>
          </a:p>
          <a:p xmlns:a="http://schemas.openxmlformats.org/drawingml/2006/main">
            <a:pPr algn="l">
              <a:defRPr sz="1650" b="0">
                <a:solidFill>
                  <a:srgbClr val="10131A"/>
                </a:solidFill>
              </a:defRPr>
            </a:pPr>
            <a:r>
              <a:rPr sz="1650" b="0">
                <a:solidFill>
                  <a:srgbClr val="10131A"/>
                </a:solidFill>
              </a:rPr>
              <a:t>• Phân tích rủi ro lạm dụng AI tạo sinh: suy giảm tư duy, tin sai, mất dữ liệu.</a:t>
            </a:r>
          </a:p>
          <a:p xmlns:a="http://schemas.openxmlformats.org/drawingml/2006/main">
            <a:pPr algn="l">
              <a:defRPr sz="1650" b="0">
                <a:solidFill>
                  <a:srgbClr val="10131A"/>
                </a:solidFill>
              </a:defRPr>
            </a:pPr>
            <a:r>
              <a:rPr sz="1650" b="0">
                <a:solidFill>
                  <a:srgbClr val="10131A"/>
                </a:solidFill>
              </a:rPr>
              <a:t>• Phân biệt vai trò người dùng – người phát triển; thực hiện trách nhiệm giải trình.</a:t>
            </a:r>
          </a:p>
          <a:p xmlns:a="http://schemas.openxmlformats.org/drawingml/2006/main">
            <a:pPr algn="l">
              <a:defRPr sz="1650" b="0">
                <a:solidFill>
                  <a:srgbClr val="10131A"/>
                </a:solidFill>
              </a:defRPr>
            </a:pPr>
            <a:r>
              <a:rPr sz="1650" b="0">
                <a:solidFill>
                  <a:srgbClr val="10131A"/>
                </a:solidFill>
              </a:rPr>
              <a:t>• Mô tả cách AI “đọc – nghe – nhìn”; nhận xét giới hạn của nhận diện cảm xúc.</a:t>
            </a:r>
          </a:p>
          <a:p xmlns:a="http://schemas.openxmlformats.org/drawingml/2006/main">
            <a:pPr algn="l">
              <a:defRPr sz="1650" b="0">
                <a:solidFill>
                  <a:srgbClr val="10131A"/>
                </a:solidFill>
              </a:defRPr>
            </a:pPr>
            <a:r>
              <a:rPr sz="1650" b="0">
                <a:solidFill>
                  <a:srgbClr val="10131A"/>
                </a:solidFill>
              </a:rPr>
              <a:t>• Lập kế hoạch dự án và phát triển kịch bản chatbot/mô hình đơn giản theo nhóm.</a:t>
            </a:r>
          </a:p>
        </p:txBody>
      </p:sp>
      <p:sp>
        <p:nvSpPr>
          <p:cNvPr id="7" name="anim-11-tag">
            <a:extLst xmlns:a="http://schemas.openxmlformats.org/drawingml/2006/main">
              <a:ext uri="{FF2B5EF4-FFF2-40B4-BE49-F238E27FC236}">
                <a16:creationId xmlns:a16="http://schemas.microsoft.com/office/drawing/2014/main" id="{37EC7E41-CC4E-4699-96F3-84770EFF084E}"/>
              </a:ext>
            </a:extLst>
          </p:cNvPr>
          <p:cNvSpPr>
            <a:spLocks xmlns:a="http://schemas.openxmlformats.org/drawingml/2006/main" noGrp="1"/>
          </p:cNvSpPr>
          <p:nvPr/>
        </p:nvSpPr>
        <p:spPr>
          <a:xfrm xmlns:a="http://schemas.openxmlformats.org/drawingml/2006/main">
            <a:off x="2381250" y="5743575"/>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F59E0B"/>
                </a:solidFill>
              </a:defRPr>
            </a:pPr>
            <a:r>
              <a:rPr sz="1650" b="1">
                <a:solidFill>
                  <a:srgbClr val="F59E0B"/>
                </a:solidFill>
              </a:rPr>
              <a:t>Từ khóa triển khai: RỦI RO • GIẢI TRÌNH • KẾ HOẠCH DỰ ÁN</a:t>
            </a:r>
          </a:p>
        </p:txBody>
      </p:sp>
      <p:sp>
        <p:nvSpPr>
          <p:cNvPr id="8" name="source-11">
            <a:extLst xmlns:a="http://schemas.openxmlformats.org/drawingml/2006/main">
              <a:ext uri="{FF2B5EF4-FFF2-40B4-BE49-F238E27FC236}">
                <a16:creationId xmlns:a16="http://schemas.microsoft.com/office/drawing/2014/main" id="{4F5DCB3E-22D2-418B-AA2C-2A1577918580}"/>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yêu cầu cần đạt lớp 8.</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9243934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2">
            <a:extLst xmlns:a="http://schemas.openxmlformats.org/drawingml/2006/main">
              <a:ext uri="{FF2B5EF4-FFF2-40B4-BE49-F238E27FC236}">
                <a16:creationId xmlns:a16="http://schemas.microsoft.com/office/drawing/2014/main" id="{1B409D10-1ED2-40FC-B04B-A4CAB830D3D6}"/>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06 / THEO KHỐI LỚP</a:t>
            </a:r>
          </a:p>
        </p:txBody>
      </p:sp>
      <p:sp>
        <p:nvSpPr>
          <p:cNvPr id="2" name="title-12">
            <a:extLst xmlns:a="http://schemas.openxmlformats.org/drawingml/2006/main">
              <a:ext uri="{FF2B5EF4-FFF2-40B4-BE49-F238E27FC236}">
                <a16:creationId xmlns:a16="http://schemas.microsoft.com/office/drawing/2014/main" id="{49E431B6-6E01-47F7-B8D8-7AB3DE7A44B2}"/>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Lớp 9: phản biện, kiểm thử và cải tiến sản phẩm</a:t>
            </a:r>
          </a:p>
        </p:txBody>
      </p:sp>
      <p:sp>
        <p:nvSpPr>
          <p:cNvPr id="3" name="rule-12">
            <a:extLst xmlns:a="http://schemas.openxmlformats.org/drawingml/2006/main">
              <a:ext uri="{FF2B5EF4-FFF2-40B4-BE49-F238E27FC236}">
                <a16:creationId xmlns:a16="http://schemas.microsoft.com/office/drawing/2014/main" id="{026AF501-05A1-4F9B-842B-0D6D25C958E2}"/>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12">
            <a:extLst xmlns:a="http://schemas.openxmlformats.org/drawingml/2006/main">
              <a:ext uri="{FF2B5EF4-FFF2-40B4-BE49-F238E27FC236}">
                <a16:creationId xmlns:a16="http://schemas.microsoft.com/office/drawing/2014/main" id="{7253357D-0AD7-4F13-98EE-B702B80A6F04}"/>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12</a:t>
            </a:r>
          </a:p>
        </p:txBody>
      </p:sp>
      <p:sp>
        <p:nvSpPr>
          <p:cNvPr id="5" name="anim-12-grade">
            <a:extLst xmlns:a="http://schemas.openxmlformats.org/drawingml/2006/main">
              <a:ext uri="{FF2B5EF4-FFF2-40B4-BE49-F238E27FC236}">
                <a16:creationId xmlns:a16="http://schemas.microsoft.com/office/drawing/2014/main" id="{78F30FF1-3B18-468B-81A9-D9DAD5969BFC}"/>
              </a:ext>
            </a:extLst>
          </p:cNvPr>
          <p:cNvSpPr>
            <a:spLocks xmlns:a="http://schemas.openxmlformats.org/drawingml/2006/main" noGrp="1"/>
          </p:cNvSpPr>
          <p:nvPr/>
        </p:nvSpPr>
        <p:spPr>
          <a:xfrm xmlns:a="http://schemas.openxmlformats.org/drawingml/2006/main">
            <a:off x="666750" y="2095500"/>
            <a:ext cx="2476500" cy="2476500"/>
          </a:xfrm>
          <a:prstGeom xmlns:a="http://schemas.openxmlformats.org/drawingml/2006/main" prst="ellipse">
            <a:avLst/>
          </a:prstGeom>
          <a:solidFill xmlns:a="http://schemas.openxmlformats.org/drawingml/2006/main">
            <a:srgbClr val="1B8A5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0" b="1">
                <a:solidFill>
                  <a:srgbClr val="FFFFFF"/>
                </a:solidFill>
              </a:defRPr>
            </a:pPr>
            <a:r>
              <a:rPr sz="9750" b="1">
                <a:solidFill>
                  <a:srgbClr val="FFFFFF"/>
                </a:solidFill>
              </a:rPr>
              <a:t>9</a:t>
            </a:r>
          </a:p>
        </p:txBody>
      </p:sp>
      <p:sp>
        <p:nvSpPr>
          <p:cNvPr id="6" name="anim-12-list">
            <a:extLst xmlns:a="http://schemas.openxmlformats.org/drawingml/2006/main">
              <a:ext uri="{FF2B5EF4-FFF2-40B4-BE49-F238E27FC236}">
                <a16:creationId xmlns:a16="http://schemas.microsoft.com/office/drawing/2014/main" id="{280EBB33-752D-4D65-820F-61E086890240}"/>
              </a:ext>
            </a:extLst>
          </p:cNvPr>
          <p:cNvSpPr>
            <a:spLocks xmlns:a="http://schemas.openxmlformats.org/drawingml/2006/main" noGrp="1"/>
          </p:cNvSpPr>
          <p:nvPr/>
        </p:nvSpPr>
        <p:spPr>
          <a:xfrm xmlns:a="http://schemas.openxmlformats.org/drawingml/2006/main">
            <a:off x="4000500" y="1952625"/>
            <a:ext cx="7429500" cy="3571875"/>
          </a:xfrm>
          <a:prstGeom xmlns:a="http://schemas.openxmlformats.org/drawingml/2006/main" prst="roundRect">
            <a:avLst>
              <a:gd name="adj" fmla="val 3200"/>
            </a:avLst>
          </a:prstGeom>
          <a:solidFill xmlns:a="http://schemas.openxmlformats.org/drawingml/2006/main">
            <a:srgbClr val="EAF7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 Trình bày thách thức xã hội, thiên vị và thành kiến trong hệ thống AI.</a:t>
            </a:r>
          </a:p>
          <a:p xmlns:a="http://schemas.openxmlformats.org/drawingml/2006/main">
            <a:pPr algn="l">
              <a:defRPr sz="1650" b="0">
                <a:solidFill>
                  <a:srgbClr val="10131A"/>
                </a:solidFill>
              </a:defRPr>
            </a:pPr>
            <a:r>
              <a:rPr sz="1650" b="0">
                <a:solidFill>
                  <a:srgbClr val="10131A"/>
                </a:solidFill>
              </a:rPr>
              <a:t>• Xác định năng lực học tập, nghề nghiệp và kỹ năng con người cần rèn trong kỷ nguyên AI.</a:t>
            </a:r>
          </a:p>
          <a:p xmlns:a="http://schemas.openxmlformats.org/drawingml/2006/main">
            <a:pPr algn="l">
              <a:defRPr sz="1650" b="0">
                <a:solidFill>
                  <a:srgbClr val="10131A"/>
                </a:solidFill>
              </a:defRPr>
            </a:pPr>
            <a:r>
              <a:rPr sz="1650" b="0">
                <a:solidFill>
                  <a:srgbClr val="10131A"/>
                </a:solidFill>
              </a:rPr>
              <a:t>• Khai báo việc sử dụng AI; phát hiện dấu hiệu nội dung giả mạo và kiểm chứng.</a:t>
            </a:r>
          </a:p>
          <a:p xmlns:a="http://schemas.openxmlformats.org/drawingml/2006/main">
            <a:pPr algn="l">
              <a:defRPr sz="1650" b="0">
                <a:solidFill>
                  <a:srgbClr val="10131A"/>
                </a:solidFill>
              </a:defRPr>
            </a:pPr>
            <a:r>
              <a:rPr sz="1650" b="0">
                <a:solidFill>
                  <a:srgbClr val="10131A"/>
                </a:solidFill>
              </a:rPr>
              <a:t>• Vận dụng công cụ/nền tảng có sẵn để giải quyết vấn đề, tạo sản phẩm đơn giản.</a:t>
            </a:r>
          </a:p>
          <a:p xmlns:a="http://schemas.openxmlformats.org/drawingml/2006/main">
            <a:pPr algn="l">
              <a:defRPr sz="1650" b="0">
                <a:solidFill>
                  <a:srgbClr val="10131A"/>
                </a:solidFill>
              </a:defRPr>
            </a:pPr>
            <a:r>
              <a:rPr sz="1650" b="0">
                <a:solidFill>
                  <a:srgbClr val="10131A"/>
                </a:solidFill>
              </a:rPr>
              <a:t>• Cải thiện dữ liệu, kiểm thử, phân tích kết quả và chủ động cải tiến sản phẩm.</a:t>
            </a:r>
          </a:p>
        </p:txBody>
      </p:sp>
      <p:sp>
        <p:nvSpPr>
          <p:cNvPr id="7" name="anim-12-tag">
            <a:extLst xmlns:a="http://schemas.openxmlformats.org/drawingml/2006/main">
              <a:ext uri="{FF2B5EF4-FFF2-40B4-BE49-F238E27FC236}">
                <a16:creationId xmlns:a16="http://schemas.microsoft.com/office/drawing/2014/main" id="{90125321-3C84-4323-8019-F2642BF5B69D}"/>
              </a:ext>
            </a:extLst>
          </p:cNvPr>
          <p:cNvSpPr>
            <a:spLocks xmlns:a="http://schemas.openxmlformats.org/drawingml/2006/main" noGrp="1"/>
          </p:cNvSpPr>
          <p:nvPr/>
        </p:nvSpPr>
        <p:spPr>
          <a:xfrm xmlns:a="http://schemas.openxmlformats.org/drawingml/2006/main">
            <a:off x="2571750" y="5743575"/>
            <a:ext cx="704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B8A5A"/>
                </a:solidFill>
              </a:defRPr>
            </a:pPr>
            <a:r>
              <a:rPr sz="1650" b="1">
                <a:solidFill>
                  <a:srgbClr val="1B8A5A"/>
                </a:solidFill>
              </a:rPr>
              <a:t>Từ khóa triển khai: PHẢN BIỆN • KIỂM THỬ • CẢI TIẾN</a:t>
            </a:r>
          </a:p>
        </p:txBody>
      </p:sp>
      <p:sp>
        <p:nvSpPr>
          <p:cNvPr id="8" name="source-12">
            <a:extLst xmlns:a="http://schemas.openxmlformats.org/drawingml/2006/main">
              <a:ext uri="{FF2B5EF4-FFF2-40B4-BE49-F238E27FC236}">
                <a16:creationId xmlns:a16="http://schemas.microsoft.com/office/drawing/2014/main" id="{A27DCDAF-9962-4D32-8E3A-4E8922FB3DB7}"/>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yêu cầu cần đạt lớp 9.</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6906329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13">
            <a:extLst xmlns:a="http://schemas.openxmlformats.org/drawingml/2006/main">
              <a:ext uri="{FF2B5EF4-FFF2-40B4-BE49-F238E27FC236}">
                <a16:creationId xmlns:a16="http://schemas.microsoft.com/office/drawing/2014/main" id="{E6C16AAA-9B06-428D-9E96-32904569F9C2}"/>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07 / TỔ CHỨC THỜI LƯỢNG</a:t>
            </a:r>
          </a:p>
        </p:txBody>
      </p:sp>
      <p:sp>
        <p:nvSpPr>
          <p:cNvPr id="2" name="title-13">
            <a:extLst xmlns:a="http://schemas.openxmlformats.org/drawingml/2006/main">
              <a:ext uri="{FF2B5EF4-FFF2-40B4-BE49-F238E27FC236}">
                <a16:creationId xmlns:a16="http://schemas.microsoft.com/office/drawing/2014/main" id="{036DDE5D-1B5A-4FD6-AA98-B5128E301A7F}"/>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12 tiết/năm/lớp nên được tổ chức thành bốn chuyên đề có sản phẩm</a:t>
            </a:r>
          </a:p>
        </p:txBody>
      </p:sp>
      <p:sp>
        <p:nvSpPr>
          <p:cNvPr id="3" name="subtitle-13">
            <a:extLst xmlns:a="http://schemas.openxmlformats.org/drawingml/2006/main">
              <a:ext uri="{FF2B5EF4-FFF2-40B4-BE49-F238E27FC236}">
                <a16:creationId xmlns:a16="http://schemas.microsoft.com/office/drawing/2014/main" id="{096F2331-FDA7-483A-9E1A-FE754F15AF83}"/>
              </a:ext>
            </a:extLst>
          </p:cNvPr>
          <p:cNvSpPr>
            <a:spLocks xmlns:a="http://schemas.openxmlformats.org/drawingml/2006/main" noGrp="1"/>
          </p:cNvSpPr>
          <p:nvPr/>
        </p:nvSpPr>
        <p:spPr>
          <a:xfrm xmlns:a="http://schemas.openxmlformats.org/drawingml/2006/main">
            <a:off x="419100" y="140970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defRPr>
            </a:pPr>
            <a:r>
              <a:rPr sz="1275" b="0">
                <a:solidFill>
                  <a:srgbClr val="5E6673"/>
                </a:solidFill>
              </a:rPr>
              <a:t>Mô hình đề xuất 4 × 3 tiết; nhà trường có thể điều chỉnh theo điều kiện thực tế.</a:t>
            </a:r>
          </a:p>
        </p:txBody>
      </p:sp>
      <p:sp>
        <p:nvSpPr>
          <p:cNvPr id="4" name="rule-13">
            <a:extLst xmlns:a="http://schemas.openxmlformats.org/drawingml/2006/main">
              <a:ext uri="{FF2B5EF4-FFF2-40B4-BE49-F238E27FC236}">
                <a16:creationId xmlns:a16="http://schemas.microsoft.com/office/drawing/2014/main" id="{A8113A49-ECF1-4537-9341-0450B11C89E8}"/>
              </a:ext>
            </a:extLst>
          </p:cNvPr>
          <p:cNvSpPr>
            <a:spLocks xmlns:a="http://schemas.openxmlformats.org/drawingml/2006/main" noGrp="1"/>
          </p:cNvSpPr>
          <p:nvPr/>
        </p:nvSpPr>
        <p:spPr>
          <a:xfrm xmlns:a="http://schemas.openxmlformats.org/drawingml/2006/main">
            <a:off x="400050" y="16954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page-13">
            <a:extLst xmlns:a="http://schemas.openxmlformats.org/drawingml/2006/main">
              <a:ext uri="{FF2B5EF4-FFF2-40B4-BE49-F238E27FC236}">
                <a16:creationId xmlns:a16="http://schemas.microsoft.com/office/drawing/2014/main" id="{A6BD29D1-284B-4DC5-92A9-E4A470DD7BB3}"/>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13</a:t>
            </a:r>
          </a:p>
        </p:txBody>
      </p:sp>
      <p:sp>
        <p:nvSpPr>
          <p:cNvPr id="6" name="anim-13-1">
            <a:extLst xmlns:a="http://schemas.openxmlformats.org/drawingml/2006/main">
              <a:ext uri="{FF2B5EF4-FFF2-40B4-BE49-F238E27FC236}">
                <a16:creationId xmlns:a16="http://schemas.microsoft.com/office/drawing/2014/main" id="{3425308D-0CFB-4A7D-A7CB-573666747A37}"/>
              </a:ext>
            </a:extLst>
          </p:cNvPr>
          <p:cNvSpPr>
            <a:spLocks xmlns:a="http://schemas.openxmlformats.org/drawingml/2006/main" noGrp="1"/>
          </p:cNvSpPr>
          <p:nvPr/>
        </p:nvSpPr>
        <p:spPr>
          <a:xfrm xmlns:a="http://schemas.openxmlformats.org/drawingml/2006/main">
            <a:off x="428625" y="2095500"/>
            <a:ext cx="2619375" cy="3143250"/>
          </a:xfrm>
          <a:prstGeom xmlns:a="http://schemas.openxmlformats.org/drawingml/2006/main" prst="roundRect">
            <a:avLst>
              <a:gd name="adj" fmla="val 4364"/>
            </a:avLst>
          </a:prstGeom>
          <a:solidFill xmlns:a="http://schemas.openxmlformats.org/drawingml/2006/main">
            <a:srgbClr val="EAF5FB"/>
          </a:solidFill>
          <a:ln xmlns:a="http://schemas.openxmlformats.org/drawingml/2006/main" w="19050">
            <a:solidFill>
              <a:srgbClr val="1769E0"/>
            </a:solidFill>
            <a:prstDash val="solid"/>
          </a:ln>
        </p:spPr>
        <p:txBody>
          <a:bodyPr xmlns:a="http://schemas.openxmlformats.org/drawingml/2006/main" anchor="ctr"/>
          <a:lstStyle xmlns:a="http://schemas.openxmlformats.org/drawingml/2006/main"/>
          <a:p xmlns:a="http://schemas.openxmlformats.org/drawingml/2006/main">
            <a:pPr algn="ctr">
              <a:defRPr sz="1650" b="0">
                <a:solidFill>
                  <a:srgbClr val="10131A"/>
                </a:solidFill>
              </a:defRPr>
            </a:pPr>
            <a:r>
              <a:rPr sz="1650" b="0">
                <a:solidFill>
                  <a:srgbClr val="10131A"/>
                </a:solidFill>
              </a:rPr>
              <a:t>CĐ 1  •  3 TIẾT</a:t>
            </a:r>
          </a:p>
          <a:p xmlns:a="http://schemas.openxmlformats.org/drawingml/2006/main">
            <a:pPr algn="ctr">
              <a:defRPr sz="1650" b="0">
                <a:solidFill>
                  <a:srgbClr val="10131A"/>
                </a:solidFill>
              </a:defRPr>
            </a:pPr>
            <a:r>
              <a:rPr sz="1650" b="0">
                <a:solidFill>
                  <a:srgbClr val="10131A"/>
                </a:solidFill>
              </a:rPr>
              <a:t>CON NGƯỜI &amp; AI</a:t>
            </a:r>
          </a:p>
          <a:p xmlns:a="http://schemas.openxmlformats.org/drawingml/2006/main">
            <a:r>
              <a:t/>
            </a:r>
          </a:p>
          <a:p xmlns:a="http://schemas.openxmlformats.org/drawingml/2006/main">
            <a:pPr algn="ctr">
              <a:defRPr sz="1650" b="0">
                <a:solidFill>
                  <a:srgbClr val="10131A"/>
                </a:solidFill>
              </a:defRPr>
            </a:pPr>
            <a:r>
              <a:rPr sz="1650" b="0">
                <a:solidFill>
                  <a:srgbClr val="10131A"/>
                </a:solidFill>
              </a:rPr>
              <a:t>Vai trò con người</a:t>
            </a:r>
          </a:p>
          <a:p xmlns:a="http://schemas.openxmlformats.org/drawingml/2006/main">
            <a:pPr algn="ctr">
              <a:defRPr sz="1650" b="0">
                <a:solidFill>
                  <a:srgbClr val="10131A"/>
                </a:solidFill>
              </a:defRPr>
            </a:pPr>
            <a:r>
              <a:rPr sz="1650" b="0">
                <a:solidFill>
                  <a:srgbClr val="10131A"/>
                </a:solidFill>
              </a:rPr>
              <a:t>Khi nào nên dùng AI</a:t>
            </a:r>
          </a:p>
          <a:p xmlns:a="http://schemas.openxmlformats.org/drawingml/2006/main">
            <a:pPr algn="ctr">
              <a:defRPr sz="1650" b="0">
                <a:solidFill>
                  <a:srgbClr val="10131A"/>
                </a:solidFill>
              </a:defRPr>
            </a:pPr>
            <a:r>
              <a:rPr sz="1650" b="0">
                <a:solidFill>
                  <a:srgbClr val="10131A"/>
                </a:solidFill>
              </a:rPr>
              <a:t>Quyền quyết định</a:t>
            </a:r>
          </a:p>
        </p:txBody>
      </p:sp>
      <p:sp>
        <p:nvSpPr>
          <p:cNvPr id="7" name="anim-13-2">
            <a:extLst xmlns:a="http://schemas.openxmlformats.org/drawingml/2006/main">
              <a:ext uri="{FF2B5EF4-FFF2-40B4-BE49-F238E27FC236}">
                <a16:creationId xmlns:a16="http://schemas.microsoft.com/office/drawing/2014/main" id="{BF219A91-E0B4-4EA7-8C35-E6D95005B315}"/>
              </a:ext>
            </a:extLst>
          </p:cNvPr>
          <p:cNvSpPr>
            <a:spLocks xmlns:a="http://schemas.openxmlformats.org/drawingml/2006/main" noGrp="1"/>
          </p:cNvSpPr>
          <p:nvPr/>
        </p:nvSpPr>
        <p:spPr>
          <a:xfrm xmlns:a="http://schemas.openxmlformats.org/drawingml/2006/main">
            <a:off x="3343275" y="2095500"/>
            <a:ext cx="2619375" cy="3143250"/>
          </a:xfrm>
          <a:prstGeom xmlns:a="http://schemas.openxmlformats.org/drawingml/2006/main" prst="roundRect">
            <a:avLst>
              <a:gd name="adj" fmla="val 4364"/>
            </a:avLst>
          </a:prstGeom>
          <a:solidFill xmlns:a="http://schemas.openxmlformats.org/drawingml/2006/main">
            <a:srgbClr val="F0F2F5"/>
          </a:solidFill>
          <a:ln xmlns:a="http://schemas.openxmlformats.org/drawingml/2006/main" w="19050">
            <a:solidFill>
              <a:srgbClr val="D84A4A"/>
            </a:solidFill>
            <a:prstDash val="solid"/>
          </a:ln>
        </p:spPr>
        <p:txBody>
          <a:bodyPr xmlns:a="http://schemas.openxmlformats.org/drawingml/2006/main" anchor="ctr"/>
          <a:lstStyle xmlns:a="http://schemas.openxmlformats.org/drawingml/2006/main"/>
          <a:p xmlns:a="http://schemas.openxmlformats.org/drawingml/2006/main">
            <a:pPr algn="ctr">
              <a:defRPr sz="1650" b="0">
                <a:solidFill>
                  <a:srgbClr val="10131A"/>
                </a:solidFill>
              </a:defRPr>
            </a:pPr>
            <a:r>
              <a:rPr sz="1650" b="0">
                <a:solidFill>
                  <a:srgbClr val="10131A"/>
                </a:solidFill>
              </a:rPr>
              <a:t>CĐ 2  •  3 TIẾT</a:t>
            </a:r>
          </a:p>
          <a:p xmlns:a="http://schemas.openxmlformats.org/drawingml/2006/main">
            <a:pPr algn="ctr">
              <a:defRPr sz="1650" b="0">
                <a:solidFill>
                  <a:srgbClr val="10131A"/>
                </a:solidFill>
              </a:defRPr>
            </a:pPr>
            <a:r>
              <a:rPr sz="1650" b="0">
                <a:solidFill>
                  <a:srgbClr val="10131A"/>
                </a:solidFill>
              </a:rPr>
              <a:t>AN TOÀN &amp; ĐẠO ĐỨC</a:t>
            </a:r>
          </a:p>
          <a:p xmlns:a="http://schemas.openxmlformats.org/drawingml/2006/main">
            <a:r>
              <a:t/>
            </a:r>
          </a:p>
          <a:p xmlns:a="http://schemas.openxmlformats.org/drawingml/2006/main">
            <a:pPr algn="ctr">
              <a:defRPr sz="1650" b="0">
                <a:solidFill>
                  <a:srgbClr val="10131A"/>
                </a:solidFill>
              </a:defRPr>
            </a:pPr>
            <a:r>
              <a:rPr sz="1650" b="0">
                <a:solidFill>
                  <a:srgbClr val="10131A"/>
                </a:solidFill>
              </a:rPr>
              <a:t>Dữ liệu cá nhân</a:t>
            </a:r>
          </a:p>
          <a:p xmlns:a="http://schemas.openxmlformats.org/drawingml/2006/main">
            <a:pPr algn="ctr">
              <a:defRPr sz="1650" b="0">
                <a:solidFill>
                  <a:srgbClr val="10131A"/>
                </a:solidFill>
              </a:defRPr>
            </a:pPr>
            <a:r>
              <a:rPr sz="1650" b="0">
                <a:solidFill>
                  <a:srgbClr val="10131A"/>
                </a:solidFill>
              </a:rPr>
              <a:t>Thiên vị – bản quyền</a:t>
            </a:r>
          </a:p>
          <a:p xmlns:a="http://schemas.openxmlformats.org/drawingml/2006/main">
            <a:pPr algn="ctr">
              <a:defRPr sz="1650" b="0">
                <a:solidFill>
                  <a:srgbClr val="10131A"/>
                </a:solidFill>
              </a:defRPr>
            </a:pPr>
            <a:r>
              <a:rPr sz="1650" b="0">
                <a:solidFill>
                  <a:srgbClr val="10131A"/>
                </a:solidFill>
              </a:rPr>
              <a:t>Trách nhiệm</a:t>
            </a:r>
          </a:p>
        </p:txBody>
      </p:sp>
      <p:sp>
        <p:nvSpPr>
          <p:cNvPr id="8" name="anim-13-3">
            <a:extLst xmlns:a="http://schemas.openxmlformats.org/drawingml/2006/main">
              <a:ext uri="{FF2B5EF4-FFF2-40B4-BE49-F238E27FC236}">
                <a16:creationId xmlns:a16="http://schemas.microsoft.com/office/drawing/2014/main" id="{A2FDEB3C-A082-47B9-AC23-8A645D120FB5}"/>
              </a:ext>
            </a:extLst>
          </p:cNvPr>
          <p:cNvSpPr>
            <a:spLocks xmlns:a="http://schemas.openxmlformats.org/drawingml/2006/main" noGrp="1"/>
          </p:cNvSpPr>
          <p:nvPr/>
        </p:nvSpPr>
        <p:spPr>
          <a:xfrm xmlns:a="http://schemas.openxmlformats.org/drawingml/2006/main">
            <a:off x="6257925" y="2095500"/>
            <a:ext cx="2619375" cy="3143250"/>
          </a:xfrm>
          <a:prstGeom xmlns:a="http://schemas.openxmlformats.org/drawingml/2006/main" prst="roundRect">
            <a:avLst>
              <a:gd name="adj" fmla="val 4364"/>
            </a:avLst>
          </a:prstGeom>
          <a:solidFill xmlns:a="http://schemas.openxmlformats.org/drawingml/2006/main">
            <a:srgbClr val="EAF5FB"/>
          </a:solidFill>
          <a:ln xmlns:a="http://schemas.openxmlformats.org/drawingml/2006/main" w="19050">
            <a:solidFill>
              <a:srgbClr val="44C2F0"/>
            </a:solidFill>
            <a:prstDash val="solid"/>
          </a:ln>
        </p:spPr>
        <p:txBody>
          <a:bodyPr xmlns:a="http://schemas.openxmlformats.org/drawingml/2006/main" anchor="ctr"/>
          <a:lstStyle xmlns:a="http://schemas.openxmlformats.org/drawingml/2006/main"/>
          <a:p xmlns:a="http://schemas.openxmlformats.org/drawingml/2006/main">
            <a:pPr algn="ctr">
              <a:defRPr sz="1650" b="0">
                <a:solidFill>
                  <a:srgbClr val="10131A"/>
                </a:solidFill>
              </a:defRPr>
            </a:pPr>
            <a:r>
              <a:rPr sz="1650" b="0">
                <a:solidFill>
                  <a:srgbClr val="10131A"/>
                </a:solidFill>
              </a:rPr>
              <a:t>CĐ 3  •  3 TIẾT</a:t>
            </a:r>
          </a:p>
          <a:p xmlns:a="http://schemas.openxmlformats.org/drawingml/2006/main">
            <a:pPr algn="ctr">
              <a:defRPr sz="1650" b="0">
                <a:solidFill>
                  <a:srgbClr val="10131A"/>
                </a:solidFill>
              </a:defRPr>
            </a:pPr>
            <a:r>
              <a:rPr sz="1650" b="0">
                <a:solidFill>
                  <a:srgbClr val="10131A"/>
                </a:solidFill>
              </a:rPr>
              <a:t>CÁCH AI HOẠT ĐỘNG</a:t>
            </a:r>
          </a:p>
          <a:p xmlns:a="http://schemas.openxmlformats.org/drawingml/2006/main">
            <a:r>
              <a:t/>
            </a:r>
          </a:p>
          <a:p xmlns:a="http://schemas.openxmlformats.org/drawingml/2006/main">
            <a:pPr algn="ctr">
              <a:defRPr sz="1650" b="0">
                <a:solidFill>
                  <a:srgbClr val="10131A"/>
                </a:solidFill>
              </a:defRPr>
            </a:pPr>
            <a:r>
              <a:rPr sz="1650" b="0">
                <a:solidFill>
                  <a:srgbClr val="10131A"/>
                </a:solidFill>
              </a:rPr>
              <a:t>Dữ liệu – thuật toán</a:t>
            </a:r>
          </a:p>
          <a:p xmlns:a="http://schemas.openxmlformats.org/drawingml/2006/main">
            <a:pPr algn="ctr">
              <a:defRPr sz="1650" b="0">
                <a:solidFill>
                  <a:srgbClr val="10131A"/>
                </a:solidFill>
              </a:defRPr>
            </a:pPr>
            <a:r>
              <a:rPr sz="1650" b="0">
                <a:solidFill>
                  <a:srgbClr val="10131A"/>
                </a:solidFill>
              </a:rPr>
              <a:t>Khả năng – giới hạn</a:t>
            </a:r>
          </a:p>
          <a:p xmlns:a="http://schemas.openxmlformats.org/drawingml/2006/main">
            <a:pPr algn="ctr">
              <a:defRPr sz="1650" b="0">
                <a:solidFill>
                  <a:srgbClr val="10131A"/>
                </a:solidFill>
              </a:defRPr>
            </a:pPr>
            <a:r>
              <a:rPr sz="1650" b="0">
                <a:solidFill>
                  <a:srgbClr val="10131A"/>
                </a:solidFill>
              </a:rPr>
              <a:t>Kiểm chứng</a:t>
            </a:r>
          </a:p>
        </p:txBody>
      </p:sp>
      <p:sp>
        <p:nvSpPr>
          <p:cNvPr id="9" name="anim-13-4">
            <a:extLst xmlns:a="http://schemas.openxmlformats.org/drawingml/2006/main">
              <a:ext uri="{FF2B5EF4-FFF2-40B4-BE49-F238E27FC236}">
                <a16:creationId xmlns:a16="http://schemas.microsoft.com/office/drawing/2014/main" id="{E6CCAF07-F39E-480B-8D49-1E25287E494B}"/>
              </a:ext>
            </a:extLst>
          </p:cNvPr>
          <p:cNvSpPr>
            <a:spLocks xmlns:a="http://schemas.openxmlformats.org/drawingml/2006/main" noGrp="1"/>
          </p:cNvSpPr>
          <p:nvPr/>
        </p:nvSpPr>
        <p:spPr>
          <a:xfrm xmlns:a="http://schemas.openxmlformats.org/drawingml/2006/main">
            <a:off x="9172575" y="2095500"/>
            <a:ext cx="2619375" cy="3143250"/>
          </a:xfrm>
          <a:prstGeom xmlns:a="http://schemas.openxmlformats.org/drawingml/2006/main" prst="roundRect">
            <a:avLst>
              <a:gd name="adj" fmla="val 4364"/>
            </a:avLst>
          </a:prstGeom>
          <a:solidFill xmlns:a="http://schemas.openxmlformats.org/drawingml/2006/main">
            <a:srgbClr val="F0F2F5"/>
          </a:solidFill>
          <a:ln xmlns:a="http://schemas.openxmlformats.org/drawingml/2006/main" w="19050">
            <a:solidFill>
              <a:srgbClr val="1B8A5A"/>
            </a:solidFill>
            <a:prstDash val="solid"/>
          </a:ln>
        </p:spPr>
        <p:txBody>
          <a:bodyPr xmlns:a="http://schemas.openxmlformats.org/drawingml/2006/main" anchor="ctr"/>
          <a:lstStyle xmlns:a="http://schemas.openxmlformats.org/drawingml/2006/main"/>
          <a:p xmlns:a="http://schemas.openxmlformats.org/drawingml/2006/main">
            <a:pPr algn="ctr">
              <a:defRPr sz="1650" b="0">
                <a:solidFill>
                  <a:srgbClr val="10131A"/>
                </a:solidFill>
              </a:defRPr>
            </a:pPr>
            <a:r>
              <a:rPr sz="1650" b="0">
                <a:solidFill>
                  <a:srgbClr val="10131A"/>
                </a:solidFill>
              </a:rPr>
              <a:t>CĐ 4  •  3 TIẾT</a:t>
            </a:r>
          </a:p>
          <a:p xmlns:a="http://schemas.openxmlformats.org/drawingml/2006/main">
            <a:pPr algn="ctr">
              <a:defRPr sz="1650" b="0">
                <a:solidFill>
                  <a:srgbClr val="10131A"/>
                </a:solidFill>
              </a:defRPr>
            </a:pPr>
            <a:r>
              <a:rPr sz="1650" b="0">
                <a:solidFill>
                  <a:srgbClr val="10131A"/>
                </a:solidFill>
              </a:rPr>
              <a:t>VẬN DỤNG &amp; THIẾT KẾ</a:t>
            </a:r>
          </a:p>
          <a:p xmlns:a="http://schemas.openxmlformats.org/drawingml/2006/main">
            <a:r>
              <a:t/>
            </a:r>
          </a:p>
          <a:p xmlns:a="http://schemas.openxmlformats.org/drawingml/2006/main">
            <a:pPr algn="ctr">
              <a:defRPr sz="1650" b="0">
                <a:solidFill>
                  <a:srgbClr val="10131A"/>
                </a:solidFill>
              </a:defRPr>
            </a:pPr>
            <a:r>
              <a:rPr sz="1650" b="0">
                <a:solidFill>
                  <a:srgbClr val="10131A"/>
                </a:solidFill>
              </a:rPr>
              <a:t>Nhiệm vụ/dự án nhỏ</a:t>
            </a:r>
          </a:p>
          <a:p xmlns:a="http://schemas.openxmlformats.org/drawingml/2006/main">
            <a:pPr algn="ctr">
              <a:defRPr sz="1650" b="0">
                <a:solidFill>
                  <a:srgbClr val="10131A"/>
                </a:solidFill>
              </a:defRPr>
            </a:pPr>
            <a:r>
              <a:rPr sz="1650" b="0">
                <a:solidFill>
                  <a:srgbClr val="10131A"/>
                </a:solidFill>
              </a:rPr>
              <a:t>Thử nghiệm</a:t>
            </a:r>
          </a:p>
          <a:p xmlns:a="http://schemas.openxmlformats.org/drawingml/2006/main">
            <a:pPr algn="ctr">
              <a:defRPr sz="1650" b="0">
                <a:solidFill>
                  <a:srgbClr val="10131A"/>
                </a:solidFill>
              </a:defRPr>
            </a:pPr>
            <a:r>
              <a:rPr sz="1650" b="0">
                <a:solidFill>
                  <a:srgbClr val="10131A"/>
                </a:solidFill>
              </a:rPr>
              <a:t>Trình bày – cải tiến</a:t>
            </a:r>
          </a:p>
        </p:txBody>
      </p:sp>
      <p:sp>
        <p:nvSpPr>
          <p:cNvPr id="10" name="anim-13-note">
            <a:extLst xmlns:a="http://schemas.openxmlformats.org/drawingml/2006/main">
              <a:ext uri="{FF2B5EF4-FFF2-40B4-BE49-F238E27FC236}">
                <a16:creationId xmlns:a16="http://schemas.microsoft.com/office/drawing/2014/main" id="{D3F154C8-CECF-4F2E-A61E-F55DAED29579}"/>
              </a:ext>
            </a:extLst>
          </p:cNvPr>
          <p:cNvSpPr>
            <a:spLocks xmlns:a="http://schemas.openxmlformats.org/drawingml/2006/main" noGrp="1"/>
          </p:cNvSpPr>
          <p:nvPr/>
        </p:nvSpPr>
        <p:spPr>
          <a:xfrm xmlns:a="http://schemas.openxmlformats.org/drawingml/2006/main">
            <a:off x="1238250" y="5619750"/>
            <a:ext cx="971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0B2B5B"/>
                </a:solidFill>
              </a:defRPr>
            </a:pPr>
            <a:r>
              <a:rPr sz="1725" b="1">
                <a:solidFill>
                  <a:srgbClr val="0B2B5B"/>
                </a:solidFill>
              </a:rPr>
              <a:t>Không hiểu là “mỗi môn 12 tiết”. 12 tiết là nội dung cốt lõi; các môn tiếp tục củng cố và vận dụng thông qua nhiệm vụ phù hợp.</a:t>
            </a:r>
          </a:p>
        </p:txBody>
      </p:sp>
      <p:sp>
        <p:nvSpPr>
          <p:cNvPr id="11" name="source-13">
            <a:extLst xmlns:a="http://schemas.openxmlformats.org/drawingml/2006/main">
              <a:ext uri="{FF2B5EF4-FFF2-40B4-BE49-F238E27FC236}">
                <a16:creationId xmlns:a16="http://schemas.microsoft.com/office/drawing/2014/main" id="{257E6182-2EDC-4588-8D2B-ACE7474F9785}"/>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mục I.5 và V.5; mô hình 4 × 3 tiết là đề xuất vận dụng.</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6"/>
                                          </p:tgtEl>
                                          <p:attrNameLst>
                                            <p:attrName>style.visibility</p:attrName>
                                          </p:attrNameLst>
                                        </p:cBhvr>
                                        <p:to>
                                          <p:strVal val="visible"/>
                                        </p:to>
                                      </p:set>
                                      <p:animEffect transition="in" filter="fade">
                                        <p:cBhvr>
                                          <p:cTn id="1006" dur="350"/>
                                          <p:tgtEl>
                                            <p:spTgt spid="6"/>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7"/>
                                          </p:tgtEl>
                                          <p:attrNameLst>
                                            <p:attrName>style.visibility</p:attrName>
                                          </p:attrNameLst>
                                        </p:cBhvr>
                                        <p:to>
                                          <p:strVal val="visible"/>
                                        </p:to>
                                      </p:set>
                                      <p:animEffect transition="in" filter="fade">
                                        <p:cBhvr>
                                          <p:cTn id="1011" dur="350"/>
                                          <p:tgtEl>
                                            <p:spTgt spid="7"/>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8"/>
                                          </p:tgtEl>
                                          <p:attrNameLst>
                                            <p:attrName>style.visibility</p:attrName>
                                          </p:attrNameLst>
                                        </p:cBhvr>
                                        <p:to>
                                          <p:strVal val="visible"/>
                                        </p:to>
                                      </p:set>
                                      <p:animEffect transition="in" filter="fade">
                                        <p:cBhvr>
                                          <p:cTn id="1016" dur="350"/>
                                          <p:tgtEl>
                                            <p:spTgt spid="8"/>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9"/>
                                          </p:tgtEl>
                                          <p:attrNameLst>
                                            <p:attrName>style.visibility</p:attrName>
                                          </p:attrNameLst>
                                        </p:cBhvr>
                                        <p:to>
                                          <p:strVal val="visible"/>
                                        </p:to>
                                      </p:set>
                                      <p:animEffect transition="in" filter="fade">
                                        <p:cBhvr>
                                          <p:cTn id="1021" dur="350"/>
                                          <p:tgtEl>
                                            <p:spTgt spid="9"/>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10"/>
                                          </p:tgtEl>
                                          <p:attrNameLst>
                                            <p:attrName>style.visibility</p:attrName>
                                          </p:attrNameLst>
                                        </p:cBhvr>
                                        <p:to>
                                          <p:strVal val="visible"/>
                                        </p:to>
                                      </p:set>
                                      <p:animEffect transition="in" filter="fade">
                                        <p:cBhvr>
                                          <p:cTn id="1026"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5003810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14">
            <a:extLst xmlns:a="http://schemas.openxmlformats.org/drawingml/2006/main">
              <a:ext uri="{FF2B5EF4-FFF2-40B4-BE49-F238E27FC236}">
                <a16:creationId xmlns:a16="http://schemas.microsoft.com/office/drawing/2014/main" id="{73570743-B775-4578-BFFA-C31FA2B694EB}"/>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08 / THIẾT KẾ TÍCH HỢP</a:t>
            </a:r>
          </a:p>
        </p:txBody>
      </p:sp>
      <p:sp>
        <p:nvSpPr>
          <p:cNvPr id="2" name="title-14">
            <a:extLst xmlns:a="http://schemas.openxmlformats.org/drawingml/2006/main">
              <a:ext uri="{FF2B5EF4-FFF2-40B4-BE49-F238E27FC236}">
                <a16:creationId xmlns:a16="http://schemas.microsoft.com/office/drawing/2014/main" id="{3A541B9C-94B2-4F2C-8A0C-5C10E180B50A}"/>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Tích hợp đúng là thêm một quy trình học tập, không thêm một bài học riêng</a:t>
            </a:r>
          </a:p>
        </p:txBody>
      </p:sp>
      <p:sp>
        <p:nvSpPr>
          <p:cNvPr id="3" name="rule-14">
            <a:extLst xmlns:a="http://schemas.openxmlformats.org/drawingml/2006/main">
              <a:ext uri="{FF2B5EF4-FFF2-40B4-BE49-F238E27FC236}">
                <a16:creationId xmlns:a16="http://schemas.microsoft.com/office/drawing/2014/main" id="{66040C32-9741-46BF-9B56-28FFBA0F37A9}"/>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14">
            <a:extLst xmlns:a="http://schemas.openxmlformats.org/drawingml/2006/main">
              <a:ext uri="{FF2B5EF4-FFF2-40B4-BE49-F238E27FC236}">
                <a16:creationId xmlns:a16="http://schemas.microsoft.com/office/drawing/2014/main" id="{96A35B1C-00F0-45F7-BC02-3602A85B362E}"/>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14</a:t>
            </a:r>
          </a:p>
        </p:txBody>
      </p:sp>
      <p:sp>
        <p:nvSpPr>
          <p:cNvPr id="5" name="anim-14-1">
            <a:extLst xmlns:a="http://schemas.openxmlformats.org/drawingml/2006/main">
              <a:ext uri="{FF2B5EF4-FFF2-40B4-BE49-F238E27FC236}">
                <a16:creationId xmlns:a16="http://schemas.microsoft.com/office/drawing/2014/main" id="{C0A31746-1F5C-4B32-AAEC-7F20B8014E77}"/>
              </a:ext>
            </a:extLst>
          </p:cNvPr>
          <p:cNvSpPr>
            <a:spLocks xmlns:a="http://schemas.openxmlformats.org/drawingml/2006/main" noGrp="1"/>
          </p:cNvSpPr>
          <p:nvPr/>
        </p:nvSpPr>
        <p:spPr>
          <a:xfrm xmlns:a="http://schemas.openxmlformats.org/drawingml/2006/main">
            <a:off x="428625" y="2095500"/>
            <a:ext cx="2095500" cy="3143250"/>
          </a:xfrm>
          <a:prstGeom xmlns:a="http://schemas.openxmlformats.org/drawingml/2006/main" prst="roundRect">
            <a:avLst>
              <a:gd name="adj" fmla="val 5455"/>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1</a:t>
            </a:r>
          </a:p>
          <a:p xmlns:a="http://schemas.openxmlformats.org/drawingml/2006/main">
            <a:pPr algn="ctr">
              <a:defRPr sz="1425" b="0">
                <a:solidFill>
                  <a:srgbClr val="10131A"/>
                </a:solidFill>
              </a:defRPr>
            </a:pPr>
            <a:r>
              <a:rPr sz="1425" b="0">
                <a:solidFill>
                  <a:srgbClr val="10131A"/>
                </a:solidFill>
              </a:rPr>
              <a:t>BẮT ĐẦU TỪ YÊU CẦU MÔN</a:t>
            </a:r>
          </a:p>
          <a:p xmlns:a="http://schemas.openxmlformats.org/drawingml/2006/main">
            <a:pPr algn="ctr">
              <a:defRPr sz="1425" b="0">
                <a:solidFill>
                  <a:srgbClr val="10131A"/>
                </a:solidFill>
              </a:defRPr>
            </a:pPr>
            <a:r>
              <a:rPr sz="1425" b="0">
                <a:solidFill>
                  <a:srgbClr val="10131A"/>
                </a:solidFill>
              </a:rPr>
              <a:t>Xác định kiến thức/kỹ năng học sinh phải đạt.</a:t>
            </a:r>
          </a:p>
        </p:txBody>
      </p:sp>
      <p:sp>
        <p:nvSpPr>
          <p:cNvPr id="6" name="anim-14-2">
            <a:extLst xmlns:a="http://schemas.openxmlformats.org/drawingml/2006/main">
              <a:ext uri="{FF2B5EF4-FFF2-40B4-BE49-F238E27FC236}">
                <a16:creationId xmlns:a16="http://schemas.microsoft.com/office/drawing/2014/main" id="{9DBB566B-FAE6-478E-AE3C-71DEE377F0B2}"/>
              </a:ext>
            </a:extLst>
          </p:cNvPr>
          <p:cNvSpPr>
            <a:spLocks xmlns:a="http://schemas.openxmlformats.org/drawingml/2006/main" noGrp="1"/>
          </p:cNvSpPr>
          <p:nvPr/>
        </p:nvSpPr>
        <p:spPr>
          <a:xfrm xmlns:a="http://schemas.openxmlformats.org/drawingml/2006/main">
            <a:off x="2762250" y="2095500"/>
            <a:ext cx="2095500" cy="3143250"/>
          </a:xfrm>
          <a:prstGeom xmlns:a="http://schemas.openxmlformats.org/drawingml/2006/main" prst="roundRect">
            <a:avLst>
              <a:gd name="adj" fmla="val 5455"/>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2</a:t>
            </a:r>
          </a:p>
          <a:p xmlns:a="http://schemas.openxmlformats.org/drawingml/2006/main">
            <a:pPr algn="ctr">
              <a:defRPr sz="1425" b="0">
                <a:solidFill>
                  <a:srgbClr val="10131A"/>
                </a:solidFill>
              </a:defRPr>
            </a:pPr>
            <a:r>
              <a:rPr sz="1425" b="0">
                <a:solidFill>
                  <a:srgbClr val="10131A"/>
                </a:solidFill>
              </a:rPr>
              <a:t>CHỌN ĐIỂM GIAO VỚI AI</a:t>
            </a:r>
          </a:p>
          <a:p xmlns:a="http://schemas.openxmlformats.org/drawingml/2006/main">
            <a:pPr algn="ctr">
              <a:defRPr sz="1425" b="0">
                <a:solidFill>
                  <a:srgbClr val="10131A"/>
                </a:solidFill>
              </a:defRPr>
            </a:pPr>
            <a:r>
              <a:rPr sz="1425" b="0">
                <a:solidFill>
                  <a:srgbClr val="10131A"/>
                </a:solidFill>
              </a:rPr>
              <a:t>Dữ liệu, kiểm chứng, tạo sản phẩm hay tình huống đạo đức?</a:t>
            </a:r>
          </a:p>
        </p:txBody>
      </p:sp>
      <p:sp>
        <p:nvSpPr>
          <p:cNvPr id="7" name="anim-14-3">
            <a:extLst xmlns:a="http://schemas.openxmlformats.org/drawingml/2006/main">
              <a:ext uri="{FF2B5EF4-FFF2-40B4-BE49-F238E27FC236}">
                <a16:creationId xmlns:a16="http://schemas.microsoft.com/office/drawing/2014/main" id="{28BE49FD-8933-465C-B3E6-4E0B9493E6EA}"/>
              </a:ext>
            </a:extLst>
          </p:cNvPr>
          <p:cNvSpPr>
            <a:spLocks xmlns:a="http://schemas.openxmlformats.org/drawingml/2006/main" noGrp="1"/>
          </p:cNvSpPr>
          <p:nvPr/>
        </p:nvSpPr>
        <p:spPr>
          <a:xfrm xmlns:a="http://schemas.openxmlformats.org/drawingml/2006/main">
            <a:off x="5095875" y="2095500"/>
            <a:ext cx="2095500" cy="3143250"/>
          </a:xfrm>
          <a:prstGeom xmlns:a="http://schemas.openxmlformats.org/drawingml/2006/main" prst="roundRect">
            <a:avLst>
              <a:gd name="adj" fmla="val 5455"/>
            </a:avLst>
          </a:prstGeom>
          <a:solidFill xmlns:a="http://schemas.openxmlformats.org/drawingml/2006/main">
            <a:srgbClr val="EAF5FB"/>
          </a:solidFill>
          <a:ln xmlns:a="http://schemas.openxmlformats.org/drawingml/2006/main" w="19050">
            <a:solidFill>
              <a:srgbClr val="1769E0"/>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3</a:t>
            </a:r>
          </a:p>
          <a:p xmlns:a="http://schemas.openxmlformats.org/drawingml/2006/main">
            <a:pPr algn="ctr">
              <a:defRPr sz="1425" b="0">
                <a:solidFill>
                  <a:srgbClr val="10131A"/>
                </a:solidFill>
              </a:defRPr>
            </a:pPr>
            <a:r>
              <a:rPr sz="1425" b="0">
                <a:solidFill>
                  <a:srgbClr val="10131A"/>
                </a:solidFill>
              </a:rPr>
              <a:t>THIẾT KẾ NHIỆM VỤ</a:t>
            </a:r>
          </a:p>
          <a:p xmlns:a="http://schemas.openxmlformats.org/drawingml/2006/main">
            <a:pPr algn="ctr">
              <a:defRPr sz="1425" b="0">
                <a:solidFill>
                  <a:srgbClr val="10131A"/>
                </a:solidFill>
              </a:defRPr>
            </a:pPr>
            <a:r>
              <a:rPr sz="1425" b="0">
                <a:solidFill>
                  <a:srgbClr val="10131A"/>
                </a:solidFill>
              </a:rPr>
              <a:t>AI chỉ hỗ trợ một khâu; học sinh vẫn phải suy nghĩ và giải thích.</a:t>
            </a:r>
          </a:p>
        </p:txBody>
      </p:sp>
      <p:sp>
        <p:nvSpPr>
          <p:cNvPr id="8" name="anim-14-4">
            <a:extLst xmlns:a="http://schemas.openxmlformats.org/drawingml/2006/main">
              <a:ext uri="{FF2B5EF4-FFF2-40B4-BE49-F238E27FC236}">
                <a16:creationId xmlns:a16="http://schemas.microsoft.com/office/drawing/2014/main" id="{A59F0922-CDEE-46BD-A44A-67BF287F383A}"/>
              </a:ext>
            </a:extLst>
          </p:cNvPr>
          <p:cNvSpPr>
            <a:spLocks xmlns:a="http://schemas.openxmlformats.org/drawingml/2006/main" noGrp="1"/>
          </p:cNvSpPr>
          <p:nvPr/>
        </p:nvSpPr>
        <p:spPr>
          <a:xfrm xmlns:a="http://schemas.openxmlformats.org/drawingml/2006/main">
            <a:off x="7429500" y="2095500"/>
            <a:ext cx="2095500" cy="3143250"/>
          </a:xfrm>
          <a:prstGeom xmlns:a="http://schemas.openxmlformats.org/drawingml/2006/main" prst="roundRect">
            <a:avLst>
              <a:gd name="adj" fmla="val 5455"/>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4</a:t>
            </a:r>
          </a:p>
          <a:p xmlns:a="http://schemas.openxmlformats.org/drawingml/2006/main">
            <a:pPr algn="ctr">
              <a:defRPr sz="1425" b="0">
                <a:solidFill>
                  <a:srgbClr val="10131A"/>
                </a:solidFill>
              </a:defRPr>
            </a:pPr>
            <a:r>
              <a:rPr sz="1425" b="0">
                <a:solidFill>
                  <a:srgbClr val="10131A"/>
                </a:solidFill>
              </a:rPr>
              <a:t>BUỘC CÓ MINH CHỨNG</a:t>
            </a:r>
          </a:p>
          <a:p xmlns:a="http://schemas.openxmlformats.org/drawingml/2006/main">
            <a:pPr algn="ctr">
              <a:defRPr sz="1425" b="0">
                <a:solidFill>
                  <a:srgbClr val="10131A"/>
                </a:solidFill>
              </a:defRPr>
            </a:pPr>
            <a:r>
              <a:rPr sz="1425" b="0">
                <a:solidFill>
                  <a:srgbClr val="10131A"/>
                </a:solidFill>
              </a:rPr>
              <a:t>Nguồn, câu lệnh, kết quả thử nghiệm, cách sửa và kết luận.</a:t>
            </a:r>
          </a:p>
        </p:txBody>
      </p:sp>
      <p:sp>
        <p:nvSpPr>
          <p:cNvPr id="9" name="anim-14-5">
            <a:extLst xmlns:a="http://schemas.openxmlformats.org/drawingml/2006/main">
              <a:ext uri="{FF2B5EF4-FFF2-40B4-BE49-F238E27FC236}">
                <a16:creationId xmlns:a16="http://schemas.microsoft.com/office/drawing/2014/main" id="{8ECCDD50-0DF9-423A-8CD9-FEB89D7ECE87}"/>
              </a:ext>
            </a:extLst>
          </p:cNvPr>
          <p:cNvSpPr>
            <a:spLocks xmlns:a="http://schemas.openxmlformats.org/drawingml/2006/main" noGrp="1"/>
          </p:cNvSpPr>
          <p:nvPr/>
        </p:nvSpPr>
        <p:spPr>
          <a:xfrm xmlns:a="http://schemas.openxmlformats.org/drawingml/2006/main">
            <a:off x="9763125" y="2095500"/>
            <a:ext cx="2095500" cy="3143250"/>
          </a:xfrm>
          <a:prstGeom xmlns:a="http://schemas.openxmlformats.org/drawingml/2006/main" prst="roundRect">
            <a:avLst>
              <a:gd name="adj" fmla="val 5455"/>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5</a:t>
            </a:r>
          </a:p>
          <a:p xmlns:a="http://schemas.openxmlformats.org/drawingml/2006/main">
            <a:pPr algn="ctr">
              <a:defRPr sz="1425" b="0">
                <a:solidFill>
                  <a:srgbClr val="10131A"/>
                </a:solidFill>
              </a:defRPr>
            </a:pPr>
            <a:r>
              <a:rPr sz="1425" b="0">
                <a:solidFill>
                  <a:srgbClr val="10131A"/>
                </a:solidFill>
              </a:rPr>
              <a:t>ĐÁNH GIÁ KÉP</a:t>
            </a:r>
          </a:p>
          <a:p xmlns:a="http://schemas.openxmlformats.org/drawingml/2006/main">
            <a:pPr algn="ctr">
              <a:defRPr sz="1425" b="0">
                <a:solidFill>
                  <a:srgbClr val="10131A"/>
                </a:solidFill>
              </a:defRPr>
            </a:pPr>
            <a:r>
              <a:rPr sz="1425" b="0">
                <a:solidFill>
                  <a:srgbClr val="10131A"/>
                </a:solidFill>
              </a:rPr>
              <a:t>Đúng kiến thức môn học + sử dụng AI an toàn, trung thực, có trách nhiệm.</a:t>
            </a:r>
          </a:p>
        </p:txBody>
      </p:sp>
      <p:sp>
        <p:nvSpPr>
          <p:cNvPr id="10" name="anim-14-rule">
            <a:extLst xmlns:a="http://schemas.openxmlformats.org/drawingml/2006/main">
              <a:ext uri="{FF2B5EF4-FFF2-40B4-BE49-F238E27FC236}">
                <a16:creationId xmlns:a16="http://schemas.microsoft.com/office/drawing/2014/main" id="{0C50560F-AC1B-43E9-82F9-F40A61C3B95A}"/>
              </a:ext>
            </a:extLst>
          </p:cNvPr>
          <p:cNvSpPr>
            <a:spLocks xmlns:a="http://schemas.openxmlformats.org/drawingml/2006/main" noGrp="1"/>
          </p:cNvSpPr>
          <p:nvPr/>
        </p:nvSpPr>
        <p:spPr>
          <a:xfrm xmlns:a="http://schemas.openxmlformats.org/drawingml/2006/main">
            <a:off x="1047750" y="56197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D84A4A"/>
                </a:solidFill>
              </a:defRPr>
            </a:pPr>
            <a:r>
              <a:rPr sz="1875" b="1">
                <a:solidFill>
                  <a:srgbClr val="D84A4A"/>
                </a:solidFill>
              </a:rPr>
              <a:t>Nguyên tắc khóa: không thay đổi hoặc gia tăng yêu cầu cần đạt của môn học và hoạt động giáo dục.</a:t>
            </a:r>
          </a:p>
        </p:txBody>
      </p:sp>
      <p:sp>
        <p:nvSpPr>
          <p:cNvPr id="11" name="source-14">
            <a:extLst xmlns:a="http://schemas.openxmlformats.org/drawingml/2006/main">
              <a:ext uri="{FF2B5EF4-FFF2-40B4-BE49-F238E27FC236}">
                <a16:creationId xmlns:a16="http://schemas.microsoft.com/office/drawing/2014/main" id="{F5BB6482-813E-440C-AF37-35905B05CD77}"/>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mục V.1 và V.5.</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8"/>
                                          </p:tgtEl>
                                          <p:attrNameLst>
                                            <p:attrName>style.visibility</p:attrName>
                                          </p:attrNameLst>
                                        </p:cBhvr>
                                        <p:to>
                                          <p:strVal val="visible"/>
                                        </p:to>
                                      </p:set>
                                      <p:animEffect transition="in" filter="fade">
                                        <p:cBhvr>
                                          <p:cTn id="1021" dur="350"/>
                                          <p:tgtEl>
                                            <p:spTgt spid="8"/>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9"/>
                                          </p:tgtEl>
                                          <p:attrNameLst>
                                            <p:attrName>style.visibility</p:attrName>
                                          </p:attrNameLst>
                                        </p:cBhvr>
                                        <p:to>
                                          <p:strVal val="visible"/>
                                        </p:to>
                                      </p:set>
                                      <p:animEffect transition="in" filter="fade">
                                        <p:cBhvr>
                                          <p:cTn id="1026" dur="350"/>
                                          <p:tgtEl>
                                            <p:spTgt spid="9"/>
                                          </p:tgtEl>
                                        </p:cBhvr>
                                      </p:animEffect>
                                    </p:childTnLst>
                                  </p:cTn>
                                </p:par>
                              </p:childTnLst>
                            </p:cTn>
                          </p:par>
                        </p:childTnLst>
                      </p:cTn>
                    </p:par>
                    <p:par>
                      <p:cTn id="1027" fill="hold">
                        <p:stCondLst>
                          <p:cond delay="indefinite"/>
                        </p:stCondLst>
                        <p:childTnLst>
                          <p:par>
                            <p:cTn id="1028" fill="hold">
                              <p:stCondLst>
                                <p:cond delay="0"/>
                              </p:stCondLst>
                              <p:childTnLst>
                                <p:par>
                                  <p:cTn id="1029" presetID="10" presetClass="entr" presetSubtype="0" fill="hold" grpId="0" nodeType="clickEffect">
                                    <p:stCondLst>
                                      <p:cond delay="0"/>
                                    </p:stCondLst>
                                    <p:childTnLst>
                                      <p:set>
                                        <p:cBhvr>
                                          <p:cTn id="1030" dur="1" fill="hold">
                                            <p:stCondLst>
                                              <p:cond delay="0"/>
                                            </p:stCondLst>
                                          </p:cTn>
                                          <p:tgtEl>
                                            <p:spTgt spid="10"/>
                                          </p:tgtEl>
                                          <p:attrNameLst>
                                            <p:attrName>style.visibility</p:attrName>
                                          </p:attrNameLst>
                                        </p:cBhvr>
                                        <p:to>
                                          <p:strVal val="visible"/>
                                        </p:to>
                                      </p:set>
                                      <p:animEffect transition="in" filter="fade">
                                        <p:cBhvr>
                                          <p:cTn id="1031"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4798642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ection-15">
            <a:extLst xmlns:a="http://schemas.openxmlformats.org/drawingml/2006/main">
              <a:ext uri="{FF2B5EF4-FFF2-40B4-BE49-F238E27FC236}">
                <a16:creationId xmlns:a16="http://schemas.microsoft.com/office/drawing/2014/main" id="{E13E2756-1C54-44D5-B024-4884F78A84D2}"/>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08 / THIẾT KẾ TÍCH HỢP</a:t>
            </a:r>
          </a:p>
        </p:txBody>
      </p:sp>
      <p:sp>
        <p:nvSpPr>
          <p:cNvPr id="2" name="title-15">
            <a:extLst xmlns:a="http://schemas.openxmlformats.org/drawingml/2006/main">
              <a:ext uri="{FF2B5EF4-FFF2-40B4-BE49-F238E27FC236}">
                <a16:creationId xmlns:a16="http://schemas.microsoft.com/office/drawing/2014/main" id="{07F47EC9-F1DE-4D45-9373-ABA4F1663AFA}"/>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Mỗi môn có một “điểm vào” khác nhau, nhưng cùng chung quy trình kiểm chứng</a:t>
            </a:r>
          </a:p>
        </p:txBody>
      </p:sp>
      <p:sp>
        <p:nvSpPr>
          <p:cNvPr id="3" name="rule-15">
            <a:extLst xmlns:a="http://schemas.openxmlformats.org/drawingml/2006/main">
              <a:ext uri="{FF2B5EF4-FFF2-40B4-BE49-F238E27FC236}">
                <a16:creationId xmlns:a16="http://schemas.microsoft.com/office/drawing/2014/main" id="{3DBDB756-32DA-457B-B353-339FFA7AC3EB}"/>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15">
            <a:extLst xmlns:a="http://schemas.openxmlformats.org/drawingml/2006/main">
              <a:ext uri="{FF2B5EF4-FFF2-40B4-BE49-F238E27FC236}">
                <a16:creationId xmlns:a16="http://schemas.microsoft.com/office/drawing/2014/main" id="{DF7231E3-2870-4DC1-98C0-E25E5E6F5251}"/>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15</a:t>
            </a:r>
          </a:p>
        </p:txBody>
      </p:sp>
      <p:sp>
        <p:nvSpPr>
          <p:cNvPr id="5" name="table-head-a">
            <a:extLst xmlns:a="http://schemas.openxmlformats.org/drawingml/2006/main">
              <a:ext uri="{FF2B5EF4-FFF2-40B4-BE49-F238E27FC236}">
                <a16:creationId xmlns:a16="http://schemas.microsoft.com/office/drawing/2014/main" id="{7DF84E76-6798-4C44-AD34-CA8DFFACB6AE}"/>
              </a:ext>
            </a:extLst>
          </p:cNvPr>
          <p:cNvSpPr>
            <a:spLocks xmlns:a="http://schemas.openxmlformats.org/drawingml/2006/main" noGrp="1"/>
          </p:cNvSpPr>
          <p:nvPr/>
        </p:nvSpPr>
        <p:spPr>
          <a:xfrm xmlns:a="http://schemas.openxmlformats.org/drawingml/2006/main">
            <a:off x="523875" y="1952625"/>
            <a:ext cx="1143000" cy="400050"/>
          </a:xfrm>
          <a:prstGeom xmlns:a="http://schemas.openxmlformats.org/drawingml/2006/main" prst="rect">
            <a:avLst/>
          </a:prstGeom>
          <a:solidFill xmlns:a="http://schemas.openxmlformats.org/drawingml/2006/main">
            <a:srgbClr val="10131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MÔN</a:t>
            </a:r>
          </a:p>
        </p:txBody>
      </p:sp>
      <p:sp>
        <p:nvSpPr>
          <p:cNvPr id="6" name="table-head-b">
            <a:extLst xmlns:a="http://schemas.openxmlformats.org/drawingml/2006/main">
              <a:ext uri="{FF2B5EF4-FFF2-40B4-BE49-F238E27FC236}">
                <a16:creationId xmlns:a16="http://schemas.microsoft.com/office/drawing/2014/main" id="{7390EF4D-C3BD-475F-83B5-E45B3FB8C9A7}"/>
              </a:ext>
            </a:extLst>
          </p:cNvPr>
          <p:cNvSpPr>
            <a:spLocks xmlns:a="http://schemas.openxmlformats.org/drawingml/2006/main" noGrp="1"/>
          </p:cNvSpPr>
          <p:nvPr/>
        </p:nvSpPr>
        <p:spPr>
          <a:xfrm xmlns:a="http://schemas.openxmlformats.org/drawingml/2006/main">
            <a:off x="1666875" y="1952625"/>
            <a:ext cx="3286125" cy="400050"/>
          </a:xfrm>
          <a:prstGeom xmlns:a="http://schemas.openxmlformats.org/drawingml/2006/main" prst="rect">
            <a:avLst/>
          </a:prstGeom>
          <a:solidFill xmlns:a="http://schemas.openxmlformats.org/drawingml/2006/main">
            <a:srgbClr val="10131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ĐIỂM GIAO VỚI AI</a:t>
            </a:r>
          </a:p>
        </p:txBody>
      </p:sp>
      <p:sp>
        <p:nvSpPr>
          <p:cNvPr id="7" name="table-head-c">
            <a:extLst xmlns:a="http://schemas.openxmlformats.org/drawingml/2006/main">
              <a:ext uri="{FF2B5EF4-FFF2-40B4-BE49-F238E27FC236}">
                <a16:creationId xmlns:a16="http://schemas.microsoft.com/office/drawing/2014/main" id="{7EE961EC-8983-47CB-BD63-511FF0125E18}"/>
              </a:ext>
            </a:extLst>
          </p:cNvPr>
          <p:cNvSpPr>
            <a:spLocks xmlns:a="http://schemas.openxmlformats.org/drawingml/2006/main" noGrp="1"/>
          </p:cNvSpPr>
          <p:nvPr/>
        </p:nvSpPr>
        <p:spPr>
          <a:xfrm xmlns:a="http://schemas.openxmlformats.org/drawingml/2006/main">
            <a:off x="4953000" y="1952625"/>
            <a:ext cx="6715125" cy="400050"/>
          </a:xfrm>
          <a:prstGeom xmlns:a="http://schemas.openxmlformats.org/drawingml/2006/main" prst="rect">
            <a:avLst/>
          </a:prstGeom>
          <a:solidFill xmlns:a="http://schemas.openxmlformats.org/drawingml/2006/main">
            <a:srgbClr val="10131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MINH CHỨNG HỌC SINH PHẢI TẠO</a:t>
            </a:r>
          </a:p>
        </p:txBody>
      </p:sp>
      <p:sp>
        <p:nvSpPr>
          <p:cNvPr id="8" name="anim-15-1-a">
            <a:extLst xmlns:a="http://schemas.openxmlformats.org/drawingml/2006/main">
              <a:ext uri="{FF2B5EF4-FFF2-40B4-BE49-F238E27FC236}">
                <a16:creationId xmlns:a16="http://schemas.microsoft.com/office/drawing/2014/main" id="{BC9CA0F3-E8F9-4838-AEE3-7705136EF65D}"/>
              </a:ext>
            </a:extLst>
          </p:cNvPr>
          <p:cNvSpPr>
            <a:spLocks xmlns:a="http://schemas.openxmlformats.org/drawingml/2006/main" noGrp="1"/>
          </p:cNvSpPr>
          <p:nvPr/>
        </p:nvSpPr>
        <p:spPr>
          <a:xfrm xmlns:a="http://schemas.openxmlformats.org/drawingml/2006/main">
            <a:off x="523875" y="2400300"/>
            <a:ext cx="1143000"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2B5B"/>
                </a:solidFill>
              </a:defRPr>
            </a:pPr>
            <a:r>
              <a:rPr sz="1200" b="1">
                <a:solidFill>
                  <a:srgbClr val="0B2B5B"/>
                </a:solidFill>
              </a:rPr>
              <a:t>TOÁN</a:t>
            </a:r>
          </a:p>
        </p:txBody>
      </p:sp>
      <p:sp>
        <p:nvSpPr>
          <p:cNvPr id="9" name="anim-15-1-b">
            <a:extLst xmlns:a="http://schemas.openxmlformats.org/drawingml/2006/main">
              <a:ext uri="{FF2B5EF4-FFF2-40B4-BE49-F238E27FC236}">
                <a16:creationId xmlns:a16="http://schemas.microsoft.com/office/drawing/2014/main" id="{4EF2C8CF-B723-4945-B80E-8C1B3447C5A9}"/>
              </a:ext>
            </a:extLst>
          </p:cNvPr>
          <p:cNvSpPr>
            <a:spLocks xmlns:a="http://schemas.openxmlformats.org/drawingml/2006/main" noGrp="1"/>
          </p:cNvSpPr>
          <p:nvPr/>
        </p:nvSpPr>
        <p:spPr>
          <a:xfrm xmlns:a="http://schemas.openxmlformats.org/drawingml/2006/main">
            <a:off x="1666875" y="2400300"/>
            <a:ext cx="3286125"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Dữ liệu – mô hình – lời giải</a:t>
            </a:r>
          </a:p>
        </p:txBody>
      </p:sp>
      <p:sp>
        <p:nvSpPr>
          <p:cNvPr id="10" name="anim-15-1-c">
            <a:extLst xmlns:a="http://schemas.openxmlformats.org/drawingml/2006/main">
              <a:ext uri="{FF2B5EF4-FFF2-40B4-BE49-F238E27FC236}">
                <a16:creationId xmlns:a16="http://schemas.microsoft.com/office/drawing/2014/main" id="{23890087-1090-4AEB-89B1-6FBD6BD64075}"/>
              </a:ext>
            </a:extLst>
          </p:cNvPr>
          <p:cNvSpPr>
            <a:spLocks xmlns:a="http://schemas.openxmlformats.org/drawingml/2006/main" noGrp="1"/>
          </p:cNvSpPr>
          <p:nvPr/>
        </p:nvSpPr>
        <p:spPr>
          <a:xfrm xmlns:a="http://schemas.openxmlformats.org/drawingml/2006/main">
            <a:off x="4953000" y="2400300"/>
            <a:ext cx="6715125"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Kiểm tra tính đúng, điều kiện còn thiếu, nhiều cách giải</a:t>
            </a:r>
          </a:p>
        </p:txBody>
      </p:sp>
      <p:sp>
        <p:nvSpPr>
          <p:cNvPr id="11" name="anim-15-2-a">
            <a:extLst xmlns:a="http://schemas.openxmlformats.org/drawingml/2006/main">
              <a:ext uri="{FF2B5EF4-FFF2-40B4-BE49-F238E27FC236}">
                <a16:creationId xmlns:a16="http://schemas.microsoft.com/office/drawing/2014/main" id="{C55DF0D8-FBA2-4D59-957D-3A2A93E6D6DE}"/>
              </a:ext>
            </a:extLst>
          </p:cNvPr>
          <p:cNvSpPr>
            <a:spLocks xmlns:a="http://schemas.openxmlformats.org/drawingml/2006/main" noGrp="1"/>
          </p:cNvSpPr>
          <p:nvPr/>
        </p:nvSpPr>
        <p:spPr>
          <a:xfrm xmlns:a="http://schemas.openxmlformats.org/drawingml/2006/main">
            <a:off x="523875" y="2990850"/>
            <a:ext cx="1143000" cy="523875"/>
          </a:xfrm>
          <a:prstGeom xmlns:a="http://schemas.openxmlformats.org/drawingml/2006/main" prst="rect">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2B5B"/>
                </a:solidFill>
              </a:defRPr>
            </a:pPr>
            <a:r>
              <a:rPr sz="1200" b="1">
                <a:solidFill>
                  <a:srgbClr val="0B2B5B"/>
                </a:solidFill>
              </a:rPr>
              <a:t>NGỮ VĂN</a:t>
            </a:r>
          </a:p>
        </p:txBody>
      </p:sp>
      <p:sp>
        <p:nvSpPr>
          <p:cNvPr id="12" name="anim-15-2-b">
            <a:extLst xmlns:a="http://schemas.openxmlformats.org/drawingml/2006/main">
              <a:ext uri="{FF2B5EF4-FFF2-40B4-BE49-F238E27FC236}">
                <a16:creationId xmlns:a16="http://schemas.microsoft.com/office/drawing/2014/main" id="{F2D51C0D-0F1F-4D3D-824D-2D4F83E78E22}"/>
              </a:ext>
            </a:extLst>
          </p:cNvPr>
          <p:cNvSpPr>
            <a:spLocks xmlns:a="http://schemas.openxmlformats.org/drawingml/2006/main" noGrp="1"/>
          </p:cNvSpPr>
          <p:nvPr/>
        </p:nvSpPr>
        <p:spPr>
          <a:xfrm xmlns:a="http://schemas.openxmlformats.org/drawingml/2006/main">
            <a:off x="1666875" y="2990850"/>
            <a:ext cx="3286125" cy="523875"/>
          </a:xfrm>
          <a:prstGeom xmlns:a="http://schemas.openxmlformats.org/drawingml/2006/main" prst="rect">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Tóm tắt – lập luận – phong cách</a:t>
            </a:r>
          </a:p>
        </p:txBody>
      </p:sp>
      <p:sp>
        <p:nvSpPr>
          <p:cNvPr id="13" name="anim-15-2-c">
            <a:extLst xmlns:a="http://schemas.openxmlformats.org/drawingml/2006/main">
              <a:ext uri="{FF2B5EF4-FFF2-40B4-BE49-F238E27FC236}">
                <a16:creationId xmlns:a16="http://schemas.microsoft.com/office/drawing/2014/main" id="{502EDD78-185F-47F3-8FA4-510ED95D7BF5}"/>
              </a:ext>
            </a:extLst>
          </p:cNvPr>
          <p:cNvSpPr>
            <a:spLocks xmlns:a="http://schemas.openxmlformats.org/drawingml/2006/main" noGrp="1"/>
          </p:cNvSpPr>
          <p:nvPr/>
        </p:nvSpPr>
        <p:spPr>
          <a:xfrm xmlns:a="http://schemas.openxmlformats.org/drawingml/2006/main">
            <a:off x="4953000" y="2990850"/>
            <a:ext cx="6715125" cy="523875"/>
          </a:xfrm>
          <a:prstGeom xmlns:a="http://schemas.openxmlformats.org/drawingml/2006/main" prst="rect">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Đối chiếu văn bản gốc, phát hiện bỏ sót/giọng điệu</a:t>
            </a:r>
          </a:p>
        </p:txBody>
      </p:sp>
      <p:sp>
        <p:nvSpPr>
          <p:cNvPr id="14" name="anim-15-3-a">
            <a:extLst xmlns:a="http://schemas.openxmlformats.org/drawingml/2006/main">
              <a:ext uri="{FF2B5EF4-FFF2-40B4-BE49-F238E27FC236}">
                <a16:creationId xmlns:a16="http://schemas.microsoft.com/office/drawing/2014/main" id="{E2902203-0D17-4B5C-9FFA-A9E09ADE53EE}"/>
              </a:ext>
            </a:extLst>
          </p:cNvPr>
          <p:cNvSpPr>
            <a:spLocks xmlns:a="http://schemas.openxmlformats.org/drawingml/2006/main" noGrp="1"/>
          </p:cNvSpPr>
          <p:nvPr/>
        </p:nvSpPr>
        <p:spPr>
          <a:xfrm xmlns:a="http://schemas.openxmlformats.org/drawingml/2006/main">
            <a:off x="523875" y="3581400"/>
            <a:ext cx="1143000"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2B5B"/>
                </a:solidFill>
              </a:defRPr>
            </a:pPr>
            <a:r>
              <a:rPr sz="1200" b="1">
                <a:solidFill>
                  <a:srgbClr val="0B2B5B"/>
                </a:solidFill>
              </a:rPr>
              <a:t>TIẾNG ANH</a:t>
            </a:r>
          </a:p>
        </p:txBody>
      </p:sp>
      <p:sp>
        <p:nvSpPr>
          <p:cNvPr id="15" name="anim-15-3-b">
            <a:extLst xmlns:a="http://schemas.openxmlformats.org/drawingml/2006/main">
              <a:ext uri="{FF2B5EF4-FFF2-40B4-BE49-F238E27FC236}">
                <a16:creationId xmlns:a16="http://schemas.microsoft.com/office/drawing/2014/main" id="{95E559A0-B3CD-4900-95EC-45A612A2A5CB}"/>
              </a:ext>
            </a:extLst>
          </p:cNvPr>
          <p:cNvSpPr>
            <a:spLocks xmlns:a="http://schemas.openxmlformats.org/drawingml/2006/main" noGrp="1"/>
          </p:cNvSpPr>
          <p:nvPr/>
        </p:nvSpPr>
        <p:spPr>
          <a:xfrm xmlns:a="http://schemas.openxmlformats.org/drawingml/2006/main">
            <a:off x="1666875" y="3581400"/>
            <a:ext cx="3286125"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Phát âm – hội thoại – phản hồi</a:t>
            </a:r>
          </a:p>
        </p:txBody>
      </p:sp>
      <p:sp>
        <p:nvSpPr>
          <p:cNvPr id="16" name="anim-15-3-c">
            <a:extLst xmlns:a="http://schemas.openxmlformats.org/drawingml/2006/main">
              <a:ext uri="{FF2B5EF4-FFF2-40B4-BE49-F238E27FC236}">
                <a16:creationId xmlns:a16="http://schemas.microsoft.com/office/drawing/2014/main" id="{A1410ED0-6661-4CB1-9D92-9BCA5C1E1EE6}"/>
              </a:ext>
            </a:extLst>
          </p:cNvPr>
          <p:cNvSpPr>
            <a:spLocks xmlns:a="http://schemas.openxmlformats.org/drawingml/2006/main" noGrp="1"/>
          </p:cNvSpPr>
          <p:nvPr/>
        </p:nvSpPr>
        <p:spPr>
          <a:xfrm xmlns:a="http://schemas.openxmlformats.org/drawingml/2006/main">
            <a:off x="4953000" y="3581400"/>
            <a:ext cx="6715125"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Tự nói/tự viết trước, dùng AI phản hồi rồi tự chỉnh</a:t>
            </a:r>
          </a:p>
        </p:txBody>
      </p:sp>
      <p:sp>
        <p:nvSpPr>
          <p:cNvPr id="17" name="anim-15-4-a">
            <a:extLst xmlns:a="http://schemas.openxmlformats.org/drawingml/2006/main">
              <a:ext uri="{FF2B5EF4-FFF2-40B4-BE49-F238E27FC236}">
                <a16:creationId xmlns:a16="http://schemas.microsoft.com/office/drawing/2014/main" id="{4F17D3A0-ECE2-4CAF-AD85-1C665B9EBBBA}"/>
              </a:ext>
            </a:extLst>
          </p:cNvPr>
          <p:cNvSpPr>
            <a:spLocks xmlns:a="http://schemas.openxmlformats.org/drawingml/2006/main" noGrp="1"/>
          </p:cNvSpPr>
          <p:nvPr/>
        </p:nvSpPr>
        <p:spPr>
          <a:xfrm xmlns:a="http://schemas.openxmlformats.org/drawingml/2006/main">
            <a:off x="523875" y="4171950"/>
            <a:ext cx="1143000" cy="523875"/>
          </a:xfrm>
          <a:prstGeom xmlns:a="http://schemas.openxmlformats.org/drawingml/2006/main" prst="rect">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2B5B"/>
                </a:solidFill>
              </a:defRPr>
            </a:pPr>
            <a:r>
              <a:rPr sz="1200" b="1">
                <a:solidFill>
                  <a:srgbClr val="0B2B5B"/>
                </a:solidFill>
              </a:rPr>
              <a:t>KHTN</a:t>
            </a:r>
          </a:p>
        </p:txBody>
      </p:sp>
      <p:sp>
        <p:nvSpPr>
          <p:cNvPr id="18" name="anim-15-4-b">
            <a:extLst xmlns:a="http://schemas.openxmlformats.org/drawingml/2006/main">
              <a:ext uri="{FF2B5EF4-FFF2-40B4-BE49-F238E27FC236}">
                <a16:creationId xmlns:a16="http://schemas.microsoft.com/office/drawing/2014/main" id="{B4001654-EC1E-418C-9F15-117E59933B94}"/>
              </a:ext>
            </a:extLst>
          </p:cNvPr>
          <p:cNvSpPr>
            <a:spLocks xmlns:a="http://schemas.openxmlformats.org/drawingml/2006/main" noGrp="1"/>
          </p:cNvSpPr>
          <p:nvPr/>
        </p:nvSpPr>
        <p:spPr>
          <a:xfrm xmlns:a="http://schemas.openxmlformats.org/drawingml/2006/main">
            <a:off x="1666875" y="4171950"/>
            <a:ext cx="3286125" cy="523875"/>
          </a:xfrm>
          <a:prstGeom xmlns:a="http://schemas.openxmlformats.org/drawingml/2006/main" prst="rect">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Dữ liệu thí nghiệm – giả thuyết</a:t>
            </a:r>
          </a:p>
        </p:txBody>
      </p:sp>
      <p:sp>
        <p:nvSpPr>
          <p:cNvPr id="19" name="anim-15-4-c">
            <a:extLst xmlns:a="http://schemas.openxmlformats.org/drawingml/2006/main">
              <a:ext uri="{FF2B5EF4-FFF2-40B4-BE49-F238E27FC236}">
                <a16:creationId xmlns:a16="http://schemas.microsoft.com/office/drawing/2014/main" id="{DABAFF71-E171-4666-9A2F-35264BAC4001}"/>
              </a:ext>
            </a:extLst>
          </p:cNvPr>
          <p:cNvSpPr>
            <a:spLocks xmlns:a="http://schemas.openxmlformats.org/drawingml/2006/main" noGrp="1"/>
          </p:cNvSpPr>
          <p:nvPr/>
        </p:nvSpPr>
        <p:spPr>
          <a:xfrm xmlns:a="http://schemas.openxmlformats.org/drawingml/2006/main">
            <a:off x="4953000" y="4171950"/>
            <a:ext cx="6715125" cy="523875"/>
          </a:xfrm>
          <a:prstGeom xmlns:a="http://schemas.openxmlformats.org/drawingml/2006/main" prst="rect">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AI gợi ý xu hướng; học sinh kiểm tra bằng số liệu gốc</a:t>
            </a:r>
          </a:p>
        </p:txBody>
      </p:sp>
      <p:sp>
        <p:nvSpPr>
          <p:cNvPr id="20" name="anim-15-5-a">
            <a:extLst xmlns:a="http://schemas.openxmlformats.org/drawingml/2006/main">
              <a:ext uri="{FF2B5EF4-FFF2-40B4-BE49-F238E27FC236}">
                <a16:creationId xmlns:a16="http://schemas.microsoft.com/office/drawing/2014/main" id="{697ECC5C-B8A1-46BA-A957-626F6E383267}"/>
              </a:ext>
            </a:extLst>
          </p:cNvPr>
          <p:cNvSpPr>
            <a:spLocks xmlns:a="http://schemas.openxmlformats.org/drawingml/2006/main" noGrp="1"/>
          </p:cNvSpPr>
          <p:nvPr/>
        </p:nvSpPr>
        <p:spPr>
          <a:xfrm xmlns:a="http://schemas.openxmlformats.org/drawingml/2006/main">
            <a:off x="523875" y="4762500"/>
            <a:ext cx="1143000"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2B5B"/>
                </a:solidFill>
              </a:defRPr>
            </a:pPr>
            <a:r>
              <a:rPr sz="1200" b="1">
                <a:solidFill>
                  <a:srgbClr val="0B2B5B"/>
                </a:solidFill>
              </a:rPr>
              <a:t>LS&amp;ĐL</a:t>
            </a:r>
          </a:p>
        </p:txBody>
      </p:sp>
      <p:sp>
        <p:nvSpPr>
          <p:cNvPr id="21" name="anim-15-5-b">
            <a:extLst xmlns:a="http://schemas.openxmlformats.org/drawingml/2006/main">
              <a:ext uri="{FF2B5EF4-FFF2-40B4-BE49-F238E27FC236}">
                <a16:creationId xmlns:a16="http://schemas.microsoft.com/office/drawing/2014/main" id="{C9AA56FB-E1B1-4AA1-8AA6-C8F697584403}"/>
              </a:ext>
            </a:extLst>
          </p:cNvPr>
          <p:cNvSpPr>
            <a:spLocks xmlns:a="http://schemas.openxmlformats.org/drawingml/2006/main" noGrp="1"/>
          </p:cNvSpPr>
          <p:nvPr/>
        </p:nvSpPr>
        <p:spPr>
          <a:xfrm xmlns:a="http://schemas.openxmlformats.org/drawingml/2006/main">
            <a:off x="1666875" y="4762500"/>
            <a:ext cx="3286125"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Nguồn sử liệu – bản đồ – số liệu</a:t>
            </a:r>
          </a:p>
        </p:txBody>
      </p:sp>
      <p:sp>
        <p:nvSpPr>
          <p:cNvPr id="22" name="anim-15-5-c">
            <a:extLst xmlns:a="http://schemas.openxmlformats.org/drawingml/2006/main">
              <a:ext uri="{FF2B5EF4-FFF2-40B4-BE49-F238E27FC236}">
                <a16:creationId xmlns:a16="http://schemas.microsoft.com/office/drawing/2014/main" id="{3795E7D1-26A0-4C83-B49B-32A86D7F0AE3}"/>
              </a:ext>
            </a:extLst>
          </p:cNvPr>
          <p:cNvSpPr>
            <a:spLocks xmlns:a="http://schemas.openxmlformats.org/drawingml/2006/main" noGrp="1"/>
          </p:cNvSpPr>
          <p:nvPr/>
        </p:nvSpPr>
        <p:spPr>
          <a:xfrm xmlns:a="http://schemas.openxmlformats.org/drawingml/2006/main">
            <a:off x="4953000" y="4762500"/>
            <a:ext cx="6715125"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So sánh nhiều nguồn, phát hiện định kiến và sai lệch</a:t>
            </a:r>
          </a:p>
        </p:txBody>
      </p:sp>
      <p:sp>
        <p:nvSpPr>
          <p:cNvPr id="23" name="anim-15-6-a">
            <a:extLst xmlns:a="http://schemas.openxmlformats.org/drawingml/2006/main">
              <a:ext uri="{FF2B5EF4-FFF2-40B4-BE49-F238E27FC236}">
                <a16:creationId xmlns:a16="http://schemas.microsoft.com/office/drawing/2014/main" id="{40E37189-04BB-43B0-979B-3A07371ADED3}"/>
              </a:ext>
            </a:extLst>
          </p:cNvPr>
          <p:cNvSpPr>
            <a:spLocks xmlns:a="http://schemas.openxmlformats.org/drawingml/2006/main" noGrp="1"/>
          </p:cNvSpPr>
          <p:nvPr/>
        </p:nvSpPr>
        <p:spPr>
          <a:xfrm xmlns:a="http://schemas.openxmlformats.org/drawingml/2006/main">
            <a:off x="523875" y="5353050"/>
            <a:ext cx="1143000" cy="523875"/>
          </a:xfrm>
          <a:prstGeom xmlns:a="http://schemas.openxmlformats.org/drawingml/2006/main" prst="rect">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2B5B"/>
                </a:solidFill>
              </a:defRPr>
            </a:pPr>
            <a:r>
              <a:rPr sz="1200" b="1">
                <a:solidFill>
                  <a:srgbClr val="0B2B5B"/>
                </a:solidFill>
              </a:rPr>
              <a:t>TIN/HĐTN</a:t>
            </a:r>
          </a:p>
        </p:txBody>
      </p:sp>
      <p:sp>
        <p:nvSpPr>
          <p:cNvPr id="24" name="anim-15-6-b">
            <a:extLst xmlns:a="http://schemas.openxmlformats.org/drawingml/2006/main">
              <a:ext uri="{FF2B5EF4-FFF2-40B4-BE49-F238E27FC236}">
                <a16:creationId xmlns:a16="http://schemas.microsoft.com/office/drawing/2014/main" id="{F90E7D4D-5F78-4B44-B8BE-7D126E9DBEC8}"/>
              </a:ext>
            </a:extLst>
          </p:cNvPr>
          <p:cNvSpPr>
            <a:spLocks xmlns:a="http://schemas.openxmlformats.org/drawingml/2006/main" noGrp="1"/>
          </p:cNvSpPr>
          <p:nvPr/>
        </p:nvSpPr>
        <p:spPr>
          <a:xfrm xmlns:a="http://schemas.openxmlformats.org/drawingml/2006/main">
            <a:off x="1666875" y="5353050"/>
            <a:ext cx="3286125" cy="523875"/>
          </a:xfrm>
          <a:prstGeom xmlns:a="http://schemas.openxmlformats.org/drawingml/2006/main" prst="rect">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Dữ liệu – thuật toán – tình huống số</a:t>
            </a:r>
          </a:p>
        </p:txBody>
      </p:sp>
      <p:sp>
        <p:nvSpPr>
          <p:cNvPr id="25" name="anim-15-6-c">
            <a:extLst xmlns:a="http://schemas.openxmlformats.org/drawingml/2006/main">
              <a:ext uri="{FF2B5EF4-FFF2-40B4-BE49-F238E27FC236}">
                <a16:creationId xmlns:a16="http://schemas.microsoft.com/office/drawing/2014/main" id="{A3A4A7AE-F2AE-45A1-947F-9ACFBFF261DD}"/>
              </a:ext>
            </a:extLst>
          </p:cNvPr>
          <p:cNvSpPr>
            <a:spLocks xmlns:a="http://schemas.openxmlformats.org/drawingml/2006/main" noGrp="1"/>
          </p:cNvSpPr>
          <p:nvPr/>
        </p:nvSpPr>
        <p:spPr>
          <a:xfrm xmlns:a="http://schemas.openxmlformats.org/drawingml/2006/main">
            <a:off x="4953000" y="5353050"/>
            <a:ext cx="6715125" cy="523875"/>
          </a:xfrm>
          <a:prstGeom xmlns:a="http://schemas.openxmlformats.org/drawingml/2006/main" prst="rect">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0131A"/>
                </a:solidFill>
              </a:defRPr>
            </a:pPr>
            <a:r>
              <a:rPr sz="1200" b="0">
                <a:solidFill>
                  <a:srgbClr val="10131A"/>
                </a:solidFill>
              </a:rPr>
              <a:t>Mô phỏng, tranh biện, dự án và quy tắc an toàn</a:t>
            </a:r>
          </a:p>
        </p:txBody>
      </p:sp>
      <p:sp>
        <p:nvSpPr>
          <p:cNvPr id="26" name="anim-15-close">
            <a:extLst xmlns:a="http://schemas.openxmlformats.org/drawingml/2006/main">
              <a:ext uri="{FF2B5EF4-FFF2-40B4-BE49-F238E27FC236}">
                <a16:creationId xmlns:a16="http://schemas.microsoft.com/office/drawing/2014/main" id="{204FF5A4-881D-42B4-9A4A-B97D501A85FA}"/>
              </a:ext>
            </a:extLst>
          </p:cNvPr>
          <p:cNvSpPr>
            <a:spLocks xmlns:a="http://schemas.openxmlformats.org/drawingml/2006/main" noGrp="1"/>
          </p:cNvSpPr>
          <p:nvPr/>
        </p:nvSpPr>
        <p:spPr>
          <a:xfrm xmlns:a="http://schemas.openxmlformats.org/drawingml/2006/main">
            <a:off x="1143000" y="59245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769E0"/>
                </a:solidFill>
              </a:defRPr>
            </a:pPr>
            <a:r>
              <a:rPr sz="1350" b="1">
                <a:solidFill>
                  <a:srgbClr val="1769E0"/>
                </a:solidFill>
              </a:rPr>
              <a:t>Không tích hợp bằng cách “cho dùng chatbot”; tích hợp bằng nhiệm vụ có mục tiêu, dữ kiện, tiêu chí và bằng chứng kiểm chứng.</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8"/>
                                          </p:tgtEl>
                                          <p:attrNameLst>
                                            <p:attrName>style.visibility</p:attrName>
                                          </p:attrNameLst>
                                        </p:cBhvr>
                                        <p:to>
                                          <p:strVal val="visible"/>
                                        </p:to>
                                      </p:set>
                                      <p:animEffect transition="in" filter="fade">
                                        <p:cBhvr>
                                          <p:cTn id="1006" dur="350"/>
                                          <p:tgtEl>
                                            <p:spTgt spid="8"/>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9"/>
                                          </p:tgtEl>
                                          <p:attrNameLst>
                                            <p:attrName>style.visibility</p:attrName>
                                          </p:attrNameLst>
                                        </p:cBhvr>
                                        <p:to>
                                          <p:strVal val="visible"/>
                                        </p:to>
                                      </p:set>
                                      <p:animEffect transition="in" filter="fade">
                                        <p:cBhvr>
                                          <p:cTn id="1011" dur="350"/>
                                          <p:tgtEl>
                                            <p:spTgt spid="9"/>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10"/>
                                          </p:tgtEl>
                                          <p:attrNameLst>
                                            <p:attrName>style.visibility</p:attrName>
                                          </p:attrNameLst>
                                        </p:cBhvr>
                                        <p:to>
                                          <p:strVal val="visible"/>
                                        </p:to>
                                      </p:set>
                                      <p:animEffect transition="in" filter="fade">
                                        <p:cBhvr>
                                          <p:cTn id="1016" dur="350"/>
                                          <p:tgtEl>
                                            <p:spTgt spid="10"/>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11"/>
                                          </p:tgtEl>
                                          <p:attrNameLst>
                                            <p:attrName>style.visibility</p:attrName>
                                          </p:attrNameLst>
                                        </p:cBhvr>
                                        <p:to>
                                          <p:strVal val="visible"/>
                                        </p:to>
                                      </p:set>
                                      <p:animEffect transition="in" filter="fade">
                                        <p:cBhvr>
                                          <p:cTn id="1021" dur="350"/>
                                          <p:tgtEl>
                                            <p:spTgt spid="11"/>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12"/>
                                          </p:tgtEl>
                                          <p:attrNameLst>
                                            <p:attrName>style.visibility</p:attrName>
                                          </p:attrNameLst>
                                        </p:cBhvr>
                                        <p:to>
                                          <p:strVal val="visible"/>
                                        </p:to>
                                      </p:set>
                                      <p:animEffect transition="in" filter="fade">
                                        <p:cBhvr>
                                          <p:cTn id="1026" dur="350"/>
                                          <p:tgtEl>
                                            <p:spTgt spid="12"/>
                                          </p:tgtEl>
                                        </p:cBhvr>
                                      </p:animEffect>
                                    </p:childTnLst>
                                  </p:cTn>
                                </p:par>
                              </p:childTnLst>
                            </p:cTn>
                          </p:par>
                        </p:childTnLst>
                      </p:cTn>
                    </p:par>
                    <p:par>
                      <p:cTn id="1027" fill="hold">
                        <p:stCondLst>
                          <p:cond delay="indefinite"/>
                        </p:stCondLst>
                        <p:childTnLst>
                          <p:par>
                            <p:cTn id="1028" fill="hold">
                              <p:stCondLst>
                                <p:cond delay="0"/>
                              </p:stCondLst>
                              <p:childTnLst>
                                <p:par>
                                  <p:cTn id="1029" presetID="10" presetClass="entr" presetSubtype="0" fill="hold" grpId="0" nodeType="clickEffect">
                                    <p:stCondLst>
                                      <p:cond delay="0"/>
                                    </p:stCondLst>
                                    <p:childTnLst>
                                      <p:set>
                                        <p:cBhvr>
                                          <p:cTn id="1030" dur="1" fill="hold">
                                            <p:stCondLst>
                                              <p:cond delay="0"/>
                                            </p:stCondLst>
                                          </p:cTn>
                                          <p:tgtEl>
                                            <p:spTgt spid="13"/>
                                          </p:tgtEl>
                                          <p:attrNameLst>
                                            <p:attrName>style.visibility</p:attrName>
                                          </p:attrNameLst>
                                        </p:cBhvr>
                                        <p:to>
                                          <p:strVal val="visible"/>
                                        </p:to>
                                      </p:set>
                                      <p:animEffect transition="in" filter="fade">
                                        <p:cBhvr>
                                          <p:cTn id="1031" dur="350"/>
                                          <p:tgtEl>
                                            <p:spTgt spid="13"/>
                                          </p:tgtEl>
                                        </p:cBhvr>
                                      </p:animEffect>
                                    </p:childTnLst>
                                  </p:cTn>
                                </p:par>
                              </p:childTnLst>
                            </p:cTn>
                          </p:par>
                        </p:childTnLst>
                      </p:cTn>
                    </p:par>
                    <p:par>
                      <p:cTn id="1032" fill="hold">
                        <p:stCondLst>
                          <p:cond delay="indefinite"/>
                        </p:stCondLst>
                        <p:childTnLst>
                          <p:par>
                            <p:cTn id="1033" fill="hold">
                              <p:stCondLst>
                                <p:cond delay="0"/>
                              </p:stCondLst>
                              <p:childTnLst>
                                <p:par>
                                  <p:cTn id="1034" presetID="10" presetClass="entr" presetSubtype="0" fill="hold" grpId="0" nodeType="clickEffect">
                                    <p:stCondLst>
                                      <p:cond delay="0"/>
                                    </p:stCondLst>
                                    <p:childTnLst>
                                      <p:set>
                                        <p:cBhvr>
                                          <p:cTn id="1035" dur="1" fill="hold">
                                            <p:stCondLst>
                                              <p:cond delay="0"/>
                                            </p:stCondLst>
                                          </p:cTn>
                                          <p:tgtEl>
                                            <p:spTgt spid="14"/>
                                          </p:tgtEl>
                                          <p:attrNameLst>
                                            <p:attrName>style.visibility</p:attrName>
                                          </p:attrNameLst>
                                        </p:cBhvr>
                                        <p:to>
                                          <p:strVal val="visible"/>
                                        </p:to>
                                      </p:set>
                                      <p:animEffect transition="in" filter="fade">
                                        <p:cBhvr>
                                          <p:cTn id="1036" dur="350"/>
                                          <p:tgtEl>
                                            <p:spTgt spid="14"/>
                                          </p:tgtEl>
                                        </p:cBhvr>
                                      </p:animEffect>
                                    </p:childTnLst>
                                  </p:cTn>
                                </p:par>
                              </p:childTnLst>
                            </p:cTn>
                          </p:par>
                        </p:childTnLst>
                      </p:cTn>
                    </p:par>
                    <p:par>
                      <p:cTn id="1037" fill="hold">
                        <p:stCondLst>
                          <p:cond delay="indefinite"/>
                        </p:stCondLst>
                        <p:childTnLst>
                          <p:par>
                            <p:cTn id="1038" fill="hold">
                              <p:stCondLst>
                                <p:cond delay="0"/>
                              </p:stCondLst>
                              <p:childTnLst>
                                <p:par>
                                  <p:cTn id="1039" presetID="10" presetClass="entr" presetSubtype="0" fill="hold" grpId="0" nodeType="clickEffect">
                                    <p:stCondLst>
                                      <p:cond delay="0"/>
                                    </p:stCondLst>
                                    <p:childTnLst>
                                      <p:set>
                                        <p:cBhvr>
                                          <p:cTn id="1040" dur="1" fill="hold">
                                            <p:stCondLst>
                                              <p:cond delay="0"/>
                                            </p:stCondLst>
                                          </p:cTn>
                                          <p:tgtEl>
                                            <p:spTgt spid="15"/>
                                          </p:tgtEl>
                                          <p:attrNameLst>
                                            <p:attrName>style.visibility</p:attrName>
                                          </p:attrNameLst>
                                        </p:cBhvr>
                                        <p:to>
                                          <p:strVal val="visible"/>
                                        </p:to>
                                      </p:set>
                                      <p:animEffect transition="in" filter="fade">
                                        <p:cBhvr>
                                          <p:cTn id="1041" dur="350"/>
                                          <p:tgtEl>
                                            <p:spTgt spid="15"/>
                                          </p:tgtEl>
                                        </p:cBhvr>
                                      </p:animEffect>
                                    </p:childTnLst>
                                  </p:cTn>
                                </p:par>
                              </p:childTnLst>
                            </p:cTn>
                          </p:par>
                        </p:childTnLst>
                      </p:cTn>
                    </p:par>
                    <p:par>
                      <p:cTn id="1042" fill="hold">
                        <p:stCondLst>
                          <p:cond delay="indefinite"/>
                        </p:stCondLst>
                        <p:childTnLst>
                          <p:par>
                            <p:cTn id="1043" fill="hold">
                              <p:stCondLst>
                                <p:cond delay="0"/>
                              </p:stCondLst>
                              <p:childTnLst>
                                <p:par>
                                  <p:cTn id="1044" presetID="10" presetClass="entr" presetSubtype="0" fill="hold" grpId="0" nodeType="clickEffect">
                                    <p:stCondLst>
                                      <p:cond delay="0"/>
                                    </p:stCondLst>
                                    <p:childTnLst>
                                      <p:set>
                                        <p:cBhvr>
                                          <p:cTn id="1045" dur="1" fill="hold">
                                            <p:stCondLst>
                                              <p:cond delay="0"/>
                                            </p:stCondLst>
                                          </p:cTn>
                                          <p:tgtEl>
                                            <p:spTgt spid="16"/>
                                          </p:tgtEl>
                                          <p:attrNameLst>
                                            <p:attrName>style.visibility</p:attrName>
                                          </p:attrNameLst>
                                        </p:cBhvr>
                                        <p:to>
                                          <p:strVal val="visible"/>
                                        </p:to>
                                      </p:set>
                                      <p:animEffect transition="in" filter="fade">
                                        <p:cBhvr>
                                          <p:cTn id="1046" dur="350"/>
                                          <p:tgtEl>
                                            <p:spTgt spid="16"/>
                                          </p:tgtEl>
                                        </p:cBhvr>
                                      </p:animEffect>
                                    </p:childTnLst>
                                  </p:cTn>
                                </p:par>
                              </p:childTnLst>
                            </p:cTn>
                          </p:par>
                        </p:childTnLst>
                      </p:cTn>
                    </p:par>
                    <p:par>
                      <p:cTn id="1047" fill="hold">
                        <p:stCondLst>
                          <p:cond delay="indefinite"/>
                        </p:stCondLst>
                        <p:childTnLst>
                          <p:par>
                            <p:cTn id="1048" fill="hold">
                              <p:stCondLst>
                                <p:cond delay="0"/>
                              </p:stCondLst>
                              <p:childTnLst>
                                <p:par>
                                  <p:cTn id="1049" presetID="10" presetClass="entr" presetSubtype="0" fill="hold" grpId="0" nodeType="clickEffect">
                                    <p:stCondLst>
                                      <p:cond delay="0"/>
                                    </p:stCondLst>
                                    <p:childTnLst>
                                      <p:set>
                                        <p:cBhvr>
                                          <p:cTn id="1050" dur="1" fill="hold">
                                            <p:stCondLst>
                                              <p:cond delay="0"/>
                                            </p:stCondLst>
                                          </p:cTn>
                                          <p:tgtEl>
                                            <p:spTgt spid="17"/>
                                          </p:tgtEl>
                                          <p:attrNameLst>
                                            <p:attrName>style.visibility</p:attrName>
                                          </p:attrNameLst>
                                        </p:cBhvr>
                                        <p:to>
                                          <p:strVal val="visible"/>
                                        </p:to>
                                      </p:set>
                                      <p:animEffect transition="in" filter="fade">
                                        <p:cBhvr>
                                          <p:cTn id="1051" dur="350"/>
                                          <p:tgtEl>
                                            <p:spTgt spid="17"/>
                                          </p:tgtEl>
                                        </p:cBhvr>
                                      </p:animEffect>
                                    </p:childTnLst>
                                  </p:cTn>
                                </p:par>
                              </p:childTnLst>
                            </p:cTn>
                          </p:par>
                        </p:childTnLst>
                      </p:cTn>
                    </p:par>
                    <p:par>
                      <p:cTn id="1052" fill="hold">
                        <p:stCondLst>
                          <p:cond delay="indefinite"/>
                        </p:stCondLst>
                        <p:childTnLst>
                          <p:par>
                            <p:cTn id="1053" fill="hold">
                              <p:stCondLst>
                                <p:cond delay="0"/>
                              </p:stCondLst>
                              <p:childTnLst>
                                <p:par>
                                  <p:cTn id="1054" presetID="10" presetClass="entr" presetSubtype="0" fill="hold" grpId="0" nodeType="clickEffect">
                                    <p:stCondLst>
                                      <p:cond delay="0"/>
                                    </p:stCondLst>
                                    <p:childTnLst>
                                      <p:set>
                                        <p:cBhvr>
                                          <p:cTn id="1055" dur="1" fill="hold">
                                            <p:stCondLst>
                                              <p:cond delay="0"/>
                                            </p:stCondLst>
                                          </p:cTn>
                                          <p:tgtEl>
                                            <p:spTgt spid="18"/>
                                          </p:tgtEl>
                                          <p:attrNameLst>
                                            <p:attrName>style.visibility</p:attrName>
                                          </p:attrNameLst>
                                        </p:cBhvr>
                                        <p:to>
                                          <p:strVal val="visible"/>
                                        </p:to>
                                      </p:set>
                                      <p:animEffect transition="in" filter="fade">
                                        <p:cBhvr>
                                          <p:cTn id="1056" dur="350"/>
                                          <p:tgtEl>
                                            <p:spTgt spid="18"/>
                                          </p:tgtEl>
                                        </p:cBhvr>
                                      </p:animEffect>
                                    </p:childTnLst>
                                  </p:cTn>
                                </p:par>
                              </p:childTnLst>
                            </p:cTn>
                          </p:par>
                        </p:childTnLst>
                      </p:cTn>
                    </p:par>
                    <p:par>
                      <p:cTn id="1057" fill="hold">
                        <p:stCondLst>
                          <p:cond delay="indefinite"/>
                        </p:stCondLst>
                        <p:childTnLst>
                          <p:par>
                            <p:cTn id="1058" fill="hold">
                              <p:stCondLst>
                                <p:cond delay="0"/>
                              </p:stCondLst>
                              <p:childTnLst>
                                <p:par>
                                  <p:cTn id="1059" presetID="10" presetClass="entr" presetSubtype="0" fill="hold" grpId="0" nodeType="clickEffect">
                                    <p:stCondLst>
                                      <p:cond delay="0"/>
                                    </p:stCondLst>
                                    <p:childTnLst>
                                      <p:set>
                                        <p:cBhvr>
                                          <p:cTn id="1060" dur="1" fill="hold">
                                            <p:stCondLst>
                                              <p:cond delay="0"/>
                                            </p:stCondLst>
                                          </p:cTn>
                                          <p:tgtEl>
                                            <p:spTgt spid="19"/>
                                          </p:tgtEl>
                                          <p:attrNameLst>
                                            <p:attrName>style.visibility</p:attrName>
                                          </p:attrNameLst>
                                        </p:cBhvr>
                                        <p:to>
                                          <p:strVal val="visible"/>
                                        </p:to>
                                      </p:set>
                                      <p:animEffect transition="in" filter="fade">
                                        <p:cBhvr>
                                          <p:cTn id="1061" dur="350"/>
                                          <p:tgtEl>
                                            <p:spTgt spid="19"/>
                                          </p:tgtEl>
                                        </p:cBhvr>
                                      </p:animEffect>
                                    </p:childTnLst>
                                  </p:cTn>
                                </p:par>
                              </p:childTnLst>
                            </p:cTn>
                          </p:par>
                        </p:childTnLst>
                      </p:cTn>
                    </p:par>
                    <p:par>
                      <p:cTn id="1062" fill="hold">
                        <p:stCondLst>
                          <p:cond delay="indefinite"/>
                        </p:stCondLst>
                        <p:childTnLst>
                          <p:par>
                            <p:cTn id="1063" fill="hold">
                              <p:stCondLst>
                                <p:cond delay="0"/>
                              </p:stCondLst>
                              <p:childTnLst>
                                <p:par>
                                  <p:cTn id="1064" presetID="10" presetClass="entr" presetSubtype="0" fill="hold" grpId="0" nodeType="clickEffect">
                                    <p:stCondLst>
                                      <p:cond delay="0"/>
                                    </p:stCondLst>
                                    <p:childTnLst>
                                      <p:set>
                                        <p:cBhvr>
                                          <p:cTn id="1065" dur="1" fill="hold">
                                            <p:stCondLst>
                                              <p:cond delay="0"/>
                                            </p:stCondLst>
                                          </p:cTn>
                                          <p:tgtEl>
                                            <p:spTgt spid="20"/>
                                          </p:tgtEl>
                                          <p:attrNameLst>
                                            <p:attrName>style.visibility</p:attrName>
                                          </p:attrNameLst>
                                        </p:cBhvr>
                                        <p:to>
                                          <p:strVal val="visible"/>
                                        </p:to>
                                      </p:set>
                                      <p:animEffect transition="in" filter="fade">
                                        <p:cBhvr>
                                          <p:cTn id="1066" dur="350"/>
                                          <p:tgtEl>
                                            <p:spTgt spid="20"/>
                                          </p:tgtEl>
                                        </p:cBhvr>
                                      </p:animEffect>
                                    </p:childTnLst>
                                  </p:cTn>
                                </p:par>
                              </p:childTnLst>
                            </p:cTn>
                          </p:par>
                        </p:childTnLst>
                      </p:cTn>
                    </p:par>
                    <p:par>
                      <p:cTn id="1067" fill="hold">
                        <p:stCondLst>
                          <p:cond delay="indefinite"/>
                        </p:stCondLst>
                        <p:childTnLst>
                          <p:par>
                            <p:cTn id="1068" fill="hold">
                              <p:stCondLst>
                                <p:cond delay="0"/>
                              </p:stCondLst>
                              <p:childTnLst>
                                <p:par>
                                  <p:cTn id="1069" presetID="10" presetClass="entr" presetSubtype="0" fill="hold" grpId="0" nodeType="clickEffect">
                                    <p:stCondLst>
                                      <p:cond delay="0"/>
                                    </p:stCondLst>
                                    <p:childTnLst>
                                      <p:set>
                                        <p:cBhvr>
                                          <p:cTn id="1070" dur="1" fill="hold">
                                            <p:stCondLst>
                                              <p:cond delay="0"/>
                                            </p:stCondLst>
                                          </p:cTn>
                                          <p:tgtEl>
                                            <p:spTgt spid="21"/>
                                          </p:tgtEl>
                                          <p:attrNameLst>
                                            <p:attrName>style.visibility</p:attrName>
                                          </p:attrNameLst>
                                        </p:cBhvr>
                                        <p:to>
                                          <p:strVal val="visible"/>
                                        </p:to>
                                      </p:set>
                                      <p:animEffect transition="in" filter="fade">
                                        <p:cBhvr>
                                          <p:cTn id="1071" dur="350"/>
                                          <p:tgtEl>
                                            <p:spTgt spid="21"/>
                                          </p:tgtEl>
                                        </p:cBhvr>
                                      </p:animEffect>
                                    </p:childTnLst>
                                  </p:cTn>
                                </p:par>
                              </p:childTnLst>
                            </p:cTn>
                          </p:par>
                        </p:childTnLst>
                      </p:cTn>
                    </p:par>
                    <p:par>
                      <p:cTn id="1072" fill="hold">
                        <p:stCondLst>
                          <p:cond delay="indefinite"/>
                        </p:stCondLst>
                        <p:childTnLst>
                          <p:par>
                            <p:cTn id="1073" fill="hold">
                              <p:stCondLst>
                                <p:cond delay="0"/>
                              </p:stCondLst>
                              <p:childTnLst>
                                <p:par>
                                  <p:cTn id="1074" presetID="10" presetClass="entr" presetSubtype="0" fill="hold" grpId="0" nodeType="clickEffect">
                                    <p:stCondLst>
                                      <p:cond delay="0"/>
                                    </p:stCondLst>
                                    <p:childTnLst>
                                      <p:set>
                                        <p:cBhvr>
                                          <p:cTn id="1075" dur="1" fill="hold">
                                            <p:stCondLst>
                                              <p:cond delay="0"/>
                                            </p:stCondLst>
                                          </p:cTn>
                                          <p:tgtEl>
                                            <p:spTgt spid="22"/>
                                          </p:tgtEl>
                                          <p:attrNameLst>
                                            <p:attrName>style.visibility</p:attrName>
                                          </p:attrNameLst>
                                        </p:cBhvr>
                                        <p:to>
                                          <p:strVal val="visible"/>
                                        </p:to>
                                      </p:set>
                                      <p:animEffect transition="in" filter="fade">
                                        <p:cBhvr>
                                          <p:cTn id="1076" dur="350"/>
                                          <p:tgtEl>
                                            <p:spTgt spid="22"/>
                                          </p:tgtEl>
                                        </p:cBhvr>
                                      </p:animEffect>
                                    </p:childTnLst>
                                  </p:cTn>
                                </p:par>
                              </p:childTnLst>
                            </p:cTn>
                          </p:par>
                        </p:childTnLst>
                      </p:cTn>
                    </p:par>
                    <p:par>
                      <p:cTn id="1077" fill="hold">
                        <p:stCondLst>
                          <p:cond delay="indefinite"/>
                        </p:stCondLst>
                        <p:childTnLst>
                          <p:par>
                            <p:cTn id="1078" fill="hold">
                              <p:stCondLst>
                                <p:cond delay="0"/>
                              </p:stCondLst>
                              <p:childTnLst>
                                <p:par>
                                  <p:cTn id="1079" presetID="10" presetClass="entr" presetSubtype="0" fill="hold" grpId="0" nodeType="clickEffect">
                                    <p:stCondLst>
                                      <p:cond delay="0"/>
                                    </p:stCondLst>
                                    <p:childTnLst>
                                      <p:set>
                                        <p:cBhvr>
                                          <p:cTn id="1080" dur="1" fill="hold">
                                            <p:stCondLst>
                                              <p:cond delay="0"/>
                                            </p:stCondLst>
                                          </p:cTn>
                                          <p:tgtEl>
                                            <p:spTgt spid="23"/>
                                          </p:tgtEl>
                                          <p:attrNameLst>
                                            <p:attrName>style.visibility</p:attrName>
                                          </p:attrNameLst>
                                        </p:cBhvr>
                                        <p:to>
                                          <p:strVal val="visible"/>
                                        </p:to>
                                      </p:set>
                                      <p:animEffect transition="in" filter="fade">
                                        <p:cBhvr>
                                          <p:cTn id="1081" dur="350"/>
                                          <p:tgtEl>
                                            <p:spTgt spid="23"/>
                                          </p:tgtEl>
                                        </p:cBhvr>
                                      </p:animEffect>
                                    </p:childTnLst>
                                  </p:cTn>
                                </p:par>
                              </p:childTnLst>
                            </p:cTn>
                          </p:par>
                        </p:childTnLst>
                      </p:cTn>
                    </p:par>
                    <p:par>
                      <p:cTn id="1082" fill="hold">
                        <p:stCondLst>
                          <p:cond delay="indefinite"/>
                        </p:stCondLst>
                        <p:childTnLst>
                          <p:par>
                            <p:cTn id="1083" fill="hold">
                              <p:stCondLst>
                                <p:cond delay="0"/>
                              </p:stCondLst>
                              <p:childTnLst>
                                <p:par>
                                  <p:cTn id="1084" presetID="10" presetClass="entr" presetSubtype="0" fill="hold" grpId="0" nodeType="clickEffect">
                                    <p:stCondLst>
                                      <p:cond delay="0"/>
                                    </p:stCondLst>
                                    <p:childTnLst>
                                      <p:set>
                                        <p:cBhvr>
                                          <p:cTn id="1085" dur="1" fill="hold">
                                            <p:stCondLst>
                                              <p:cond delay="0"/>
                                            </p:stCondLst>
                                          </p:cTn>
                                          <p:tgtEl>
                                            <p:spTgt spid="24"/>
                                          </p:tgtEl>
                                          <p:attrNameLst>
                                            <p:attrName>style.visibility</p:attrName>
                                          </p:attrNameLst>
                                        </p:cBhvr>
                                        <p:to>
                                          <p:strVal val="visible"/>
                                        </p:to>
                                      </p:set>
                                      <p:animEffect transition="in" filter="fade">
                                        <p:cBhvr>
                                          <p:cTn id="1086" dur="350"/>
                                          <p:tgtEl>
                                            <p:spTgt spid="24"/>
                                          </p:tgtEl>
                                        </p:cBhvr>
                                      </p:animEffect>
                                    </p:childTnLst>
                                  </p:cTn>
                                </p:par>
                              </p:childTnLst>
                            </p:cTn>
                          </p:par>
                        </p:childTnLst>
                      </p:cTn>
                    </p:par>
                    <p:par>
                      <p:cTn id="1087" fill="hold">
                        <p:stCondLst>
                          <p:cond delay="indefinite"/>
                        </p:stCondLst>
                        <p:childTnLst>
                          <p:par>
                            <p:cTn id="1088" fill="hold">
                              <p:stCondLst>
                                <p:cond delay="0"/>
                              </p:stCondLst>
                              <p:childTnLst>
                                <p:par>
                                  <p:cTn id="1089" presetID="10" presetClass="entr" presetSubtype="0" fill="hold" grpId="0" nodeType="clickEffect">
                                    <p:stCondLst>
                                      <p:cond delay="0"/>
                                    </p:stCondLst>
                                    <p:childTnLst>
                                      <p:set>
                                        <p:cBhvr>
                                          <p:cTn id="1090" dur="1" fill="hold">
                                            <p:stCondLst>
                                              <p:cond delay="0"/>
                                            </p:stCondLst>
                                          </p:cTn>
                                          <p:tgtEl>
                                            <p:spTgt spid="25"/>
                                          </p:tgtEl>
                                          <p:attrNameLst>
                                            <p:attrName>style.visibility</p:attrName>
                                          </p:attrNameLst>
                                        </p:cBhvr>
                                        <p:to>
                                          <p:strVal val="visible"/>
                                        </p:to>
                                      </p:set>
                                      <p:animEffect transition="in" filter="fade">
                                        <p:cBhvr>
                                          <p:cTn id="1091" dur="350"/>
                                          <p:tgtEl>
                                            <p:spTgt spid="25"/>
                                          </p:tgtEl>
                                        </p:cBhvr>
                                      </p:animEffect>
                                    </p:childTnLst>
                                  </p:cTn>
                                </p:par>
                              </p:childTnLst>
                            </p:cTn>
                          </p:par>
                        </p:childTnLst>
                      </p:cTn>
                    </p:par>
                    <p:par>
                      <p:cTn id="1092" fill="hold">
                        <p:stCondLst>
                          <p:cond delay="indefinite"/>
                        </p:stCondLst>
                        <p:childTnLst>
                          <p:par>
                            <p:cTn id="1093" fill="hold">
                              <p:stCondLst>
                                <p:cond delay="0"/>
                              </p:stCondLst>
                              <p:childTnLst>
                                <p:par>
                                  <p:cTn id="1094" presetID="10" presetClass="entr" presetSubtype="0" fill="hold" grpId="0" nodeType="clickEffect">
                                    <p:stCondLst>
                                      <p:cond delay="0"/>
                                    </p:stCondLst>
                                    <p:childTnLst>
                                      <p:set>
                                        <p:cBhvr>
                                          <p:cTn id="1095" dur="1" fill="hold">
                                            <p:stCondLst>
                                              <p:cond delay="0"/>
                                            </p:stCondLst>
                                          </p:cTn>
                                          <p:tgtEl>
                                            <p:spTgt spid="26"/>
                                          </p:tgtEl>
                                          <p:attrNameLst>
                                            <p:attrName>style.visibility</p:attrName>
                                          </p:attrNameLst>
                                        </p:cBhvr>
                                        <p:to>
                                          <p:strVal val="visible"/>
                                        </p:to>
                                      </p:set>
                                      <p:animEffect transition="in" filter="fade">
                                        <p:cBhvr>
                                          <p:cTn id="1096"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7992565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16">
            <a:extLst xmlns:a="http://schemas.openxmlformats.org/drawingml/2006/main">
              <a:ext uri="{FF2B5EF4-FFF2-40B4-BE49-F238E27FC236}">
                <a16:creationId xmlns:a16="http://schemas.microsoft.com/office/drawing/2014/main" id="{5777C348-8BFC-460E-8A4C-7C824DF9C9FE}"/>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09 / TRỌNG TÂM MINH HỌA TOÁN 6</a:t>
            </a:r>
          </a:p>
        </p:txBody>
      </p:sp>
      <p:sp>
        <p:nvSpPr>
          <p:cNvPr id="2" name="title-16">
            <a:extLst xmlns:a="http://schemas.openxmlformats.org/drawingml/2006/main">
              <a:ext uri="{FF2B5EF4-FFF2-40B4-BE49-F238E27FC236}">
                <a16:creationId xmlns:a16="http://schemas.microsoft.com/office/drawing/2014/main" id="{CC8246E9-89C2-484A-919E-75CCF6A4475B}"/>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Bài 13 là một “phòng thí nghiệm kiểm chứng AI” rất tự nhiên</a:t>
            </a:r>
          </a:p>
        </p:txBody>
      </p:sp>
      <p:sp>
        <p:nvSpPr>
          <p:cNvPr id="3" name="rule-16">
            <a:extLst xmlns:a="http://schemas.openxmlformats.org/drawingml/2006/main">
              <a:ext uri="{FF2B5EF4-FFF2-40B4-BE49-F238E27FC236}">
                <a16:creationId xmlns:a16="http://schemas.microsoft.com/office/drawing/2014/main" id="{6BC9DB7E-E111-4D49-8DBA-91DF6DBE1BDA}"/>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16">
            <a:extLst xmlns:a="http://schemas.openxmlformats.org/drawingml/2006/main">
              <a:ext uri="{FF2B5EF4-FFF2-40B4-BE49-F238E27FC236}">
                <a16:creationId xmlns:a16="http://schemas.microsoft.com/office/drawing/2014/main" id="{2D81AB64-5937-466B-9DE0-6F7D5AEE119F}"/>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acd950b19404d1a"/>
          <a:stretch xmlns:a="http://schemas.openxmlformats.org/drawingml/2006/main"/>
        </p:blipFill>
        <p:spPr>
          <a:xfrm xmlns:a="http://schemas.openxmlformats.org/drawingml/2006/main">
            <a:off x="1418924" y="1857375"/>
            <a:ext cx="2972401" cy="4095750"/>
          </a:xfrm>
          <a:prstGeom xmlns:a="http://schemas.openxmlformats.org/drawingml/2006/main" prst="roundRect">
            <a:avLst>
              <a:gd name="adj" fmla="val 2791"/>
            </a:avLst>
          </a:prstGeom>
        </p:spPr>
      </p:pic>
      <p:sp>
        <p:nvSpPr>
          <p:cNvPr id="6" name="anim-16-math">
            <a:extLst xmlns:a="http://schemas.openxmlformats.org/drawingml/2006/main">
              <a:ext uri="{FF2B5EF4-FFF2-40B4-BE49-F238E27FC236}">
                <a16:creationId xmlns:a16="http://schemas.microsoft.com/office/drawing/2014/main" id="{C8F31B0E-8713-4B3A-9746-AF49FE0EC8B1}"/>
              </a:ext>
            </a:extLst>
          </p:cNvPr>
          <p:cNvSpPr>
            <a:spLocks xmlns:a="http://schemas.openxmlformats.org/drawingml/2006/main" noGrp="1"/>
          </p:cNvSpPr>
          <p:nvPr/>
        </p:nvSpPr>
        <p:spPr>
          <a:xfrm xmlns:a="http://schemas.openxmlformats.org/drawingml/2006/main">
            <a:off x="5953125" y="1952625"/>
            <a:ext cx="5143500" cy="2381250"/>
          </a:xfrm>
          <a:prstGeom xmlns:a="http://schemas.openxmlformats.org/drawingml/2006/main" prst="roundRect">
            <a:avLst>
              <a:gd name="adj" fmla="val 4800"/>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YÊU CẦU MÔN TOÁN</a:t>
            </a:r>
          </a:p>
          <a:p xmlns:a="http://schemas.openxmlformats.org/drawingml/2006/main">
            <a:pPr algn="l">
              <a:defRPr sz="1650" b="0">
                <a:solidFill>
                  <a:srgbClr val="10131A"/>
                </a:solidFill>
              </a:defRPr>
            </a:pPr>
            <a:r>
              <a:rPr sz="1650" b="0">
                <a:solidFill>
                  <a:srgbClr val="10131A"/>
                </a:solidFill>
              </a:rPr>
              <a:t>• Nhận biết, đọc và viết số nguyên</a:t>
            </a:r>
          </a:p>
          <a:p xmlns:a="http://schemas.openxmlformats.org/drawingml/2006/main">
            <a:pPr algn="l">
              <a:defRPr sz="1650" b="0">
                <a:solidFill>
                  <a:srgbClr val="10131A"/>
                </a:solidFill>
              </a:defRPr>
            </a:pPr>
            <a:r>
              <a:rPr sz="1650" b="0">
                <a:solidFill>
                  <a:srgbClr val="10131A"/>
                </a:solidFill>
              </a:rPr>
              <a:t>• Phân biệt số nguyên âm, số nguyên dương và số 0</a:t>
            </a:r>
          </a:p>
          <a:p xmlns:a="http://schemas.openxmlformats.org/drawingml/2006/main">
            <a:pPr algn="l">
              <a:defRPr sz="1650" b="0">
                <a:solidFill>
                  <a:srgbClr val="10131A"/>
                </a:solidFill>
              </a:defRPr>
            </a:pPr>
            <a:r>
              <a:rPr sz="1650" b="0">
                <a:solidFill>
                  <a:srgbClr val="10131A"/>
                </a:solidFill>
              </a:rPr>
              <a:t>• Biểu diễn trên trục số</a:t>
            </a:r>
          </a:p>
          <a:p xmlns:a="http://schemas.openxmlformats.org/drawingml/2006/main">
            <a:pPr algn="l">
              <a:defRPr sz="1650" b="0">
                <a:solidFill>
                  <a:srgbClr val="10131A"/>
                </a:solidFill>
              </a:defRPr>
            </a:pPr>
            <a:r>
              <a:rPr sz="1650" b="0">
                <a:solidFill>
                  <a:srgbClr val="10131A"/>
                </a:solidFill>
              </a:rPr>
              <a:t>• So sánh, sắp xếp số nguyên</a:t>
            </a:r>
          </a:p>
          <a:p xmlns:a="http://schemas.openxmlformats.org/drawingml/2006/main">
            <a:pPr algn="l">
              <a:defRPr sz="1650" b="0">
                <a:solidFill>
                  <a:srgbClr val="10131A"/>
                </a:solidFill>
              </a:defRPr>
            </a:pPr>
            <a:r>
              <a:rPr sz="1650" b="0">
                <a:solidFill>
                  <a:srgbClr val="10131A"/>
                </a:solidFill>
              </a:rPr>
              <a:t>• Giải thích ý nghĩa trong ngữ cảnh thực tế</a:t>
            </a:r>
          </a:p>
        </p:txBody>
      </p:sp>
      <p:sp>
        <p:nvSpPr>
          <p:cNvPr id="7" name="anim-16-math-accent">
            <a:extLst xmlns:a="http://schemas.openxmlformats.org/drawingml/2006/main">
              <a:ext uri="{FF2B5EF4-FFF2-40B4-BE49-F238E27FC236}">
                <a16:creationId xmlns:a16="http://schemas.microsoft.com/office/drawing/2014/main" id="{A2E3A603-FB10-41ED-B7A7-63A6867BFEBE}"/>
              </a:ext>
            </a:extLst>
          </p:cNvPr>
          <p:cNvSpPr>
            <a:spLocks xmlns:a="http://schemas.openxmlformats.org/drawingml/2006/main" noGrp="1"/>
          </p:cNvSpPr>
          <p:nvPr/>
        </p:nvSpPr>
        <p:spPr>
          <a:xfrm xmlns:a="http://schemas.openxmlformats.org/drawingml/2006/main">
            <a:off x="5953125" y="1952625"/>
            <a:ext cx="76200" cy="238125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8" name="anim-16-ai">
            <a:extLst xmlns:a="http://schemas.openxmlformats.org/drawingml/2006/main">
              <a:ext uri="{FF2B5EF4-FFF2-40B4-BE49-F238E27FC236}">
                <a16:creationId xmlns:a16="http://schemas.microsoft.com/office/drawing/2014/main" id="{4CB0606C-3518-40B2-B93A-BB59D76C198A}"/>
              </a:ext>
            </a:extLst>
          </p:cNvPr>
          <p:cNvSpPr>
            <a:spLocks xmlns:a="http://schemas.openxmlformats.org/drawingml/2006/main" noGrp="1"/>
          </p:cNvSpPr>
          <p:nvPr/>
        </p:nvSpPr>
        <p:spPr>
          <a:xfrm xmlns:a="http://schemas.openxmlformats.org/drawingml/2006/main">
            <a:off x="5953125" y="4619625"/>
            <a:ext cx="5143500" cy="1238250"/>
          </a:xfrm>
          <a:prstGeom xmlns:a="http://schemas.openxmlformats.org/drawingml/2006/main" prst="roundRect">
            <a:avLst>
              <a:gd name="adj" fmla="val 9231"/>
            </a:avLst>
          </a:prstGeom>
          <a:solidFill xmlns:a="http://schemas.openxmlformats.org/drawingml/2006/main">
            <a:srgbClr val="FFF0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ĐIỂM GIAO VỚI NĂNG LỰC AI</a:t>
            </a:r>
          </a:p>
          <a:p xmlns:a="http://schemas.openxmlformats.org/drawingml/2006/main">
            <a:pPr algn="l">
              <a:defRPr sz="1575" b="0">
                <a:solidFill>
                  <a:srgbClr val="10131A"/>
                </a:solidFill>
              </a:defRPr>
            </a:pPr>
            <a:r>
              <a:rPr sz="1575" b="0">
                <a:solidFill>
                  <a:srgbClr val="10131A"/>
                </a:solidFill>
              </a:rPr>
              <a:t>Dữ kiện đời sống rất rõ nhưng AI có thể hiểu sai dấu, thiếu ngữ cảnh hoặc tạo trục số sai. Học sinh có đủ công cụ Toán học để kiểm chứng và sửa.</a:t>
            </a:r>
          </a:p>
        </p:txBody>
      </p:sp>
      <p:sp>
        <p:nvSpPr>
          <p:cNvPr id="9" name="anim-16-ai-accent">
            <a:extLst xmlns:a="http://schemas.openxmlformats.org/drawingml/2006/main">
              <a:ext uri="{FF2B5EF4-FFF2-40B4-BE49-F238E27FC236}">
                <a16:creationId xmlns:a16="http://schemas.microsoft.com/office/drawing/2014/main" id="{B6B1CBD5-E041-4DBB-A94F-3C195E8E3207}"/>
              </a:ext>
            </a:extLst>
          </p:cNvPr>
          <p:cNvSpPr>
            <a:spLocks xmlns:a="http://schemas.openxmlformats.org/drawingml/2006/main" noGrp="1"/>
          </p:cNvSpPr>
          <p:nvPr/>
        </p:nvSpPr>
        <p:spPr>
          <a:xfrm xmlns:a="http://schemas.openxmlformats.org/drawingml/2006/main">
            <a:off x="5953125" y="4619625"/>
            <a:ext cx="76200" cy="1238250"/>
          </a:xfrm>
          <a:prstGeom xmlns:a="http://schemas.openxmlformats.org/drawingml/2006/main" prst="rect">
            <a:avLst/>
          </a:prstGeom>
          <a:solidFill xmlns:a="http://schemas.openxmlformats.org/drawingml/2006/main">
            <a:srgbClr val="D84A4A"/>
          </a:solidFill>
          <a:ln xmlns:a="http://schemas.openxmlformats.org/drawingml/2006/main" w="0">
            <a:solidFill>
              <a:srgbClr val="D84A4A"/>
            </a:solidFill>
            <a:prstDash val="solid"/>
          </a:ln>
        </p:spPr>
      </p:sp>
      <p:sp>
        <p:nvSpPr>
          <p:cNvPr id="10" name="source-16">
            <a:extLst xmlns:a="http://schemas.openxmlformats.org/drawingml/2006/main">
              <a:ext uri="{FF2B5EF4-FFF2-40B4-BE49-F238E27FC236}">
                <a16:creationId xmlns:a16="http://schemas.microsoft.com/office/drawing/2014/main" id="{88969F4D-5AA5-4DBF-A936-1C78DCE9BE59}"/>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hình: SGK Toán 6, Bài 13.</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6"/>
                                          </p:tgtEl>
                                          <p:attrNameLst>
                                            <p:attrName>style.visibility</p:attrName>
                                          </p:attrNameLst>
                                        </p:cBhvr>
                                        <p:to>
                                          <p:strVal val="visible"/>
                                        </p:to>
                                      </p:set>
                                      <p:animEffect transition="in" filter="fade">
                                        <p:cBhvr>
                                          <p:cTn id="1006" dur="350"/>
                                          <p:tgtEl>
                                            <p:spTgt spid="6"/>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8"/>
                                          </p:tgtEl>
                                          <p:attrNameLst>
                                            <p:attrName>style.visibility</p:attrName>
                                          </p:attrNameLst>
                                        </p:cBhvr>
                                        <p:to>
                                          <p:strVal val="visible"/>
                                        </p:to>
                                      </p:set>
                                      <p:animEffect transition="in" filter="fade">
                                        <p:cBhvr>
                                          <p:cTn id="1011"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2402241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17">
            <a:extLst xmlns:a="http://schemas.openxmlformats.org/drawingml/2006/main">
              <a:ext uri="{FF2B5EF4-FFF2-40B4-BE49-F238E27FC236}">
                <a16:creationId xmlns:a16="http://schemas.microsoft.com/office/drawing/2014/main" id="{4F26CAE5-0BD6-4E32-BEC2-45F444608E32}"/>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09 / TRỌNG TÂM MINH HỌA TOÁN 6</a:t>
            </a:r>
          </a:p>
        </p:txBody>
      </p:sp>
      <p:sp>
        <p:nvSpPr>
          <p:cNvPr id="2" name="title-17">
            <a:extLst xmlns:a="http://schemas.openxmlformats.org/drawingml/2006/main">
              <a:ext uri="{FF2B5EF4-FFF2-40B4-BE49-F238E27FC236}">
                <a16:creationId xmlns:a16="http://schemas.microsoft.com/office/drawing/2014/main" id="{E56E5872-995C-40E0-8737-5207CA0233D3}"/>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Mục tiêu kép: giữ nguyên chuẩn Toán, thêm quy trình kiểm chứng</a:t>
            </a:r>
          </a:p>
        </p:txBody>
      </p:sp>
      <p:sp>
        <p:nvSpPr>
          <p:cNvPr id="3" name="rule-17">
            <a:extLst xmlns:a="http://schemas.openxmlformats.org/drawingml/2006/main">
              <a:ext uri="{FF2B5EF4-FFF2-40B4-BE49-F238E27FC236}">
                <a16:creationId xmlns:a16="http://schemas.microsoft.com/office/drawing/2014/main" id="{715A2D42-6EAF-4822-A10F-EE29A0B31136}"/>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17">
            <a:extLst xmlns:a="http://schemas.openxmlformats.org/drawingml/2006/main">
              <a:ext uri="{FF2B5EF4-FFF2-40B4-BE49-F238E27FC236}">
                <a16:creationId xmlns:a16="http://schemas.microsoft.com/office/drawing/2014/main" id="{C62FF818-732C-4FD1-8B9A-11E473CBE000}"/>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01086c83eba4b71"/>
          <a:stretch xmlns:a="http://schemas.openxmlformats.org/drawingml/2006/main"/>
        </p:blipFill>
        <p:spPr>
          <a:xfrm xmlns:a="http://schemas.openxmlformats.org/drawingml/2006/main">
            <a:off x="1228622" y="1857375"/>
            <a:ext cx="2829130" cy="4095750"/>
          </a:xfrm>
          <a:prstGeom xmlns:a="http://schemas.openxmlformats.org/drawingml/2006/main" prst="roundRect">
            <a:avLst>
              <a:gd name="adj" fmla="val 2791"/>
            </a:avLst>
          </a:prstGeom>
        </p:spPr>
      </p:pic>
      <p:sp>
        <p:nvSpPr>
          <p:cNvPr id="6" name="anim-17-left">
            <a:extLst xmlns:a="http://schemas.openxmlformats.org/drawingml/2006/main">
              <a:ext uri="{FF2B5EF4-FFF2-40B4-BE49-F238E27FC236}">
                <a16:creationId xmlns:a16="http://schemas.microsoft.com/office/drawing/2014/main" id="{01B7B847-15D2-4067-A026-90342789A555}"/>
              </a:ext>
            </a:extLst>
          </p:cNvPr>
          <p:cNvSpPr>
            <a:spLocks xmlns:a="http://schemas.openxmlformats.org/drawingml/2006/main" noGrp="1"/>
          </p:cNvSpPr>
          <p:nvPr/>
        </p:nvSpPr>
        <p:spPr>
          <a:xfrm xmlns:a="http://schemas.openxmlformats.org/drawingml/2006/main">
            <a:off x="5286375" y="1952625"/>
            <a:ext cx="6143625" cy="1714500"/>
          </a:xfrm>
          <a:prstGeom xmlns:a="http://schemas.openxmlformats.org/drawingml/2006/main" prst="roundRect">
            <a:avLst>
              <a:gd name="adj" fmla="val 6667"/>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SAU BÀI HỌC, HỌC SINH LÀM ĐƯỢC VỀ TOÁN</a:t>
            </a:r>
          </a:p>
          <a:p xmlns:a="http://schemas.openxmlformats.org/drawingml/2006/main">
            <a:pPr algn="l">
              <a:defRPr sz="1575" b="0">
                <a:solidFill>
                  <a:srgbClr val="10131A"/>
                </a:solidFill>
              </a:defRPr>
            </a:pPr>
            <a:r>
              <a:rPr sz="1575" b="0">
                <a:solidFill>
                  <a:srgbClr val="10131A"/>
                </a:solidFill>
              </a:rPr>
              <a:t>1. Dùng số nguyên mô tả nhiệt độ, độ cao, tiền lãi/lỗ.</a:t>
            </a:r>
          </a:p>
          <a:p xmlns:a="http://schemas.openxmlformats.org/drawingml/2006/main">
            <a:pPr algn="l">
              <a:defRPr sz="1575" b="0">
                <a:solidFill>
                  <a:srgbClr val="10131A"/>
                </a:solidFill>
              </a:defRPr>
            </a:pPr>
            <a:r>
              <a:rPr sz="1575" b="0">
                <a:solidFill>
                  <a:srgbClr val="10131A"/>
                </a:solidFill>
              </a:rPr>
              <a:t>2. Biểu diễn và xác định vị trí trên trục số.</a:t>
            </a:r>
          </a:p>
          <a:p xmlns:a="http://schemas.openxmlformats.org/drawingml/2006/main">
            <a:pPr algn="l">
              <a:defRPr sz="1575" b="0">
                <a:solidFill>
                  <a:srgbClr val="10131A"/>
                </a:solidFill>
              </a:defRPr>
            </a:pPr>
            <a:r>
              <a:rPr sz="1575" b="0">
                <a:solidFill>
                  <a:srgbClr val="10131A"/>
                </a:solidFill>
              </a:rPr>
              <a:t>3. So sánh, sắp xếp và giải thích bằng lập luận Toán học.</a:t>
            </a:r>
          </a:p>
        </p:txBody>
      </p:sp>
      <p:sp>
        <p:nvSpPr>
          <p:cNvPr id="7" name="anim-17-left-accent">
            <a:extLst xmlns:a="http://schemas.openxmlformats.org/drawingml/2006/main">
              <a:ext uri="{FF2B5EF4-FFF2-40B4-BE49-F238E27FC236}">
                <a16:creationId xmlns:a16="http://schemas.microsoft.com/office/drawing/2014/main" id="{04EE29EE-C2F1-4303-A59D-97B11C0B5FB9}"/>
              </a:ext>
            </a:extLst>
          </p:cNvPr>
          <p:cNvSpPr>
            <a:spLocks xmlns:a="http://schemas.openxmlformats.org/drawingml/2006/main" noGrp="1"/>
          </p:cNvSpPr>
          <p:nvPr/>
        </p:nvSpPr>
        <p:spPr>
          <a:xfrm xmlns:a="http://schemas.openxmlformats.org/drawingml/2006/main">
            <a:off x="5286375" y="1952625"/>
            <a:ext cx="76200" cy="171450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8" name="anim-17-right">
            <a:extLst xmlns:a="http://schemas.openxmlformats.org/drawingml/2006/main">
              <a:ext uri="{FF2B5EF4-FFF2-40B4-BE49-F238E27FC236}">
                <a16:creationId xmlns:a16="http://schemas.microsoft.com/office/drawing/2014/main" id="{121150DC-8C15-429D-8574-15702843DD9B}"/>
              </a:ext>
            </a:extLst>
          </p:cNvPr>
          <p:cNvSpPr>
            <a:spLocks xmlns:a="http://schemas.openxmlformats.org/drawingml/2006/main" noGrp="1"/>
          </p:cNvSpPr>
          <p:nvPr/>
        </p:nvSpPr>
        <p:spPr>
          <a:xfrm xmlns:a="http://schemas.openxmlformats.org/drawingml/2006/main">
            <a:off x="5286375" y="4000500"/>
            <a:ext cx="6143625" cy="1857375"/>
          </a:xfrm>
          <a:prstGeom xmlns:a="http://schemas.openxmlformats.org/drawingml/2006/main" prst="roundRect">
            <a:avLst>
              <a:gd name="adj" fmla="val 6154"/>
            </a:avLst>
          </a:prstGeom>
          <a:solidFill xmlns:a="http://schemas.openxmlformats.org/drawingml/2006/main">
            <a:srgbClr val="FFF0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ĐỒNG THỜI HÌNH THÀNH NĂNG LỰC AI</a:t>
            </a:r>
          </a:p>
          <a:p xmlns:a="http://schemas.openxmlformats.org/drawingml/2006/main">
            <a:pPr algn="l">
              <a:defRPr sz="1575" b="0">
                <a:solidFill>
                  <a:srgbClr val="10131A"/>
                </a:solidFill>
              </a:defRPr>
            </a:pPr>
            <a:r>
              <a:rPr sz="1575" b="0">
                <a:solidFill>
                  <a:srgbClr val="10131A"/>
                </a:solidFill>
              </a:rPr>
              <a:t>• 6.A1.3: kiểm tra lại kết quả AI trước khi sử dụng.</a:t>
            </a:r>
          </a:p>
          <a:p xmlns:a="http://schemas.openxmlformats.org/drawingml/2006/main">
            <a:pPr algn="l">
              <a:defRPr sz="1575" b="0">
                <a:solidFill>
                  <a:srgbClr val="10131A"/>
                </a:solidFill>
              </a:defRPr>
            </a:pPr>
            <a:r>
              <a:rPr sz="1575" b="0">
                <a:solidFill>
                  <a:srgbClr val="10131A"/>
                </a:solidFill>
              </a:rPr>
              <a:t>• 6.D1.1: biết khi nào nên/không nên dùng AI.</a:t>
            </a:r>
          </a:p>
          <a:p xmlns:a="http://schemas.openxmlformats.org/drawingml/2006/main">
            <a:pPr algn="l">
              <a:defRPr sz="1575" b="0">
                <a:solidFill>
                  <a:srgbClr val="10131A"/>
                </a:solidFill>
              </a:defRPr>
            </a:pPr>
            <a:r>
              <a:rPr sz="1575" b="0">
                <a:solidFill>
                  <a:srgbClr val="10131A"/>
                </a:solidFill>
              </a:rPr>
              <a:t>• Ghi được câu lệnh, kết quả, nguồn đối chiếu và phần đã sửa.</a:t>
            </a:r>
          </a:p>
          <a:p xmlns:a="http://schemas.openxmlformats.org/drawingml/2006/main">
            <a:pPr algn="l">
              <a:defRPr sz="1575" b="0">
                <a:solidFill>
                  <a:srgbClr val="10131A"/>
                </a:solidFill>
              </a:defRPr>
            </a:pPr>
            <a:r>
              <a:rPr sz="1575" b="0">
                <a:solidFill>
                  <a:srgbClr val="10131A"/>
                </a:solidFill>
              </a:rPr>
              <a:t>• Con người đưa ra kết luận cuối cùng.</a:t>
            </a:r>
          </a:p>
        </p:txBody>
      </p:sp>
      <p:sp>
        <p:nvSpPr>
          <p:cNvPr id="9" name="anim-17-right-accent">
            <a:extLst xmlns:a="http://schemas.openxmlformats.org/drawingml/2006/main">
              <a:ext uri="{FF2B5EF4-FFF2-40B4-BE49-F238E27FC236}">
                <a16:creationId xmlns:a16="http://schemas.microsoft.com/office/drawing/2014/main" id="{CDB73B03-71D9-4D53-A4F2-F762D3A38E99}"/>
              </a:ext>
            </a:extLst>
          </p:cNvPr>
          <p:cNvSpPr>
            <a:spLocks xmlns:a="http://schemas.openxmlformats.org/drawingml/2006/main" noGrp="1"/>
          </p:cNvSpPr>
          <p:nvPr/>
        </p:nvSpPr>
        <p:spPr>
          <a:xfrm xmlns:a="http://schemas.openxmlformats.org/drawingml/2006/main">
            <a:off x="5286375" y="4000500"/>
            <a:ext cx="76200" cy="1857375"/>
          </a:xfrm>
          <a:prstGeom xmlns:a="http://schemas.openxmlformats.org/drawingml/2006/main" prst="rect">
            <a:avLst/>
          </a:prstGeom>
          <a:solidFill xmlns:a="http://schemas.openxmlformats.org/drawingml/2006/main">
            <a:srgbClr val="D84A4A"/>
          </a:solidFill>
          <a:ln xmlns:a="http://schemas.openxmlformats.org/drawingml/2006/main" w="0">
            <a:solidFill>
              <a:srgbClr val="D84A4A"/>
            </a:solidFill>
            <a:prstDash val="solid"/>
          </a:ln>
        </p:spPr>
      </p:sp>
      <p:sp>
        <p:nvSpPr>
          <p:cNvPr id="10" name="source-17">
            <a:extLst xmlns:a="http://schemas.openxmlformats.org/drawingml/2006/main">
              <a:ext uri="{FF2B5EF4-FFF2-40B4-BE49-F238E27FC236}">
                <a16:creationId xmlns:a16="http://schemas.microsoft.com/office/drawing/2014/main" id="{14815034-0FB7-496D-80D3-9D374EA1FAFF}"/>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SGK Toán 6 và yêu cầu 6.A1.3, 6.D1.1 trong Khung AI.</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6"/>
                                          </p:tgtEl>
                                          <p:attrNameLst>
                                            <p:attrName>style.visibility</p:attrName>
                                          </p:attrNameLst>
                                        </p:cBhvr>
                                        <p:to>
                                          <p:strVal val="visible"/>
                                        </p:to>
                                      </p:set>
                                      <p:animEffect transition="in" filter="fade">
                                        <p:cBhvr>
                                          <p:cTn id="1006" dur="350"/>
                                          <p:tgtEl>
                                            <p:spTgt spid="6"/>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8"/>
                                          </p:tgtEl>
                                          <p:attrNameLst>
                                            <p:attrName>style.visibility</p:attrName>
                                          </p:attrNameLst>
                                        </p:cBhvr>
                                        <p:to>
                                          <p:strVal val="visible"/>
                                        </p:to>
                                      </p:set>
                                      <p:animEffect transition="in" filter="fade">
                                        <p:cBhvr>
                                          <p:cTn id="1011"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20657631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18">
            <a:extLst xmlns:a="http://schemas.openxmlformats.org/drawingml/2006/main">
              <a:ext uri="{FF2B5EF4-FFF2-40B4-BE49-F238E27FC236}">
                <a16:creationId xmlns:a16="http://schemas.microsoft.com/office/drawing/2014/main" id="{2685BD70-5F13-4AA1-BD6D-F4F5DD279624}"/>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09 / TRỌNG TÂM MINH HỌA TOÁN 6</a:t>
            </a:r>
          </a:p>
        </p:txBody>
      </p:sp>
      <p:sp>
        <p:nvSpPr>
          <p:cNvPr id="2" name="title-18">
            <a:extLst xmlns:a="http://schemas.openxmlformats.org/drawingml/2006/main">
              <a:ext uri="{FF2B5EF4-FFF2-40B4-BE49-F238E27FC236}">
                <a16:creationId xmlns:a16="http://schemas.microsoft.com/office/drawing/2014/main" id="{301529FC-3A88-40D2-888C-647CAAFFA5C9}"/>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Hoạt động 1 — AI có hiểu đúng dấu âm trong ngữ cảnh?</a:t>
            </a:r>
          </a:p>
        </p:txBody>
      </p:sp>
      <p:sp>
        <p:nvSpPr>
          <p:cNvPr id="3" name="subtitle-18">
            <a:extLst xmlns:a="http://schemas.openxmlformats.org/drawingml/2006/main">
              <a:ext uri="{FF2B5EF4-FFF2-40B4-BE49-F238E27FC236}">
                <a16:creationId xmlns:a16="http://schemas.microsoft.com/office/drawing/2014/main" id="{E8C84BD9-666B-4A3E-AB9F-E56A4AC22E85}"/>
              </a:ext>
            </a:extLst>
          </p:cNvPr>
          <p:cNvSpPr>
            <a:spLocks xmlns:a="http://schemas.openxmlformats.org/drawingml/2006/main" noGrp="1"/>
          </p:cNvSpPr>
          <p:nvPr/>
        </p:nvSpPr>
        <p:spPr>
          <a:xfrm xmlns:a="http://schemas.openxmlformats.org/drawingml/2006/main">
            <a:off x="419100" y="140970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defRPr>
            </a:pPr>
            <a:r>
              <a:rPr sz="1275" b="0">
                <a:solidFill>
                  <a:srgbClr val="5E6673"/>
                </a:solidFill>
              </a:rPr>
              <a:t>Thời lượng gợi ý: 10–12 phút • Nhóm 4 học sinh • Có thể dùng 1 thiết bị chung</a:t>
            </a:r>
          </a:p>
        </p:txBody>
      </p:sp>
      <p:sp>
        <p:nvSpPr>
          <p:cNvPr id="4" name="rule-18">
            <a:extLst xmlns:a="http://schemas.openxmlformats.org/drawingml/2006/main">
              <a:ext uri="{FF2B5EF4-FFF2-40B4-BE49-F238E27FC236}">
                <a16:creationId xmlns:a16="http://schemas.microsoft.com/office/drawing/2014/main" id="{2EEAFB3B-9F90-4BA4-81EA-FB2DE803EEB8}"/>
              </a:ext>
            </a:extLst>
          </p:cNvPr>
          <p:cNvSpPr>
            <a:spLocks xmlns:a="http://schemas.openxmlformats.org/drawingml/2006/main" noGrp="1"/>
          </p:cNvSpPr>
          <p:nvPr/>
        </p:nvSpPr>
        <p:spPr>
          <a:xfrm xmlns:a="http://schemas.openxmlformats.org/drawingml/2006/main">
            <a:off x="400050" y="16954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page-18">
            <a:extLst xmlns:a="http://schemas.openxmlformats.org/drawingml/2006/main">
              <a:ext uri="{FF2B5EF4-FFF2-40B4-BE49-F238E27FC236}">
                <a16:creationId xmlns:a16="http://schemas.microsoft.com/office/drawing/2014/main" id="{8B1968F2-F563-4169-9984-C991B6565270}"/>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18</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dad55117fa943b2"/>
          <a:stretch xmlns:a="http://schemas.openxmlformats.org/drawingml/2006/main"/>
        </p:blipFill>
        <p:spPr>
          <a:xfrm xmlns:a="http://schemas.openxmlformats.org/drawingml/2006/main">
            <a:off x="1165660" y="1952625"/>
            <a:ext cx="2812179" cy="4000500"/>
          </a:xfrm>
          <a:prstGeom xmlns:a="http://schemas.openxmlformats.org/drawingml/2006/main" prst="roundRect">
            <a:avLst>
              <a:gd name="adj" fmla="val 2857"/>
            </a:avLst>
          </a:prstGeom>
        </p:spPr>
      </p:pic>
      <p:sp>
        <p:nvSpPr>
          <p:cNvPr id="7" name="anim-18-task">
            <a:extLst xmlns:a="http://schemas.openxmlformats.org/drawingml/2006/main">
              <a:ext uri="{FF2B5EF4-FFF2-40B4-BE49-F238E27FC236}">
                <a16:creationId xmlns:a16="http://schemas.microsoft.com/office/drawing/2014/main" id="{B038FC81-6AEF-4A24-A3CD-84D2C755149B}"/>
              </a:ext>
            </a:extLst>
          </p:cNvPr>
          <p:cNvSpPr>
            <a:spLocks xmlns:a="http://schemas.openxmlformats.org/drawingml/2006/main" noGrp="1"/>
          </p:cNvSpPr>
          <p:nvPr/>
        </p:nvSpPr>
        <p:spPr>
          <a:xfrm xmlns:a="http://schemas.openxmlformats.org/drawingml/2006/main">
            <a:off x="5095875" y="1952625"/>
            <a:ext cx="6381750" cy="1190625"/>
          </a:xfrm>
          <a:prstGeom xmlns:a="http://schemas.openxmlformats.org/drawingml/2006/main" prst="roundRect">
            <a:avLst>
              <a:gd name="adj" fmla="val 9600"/>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NHIỆM VỤ</a:t>
            </a:r>
          </a:p>
          <a:p xmlns:a="http://schemas.openxmlformats.org/drawingml/2006/main">
            <a:pPr algn="l">
              <a:defRPr sz="1575" b="0">
                <a:solidFill>
                  <a:srgbClr val="10131A"/>
                </a:solidFill>
              </a:defRPr>
            </a:pPr>
            <a:r>
              <a:rPr sz="1575" b="0">
                <a:solidFill>
                  <a:srgbClr val="10131A"/>
                </a:solidFill>
              </a:rPr>
              <a:t>Nhập cho AI hai dữ kiện trong SGK: độ cao +3 143 m / −10 971 m và giao dịch +160 000 / −4 000 đồng. Yêu cầu AI giải thích ý nghĩa dấu.</a:t>
            </a:r>
          </a:p>
        </p:txBody>
      </p:sp>
      <p:sp>
        <p:nvSpPr>
          <p:cNvPr id="8" name="anim-18-task-accent">
            <a:extLst xmlns:a="http://schemas.openxmlformats.org/drawingml/2006/main">
              <a:ext uri="{FF2B5EF4-FFF2-40B4-BE49-F238E27FC236}">
                <a16:creationId xmlns:a16="http://schemas.microsoft.com/office/drawing/2014/main" id="{80BC4EEA-F9E0-4005-9E3F-720EE8EB8B26}"/>
              </a:ext>
            </a:extLst>
          </p:cNvPr>
          <p:cNvSpPr>
            <a:spLocks xmlns:a="http://schemas.openxmlformats.org/drawingml/2006/main" noGrp="1"/>
          </p:cNvSpPr>
          <p:nvPr/>
        </p:nvSpPr>
        <p:spPr>
          <a:xfrm xmlns:a="http://schemas.openxmlformats.org/drawingml/2006/main">
            <a:off x="5095875" y="1952625"/>
            <a:ext cx="76200" cy="1190625"/>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9" name="anim-18-trap">
            <a:extLst xmlns:a="http://schemas.openxmlformats.org/drawingml/2006/main">
              <a:ext uri="{FF2B5EF4-FFF2-40B4-BE49-F238E27FC236}">
                <a16:creationId xmlns:a16="http://schemas.microsoft.com/office/drawing/2014/main" id="{4CBEEC24-8BDA-4113-9838-56F31E020D4D}"/>
              </a:ext>
            </a:extLst>
          </p:cNvPr>
          <p:cNvSpPr>
            <a:spLocks xmlns:a="http://schemas.openxmlformats.org/drawingml/2006/main" noGrp="1"/>
          </p:cNvSpPr>
          <p:nvPr/>
        </p:nvSpPr>
        <p:spPr>
          <a:xfrm xmlns:a="http://schemas.openxmlformats.org/drawingml/2006/main">
            <a:off x="5095875" y="3429000"/>
            <a:ext cx="6381750" cy="1190625"/>
          </a:xfrm>
          <a:prstGeom xmlns:a="http://schemas.openxmlformats.org/drawingml/2006/main" prst="roundRect">
            <a:avLst>
              <a:gd name="adj" fmla="val 9600"/>
            </a:avLst>
          </a:prstGeom>
          <a:solidFill xmlns:a="http://schemas.openxmlformats.org/drawingml/2006/main">
            <a:srgbClr val="FFF0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BẪY KIỂM CHỨNG</a:t>
            </a:r>
          </a:p>
          <a:p xmlns:a="http://schemas.openxmlformats.org/drawingml/2006/main">
            <a:pPr algn="l">
              <a:defRPr sz="1575" b="0">
                <a:solidFill>
                  <a:srgbClr val="10131A"/>
                </a:solidFill>
              </a:defRPr>
            </a:pPr>
            <a:r>
              <a:rPr sz="1575" b="0">
                <a:solidFill>
                  <a:srgbClr val="10131A"/>
                </a:solidFill>
              </a:rPr>
              <a:t>Nếu AI kết luận “tài khoản còn 156 000 đồng”, học sinh phải phản biện: chưa biết số dư ban đầu nên không thể xác định số dư cuối.</a:t>
            </a:r>
          </a:p>
        </p:txBody>
      </p:sp>
      <p:sp>
        <p:nvSpPr>
          <p:cNvPr id="10" name="anim-18-trap-accent">
            <a:extLst xmlns:a="http://schemas.openxmlformats.org/drawingml/2006/main">
              <a:ext uri="{FF2B5EF4-FFF2-40B4-BE49-F238E27FC236}">
                <a16:creationId xmlns:a16="http://schemas.microsoft.com/office/drawing/2014/main" id="{102540F8-2313-4844-88C1-FCF07B0B0BF9}"/>
              </a:ext>
            </a:extLst>
          </p:cNvPr>
          <p:cNvSpPr>
            <a:spLocks xmlns:a="http://schemas.openxmlformats.org/drawingml/2006/main" noGrp="1"/>
          </p:cNvSpPr>
          <p:nvPr/>
        </p:nvSpPr>
        <p:spPr>
          <a:xfrm xmlns:a="http://schemas.openxmlformats.org/drawingml/2006/main">
            <a:off x="5095875" y="3429000"/>
            <a:ext cx="76200" cy="1190625"/>
          </a:xfrm>
          <a:prstGeom xmlns:a="http://schemas.openxmlformats.org/drawingml/2006/main" prst="rect">
            <a:avLst/>
          </a:prstGeom>
          <a:solidFill xmlns:a="http://schemas.openxmlformats.org/drawingml/2006/main">
            <a:srgbClr val="D84A4A"/>
          </a:solidFill>
          <a:ln xmlns:a="http://schemas.openxmlformats.org/drawingml/2006/main" w="0">
            <a:solidFill>
              <a:srgbClr val="D84A4A"/>
            </a:solidFill>
            <a:prstDash val="solid"/>
          </a:ln>
        </p:spPr>
      </p:sp>
      <p:sp>
        <p:nvSpPr>
          <p:cNvPr id="11" name="anim-18-product">
            <a:extLst xmlns:a="http://schemas.openxmlformats.org/drawingml/2006/main">
              <a:ext uri="{FF2B5EF4-FFF2-40B4-BE49-F238E27FC236}">
                <a16:creationId xmlns:a16="http://schemas.microsoft.com/office/drawing/2014/main" id="{7A422B4F-1D97-4C22-A720-B78B97113BC5}"/>
              </a:ext>
            </a:extLst>
          </p:cNvPr>
          <p:cNvSpPr>
            <a:spLocks xmlns:a="http://schemas.openxmlformats.org/drawingml/2006/main" noGrp="1"/>
          </p:cNvSpPr>
          <p:nvPr/>
        </p:nvSpPr>
        <p:spPr>
          <a:xfrm xmlns:a="http://schemas.openxmlformats.org/drawingml/2006/main">
            <a:off x="5095875" y="4905375"/>
            <a:ext cx="6381750" cy="1047750"/>
          </a:xfrm>
          <a:prstGeom xmlns:a="http://schemas.openxmlformats.org/drawingml/2006/main" prst="roundRect">
            <a:avLst>
              <a:gd name="adj" fmla="val 10909"/>
            </a:avLst>
          </a:prstGeom>
          <a:solidFill xmlns:a="http://schemas.openxmlformats.org/drawingml/2006/main">
            <a:srgbClr val="EAF7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131A"/>
                </a:solidFill>
              </a:defRPr>
            </a:pPr>
            <a:r>
              <a:rPr sz="1500" b="0">
                <a:solidFill>
                  <a:srgbClr val="10131A"/>
                </a:solidFill>
              </a:rPr>
              <a:t>SẢN PHẨM NHÓM</a:t>
            </a:r>
          </a:p>
          <a:p xmlns:a="http://schemas.openxmlformats.org/drawingml/2006/main">
            <a:pPr algn="l">
              <a:defRPr sz="1500" b="0">
                <a:solidFill>
                  <a:srgbClr val="10131A"/>
                </a:solidFill>
              </a:defRPr>
            </a:pPr>
            <a:r>
              <a:rPr sz="1500" b="0">
                <a:solidFill>
                  <a:srgbClr val="10131A"/>
                </a:solidFill>
              </a:rPr>
              <a:t>Bảng 4 cột: Dữ kiện gốc | AI trả lời | Minh chứng đối chiếu | Kết luận/sửa lỗi. Đại diện nhóm giải thích vì sao con người quyết định cuối cùng.</a:t>
            </a:r>
          </a:p>
        </p:txBody>
      </p:sp>
      <p:sp>
        <p:nvSpPr>
          <p:cNvPr id="12" name="anim-18-product-accent">
            <a:extLst xmlns:a="http://schemas.openxmlformats.org/drawingml/2006/main">
              <a:ext uri="{FF2B5EF4-FFF2-40B4-BE49-F238E27FC236}">
                <a16:creationId xmlns:a16="http://schemas.microsoft.com/office/drawing/2014/main" id="{4639DC9F-8C6D-48A1-9926-7DD57ED22825}"/>
              </a:ext>
            </a:extLst>
          </p:cNvPr>
          <p:cNvSpPr>
            <a:spLocks xmlns:a="http://schemas.openxmlformats.org/drawingml/2006/main" noGrp="1"/>
          </p:cNvSpPr>
          <p:nvPr/>
        </p:nvSpPr>
        <p:spPr>
          <a:xfrm xmlns:a="http://schemas.openxmlformats.org/drawingml/2006/main">
            <a:off x="5095875" y="4905375"/>
            <a:ext cx="76200" cy="1047750"/>
          </a:xfrm>
          <a:prstGeom xmlns:a="http://schemas.openxmlformats.org/drawingml/2006/main" prst="rect">
            <a:avLst/>
          </a:prstGeom>
          <a:solidFill xmlns:a="http://schemas.openxmlformats.org/drawingml/2006/main">
            <a:srgbClr val="1B8A5A"/>
          </a:solidFill>
          <a:ln xmlns:a="http://schemas.openxmlformats.org/drawingml/2006/main" w="0">
            <a:solidFill>
              <a:srgbClr val="1B8A5A"/>
            </a:solidFill>
            <a:prstDash val="solid"/>
          </a:ln>
        </p:spPr>
      </p:sp>
      <p:sp>
        <p:nvSpPr>
          <p:cNvPr id="13" name="source-18">
            <a:extLst xmlns:a="http://schemas.openxmlformats.org/drawingml/2006/main">
              <a:ext uri="{FF2B5EF4-FFF2-40B4-BE49-F238E27FC236}">
                <a16:creationId xmlns:a16="http://schemas.microsoft.com/office/drawing/2014/main" id="{E0F5D7C3-B98F-4C23-A4ED-0CBF67283B3A}"/>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hình và dữ kiện: SGK Toán 6, Bài 13.</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7"/>
                                          </p:tgtEl>
                                          <p:attrNameLst>
                                            <p:attrName>style.visibility</p:attrName>
                                          </p:attrNameLst>
                                        </p:cBhvr>
                                        <p:to>
                                          <p:strVal val="visible"/>
                                        </p:to>
                                      </p:set>
                                      <p:animEffect transition="in" filter="fade">
                                        <p:cBhvr>
                                          <p:cTn id="1006" dur="350"/>
                                          <p:tgtEl>
                                            <p:spTgt spid="7"/>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9"/>
                                          </p:tgtEl>
                                          <p:attrNameLst>
                                            <p:attrName>style.visibility</p:attrName>
                                          </p:attrNameLst>
                                        </p:cBhvr>
                                        <p:to>
                                          <p:strVal val="visible"/>
                                        </p:to>
                                      </p:set>
                                      <p:animEffect transition="in" filter="fade">
                                        <p:cBhvr>
                                          <p:cTn id="1011" dur="350"/>
                                          <p:tgtEl>
                                            <p:spTgt spid="9"/>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11"/>
                                          </p:tgtEl>
                                          <p:attrNameLst>
                                            <p:attrName>style.visibility</p:attrName>
                                          </p:attrNameLst>
                                        </p:cBhvr>
                                        <p:to>
                                          <p:strVal val="visible"/>
                                        </p:to>
                                      </p:set>
                                      <p:animEffect transition="in" filter="fade">
                                        <p:cBhvr>
                                          <p:cTn id="1016"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72817336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19">
            <a:extLst xmlns:a="http://schemas.openxmlformats.org/drawingml/2006/main">
              <a:ext uri="{FF2B5EF4-FFF2-40B4-BE49-F238E27FC236}">
                <a16:creationId xmlns:a16="http://schemas.microsoft.com/office/drawing/2014/main" id="{DE75C8B5-BBF6-49BD-90B4-25540C3001CA}"/>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09 / TRỌNG TÂM MINH HỌA TOÁN 6</a:t>
            </a:r>
          </a:p>
        </p:txBody>
      </p:sp>
      <p:sp>
        <p:nvSpPr>
          <p:cNvPr id="2" name="title-19">
            <a:extLst xmlns:a="http://schemas.openxmlformats.org/drawingml/2006/main">
              <a:ext uri="{FF2B5EF4-FFF2-40B4-BE49-F238E27FC236}">
                <a16:creationId xmlns:a16="http://schemas.microsoft.com/office/drawing/2014/main" id="{90C23195-9418-4E2B-873B-D1C1B0FDA170}"/>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0131A"/>
                </a:solidFill>
              </a:defRPr>
            </a:pPr>
            <a:r>
              <a:rPr sz="2850" b="1">
                <a:solidFill>
                  <a:srgbClr val="10131A"/>
                </a:solidFill>
              </a:rPr>
              <a:t>Hoạt động 2 — Săn lỗi trên trục số do AI tạo</a:t>
            </a:r>
          </a:p>
        </p:txBody>
      </p:sp>
      <p:sp>
        <p:nvSpPr>
          <p:cNvPr id="3" name="subtitle-19">
            <a:extLst xmlns:a="http://schemas.openxmlformats.org/drawingml/2006/main">
              <a:ext uri="{FF2B5EF4-FFF2-40B4-BE49-F238E27FC236}">
                <a16:creationId xmlns:a16="http://schemas.microsoft.com/office/drawing/2014/main" id="{4BC485FA-BF07-4D9B-A835-75E2979C5593}"/>
              </a:ext>
            </a:extLst>
          </p:cNvPr>
          <p:cNvSpPr>
            <a:spLocks xmlns:a="http://schemas.openxmlformats.org/drawingml/2006/main" noGrp="1"/>
          </p:cNvSpPr>
          <p:nvPr/>
        </p:nvSpPr>
        <p:spPr>
          <a:xfrm xmlns:a="http://schemas.openxmlformats.org/drawingml/2006/main">
            <a:off x="419100" y="140970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defRPr>
            </a:pPr>
            <a:r>
              <a:rPr sz="1275" b="0">
                <a:solidFill>
                  <a:srgbClr val="5E6673"/>
                </a:solidFill>
              </a:rPr>
              <a:t>Thời lượng gợi ý: 12–15 phút • Mục tiêu: biểu diễn, so sánh và giải thích</a:t>
            </a:r>
          </a:p>
        </p:txBody>
      </p:sp>
      <p:sp>
        <p:nvSpPr>
          <p:cNvPr id="4" name="rule-19">
            <a:extLst xmlns:a="http://schemas.openxmlformats.org/drawingml/2006/main">
              <a:ext uri="{FF2B5EF4-FFF2-40B4-BE49-F238E27FC236}">
                <a16:creationId xmlns:a16="http://schemas.microsoft.com/office/drawing/2014/main" id="{57DFDB40-9C09-4DF1-916E-F6A8E4D2E3E2}"/>
              </a:ext>
            </a:extLst>
          </p:cNvPr>
          <p:cNvSpPr>
            <a:spLocks xmlns:a="http://schemas.openxmlformats.org/drawingml/2006/main" noGrp="1"/>
          </p:cNvSpPr>
          <p:nvPr/>
        </p:nvSpPr>
        <p:spPr>
          <a:xfrm xmlns:a="http://schemas.openxmlformats.org/drawingml/2006/main">
            <a:off x="400050" y="16954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page-19">
            <a:extLst xmlns:a="http://schemas.openxmlformats.org/drawingml/2006/main">
              <a:ext uri="{FF2B5EF4-FFF2-40B4-BE49-F238E27FC236}">
                <a16:creationId xmlns:a16="http://schemas.microsoft.com/office/drawing/2014/main" id="{55293F96-69F7-428B-A10B-F90F905FF05A}"/>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19</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cfd25d1a67e400a"/>
          <a:stretch xmlns:a="http://schemas.openxmlformats.org/drawingml/2006/main"/>
        </p:blipFill>
        <p:spPr>
          <a:xfrm xmlns:a="http://schemas.openxmlformats.org/drawingml/2006/main">
            <a:off x="1057907" y="1952625"/>
            <a:ext cx="3027687" cy="4000500"/>
          </a:xfrm>
          <a:prstGeom xmlns:a="http://schemas.openxmlformats.org/drawingml/2006/main" prst="roundRect">
            <a:avLst>
              <a:gd name="adj" fmla="val 2857"/>
            </a:avLst>
          </a:prstGeom>
        </p:spPr>
      </p:pic>
      <p:sp>
        <p:nvSpPr>
          <p:cNvPr id="7" name="anim-19-prompt">
            <a:extLst xmlns:a="http://schemas.openxmlformats.org/drawingml/2006/main">
              <a:ext uri="{FF2B5EF4-FFF2-40B4-BE49-F238E27FC236}">
                <a16:creationId xmlns:a16="http://schemas.microsoft.com/office/drawing/2014/main" id="{7E8FF3AA-BE49-4400-9927-A00733013047}"/>
              </a:ext>
            </a:extLst>
          </p:cNvPr>
          <p:cNvSpPr>
            <a:spLocks xmlns:a="http://schemas.openxmlformats.org/drawingml/2006/main" noGrp="1"/>
          </p:cNvSpPr>
          <p:nvPr/>
        </p:nvSpPr>
        <p:spPr>
          <a:xfrm xmlns:a="http://schemas.openxmlformats.org/drawingml/2006/main">
            <a:off x="5095875" y="1952625"/>
            <a:ext cx="63817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CÂU LỆNH MẪU</a:t>
            </a:r>
          </a:p>
          <a:p xmlns:a="http://schemas.openxmlformats.org/drawingml/2006/main">
            <a:pPr algn="l">
              <a:defRPr sz="1650" b="0">
                <a:solidFill>
                  <a:srgbClr val="10131A"/>
                </a:solidFill>
              </a:defRPr>
            </a:pPr>
            <a:r>
              <a:rPr sz="1650" b="0">
                <a:solidFill>
                  <a:srgbClr val="10131A"/>
                </a:solidFill>
              </a:rPr>
              <a:t>“Hãy vẽ trục số từ −6 đến 6; đánh dấu 3, −3, −5, 6, −4, 4; sắp xếp tăng dần và giải thích.”</a:t>
            </a:r>
          </a:p>
        </p:txBody>
      </p:sp>
      <p:sp>
        <p:nvSpPr>
          <p:cNvPr id="8" name="anim-19-prompt-accent">
            <a:extLst xmlns:a="http://schemas.openxmlformats.org/drawingml/2006/main">
              <a:ext uri="{FF2B5EF4-FFF2-40B4-BE49-F238E27FC236}">
                <a16:creationId xmlns:a16="http://schemas.microsoft.com/office/drawing/2014/main" id="{4D3F9CE4-375C-4839-9032-9CC329FC9D36}"/>
              </a:ext>
            </a:extLst>
          </p:cNvPr>
          <p:cNvSpPr>
            <a:spLocks xmlns:a="http://schemas.openxmlformats.org/drawingml/2006/main" noGrp="1"/>
          </p:cNvSpPr>
          <p:nvPr/>
        </p:nvSpPr>
        <p:spPr>
          <a:xfrm xmlns:a="http://schemas.openxmlformats.org/drawingml/2006/main">
            <a:off x="5095875" y="1952625"/>
            <a:ext cx="76200" cy="1000125"/>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9" name="anim-19-check">
            <a:extLst xmlns:a="http://schemas.openxmlformats.org/drawingml/2006/main">
              <a:ext uri="{FF2B5EF4-FFF2-40B4-BE49-F238E27FC236}">
                <a16:creationId xmlns:a16="http://schemas.microsoft.com/office/drawing/2014/main" id="{B0F5195F-5DE3-4E22-913E-8472BD4B39B0}"/>
              </a:ext>
            </a:extLst>
          </p:cNvPr>
          <p:cNvSpPr>
            <a:spLocks xmlns:a="http://schemas.openxmlformats.org/drawingml/2006/main" noGrp="1"/>
          </p:cNvSpPr>
          <p:nvPr/>
        </p:nvSpPr>
        <p:spPr>
          <a:xfrm xmlns:a="http://schemas.openxmlformats.org/drawingml/2006/main">
            <a:off x="5095875" y="3286125"/>
            <a:ext cx="6381750" cy="1619250"/>
          </a:xfrm>
          <a:prstGeom xmlns:a="http://schemas.openxmlformats.org/drawingml/2006/main" prst="roundRect">
            <a:avLst>
              <a:gd name="adj" fmla="val 7059"/>
            </a:avLst>
          </a:prstGeom>
          <a:solidFill xmlns:a="http://schemas.openxmlformats.org/drawingml/2006/main">
            <a:srgbClr val="FFF0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HỌC SINH KIỂM TRA</a:t>
            </a:r>
          </a:p>
          <a:p xmlns:a="http://schemas.openxmlformats.org/drawingml/2006/main">
            <a:pPr algn="l">
              <a:defRPr sz="1575" b="0">
                <a:solidFill>
                  <a:srgbClr val="10131A"/>
                </a:solidFill>
              </a:defRPr>
            </a:pPr>
            <a:r>
              <a:rPr sz="1575" b="0">
                <a:solidFill>
                  <a:srgbClr val="10131A"/>
                </a:solidFill>
              </a:rPr>
              <a:t>• Mốc 0 và khoảng cách đơn vị có đều?</a:t>
            </a:r>
          </a:p>
          <a:p xmlns:a="http://schemas.openxmlformats.org/drawingml/2006/main">
            <a:pPr algn="l">
              <a:defRPr sz="1575" b="0">
                <a:solidFill>
                  <a:srgbClr val="10131A"/>
                </a:solidFill>
              </a:defRPr>
            </a:pPr>
            <a:r>
              <a:rPr sz="1575" b="0">
                <a:solidFill>
                  <a:srgbClr val="10131A"/>
                </a:solidFill>
              </a:rPr>
              <a:t>• Số âm có nằm bên trái 0?</a:t>
            </a:r>
          </a:p>
          <a:p xmlns:a="http://schemas.openxmlformats.org/drawingml/2006/main">
            <a:pPr algn="l">
              <a:defRPr sz="1575" b="0">
                <a:solidFill>
                  <a:srgbClr val="10131A"/>
                </a:solidFill>
              </a:defRPr>
            </a:pPr>
            <a:r>
              <a:rPr sz="1575" b="0">
                <a:solidFill>
                  <a:srgbClr val="10131A"/>
                </a:solidFill>
              </a:rPr>
              <a:t>• Thứ tự có đúng từ trái sang phải?</a:t>
            </a:r>
          </a:p>
          <a:p xmlns:a="http://schemas.openxmlformats.org/drawingml/2006/main">
            <a:pPr algn="l">
              <a:defRPr sz="1575" b="0">
                <a:solidFill>
                  <a:srgbClr val="10131A"/>
                </a:solidFill>
              </a:defRPr>
            </a:pPr>
            <a:r>
              <a:rPr sz="1575" b="0">
                <a:solidFill>
                  <a:srgbClr val="10131A"/>
                </a:solidFill>
              </a:rPr>
              <a:t>• Lời giải có nhầm “giá trị tuyệt đối lớn hơn” với “số lớn hơn”?</a:t>
            </a:r>
          </a:p>
        </p:txBody>
      </p:sp>
      <p:sp>
        <p:nvSpPr>
          <p:cNvPr id="10" name="anim-19-check-accent">
            <a:extLst xmlns:a="http://schemas.openxmlformats.org/drawingml/2006/main">
              <a:ext uri="{FF2B5EF4-FFF2-40B4-BE49-F238E27FC236}">
                <a16:creationId xmlns:a16="http://schemas.microsoft.com/office/drawing/2014/main" id="{700AA361-6046-4528-802F-6F6F6E0A3E96}"/>
              </a:ext>
            </a:extLst>
          </p:cNvPr>
          <p:cNvSpPr>
            <a:spLocks xmlns:a="http://schemas.openxmlformats.org/drawingml/2006/main" noGrp="1"/>
          </p:cNvSpPr>
          <p:nvPr/>
        </p:nvSpPr>
        <p:spPr>
          <a:xfrm xmlns:a="http://schemas.openxmlformats.org/drawingml/2006/main">
            <a:off x="5095875" y="3286125"/>
            <a:ext cx="76200" cy="1619250"/>
          </a:xfrm>
          <a:prstGeom xmlns:a="http://schemas.openxmlformats.org/drawingml/2006/main" prst="rect">
            <a:avLst/>
          </a:prstGeom>
          <a:solidFill xmlns:a="http://schemas.openxmlformats.org/drawingml/2006/main">
            <a:srgbClr val="D84A4A"/>
          </a:solidFill>
          <a:ln xmlns:a="http://schemas.openxmlformats.org/drawingml/2006/main" w="0">
            <a:solidFill>
              <a:srgbClr val="D84A4A"/>
            </a:solidFill>
            <a:prstDash val="solid"/>
          </a:ln>
        </p:spPr>
      </p:sp>
      <p:sp>
        <p:nvSpPr>
          <p:cNvPr id="11" name="anim-19-product">
            <a:extLst xmlns:a="http://schemas.openxmlformats.org/drawingml/2006/main">
              <a:ext uri="{FF2B5EF4-FFF2-40B4-BE49-F238E27FC236}">
                <a16:creationId xmlns:a16="http://schemas.microsoft.com/office/drawing/2014/main" id="{5DD643AC-8874-4DE9-9FB1-94E68E60A3A6}"/>
              </a:ext>
            </a:extLst>
          </p:cNvPr>
          <p:cNvSpPr>
            <a:spLocks xmlns:a="http://schemas.openxmlformats.org/drawingml/2006/main" noGrp="1"/>
          </p:cNvSpPr>
          <p:nvPr/>
        </p:nvSpPr>
        <p:spPr>
          <a:xfrm xmlns:a="http://schemas.openxmlformats.org/drawingml/2006/main">
            <a:off x="5095875" y="5191125"/>
            <a:ext cx="6381750" cy="762000"/>
          </a:xfrm>
          <a:prstGeom xmlns:a="http://schemas.openxmlformats.org/drawingml/2006/main" prst="roundRect">
            <a:avLst>
              <a:gd name="adj" fmla="val 15000"/>
            </a:avLst>
          </a:prstGeom>
          <a:solidFill xmlns:a="http://schemas.openxmlformats.org/drawingml/2006/main">
            <a:srgbClr val="EAF7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0131A"/>
                </a:solidFill>
              </a:defRPr>
            </a:pPr>
            <a:r>
              <a:rPr sz="1500" b="0">
                <a:solidFill>
                  <a:srgbClr val="10131A"/>
                </a:solidFill>
              </a:rPr>
              <a:t>MINH CHỨNG</a:t>
            </a:r>
          </a:p>
          <a:p xmlns:a="http://schemas.openxmlformats.org/drawingml/2006/main">
            <a:pPr algn="l">
              <a:defRPr sz="1500" b="0">
                <a:solidFill>
                  <a:srgbClr val="10131A"/>
                </a:solidFill>
              </a:defRPr>
            </a:pPr>
            <a:r>
              <a:rPr sz="1500" b="0">
                <a:solidFill>
                  <a:srgbClr val="10131A"/>
                </a:solidFill>
              </a:rPr>
              <a:t>Học sinh dùng bút màu khoanh lỗi trên bản in/ảnh chụp kết quả AI, vẽ lại trục số đúng và ghi một câu giải thích cho mỗi sửa đổi.</a:t>
            </a:r>
          </a:p>
        </p:txBody>
      </p:sp>
      <p:sp>
        <p:nvSpPr>
          <p:cNvPr id="12" name="anim-19-product-accent">
            <a:extLst xmlns:a="http://schemas.openxmlformats.org/drawingml/2006/main">
              <a:ext uri="{FF2B5EF4-FFF2-40B4-BE49-F238E27FC236}">
                <a16:creationId xmlns:a16="http://schemas.microsoft.com/office/drawing/2014/main" id="{4185E951-14CE-4673-86E7-ED7D79AFC1B6}"/>
              </a:ext>
            </a:extLst>
          </p:cNvPr>
          <p:cNvSpPr>
            <a:spLocks xmlns:a="http://schemas.openxmlformats.org/drawingml/2006/main" noGrp="1"/>
          </p:cNvSpPr>
          <p:nvPr/>
        </p:nvSpPr>
        <p:spPr>
          <a:xfrm xmlns:a="http://schemas.openxmlformats.org/drawingml/2006/main">
            <a:off x="5095875" y="5191125"/>
            <a:ext cx="76200" cy="762000"/>
          </a:xfrm>
          <a:prstGeom xmlns:a="http://schemas.openxmlformats.org/drawingml/2006/main" prst="rect">
            <a:avLst/>
          </a:prstGeom>
          <a:solidFill xmlns:a="http://schemas.openxmlformats.org/drawingml/2006/main">
            <a:srgbClr val="1B8A5A"/>
          </a:solidFill>
          <a:ln xmlns:a="http://schemas.openxmlformats.org/drawingml/2006/main" w="0">
            <a:solidFill>
              <a:srgbClr val="1B8A5A"/>
            </a:solidFill>
            <a:prstDash val="solid"/>
          </a:ln>
        </p:spPr>
      </p:sp>
      <p:sp>
        <p:nvSpPr>
          <p:cNvPr id="13" name="source-19">
            <a:extLst xmlns:a="http://schemas.openxmlformats.org/drawingml/2006/main">
              <a:ext uri="{FF2B5EF4-FFF2-40B4-BE49-F238E27FC236}">
                <a16:creationId xmlns:a16="http://schemas.microsoft.com/office/drawing/2014/main" id="{C36C9DBD-5344-4551-8FBB-3766BA7E9CC5}"/>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hình và bài tập: SGK Toán 6, Bài 13.</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7"/>
                                          </p:tgtEl>
                                          <p:attrNameLst>
                                            <p:attrName>style.visibility</p:attrName>
                                          </p:attrNameLst>
                                        </p:cBhvr>
                                        <p:to>
                                          <p:strVal val="visible"/>
                                        </p:to>
                                      </p:set>
                                      <p:animEffect transition="in" filter="fade">
                                        <p:cBhvr>
                                          <p:cTn id="1006" dur="350"/>
                                          <p:tgtEl>
                                            <p:spTgt spid="7"/>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9"/>
                                          </p:tgtEl>
                                          <p:attrNameLst>
                                            <p:attrName>style.visibility</p:attrName>
                                          </p:attrNameLst>
                                        </p:cBhvr>
                                        <p:to>
                                          <p:strVal val="visible"/>
                                        </p:to>
                                      </p:set>
                                      <p:animEffect transition="in" filter="fade">
                                        <p:cBhvr>
                                          <p:cTn id="1011" dur="350"/>
                                          <p:tgtEl>
                                            <p:spTgt spid="9"/>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11"/>
                                          </p:tgtEl>
                                          <p:attrNameLst>
                                            <p:attrName>style.visibility</p:attrName>
                                          </p:attrNameLst>
                                        </p:cBhvr>
                                        <p:to>
                                          <p:strVal val="visible"/>
                                        </p:to>
                                      </p:set>
                                      <p:animEffect transition="in" filter="fade">
                                        <p:cBhvr>
                                          <p:cTn id="1016"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5690859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20">
            <a:extLst xmlns:a="http://schemas.openxmlformats.org/drawingml/2006/main">
              <a:ext uri="{FF2B5EF4-FFF2-40B4-BE49-F238E27FC236}">
                <a16:creationId xmlns:a16="http://schemas.microsoft.com/office/drawing/2014/main" id="{C089CAA7-6019-47B9-A8B9-F371000449D4}"/>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09 / TRỌNG TÂM MINH HỌA TOÁN 6</a:t>
            </a:r>
          </a:p>
        </p:txBody>
      </p:sp>
      <p:sp>
        <p:nvSpPr>
          <p:cNvPr id="2" name="title-20">
            <a:extLst xmlns:a="http://schemas.openxmlformats.org/drawingml/2006/main">
              <a:ext uri="{FF2B5EF4-FFF2-40B4-BE49-F238E27FC236}">
                <a16:creationId xmlns:a16="http://schemas.microsoft.com/office/drawing/2014/main" id="{E9542177-C75F-4D98-8E0C-190C8D5ABC37}"/>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Hoạt động 3 — Vận dụng: AI gợi ý, học sinh phải chứng minh</a:t>
            </a:r>
          </a:p>
        </p:txBody>
      </p:sp>
      <p:sp>
        <p:nvSpPr>
          <p:cNvPr id="3" name="subtitle-20">
            <a:extLst xmlns:a="http://schemas.openxmlformats.org/drawingml/2006/main">
              <a:ext uri="{FF2B5EF4-FFF2-40B4-BE49-F238E27FC236}">
                <a16:creationId xmlns:a16="http://schemas.microsoft.com/office/drawing/2014/main" id="{749C1D0C-BEC1-41AE-A816-936AA9F3DB90}"/>
              </a:ext>
            </a:extLst>
          </p:cNvPr>
          <p:cNvSpPr>
            <a:spLocks xmlns:a="http://schemas.openxmlformats.org/drawingml/2006/main" noGrp="1"/>
          </p:cNvSpPr>
          <p:nvPr/>
        </p:nvSpPr>
        <p:spPr>
          <a:xfrm xmlns:a="http://schemas.openxmlformats.org/drawingml/2006/main">
            <a:off x="419100" y="140970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defRPr>
            </a:pPr>
            <a:r>
              <a:rPr sz="1275" b="0">
                <a:solidFill>
                  <a:srgbClr val="5E6673"/>
                </a:solidFill>
              </a:rPr>
              <a:t>Thời lượng gợi ý: 15 phút • Có phương án không dùng thiết bị</a:t>
            </a:r>
          </a:p>
        </p:txBody>
      </p:sp>
      <p:sp>
        <p:nvSpPr>
          <p:cNvPr id="4" name="rule-20">
            <a:extLst xmlns:a="http://schemas.openxmlformats.org/drawingml/2006/main">
              <a:ext uri="{FF2B5EF4-FFF2-40B4-BE49-F238E27FC236}">
                <a16:creationId xmlns:a16="http://schemas.microsoft.com/office/drawing/2014/main" id="{8B3D69DD-3175-42FD-AC8D-D95D339DBF0D}"/>
              </a:ext>
            </a:extLst>
          </p:cNvPr>
          <p:cNvSpPr>
            <a:spLocks xmlns:a="http://schemas.openxmlformats.org/drawingml/2006/main" noGrp="1"/>
          </p:cNvSpPr>
          <p:nvPr/>
        </p:nvSpPr>
        <p:spPr>
          <a:xfrm xmlns:a="http://schemas.openxmlformats.org/drawingml/2006/main">
            <a:off x="400050" y="16954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page-20">
            <a:extLst xmlns:a="http://schemas.openxmlformats.org/drawingml/2006/main">
              <a:ext uri="{FF2B5EF4-FFF2-40B4-BE49-F238E27FC236}">
                <a16:creationId xmlns:a16="http://schemas.microsoft.com/office/drawing/2014/main" id="{EE0C5357-DAEE-4074-9F5C-327FC5322626}"/>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20</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05f1d2e7eba49e3"/>
          <a:stretch xmlns:a="http://schemas.openxmlformats.org/drawingml/2006/main"/>
        </p:blipFill>
        <p:spPr>
          <a:xfrm xmlns:a="http://schemas.openxmlformats.org/drawingml/2006/main">
            <a:off x="1089050" y="1952625"/>
            <a:ext cx="2870150" cy="4000500"/>
          </a:xfrm>
          <a:prstGeom xmlns:a="http://schemas.openxmlformats.org/drawingml/2006/main" prst="roundRect">
            <a:avLst>
              <a:gd name="adj" fmla="val 2857"/>
            </a:avLst>
          </a:prstGeom>
        </p:spPr>
      </p:pic>
      <p:sp>
        <p:nvSpPr>
          <p:cNvPr id="7" name="anim-20-a">
            <a:extLst xmlns:a="http://schemas.openxmlformats.org/drawingml/2006/main">
              <a:ext uri="{FF2B5EF4-FFF2-40B4-BE49-F238E27FC236}">
                <a16:creationId xmlns:a16="http://schemas.microsoft.com/office/drawing/2014/main" id="{DF76D8B7-F711-4E20-A1D4-70BBA12144B1}"/>
              </a:ext>
            </a:extLst>
          </p:cNvPr>
          <p:cNvSpPr>
            <a:spLocks xmlns:a="http://schemas.openxmlformats.org/drawingml/2006/main" noGrp="1"/>
          </p:cNvSpPr>
          <p:nvPr/>
        </p:nvSpPr>
        <p:spPr>
          <a:xfrm xmlns:a="http://schemas.openxmlformats.org/drawingml/2006/main">
            <a:off x="5000625" y="1952625"/>
            <a:ext cx="6572250" cy="1047750"/>
          </a:xfrm>
          <a:prstGeom xmlns:a="http://schemas.openxmlformats.org/drawingml/2006/main" prst="roundRect">
            <a:avLst>
              <a:gd name="adj" fmla="val 10909"/>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TÌNH HUỐNG</a:t>
            </a:r>
          </a:p>
          <a:p xmlns:a="http://schemas.openxmlformats.org/drawingml/2006/main">
            <a:pPr algn="l">
              <a:defRPr sz="1575" b="0">
                <a:solidFill>
                  <a:srgbClr val="10131A"/>
                </a:solidFill>
              </a:defRPr>
            </a:pPr>
            <a:r>
              <a:rPr sz="1575" b="0">
                <a:solidFill>
                  <a:srgbClr val="10131A"/>
                </a:solidFill>
              </a:rPr>
              <a:t>Dùng dữ liệu nhiệt độ −9°C, −8°C, −12°C hoặc dãy 3; −3; −5; 6; −4; 4 trong SGK. AI đề xuất thứ tự và một lời giải.</a:t>
            </a:r>
          </a:p>
        </p:txBody>
      </p:sp>
      <p:sp>
        <p:nvSpPr>
          <p:cNvPr id="8" name="anim-20-a-accent">
            <a:extLst xmlns:a="http://schemas.openxmlformats.org/drawingml/2006/main">
              <a:ext uri="{FF2B5EF4-FFF2-40B4-BE49-F238E27FC236}">
                <a16:creationId xmlns:a16="http://schemas.microsoft.com/office/drawing/2014/main" id="{BF107F2E-48FC-4417-9D27-65EA1F928268}"/>
              </a:ext>
            </a:extLst>
          </p:cNvPr>
          <p:cNvSpPr>
            <a:spLocks xmlns:a="http://schemas.openxmlformats.org/drawingml/2006/main" noGrp="1"/>
          </p:cNvSpPr>
          <p:nvPr/>
        </p:nvSpPr>
        <p:spPr>
          <a:xfrm xmlns:a="http://schemas.openxmlformats.org/drawingml/2006/main">
            <a:off x="5000625" y="1952625"/>
            <a:ext cx="76200" cy="104775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9" name="anim-20-b">
            <a:extLst xmlns:a="http://schemas.openxmlformats.org/drawingml/2006/main">
              <a:ext uri="{FF2B5EF4-FFF2-40B4-BE49-F238E27FC236}">
                <a16:creationId xmlns:a16="http://schemas.microsoft.com/office/drawing/2014/main" id="{3B6C013A-66FA-43FF-A384-3131293AA602}"/>
              </a:ext>
            </a:extLst>
          </p:cNvPr>
          <p:cNvSpPr>
            <a:spLocks xmlns:a="http://schemas.openxmlformats.org/drawingml/2006/main" noGrp="1"/>
          </p:cNvSpPr>
          <p:nvPr/>
        </p:nvSpPr>
        <p:spPr>
          <a:xfrm xmlns:a="http://schemas.openxmlformats.org/drawingml/2006/main">
            <a:off x="5000625" y="3286125"/>
            <a:ext cx="6572250" cy="1047750"/>
          </a:xfrm>
          <a:prstGeom xmlns:a="http://schemas.openxmlformats.org/drawingml/2006/main" prst="roundRect">
            <a:avLst>
              <a:gd name="adj" fmla="val 10909"/>
            </a:avLst>
          </a:prstGeom>
          <a:solidFill xmlns:a="http://schemas.openxmlformats.org/drawingml/2006/main">
            <a:srgbClr val="FFF0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YÊU CẦU BẮT BUỘC</a:t>
            </a:r>
          </a:p>
          <a:p xmlns:a="http://schemas.openxmlformats.org/drawingml/2006/main">
            <a:pPr algn="l">
              <a:defRPr sz="1575" b="0">
                <a:solidFill>
                  <a:srgbClr val="10131A"/>
                </a:solidFill>
              </a:defRPr>
            </a:pPr>
            <a:r>
              <a:rPr sz="1575" b="0">
                <a:solidFill>
                  <a:srgbClr val="10131A"/>
                </a:solidFill>
              </a:rPr>
              <a:t>Mỗi nhóm phải đưa ra ít nhất hai bằng chứng: vị trí trên trục số + diễn giải ngữ cảnh; không chấp nhận câu “AI nói như vậy”.</a:t>
            </a:r>
          </a:p>
        </p:txBody>
      </p:sp>
      <p:sp>
        <p:nvSpPr>
          <p:cNvPr id="10" name="anim-20-b-accent">
            <a:extLst xmlns:a="http://schemas.openxmlformats.org/drawingml/2006/main">
              <a:ext uri="{FF2B5EF4-FFF2-40B4-BE49-F238E27FC236}">
                <a16:creationId xmlns:a16="http://schemas.microsoft.com/office/drawing/2014/main" id="{395B1CA7-9870-4B3D-9375-40843ED74264}"/>
              </a:ext>
            </a:extLst>
          </p:cNvPr>
          <p:cNvSpPr>
            <a:spLocks xmlns:a="http://schemas.openxmlformats.org/drawingml/2006/main" noGrp="1"/>
          </p:cNvSpPr>
          <p:nvPr/>
        </p:nvSpPr>
        <p:spPr>
          <a:xfrm xmlns:a="http://schemas.openxmlformats.org/drawingml/2006/main">
            <a:off x="5000625" y="3286125"/>
            <a:ext cx="76200" cy="1047750"/>
          </a:xfrm>
          <a:prstGeom xmlns:a="http://schemas.openxmlformats.org/drawingml/2006/main" prst="rect">
            <a:avLst/>
          </a:prstGeom>
          <a:solidFill xmlns:a="http://schemas.openxmlformats.org/drawingml/2006/main">
            <a:srgbClr val="D84A4A"/>
          </a:solidFill>
          <a:ln xmlns:a="http://schemas.openxmlformats.org/drawingml/2006/main" w="0">
            <a:solidFill>
              <a:srgbClr val="D84A4A"/>
            </a:solidFill>
            <a:prstDash val="solid"/>
          </a:ln>
        </p:spPr>
      </p:sp>
      <p:sp>
        <p:nvSpPr>
          <p:cNvPr id="11" name="anim-20-c">
            <a:extLst xmlns:a="http://schemas.openxmlformats.org/drawingml/2006/main">
              <a:ext uri="{FF2B5EF4-FFF2-40B4-BE49-F238E27FC236}">
                <a16:creationId xmlns:a16="http://schemas.microsoft.com/office/drawing/2014/main" id="{722C2ECC-A1A2-4D5A-90F9-93568490DE8E}"/>
              </a:ext>
            </a:extLst>
          </p:cNvPr>
          <p:cNvSpPr>
            <a:spLocks xmlns:a="http://schemas.openxmlformats.org/drawingml/2006/main" noGrp="1"/>
          </p:cNvSpPr>
          <p:nvPr/>
        </p:nvSpPr>
        <p:spPr>
          <a:xfrm xmlns:a="http://schemas.openxmlformats.org/drawingml/2006/main">
            <a:off x="5000625" y="4619625"/>
            <a:ext cx="6572250" cy="1095375"/>
          </a:xfrm>
          <a:prstGeom xmlns:a="http://schemas.openxmlformats.org/drawingml/2006/main" prst="roundRect">
            <a:avLst>
              <a:gd name="adj" fmla="val 10435"/>
            </a:avLst>
          </a:prstGeom>
          <a:solidFill xmlns:a="http://schemas.openxmlformats.org/drawingml/2006/main">
            <a:srgbClr val="FFF4E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PHƯƠNG ÁN KHÔNG THIẾT BỊ</a:t>
            </a:r>
          </a:p>
          <a:p xmlns:a="http://schemas.openxmlformats.org/drawingml/2006/main">
            <a:pPr algn="l">
              <a:defRPr sz="1575" b="0">
                <a:solidFill>
                  <a:srgbClr val="10131A"/>
                </a:solidFill>
              </a:defRPr>
            </a:pPr>
            <a:r>
              <a:rPr sz="1575" b="0">
                <a:solidFill>
                  <a:srgbClr val="10131A"/>
                </a:solidFill>
              </a:rPr>
              <a:t>Giáo viên in sẵn ba câu trả lời mô phỏng AI: một đúng, một sai dấu, một thiếu giải thích. Học sinh phân loại và sửa theo cùng tiêu chí.</a:t>
            </a:r>
          </a:p>
        </p:txBody>
      </p:sp>
      <p:sp>
        <p:nvSpPr>
          <p:cNvPr id="12" name="anim-20-c-accent">
            <a:extLst xmlns:a="http://schemas.openxmlformats.org/drawingml/2006/main">
              <a:ext uri="{FF2B5EF4-FFF2-40B4-BE49-F238E27FC236}">
                <a16:creationId xmlns:a16="http://schemas.microsoft.com/office/drawing/2014/main" id="{79D686A0-D904-4458-B19B-75200453C2E9}"/>
              </a:ext>
            </a:extLst>
          </p:cNvPr>
          <p:cNvSpPr>
            <a:spLocks xmlns:a="http://schemas.openxmlformats.org/drawingml/2006/main" noGrp="1"/>
          </p:cNvSpPr>
          <p:nvPr/>
        </p:nvSpPr>
        <p:spPr>
          <a:xfrm xmlns:a="http://schemas.openxmlformats.org/drawingml/2006/main">
            <a:off x="5000625" y="4619625"/>
            <a:ext cx="76200" cy="10953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13" name="source-20">
            <a:extLst xmlns:a="http://schemas.openxmlformats.org/drawingml/2006/main">
              <a:ext uri="{FF2B5EF4-FFF2-40B4-BE49-F238E27FC236}">
                <a16:creationId xmlns:a16="http://schemas.microsoft.com/office/drawing/2014/main" id="{FD6361D1-4349-407D-A148-F77BE846A348}"/>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hình và dữ liệu: SGK Toán 6, Bài 13.</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7"/>
                                          </p:tgtEl>
                                          <p:attrNameLst>
                                            <p:attrName>style.visibility</p:attrName>
                                          </p:attrNameLst>
                                        </p:cBhvr>
                                        <p:to>
                                          <p:strVal val="visible"/>
                                        </p:to>
                                      </p:set>
                                      <p:animEffect transition="in" filter="fade">
                                        <p:cBhvr>
                                          <p:cTn id="1006" dur="350"/>
                                          <p:tgtEl>
                                            <p:spTgt spid="7"/>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9"/>
                                          </p:tgtEl>
                                          <p:attrNameLst>
                                            <p:attrName>style.visibility</p:attrName>
                                          </p:attrNameLst>
                                        </p:cBhvr>
                                        <p:to>
                                          <p:strVal val="visible"/>
                                        </p:to>
                                      </p:set>
                                      <p:animEffect transition="in" filter="fade">
                                        <p:cBhvr>
                                          <p:cTn id="1011" dur="350"/>
                                          <p:tgtEl>
                                            <p:spTgt spid="9"/>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11"/>
                                          </p:tgtEl>
                                          <p:attrNameLst>
                                            <p:attrName>style.visibility</p:attrName>
                                          </p:attrNameLst>
                                        </p:cBhvr>
                                        <p:to>
                                          <p:strVal val="visible"/>
                                        </p:to>
                                      </p:set>
                                      <p:animEffect transition="in" filter="fade">
                                        <p:cBhvr>
                                          <p:cTn id="1016"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5878783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21">
            <a:extLst xmlns:a="http://schemas.openxmlformats.org/drawingml/2006/main">
              <a:ext uri="{FF2B5EF4-FFF2-40B4-BE49-F238E27FC236}">
                <a16:creationId xmlns:a16="http://schemas.microsoft.com/office/drawing/2014/main" id="{18DFEA7E-2F3C-4B48-A818-3B2371D8CF7B}"/>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09 / TRỌNG TÂM MINH HỌA TOÁN 6</a:t>
            </a:r>
          </a:p>
        </p:txBody>
      </p:sp>
      <p:sp>
        <p:nvSpPr>
          <p:cNvPr id="2" name="title-21">
            <a:extLst xmlns:a="http://schemas.openxmlformats.org/drawingml/2006/main">
              <a:ext uri="{FF2B5EF4-FFF2-40B4-BE49-F238E27FC236}">
                <a16:creationId xmlns:a16="http://schemas.microsoft.com/office/drawing/2014/main" id="{B91E9ABD-9C2A-4B16-93E3-F959566BF3C7}"/>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Đánh giá bằng rubric kép: đúng Toán và dùng AI có trách nhiệm</a:t>
            </a:r>
          </a:p>
        </p:txBody>
      </p:sp>
      <p:sp>
        <p:nvSpPr>
          <p:cNvPr id="3" name="rule-21">
            <a:extLst xmlns:a="http://schemas.openxmlformats.org/drawingml/2006/main">
              <a:ext uri="{FF2B5EF4-FFF2-40B4-BE49-F238E27FC236}">
                <a16:creationId xmlns:a16="http://schemas.microsoft.com/office/drawing/2014/main" id="{818F64F2-02F7-45A5-B968-0FC0A50D2440}"/>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21">
            <a:extLst xmlns:a="http://schemas.openxmlformats.org/drawingml/2006/main">
              <a:ext uri="{FF2B5EF4-FFF2-40B4-BE49-F238E27FC236}">
                <a16:creationId xmlns:a16="http://schemas.microsoft.com/office/drawing/2014/main" id="{FBB1F836-7B32-4C75-A949-5C4710EB6D18}"/>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21</a:t>
            </a:r>
          </a:p>
        </p:txBody>
      </p:sp>
      <p:sp>
        <p:nvSpPr>
          <p:cNvPr id="5" name="anim-21-1">
            <a:extLst xmlns:a="http://schemas.openxmlformats.org/drawingml/2006/main">
              <a:ext uri="{FF2B5EF4-FFF2-40B4-BE49-F238E27FC236}">
                <a16:creationId xmlns:a16="http://schemas.microsoft.com/office/drawing/2014/main" id="{6F2EA1E9-E748-43E9-886F-CB60042DE862}"/>
              </a:ext>
            </a:extLst>
          </p:cNvPr>
          <p:cNvSpPr>
            <a:spLocks xmlns:a="http://schemas.openxmlformats.org/drawingml/2006/main" noGrp="1"/>
          </p:cNvSpPr>
          <p:nvPr/>
        </p:nvSpPr>
        <p:spPr>
          <a:xfrm xmlns:a="http://schemas.openxmlformats.org/drawingml/2006/main">
            <a:off x="457200" y="2047875"/>
            <a:ext cx="2667000" cy="3333750"/>
          </a:xfrm>
          <a:prstGeom xmlns:a="http://schemas.openxmlformats.org/drawingml/2006/main" prst="roundRect">
            <a:avLst>
              <a:gd name="adj" fmla="val 4286"/>
            </a:avLst>
          </a:prstGeom>
          <a:solidFill xmlns:a="http://schemas.openxmlformats.org/drawingml/2006/main">
            <a:srgbClr val="EAF5FB"/>
          </a:solidFill>
          <a:ln xmlns:a="http://schemas.openxmlformats.org/drawingml/2006/main" w="9525">
            <a:solidFill>
              <a:srgbClr val="1769E0"/>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10131A"/>
                </a:solidFill>
              </a:defRPr>
            </a:pPr>
            <a:r>
              <a:rPr sz="1500" b="0">
                <a:solidFill>
                  <a:srgbClr val="10131A"/>
                </a:solidFill>
              </a:rPr>
              <a:t>1</a:t>
            </a:r>
          </a:p>
          <a:p xmlns:a="http://schemas.openxmlformats.org/drawingml/2006/main">
            <a:pPr algn="ctr">
              <a:defRPr sz="1500" b="0">
                <a:solidFill>
                  <a:srgbClr val="10131A"/>
                </a:solidFill>
              </a:defRPr>
            </a:pPr>
            <a:r>
              <a:rPr sz="1500" b="0">
                <a:solidFill>
                  <a:srgbClr val="10131A"/>
                </a:solidFill>
              </a:rPr>
              <a:t>CHÍNH XÁC TOÁN HỌC</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Đọc/viết, biểu diễn, so sánh và giải thích số nguyên đúng.</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0: chưa đạt</a:t>
            </a:r>
          </a:p>
          <a:p xmlns:a="http://schemas.openxmlformats.org/drawingml/2006/main">
            <a:pPr algn="ctr">
              <a:defRPr sz="1500" b="0">
                <a:solidFill>
                  <a:srgbClr val="10131A"/>
                </a:solidFill>
              </a:defRPr>
            </a:pPr>
            <a:r>
              <a:rPr sz="1500" b="0">
                <a:solidFill>
                  <a:srgbClr val="10131A"/>
                </a:solidFill>
              </a:rPr>
              <a:t>1: đạt một phần</a:t>
            </a:r>
          </a:p>
          <a:p xmlns:a="http://schemas.openxmlformats.org/drawingml/2006/main">
            <a:pPr algn="ctr">
              <a:defRPr sz="1500" b="0">
                <a:solidFill>
                  <a:srgbClr val="10131A"/>
                </a:solidFill>
              </a:defRPr>
            </a:pPr>
            <a:r>
              <a:rPr sz="1500" b="0">
                <a:solidFill>
                  <a:srgbClr val="10131A"/>
                </a:solidFill>
              </a:rPr>
              <a:t>2: đạt rõ</a:t>
            </a:r>
          </a:p>
        </p:txBody>
      </p:sp>
      <p:sp>
        <p:nvSpPr>
          <p:cNvPr id="6" name="anim-21-2">
            <a:extLst xmlns:a="http://schemas.openxmlformats.org/drawingml/2006/main">
              <a:ext uri="{FF2B5EF4-FFF2-40B4-BE49-F238E27FC236}">
                <a16:creationId xmlns:a16="http://schemas.microsoft.com/office/drawing/2014/main" id="{951F22E1-FBF1-44E0-B4BD-EB04783CE6D1}"/>
              </a:ext>
            </a:extLst>
          </p:cNvPr>
          <p:cNvSpPr>
            <a:spLocks xmlns:a="http://schemas.openxmlformats.org/drawingml/2006/main" noGrp="1"/>
          </p:cNvSpPr>
          <p:nvPr/>
        </p:nvSpPr>
        <p:spPr>
          <a:xfrm xmlns:a="http://schemas.openxmlformats.org/drawingml/2006/main">
            <a:off x="3362325" y="2047875"/>
            <a:ext cx="2667000" cy="3333750"/>
          </a:xfrm>
          <a:prstGeom xmlns:a="http://schemas.openxmlformats.org/drawingml/2006/main" prst="roundRect">
            <a:avLst>
              <a:gd name="adj" fmla="val 4286"/>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10131A"/>
                </a:solidFill>
              </a:defRPr>
            </a:pPr>
            <a:r>
              <a:rPr sz="1500" b="0">
                <a:solidFill>
                  <a:srgbClr val="10131A"/>
                </a:solidFill>
              </a:rPr>
              <a:t>2</a:t>
            </a:r>
          </a:p>
          <a:p xmlns:a="http://schemas.openxmlformats.org/drawingml/2006/main">
            <a:pPr algn="ctr">
              <a:defRPr sz="1500" b="0">
                <a:solidFill>
                  <a:srgbClr val="10131A"/>
                </a:solidFill>
              </a:defRPr>
            </a:pPr>
            <a:r>
              <a:rPr sz="1500" b="0">
                <a:solidFill>
                  <a:srgbClr val="10131A"/>
                </a:solidFill>
              </a:rPr>
              <a:t>MINH CHỨNG KIỂM CHỨNG</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Đối chiếu ít nhất một nguồn: SGK, trục số, nhiệt kế hoặc dữ kiện gốc.</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0: chưa đạt</a:t>
            </a:r>
          </a:p>
          <a:p xmlns:a="http://schemas.openxmlformats.org/drawingml/2006/main">
            <a:pPr algn="ctr">
              <a:defRPr sz="1500" b="0">
                <a:solidFill>
                  <a:srgbClr val="10131A"/>
                </a:solidFill>
              </a:defRPr>
            </a:pPr>
            <a:r>
              <a:rPr sz="1500" b="0">
                <a:solidFill>
                  <a:srgbClr val="10131A"/>
                </a:solidFill>
              </a:rPr>
              <a:t>1: đạt một phần</a:t>
            </a:r>
          </a:p>
          <a:p xmlns:a="http://schemas.openxmlformats.org/drawingml/2006/main">
            <a:pPr algn="ctr">
              <a:defRPr sz="1500" b="0">
                <a:solidFill>
                  <a:srgbClr val="10131A"/>
                </a:solidFill>
              </a:defRPr>
            </a:pPr>
            <a:r>
              <a:rPr sz="1500" b="0">
                <a:solidFill>
                  <a:srgbClr val="10131A"/>
                </a:solidFill>
              </a:rPr>
              <a:t>2: đạt rõ</a:t>
            </a:r>
          </a:p>
        </p:txBody>
      </p:sp>
      <p:sp>
        <p:nvSpPr>
          <p:cNvPr id="7" name="anim-21-3">
            <a:extLst xmlns:a="http://schemas.openxmlformats.org/drawingml/2006/main">
              <a:ext uri="{FF2B5EF4-FFF2-40B4-BE49-F238E27FC236}">
                <a16:creationId xmlns:a16="http://schemas.microsoft.com/office/drawing/2014/main" id="{AF419FAF-2C5E-40F3-B409-2263880F8187}"/>
              </a:ext>
            </a:extLst>
          </p:cNvPr>
          <p:cNvSpPr>
            <a:spLocks xmlns:a="http://schemas.openxmlformats.org/drawingml/2006/main" noGrp="1"/>
          </p:cNvSpPr>
          <p:nvPr/>
        </p:nvSpPr>
        <p:spPr>
          <a:xfrm xmlns:a="http://schemas.openxmlformats.org/drawingml/2006/main">
            <a:off x="6267450" y="2047875"/>
            <a:ext cx="2667000" cy="3333750"/>
          </a:xfrm>
          <a:prstGeom xmlns:a="http://schemas.openxmlformats.org/drawingml/2006/main" prst="roundRect">
            <a:avLst>
              <a:gd name="adj" fmla="val 4286"/>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10131A"/>
                </a:solidFill>
              </a:defRPr>
            </a:pPr>
            <a:r>
              <a:rPr sz="1500" b="0">
                <a:solidFill>
                  <a:srgbClr val="10131A"/>
                </a:solidFill>
              </a:rPr>
              <a:t>3</a:t>
            </a:r>
          </a:p>
          <a:p xmlns:a="http://schemas.openxmlformats.org/drawingml/2006/main">
            <a:pPr algn="ctr">
              <a:defRPr sz="1500" b="0">
                <a:solidFill>
                  <a:srgbClr val="10131A"/>
                </a:solidFill>
              </a:defRPr>
            </a:pPr>
            <a:r>
              <a:rPr sz="1500" b="0">
                <a:solidFill>
                  <a:srgbClr val="10131A"/>
                </a:solidFill>
              </a:rPr>
              <a:t>LẬP LUẬN &amp; SỬA LỖI</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Chỉ ra lỗi/điều kiện thiếu; giải thích vì sao sửa như vậy.</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0: chưa đạt</a:t>
            </a:r>
          </a:p>
          <a:p xmlns:a="http://schemas.openxmlformats.org/drawingml/2006/main">
            <a:pPr algn="ctr">
              <a:defRPr sz="1500" b="0">
                <a:solidFill>
                  <a:srgbClr val="10131A"/>
                </a:solidFill>
              </a:defRPr>
            </a:pPr>
            <a:r>
              <a:rPr sz="1500" b="0">
                <a:solidFill>
                  <a:srgbClr val="10131A"/>
                </a:solidFill>
              </a:rPr>
              <a:t>1: đạt một phần</a:t>
            </a:r>
          </a:p>
          <a:p xmlns:a="http://schemas.openxmlformats.org/drawingml/2006/main">
            <a:pPr algn="ctr">
              <a:defRPr sz="1500" b="0">
                <a:solidFill>
                  <a:srgbClr val="10131A"/>
                </a:solidFill>
              </a:defRPr>
            </a:pPr>
            <a:r>
              <a:rPr sz="1500" b="0">
                <a:solidFill>
                  <a:srgbClr val="10131A"/>
                </a:solidFill>
              </a:rPr>
              <a:t>2: đạt rõ</a:t>
            </a:r>
          </a:p>
        </p:txBody>
      </p:sp>
      <p:sp>
        <p:nvSpPr>
          <p:cNvPr id="8" name="anim-21-4">
            <a:extLst xmlns:a="http://schemas.openxmlformats.org/drawingml/2006/main">
              <a:ext uri="{FF2B5EF4-FFF2-40B4-BE49-F238E27FC236}">
                <a16:creationId xmlns:a16="http://schemas.microsoft.com/office/drawing/2014/main" id="{D36FA3F1-ACFE-4269-B822-BB3F37C6BF8B}"/>
              </a:ext>
            </a:extLst>
          </p:cNvPr>
          <p:cNvSpPr>
            <a:spLocks xmlns:a="http://schemas.openxmlformats.org/drawingml/2006/main" noGrp="1"/>
          </p:cNvSpPr>
          <p:nvPr/>
        </p:nvSpPr>
        <p:spPr>
          <a:xfrm xmlns:a="http://schemas.openxmlformats.org/drawingml/2006/main">
            <a:off x="9172575" y="2047875"/>
            <a:ext cx="2667000" cy="3333750"/>
          </a:xfrm>
          <a:prstGeom xmlns:a="http://schemas.openxmlformats.org/drawingml/2006/main" prst="roundRect">
            <a:avLst>
              <a:gd name="adj" fmla="val 4286"/>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10131A"/>
                </a:solidFill>
              </a:defRPr>
            </a:pPr>
            <a:r>
              <a:rPr sz="1500" b="0">
                <a:solidFill>
                  <a:srgbClr val="10131A"/>
                </a:solidFill>
              </a:rPr>
              <a:t>4</a:t>
            </a:r>
          </a:p>
          <a:p xmlns:a="http://schemas.openxmlformats.org/drawingml/2006/main">
            <a:pPr algn="ctr">
              <a:defRPr sz="1500" b="0">
                <a:solidFill>
                  <a:srgbClr val="10131A"/>
                </a:solidFill>
              </a:defRPr>
            </a:pPr>
            <a:r>
              <a:rPr sz="1500" b="0">
                <a:solidFill>
                  <a:srgbClr val="10131A"/>
                </a:solidFill>
              </a:rPr>
              <a:t>TRUNG THỰC &amp; AN TOÀN</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Nêu công cụ, mục đích, phần AI hỗ trợ; không dùng dữ liệu cá nhân.</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0: chưa đạt</a:t>
            </a:r>
          </a:p>
          <a:p xmlns:a="http://schemas.openxmlformats.org/drawingml/2006/main">
            <a:pPr algn="ctr">
              <a:defRPr sz="1500" b="0">
                <a:solidFill>
                  <a:srgbClr val="10131A"/>
                </a:solidFill>
              </a:defRPr>
            </a:pPr>
            <a:r>
              <a:rPr sz="1500" b="0">
                <a:solidFill>
                  <a:srgbClr val="10131A"/>
                </a:solidFill>
              </a:rPr>
              <a:t>1: đạt một phần</a:t>
            </a:r>
          </a:p>
          <a:p xmlns:a="http://schemas.openxmlformats.org/drawingml/2006/main">
            <a:pPr algn="ctr">
              <a:defRPr sz="1500" b="0">
                <a:solidFill>
                  <a:srgbClr val="10131A"/>
                </a:solidFill>
              </a:defRPr>
            </a:pPr>
            <a:r>
              <a:rPr sz="1500" b="0">
                <a:solidFill>
                  <a:srgbClr val="10131A"/>
                </a:solidFill>
              </a:rPr>
              <a:t>2: đạt rõ</a:t>
            </a:r>
          </a:p>
        </p:txBody>
      </p:sp>
      <p:sp>
        <p:nvSpPr>
          <p:cNvPr id="9" name="anim-21-result">
            <a:extLst xmlns:a="http://schemas.openxmlformats.org/drawingml/2006/main">
              <a:ext uri="{FF2B5EF4-FFF2-40B4-BE49-F238E27FC236}">
                <a16:creationId xmlns:a16="http://schemas.microsoft.com/office/drawing/2014/main" id="{9AD624E7-5755-4E4C-8BD7-11B99B925A28}"/>
              </a:ext>
            </a:extLst>
          </p:cNvPr>
          <p:cNvSpPr>
            <a:spLocks xmlns:a="http://schemas.openxmlformats.org/drawingml/2006/main" noGrp="1"/>
          </p:cNvSpPr>
          <p:nvPr/>
        </p:nvSpPr>
        <p:spPr>
          <a:xfrm xmlns:a="http://schemas.openxmlformats.org/drawingml/2006/main">
            <a:off x="1428750" y="5667375"/>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0B2B5B"/>
                </a:solidFill>
              </a:defRPr>
            </a:pPr>
            <a:r>
              <a:rPr sz="1875" b="1">
                <a:solidFill>
                  <a:srgbClr val="0B2B5B"/>
                </a:solidFill>
              </a:rPr>
              <a:t>Tổng 8 điểm minh chứng; giáo viên dùng để nhận xét trong quá trình học, không tạo đầu điểm AI riêng.</a:t>
            </a:r>
          </a:p>
        </p:txBody>
      </p:sp>
      <p:sp>
        <p:nvSpPr>
          <p:cNvPr id="10" name="source-21">
            <a:extLst xmlns:a="http://schemas.openxmlformats.org/drawingml/2006/main">
              <a:ext uri="{FF2B5EF4-FFF2-40B4-BE49-F238E27FC236}">
                <a16:creationId xmlns:a16="http://schemas.microsoft.com/office/drawing/2014/main" id="{5613E433-555A-4D01-8016-15EB7A8DE340}"/>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mục VI - Đánh giá kết quả giáo dục; rubric là đề xuất vận dụng.</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8"/>
                                          </p:tgtEl>
                                          <p:attrNameLst>
                                            <p:attrName>style.visibility</p:attrName>
                                          </p:attrNameLst>
                                        </p:cBhvr>
                                        <p:to>
                                          <p:strVal val="visible"/>
                                        </p:to>
                                      </p:set>
                                      <p:animEffect transition="in" filter="fade">
                                        <p:cBhvr>
                                          <p:cTn id="1021" dur="350"/>
                                          <p:tgtEl>
                                            <p:spTgt spid="8"/>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9"/>
                                          </p:tgtEl>
                                          <p:attrNameLst>
                                            <p:attrName>style.visibility</p:attrName>
                                          </p:attrNameLst>
                                        </p:cBhvr>
                                        <p:to>
                                          <p:strVal val="visible"/>
                                        </p:to>
                                      </p:set>
                                      <p:animEffect transition="in" filter="fade">
                                        <p:cBhvr>
                                          <p:cTn id="1026"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0098981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22">
            <a:extLst xmlns:a="http://schemas.openxmlformats.org/drawingml/2006/main">
              <a:ext uri="{FF2B5EF4-FFF2-40B4-BE49-F238E27FC236}">
                <a16:creationId xmlns:a16="http://schemas.microsoft.com/office/drawing/2014/main" id="{D1B3D01A-684C-4017-8C40-A1BB8B667A73}"/>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10 / VÍ DỤ LIÊN MÔN</a:t>
            </a:r>
          </a:p>
        </p:txBody>
      </p:sp>
      <p:sp>
        <p:nvSpPr>
          <p:cNvPr id="2" name="title-22">
            <a:extLst xmlns:a="http://schemas.openxmlformats.org/drawingml/2006/main">
              <a:ext uri="{FF2B5EF4-FFF2-40B4-BE49-F238E27FC236}">
                <a16:creationId xmlns:a16="http://schemas.microsoft.com/office/drawing/2014/main" id="{7FABEC61-3CD4-4B82-8E14-51A3D1B282C5}"/>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Ngữ văn và Tiếng Anh: AI phản hồi, học sinh giữ tiếng nói của mình</a:t>
            </a:r>
          </a:p>
        </p:txBody>
      </p:sp>
      <p:sp>
        <p:nvSpPr>
          <p:cNvPr id="3" name="rule-22">
            <a:extLst xmlns:a="http://schemas.openxmlformats.org/drawingml/2006/main">
              <a:ext uri="{FF2B5EF4-FFF2-40B4-BE49-F238E27FC236}">
                <a16:creationId xmlns:a16="http://schemas.microsoft.com/office/drawing/2014/main" id="{100AD7C4-0D58-4EF0-8241-CF164A396EB5}"/>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22">
            <a:extLst xmlns:a="http://schemas.openxmlformats.org/drawingml/2006/main">
              <a:ext uri="{FF2B5EF4-FFF2-40B4-BE49-F238E27FC236}">
                <a16:creationId xmlns:a16="http://schemas.microsoft.com/office/drawing/2014/main" id="{35E33531-2812-4937-BFE7-649F51D34061}"/>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22</a:t>
            </a:r>
          </a:p>
        </p:txBody>
      </p:sp>
      <p:sp>
        <p:nvSpPr>
          <p:cNvPr id="5" name="anim-22-van">
            <a:extLst xmlns:a="http://schemas.openxmlformats.org/drawingml/2006/main">
              <a:ext uri="{FF2B5EF4-FFF2-40B4-BE49-F238E27FC236}">
                <a16:creationId xmlns:a16="http://schemas.microsoft.com/office/drawing/2014/main" id="{700D32FB-7A99-4B96-9D65-40C2764D2143}"/>
              </a:ext>
            </a:extLst>
          </p:cNvPr>
          <p:cNvSpPr>
            <a:spLocks xmlns:a="http://schemas.openxmlformats.org/drawingml/2006/main" noGrp="1"/>
          </p:cNvSpPr>
          <p:nvPr/>
        </p:nvSpPr>
        <p:spPr>
          <a:xfrm xmlns:a="http://schemas.openxmlformats.org/drawingml/2006/main">
            <a:off x="571500" y="2000250"/>
            <a:ext cx="5238750" cy="3238500"/>
          </a:xfrm>
          <a:prstGeom xmlns:a="http://schemas.openxmlformats.org/drawingml/2006/main" prst="roundRect">
            <a:avLst>
              <a:gd name="adj" fmla="val 3529"/>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NGỮ VĂN 7 — KIỂM CHỨNG BẢN TÓM TẮT</a:t>
            </a:r>
          </a:p>
          <a:p xmlns:a="http://schemas.openxmlformats.org/drawingml/2006/main">
            <a:pPr algn="l">
              <a:defRPr sz="1650" b="0">
                <a:solidFill>
                  <a:srgbClr val="10131A"/>
                </a:solidFill>
              </a:defRPr>
            </a:pPr>
            <a:r>
              <a:rPr sz="1650" b="0">
                <a:solidFill>
                  <a:srgbClr val="10131A"/>
                </a:solidFill>
              </a:rPr>
              <a:t>• Học sinh đọc văn bản và tự xác định 5 ý chính.</a:t>
            </a:r>
          </a:p>
          <a:p xmlns:a="http://schemas.openxmlformats.org/drawingml/2006/main">
            <a:pPr algn="l">
              <a:defRPr sz="1650" b="0">
                <a:solidFill>
                  <a:srgbClr val="10131A"/>
                </a:solidFill>
              </a:defRPr>
            </a:pPr>
            <a:r>
              <a:rPr sz="1650" b="0">
                <a:solidFill>
                  <a:srgbClr val="10131A"/>
                </a:solidFill>
              </a:rPr>
              <a:t>• AI tạo bản tóm tắt 120 từ từ đúng văn bản đã cung cấp.</a:t>
            </a:r>
          </a:p>
          <a:p xmlns:a="http://schemas.openxmlformats.org/drawingml/2006/main">
            <a:pPr algn="l">
              <a:defRPr sz="1650" b="0">
                <a:solidFill>
                  <a:srgbClr val="10131A"/>
                </a:solidFill>
              </a:defRPr>
            </a:pPr>
            <a:r>
              <a:rPr sz="1650" b="0">
                <a:solidFill>
                  <a:srgbClr val="10131A"/>
                </a:solidFill>
              </a:rPr>
              <a:t>• Nhóm đối chiếu: ý nào bị bỏ, chi tiết nào bị thêm, giọng điệu có sai?</a:t>
            </a:r>
          </a:p>
          <a:p xmlns:a="http://schemas.openxmlformats.org/drawingml/2006/main">
            <a:pPr algn="l">
              <a:defRPr sz="1650" b="0">
                <a:solidFill>
                  <a:srgbClr val="10131A"/>
                </a:solidFill>
              </a:defRPr>
            </a:pPr>
            <a:r>
              <a:rPr sz="1650" b="0">
                <a:solidFill>
                  <a:srgbClr val="10131A"/>
                </a:solidFill>
              </a:rPr>
              <a:t>• Học sinh viết lại bản cuối và khai báo phần AI hỗ trợ.</a:t>
            </a:r>
          </a:p>
        </p:txBody>
      </p:sp>
      <p:sp>
        <p:nvSpPr>
          <p:cNvPr id="6" name="anim-22-van-accent">
            <a:extLst xmlns:a="http://schemas.openxmlformats.org/drawingml/2006/main">
              <a:ext uri="{FF2B5EF4-FFF2-40B4-BE49-F238E27FC236}">
                <a16:creationId xmlns:a16="http://schemas.microsoft.com/office/drawing/2014/main" id="{5CF9759C-D03A-4E99-92D7-7639D9C05094}"/>
              </a:ext>
            </a:extLst>
          </p:cNvPr>
          <p:cNvSpPr>
            <a:spLocks xmlns:a="http://schemas.openxmlformats.org/drawingml/2006/main" noGrp="1"/>
          </p:cNvSpPr>
          <p:nvPr/>
        </p:nvSpPr>
        <p:spPr>
          <a:xfrm xmlns:a="http://schemas.openxmlformats.org/drawingml/2006/main">
            <a:off x="571500" y="2000250"/>
            <a:ext cx="76200" cy="323850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7" name="anim-22-anh">
            <a:extLst xmlns:a="http://schemas.openxmlformats.org/drawingml/2006/main">
              <a:ext uri="{FF2B5EF4-FFF2-40B4-BE49-F238E27FC236}">
                <a16:creationId xmlns:a16="http://schemas.microsoft.com/office/drawing/2014/main" id="{02239F69-3BAB-4315-89C6-92E3E9208467}"/>
              </a:ext>
            </a:extLst>
          </p:cNvPr>
          <p:cNvSpPr>
            <a:spLocks xmlns:a="http://schemas.openxmlformats.org/drawingml/2006/main" noGrp="1"/>
          </p:cNvSpPr>
          <p:nvPr/>
        </p:nvSpPr>
        <p:spPr>
          <a:xfrm xmlns:a="http://schemas.openxmlformats.org/drawingml/2006/main">
            <a:off x="6381750" y="2000250"/>
            <a:ext cx="5238750" cy="3238500"/>
          </a:xfrm>
          <a:prstGeom xmlns:a="http://schemas.openxmlformats.org/drawingml/2006/main" prst="roundRect">
            <a:avLst>
              <a:gd name="adj" fmla="val 3529"/>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TIẾNG ANH 6 — PHẢN HỒI HỘI THOẠI</a:t>
            </a:r>
          </a:p>
          <a:p xmlns:a="http://schemas.openxmlformats.org/drawingml/2006/main">
            <a:pPr algn="l">
              <a:defRPr sz="1650" b="0">
                <a:solidFill>
                  <a:srgbClr val="10131A"/>
                </a:solidFill>
              </a:defRPr>
            </a:pPr>
            <a:r>
              <a:rPr sz="1650" b="0">
                <a:solidFill>
                  <a:srgbClr val="10131A"/>
                </a:solidFill>
              </a:rPr>
              <a:t>• Học sinh tự viết và tự nói đoạn hội thoại trước.</a:t>
            </a:r>
          </a:p>
          <a:p xmlns:a="http://schemas.openxmlformats.org/drawingml/2006/main">
            <a:pPr algn="l">
              <a:defRPr sz="1650" b="0">
                <a:solidFill>
                  <a:srgbClr val="10131A"/>
                </a:solidFill>
              </a:defRPr>
            </a:pPr>
            <a:r>
              <a:rPr sz="1650" b="0">
                <a:solidFill>
                  <a:srgbClr val="10131A"/>
                </a:solidFill>
              </a:rPr>
              <a:t>• AI/ứng dụng phát âm phản hồi từ vựng, ngữ âm hoặc mức độ phù hợp.</a:t>
            </a:r>
          </a:p>
          <a:p xmlns:a="http://schemas.openxmlformats.org/drawingml/2006/main">
            <a:pPr algn="l">
              <a:defRPr sz="1650" b="0">
                <a:solidFill>
                  <a:srgbClr val="10131A"/>
                </a:solidFill>
              </a:defRPr>
            </a:pPr>
            <a:r>
              <a:rPr sz="1650" b="0">
                <a:solidFill>
                  <a:srgbClr val="10131A"/>
                </a:solidFill>
              </a:rPr>
              <a:t>• Học sinh chọn phản hồi nào hợp lý, sửa và thu âm lần 2.</a:t>
            </a:r>
          </a:p>
          <a:p xmlns:a="http://schemas.openxmlformats.org/drawingml/2006/main">
            <a:pPr algn="l">
              <a:defRPr sz="1650" b="0">
                <a:solidFill>
                  <a:srgbClr val="10131A"/>
                </a:solidFill>
              </a:defRPr>
            </a:pPr>
            <a:r>
              <a:rPr sz="1650" b="0">
                <a:solidFill>
                  <a:srgbClr val="10131A"/>
                </a:solidFill>
              </a:rPr>
              <a:t>• Không nộp giọng nói/hình ảnh cá nhân vào công cụ chưa được nhà trường cho phép.</a:t>
            </a:r>
          </a:p>
        </p:txBody>
      </p:sp>
      <p:sp>
        <p:nvSpPr>
          <p:cNvPr id="8" name="anim-22-anh-accent">
            <a:extLst xmlns:a="http://schemas.openxmlformats.org/drawingml/2006/main">
              <a:ext uri="{FF2B5EF4-FFF2-40B4-BE49-F238E27FC236}">
                <a16:creationId xmlns:a16="http://schemas.microsoft.com/office/drawing/2014/main" id="{C633A584-AD23-4677-AF91-955F5E5BAF6C}"/>
              </a:ext>
            </a:extLst>
          </p:cNvPr>
          <p:cNvSpPr>
            <a:spLocks xmlns:a="http://schemas.openxmlformats.org/drawingml/2006/main" noGrp="1"/>
          </p:cNvSpPr>
          <p:nvPr/>
        </p:nvSpPr>
        <p:spPr>
          <a:xfrm xmlns:a="http://schemas.openxmlformats.org/drawingml/2006/main">
            <a:off x="6381750" y="2000250"/>
            <a:ext cx="76200" cy="3238500"/>
          </a:xfrm>
          <a:prstGeom xmlns:a="http://schemas.openxmlformats.org/drawingml/2006/main" prst="rect">
            <a:avLst/>
          </a:prstGeom>
          <a:solidFill xmlns:a="http://schemas.openxmlformats.org/drawingml/2006/main">
            <a:srgbClr val="44C2F0"/>
          </a:solidFill>
          <a:ln xmlns:a="http://schemas.openxmlformats.org/drawingml/2006/main" w="0">
            <a:solidFill>
              <a:srgbClr val="44C2F0"/>
            </a:solidFill>
            <a:prstDash val="solid"/>
          </a:ln>
        </p:spPr>
      </p:sp>
      <p:sp>
        <p:nvSpPr>
          <p:cNvPr id="9" name="anim-22-rule">
            <a:extLst xmlns:a="http://schemas.openxmlformats.org/drawingml/2006/main">
              <a:ext uri="{FF2B5EF4-FFF2-40B4-BE49-F238E27FC236}">
                <a16:creationId xmlns:a16="http://schemas.microsoft.com/office/drawing/2014/main" id="{D94F8329-452C-4F05-B41E-8151E03A20B3}"/>
              </a:ext>
            </a:extLst>
          </p:cNvPr>
          <p:cNvSpPr>
            <a:spLocks xmlns:a="http://schemas.openxmlformats.org/drawingml/2006/main" noGrp="1"/>
          </p:cNvSpPr>
          <p:nvPr/>
        </p:nvSpPr>
        <p:spPr>
          <a:xfrm xmlns:a="http://schemas.openxmlformats.org/drawingml/2006/main">
            <a:off x="1333500" y="566737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0B2B5B"/>
                </a:solidFill>
              </a:defRPr>
            </a:pPr>
            <a:r>
              <a:rPr sz="1875" b="1">
                <a:solidFill>
                  <a:srgbClr val="0B2B5B"/>
                </a:solidFill>
              </a:rPr>
              <a:t>Nguyên tắc chung: học sinh làm bản đầu trước – AI phản hồi sau – học sinh giải thích bản sửa cuối.</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7"/>
                                          </p:tgtEl>
                                          <p:attrNameLst>
                                            <p:attrName>style.visibility</p:attrName>
                                          </p:attrNameLst>
                                        </p:cBhvr>
                                        <p:to>
                                          <p:strVal val="visible"/>
                                        </p:to>
                                      </p:set>
                                      <p:animEffect transition="in" filter="fade">
                                        <p:cBhvr>
                                          <p:cTn id="1011" dur="350"/>
                                          <p:tgtEl>
                                            <p:spTgt spid="7"/>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9"/>
                                          </p:tgtEl>
                                          <p:attrNameLst>
                                            <p:attrName>style.visibility</p:attrName>
                                          </p:attrNameLst>
                                        </p:cBhvr>
                                        <p:to>
                                          <p:strVal val="visible"/>
                                        </p:to>
                                      </p:set>
                                      <p:animEffect transition="in" filter="fade">
                                        <p:cBhvr>
                                          <p:cTn id="1016"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6270588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23">
            <a:extLst xmlns:a="http://schemas.openxmlformats.org/drawingml/2006/main">
              <a:ext uri="{FF2B5EF4-FFF2-40B4-BE49-F238E27FC236}">
                <a16:creationId xmlns:a16="http://schemas.microsoft.com/office/drawing/2014/main" id="{FAEA73DD-478F-48EC-96C3-88D9897AF6E1}"/>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10 / VÍ DỤ LIÊN MÔN</a:t>
            </a:r>
          </a:p>
        </p:txBody>
      </p:sp>
      <p:sp>
        <p:nvSpPr>
          <p:cNvPr id="2" name="title-23">
            <a:extLst xmlns:a="http://schemas.openxmlformats.org/drawingml/2006/main">
              <a:ext uri="{FF2B5EF4-FFF2-40B4-BE49-F238E27FC236}">
                <a16:creationId xmlns:a16="http://schemas.microsoft.com/office/drawing/2014/main" id="{CF2E43D4-4502-4812-B665-BAEE63122742}"/>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KHTN, Lịch sử–Địa lí, Tin học và HĐTN: dữ liệu phải dẫn đường</a:t>
            </a:r>
          </a:p>
        </p:txBody>
      </p:sp>
      <p:sp>
        <p:nvSpPr>
          <p:cNvPr id="3" name="rule-23">
            <a:extLst xmlns:a="http://schemas.openxmlformats.org/drawingml/2006/main">
              <a:ext uri="{FF2B5EF4-FFF2-40B4-BE49-F238E27FC236}">
                <a16:creationId xmlns:a16="http://schemas.microsoft.com/office/drawing/2014/main" id="{AB0C5670-9BE1-4C9E-A9CA-C8B077F98BDD}"/>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23">
            <a:extLst xmlns:a="http://schemas.openxmlformats.org/drawingml/2006/main">
              <a:ext uri="{FF2B5EF4-FFF2-40B4-BE49-F238E27FC236}">
                <a16:creationId xmlns:a16="http://schemas.microsoft.com/office/drawing/2014/main" id="{D401BF5C-D286-4210-B643-5716C606E2A8}"/>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23</a:t>
            </a:r>
          </a:p>
        </p:txBody>
      </p:sp>
      <p:sp>
        <p:nvSpPr>
          <p:cNvPr id="5" name="anim-23-khtn">
            <a:extLst xmlns:a="http://schemas.openxmlformats.org/drawingml/2006/main">
              <a:ext uri="{FF2B5EF4-FFF2-40B4-BE49-F238E27FC236}">
                <a16:creationId xmlns:a16="http://schemas.microsoft.com/office/drawing/2014/main" id="{A5DA6B55-C4B3-4097-88E9-F8C59E182426}"/>
              </a:ext>
            </a:extLst>
          </p:cNvPr>
          <p:cNvSpPr>
            <a:spLocks xmlns:a="http://schemas.openxmlformats.org/drawingml/2006/main" noGrp="1"/>
          </p:cNvSpPr>
          <p:nvPr/>
        </p:nvSpPr>
        <p:spPr>
          <a:xfrm xmlns:a="http://schemas.openxmlformats.org/drawingml/2006/main">
            <a:off x="523875" y="2000250"/>
            <a:ext cx="5238750" cy="1428750"/>
          </a:xfrm>
          <a:prstGeom xmlns:a="http://schemas.openxmlformats.org/drawingml/2006/main" prst="roundRect">
            <a:avLst>
              <a:gd name="adj" fmla="val 8000"/>
            </a:avLst>
          </a:prstGeom>
          <a:solidFill xmlns:a="http://schemas.openxmlformats.org/drawingml/2006/main">
            <a:srgbClr val="EAF7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KHTN 8</a:t>
            </a:r>
          </a:p>
          <a:p xmlns:a="http://schemas.openxmlformats.org/drawingml/2006/main">
            <a:pPr algn="l">
              <a:defRPr sz="1575" b="0">
                <a:solidFill>
                  <a:srgbClr val="10131A"/>
                </a:solidFill>
              </a:defRPr>
            </a:pPr>
            <a:r>
              <a:rPr sz="1575" b="0">
                <a:solidFill>
                  <a:srgbClr val="10131A"/>
                </a:solidFill>
              </a:rPr>
              <a:t>AI gợi ý xu hướng từ bảng số liệu thí nghiệm. Học sinh tính/đối chiếu số liệu gốc, nhận diện điểm bất thường và kết luận có điều kiện.</a:t>
            </a:r>
          </a:p>
        </p:txBody>
      </p:sp>
      <p:sp>
        <p:nvSpPr>
          <p:cNvPr id="6" name="anim-23-khtn-accent">
            <a:extLst xmlns:a="http://schemas.openxmlformats.org/drawingml/2006/main">
              <a:ext uri="{FF2B5EF4-FFF2-40B4-BE49-F238E27FC236}">
                <a16:creationId xmlns:a16="http://schemas.microsoft.com/office/drawing/2014/main" id="{3D128F03-22EB-4C93-8ED1-72C4BC5E0169}"/>
              </a:ext>
            </a:extLst>
          </p:cNvPr>
          <p:cNvSpPr>
            <a:spLocks xmlns:a="http://schemas.openxmlformats.org/drawingml/2006/main" noGrp="1"/>
          </p:cNvSpPr>
          <p:nvPr/>
        </p:nvSpPr>
        <p:spPr>
          <a:xfrm xmlns:a="http://schemas.openxmlformats.org/drawingml/2006/main">
            <a:off x="523875" y="2000250"/>
            <a:ext cx="76200" cy="1428750"/>
          </a:xfrm>
          <a:prstGeom xmlns:a="http://schemas.openxmlformats.org/drawingml/2006/main" prst="rect">
            <a:avLst/>
          </a:prstGeom>
          <a:solidFill xmlns:a="http://schemas.openxmlformats.org/drawingml/2006/main">
            <a:srgbClr val="1B8A5A"/>
          </a:solidFill>
          <a:ln xmlns:a="http://schemas.openxmlformats.org/drawingml/2006/main" w="0">
            <a:solidFill>
              <a:srgbClr val="1B8A5A"/>
            </a:solidFill>
            <a:prstDash val="solid"/>
          </a:ln>
        </p:spPr>
      </p:sp>
      <p:sp>
        <p:nvSpPr>
          <p:cNvPr id="7" name="anim-23-lsdl">
            <a:extLst xmlns:a="http://schemas.openxmlformats.org/drawingml/2006/main">
              <a:ext uri="{FF2B5EF4-FFF2-40B4-BE49-F238E27FC236}">
                <a16:creationId xmlns:a16="http://schemas.microsoft.com/office/drawing/2014/main" id="{6A272FAE-D7F5-4087-B26A-2FA29ED0DB71}"/>
              </a:ext>
            </a:extLst>
          </p:cNvPr>
          <p:cNvSpPr>
            <a:spLocks xmlns:a="http://schemas.openxmlformats.org/drawingml/2006/main" noGrp="1"/>
          </p:cNvSpPr>
          <p:nvPr/>
        </p:nvSpPr>
        <p:spPr>
          <a:xfrm xmlns:a="http://schemas.openxmlformats.org/drawingml/2006/main">
            <a:off x="6429375" y="2000250"/>
            <a:ext cx="5238750" cy="1428750"/>
          </a:xfrm>
          <a:prstGeom xmlns:a="http://schemas.openxmlformats.org/drawingml/2006/main" prst="roundRect">
            <a:avLst>
              <a:gd name="adj" fmla="val 8000"/>
            </a:avLst>
          </a:prstGeom>
          <a:solidFill xmlns:a="http://schemas.openxmlformats.org/drawingml/2006/main">
            <a:srgbClr val="FFF4E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LỊCH SỬ – ĐỊA LÍ 9</a:t>
            </a:r>
          </a:p>
          <a:p xmlns:a="http://schemas.openxmlformats.org/drawingml/2006/main">
            <a:pPr algn="l">
              <a:defRPr sz="1575" b="0">
                <a:solidFill>
                  <a:srgbClr val="10131A"/>
                </a:solidFill>
              </a:defRPr>
            </a:pPr>
            <a:r>
              <a:rPr sz="1575" b="0">
                <a:solidFill>
                  <a:srgbClr val="10131A"/>
                </a:solidFill>
              </a:rPr>
              <a:t>AI trả lời một câu hỏi dựa trên 2–3 nguồn đã chọn. Học sinh kiểm tra niên đại, bản đồ, số liệu và phát hiện lời khẳng định thiếu dẫn chứng/thiên lệch.</a:t>
            </a:r>
          </a:p>
        </p:txBody>
      </p:sp>
      <p:sp>
        <p:nvSpPr>
          <p:cNvPr id="8" name="anim-23-lsdl-accent">
            <a:extLst xmlns:a="http://schemas.openxmlformats.org/drawingml/2006/main">
              <a:ext uri="{FF2B5EF4-FFF2-40B4-BE49-F238E27FC236}">
                <a16:creationId xmlns:a16="http://schemas.microsoft.com/office/drawing/2014/main" id="{25253649-6395-4B6B-942A-F38BF4018A88}"/>
              </a:ext>
            </a:extLst>
          </p:cNvPr>
          <p:cNvSpPr>
            <a:spLocks xmlns:a="http://schemas.openxmlformats.org/drawingml/2006/main" noGrp="1"/>
          </p:cNvSpPr>
          <p:nvPr/>
        </p:nvSpPr>
        <p:spPr>
          <a:xfrm xmlns:a="http://schemas.openxmlformats.org/drawingml/2006/main">
            <a:off x="6429375" y="2000250"/>
            <a:ext cx="76200" cy="14287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anim-23-tin">
            <a:extLst xmlns:a="http://schemas.openxmlformats.org/drawingml/2006/main">
              <a:ext uri="{FF2B5EF4-FFF2-40B4-BE49-F238E27FC236}">
                <a16:creationId xmlns:a16="http://schemas.microsoft.com/office/drawing/2014/main" id="{E247DB91-B9FB-4A80-8F0E-ED8A228395E8}"/>
              </a:ext>
            </a:extLst>
          </p:cNvPr>
          <p:cNvSpPr>
            <a:spLocks xmlns:a="http://schemas.openxmlformats.org/drawingml/2006/main" noGrp="1"/>
          </p:cNvSpPr>
          <p:nvPr/>
        </p:nvSpPr>
        <p:spPr>
          <a:xfrm xmlns:a="http://schemas.openxmlformats.org/drawingml/2006/main">
            <a:off x="523875" y="3905250"/>
            <a:ext cx="5238750" cy="1428750"/>
          </a:xfrm>
          <a:prstGeom xmlns:a="http://schemas.openxmlformats.org/drawingml/2006/main" prst="roundRect">
            <a:avLst>
              <a:gd name="adj" fmla="val 8000"/>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TIN HỌC 7/8</a:t>
            </a:r>
          </a:p>
          <a:p xmlns:a="http://schemas.openxmlformats.org/drawingml/2006/main">
            <a:pPr algn="l">
              <a:defRPr sz="1575" b="0">
                <a:solidFill>
                  <a:srgbClr val="10131A"/>
                </a:solidFill>
              </a:defRPr>
            </a:pPr>
            <a:r>
              <a:rPr sz="1575" b="0">
                <a:solidFill>
                  <a:srgbClr val="10131A"/>
                </a:solidFill>
              </a:rPr>
              <a:t>Dùng bộ thẻ dữ liệu mô phỏng quá trình gán nhãn và phân loại. Thử thay đổi dữ liệu để quan sát thiên vị; không bắt buộc lập trình.</a:t>
            </a:r>
          </a:p>
        </p:txBody>
      </p:sp>
      <p:sp>
        <p:nvSpPr>
          <p:cNvPr id="10" name="anim-23-tin-accent">
            <a:extLst xmlns:a="http://schemas.openxmlformats.org/drawingml/2006/main">
              <a:ext uri="{FF2B5EF4-FFF2-40B4-BE49-F238E27FC236}">
                <a16:creationId xmlns:a16="http://schemas.microsoft.com/office/drawing/2014/main" id="{FA6EBA27-5A32-426F-8DB0-2CF7B1327E0B}"/>
              </a:ext>
            </a:extLst>
          </p:cNvPr>
          <p:cNvSpPr>
            <a:spLocks xmlns:a="http://schemas.openxmlformats.org/drawingml/2006/main" noGrp="1"/>
          </p:cNvSpPr>
          <p:nvPr/>
        </p:nvSpPr>
        <p:spPr>
          <a:xfrm xmlns:a="http://schemas.openxmlformats.org/drawingml/2006/main">
            <a:off x="523875" y="3905250"/>
            <a:ext cx="76200" cy="1428750"/>
          </a:xfrm>
          <a:prstGeom xmlns:a="http://schemas.openxmlformats.org/drawingml/2006/main" prst="rect">
            <a:avLst/>
          </a:prstGeom>
          <a:solidFill xmlns:a="http://schemas.openxmlformats.org/drawingml/2006/main">
            <a:srgbClr val="44C2F0"/>
          </a:solidFill>
          <a:ln xmlns:a="http://schemas.openxmlformats.org/drawingml/2006/main" w="0">
            <a:solidFill>
              <a:srgbClr val="44C2F0"/>
            </a:solidFill>
            <a:prstDash val="solid"/>
          </a:ln>
        </p:spPr>
      </p:sp>
      <p:sp>
        <p:nvSpPr>
          <p:cNvPr id="11" name="anim-23-hdtn">
            <a:extLst xmlns:a="http://schemas.openxmlformats.org/drawingml/2006/main">
              <a:ext uri="{FF2B5EF4-FFF2-40B4-BE49-F238E27FC236}">
                <a16:creationId xmlns:a16="http://schemas.microsoft.com/office/drawing/2014/main" id="{78CA2E97-156B-4F7C-BD9D-D42CABCD3330}"/>
              </a:ext>
            </a:extLst>
          </p:cNvPr>
          <p:cNvSpPr>
            <a:spLocks xmlns:a="http://schemas.openxmlformats.org/drawingml/2006/main" noGrp="1"/>
          </p:cNvSpPr>
          <p:nvPr/>
        </p:nvSpPr>
        <p:spPr>
          <a:xfrm xmlns:a="http://schemas.openxmlformats.org/drawingml/2006/main">
            <a:off x="6429375" y="3905250"/>
            <a:ext cx="5238750" cy="1428750"/>
          </a:xfrm>
          <a:prstGeom xmlns:a="http://schemas.openxmlformats.org/drawingml/2006/main" prst="roundRect">
            <a:avLst>
              <a:gd name="adj" fmla="val 8000"/>
            </a:avLst>
          </a:prstGeom>
          <a:solidFill xmlns:a="http://schemas.openxmlformats.org/drawingml/2006/main">
            <a:srgbClr val="FFF0F0"/>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HĐTN – HƯỚNG NGHIỆP</a:t>
            </a:r>
          </a:p>
          <a:p xmlns:a="http://schemas.openxmlformats.org/drawingml/2006/main">
            <a:pPr algn="l">
              <a:defRPr sz="1575" b="0">
                <a:solidFill>
                  <a:srgbClr val="10131A"/>
                </a:solidFill>
              </a:defRPr>
            </a:pPr>
            <a:r>
              <a:rPr sz="1575" b="0">
                <a:solidFill>
                  <a:srgbClr val="10131A"/>
                </a:solidFill>
              </a:rPr>
              <a:t>Đóng vai xử lý tình huống deepfake/lừa đảo; xây dựng quy trình dừng – kiểm tra – báo người lớn – báo cáo nền tảng; thảo luận nghề nghiệp tương lai.</a:t>
            </a:r>
          </a:p>
        </p:txBody>
      </p:sp>
      <p:sp>
        <p:nvSpPr>
          <p:cNvPr id="12" name="anim-23-hdtn-accent">
            <a:extLst xmlns:a="http://schemas.openxmlformats.org/drawingml/2006/main">
              <a:ext uri="{FF2B5EF4-FFF2-40B4-BE49-F238E27FC236}">
                <a16:creationId xmlns:a16="http://schemas.microsoft.com/office/drawing/2014/main" id="{DB00F37D-7CDB-40E0-A337-BBDFB33B541A}"/>
              </a:ext>
            </a:extLst>
          </p:cNvPr>
          <p:cNvSpPr>
            <a:spLocks xmlns:a="http://schemas.openxmlformats.org/drawingml/2006/main" noGrp="1"/>
          </p:cNvSpPr>
          <p:nvPr/>
        </p:nvSpPr>
        <p:spPr>
          <a:xfrm xmlns:a="http://schemas.openxmlformats.org/drawingml/2006/main">
            <a:off x="6429375" y="3905250"/>
            <a:ext cx="76200" cy="1428750"/>
          </a:xfrm>
          <a:prstGeom xmlns:a="http://schemas.openxmlformats.org/drawingml/2006/main" prst="rect">
            <a:avLst/>
          </a:prstGeom>
          <a:solidFill xmlns:a="http://schemas.openxmlformats.org/drawingml/2006/main">
            <a:srgbClr val="D84A4A"/>
          </a:solidFill>
          <a:ln xmlns:a="http://schemas.openxmlformats.org/drawingml/2006/main" w="0">
            <a:solidFill>
              <a:srgbClr val="D84A4A"/>
            </a:solidFill>
            <a:prstDash val="solid"/>
          </a:ln>
        </p:spPr>
      </p:sp>
      <p:sp>
        <p:nvSpPr>
          <p:cNvPr id="13" name="anim-23-close">
            <a:extLst xmlns:a="http://schemas.openxmlformats.org/drawingml/2006/main">
              <a:ext uri="{FF2B5EF4-FFF2-40B4-BE49-F238E27FC236}">
                <a16:creationId xmlns:a16="http://schemas.microsoft.com/office/drawing/2014/main" id="{1F03F4EC-5CED-491E-AEBA-6E92C3E34BAA}"/>
              </a:ext>
            </a:extLst>
          </p:cNvPr>
          <p:cNvSpPr>
            <a:spLocks xmlns:a="http://schemas.openxmlformats.org/drawingml/2006/main" noGrp="1"/>
          </p:cNvSpPr>
          <p:nvPr/>
        </p:nvSpPr>
        <p:spPr>
          <a:xfrm xmlns:a="http://schemas.openxmlformats.org/drawingml/2006/main">
            <a:off x="1143000" y="576262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769E0"/>
                </a:solidFill>
              </a:defRPr>
            </a:pPr>
            <a:r>
              <a:rPr sz="1725" b="1">
                <a:solidFill>
                  <a:srgbClr val="1769E0"/>
                </a:solidFill>
              </a:rPr>
              <a:t>Chỉ tích hợp khi AI giúp làm rõ yêu cầu môn học hoặc tạo cơ hội kiểm chứng; không tích hợp để “trang trí công nghệ”.</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7"/>
                                          </p:tgtEl>
                                          <p:attrNameLst>
                                            <p:attrName>style.visibility</p:attrName>
                                          </p:attrNameLst>
                                        </p:cBhvr>
                                        <p:to>
                                          <p:strVal val="visible"/>
                                        </p:to>
                                      </p:set>
                                      <p:animEffect transition="in" filter="fade">
                                        <p:cBhvr>
                                          <p:cTn id="1011" dur="350"/>
                                          <p:tgtEl>
                                            <p:spTgt spid="7"/>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9"/>
                                          </p:tgtEl>
                                          <p:attrNameLst>
                                            <p:attrName>style.visibility</p:attrName>
                                          </p:attrNameLst>
                                        </p:cBhvr>
                                        <p:to>
                                          <p:strVal val="visible"/>
                                        </p:to>
                                      </p:set>
                                      <p:animEffect transition="in" filter="fade">
                                        <p:cBhvr>
                                          <p:cTn id="1016" dur="350"/>
                                          <p:tgtEl>
                                            <p:spTgt spid="9"/>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11"/>
                                          </p:tgtEl>
                                          <p:attrNameLst>
                                            <p:attrName>style.visibility</p:attrName>
                                          </p:attrNameLst>
                                        </p:cBhvr>
                                        <p:to>
                                          <p:strVal val="visible"/>
                                        </p:to>
                                      </p:set>
                                      <p:animEffect transition="in" filter="fade">
                                        <p:cBhvr>
                                          <p:cTn id="1021" dur="350"/>
                                          <p:tgtEl>
                                            <p:spTgt spid="11"/>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13"/>
                                          </p:tgtEl>
                                          <p:attrNameLst>
                                            <p:attrName>style.visibility</p:attrName>
                                          </p:attrNameLst>
                                        </p:cBhvr>
                                        <p:to>
                                          <p:strVal val="visible"/>
                                        </p:to>
                                      </p:set>
                                      <p:animEffect transition="in" filter="fade">
                                        <p:cBhvr>
                                          <p:cTn id="1026"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78789270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24">
            <a:extLst xmlns:a="http://schemas.openxmlformats.org/drawingml/2006/main">
              <a:ext uri="{FF2B5EF4-FFF2-40B4-BE49-F238E27FC236}">
                <a16:creationId xmlns:a16="http://schemas.microsoft.com/office/drawing/2014/main" id="{BA4BA6FA-EE9C-4E57-80D9-04238495E024}"/>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11 / NOTEBOOKLM</a:t>
            </a:r>
          </a:p>
        </p:txBody>
      </p:sp>
      <p:sp>
        <p:nvSpPr>
          <p:cNvPr id="2" name="title-24">
            <a:extLst xmlns:a="http://schemas.openxmlformats.org/drawingml/2006/main">
              <a:ext uri="{FF2B5EF4-FFF2-40B4-BE49-F238E27FC236}">
                <a16:creationId xmlns:a16="http://schemas.microsoft.com/office/drawing/2014/main" id="{10D3149D-8686-46A5-AFA2-71042D02FE25}"/>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NotebookLM: soạn bài từ nguồn giáo viên đã duyệt</a:t>
            </a:r>
          </a:p>
        </p:txBody>
      </p:sp>
      <p:sp>
        <p:nvSpPr>
          <p:cNvPr id="3" name="subtitle-24">
            <a:extLst xmlns:a="http://schemas.openxmlformats.org/drawingml/2006/main">
              <a:ext uri="{FF2B5EF4-FFF2-40B4-BE49-F238E27FC236}">
                <a16:creationId xmlns:a16="http://schemas.microsoft.com/office/drawing/2014/main" id="{94BA0125-6A6A-4F55-AABC-365555419A2B}"/>
              </a:ext>
            </a:extLst>
          </p:cNvPr>
          <p:cNvSpPr>
            <a:spLocks xmlns:a="http://schemas.openxmlformats.org/drawingml/2006/main" noGrp="1"/>
          </p:cNvSpPr>
          <p:nvPr/>
        </p:nvSpPr>
        <p:spPr>
          <a:xfrm xmlns:a="http://schemas.openxmlformats.org/drawingml/2006/main">
            <a:off x="419100" y="140970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3"/>
                </a:solidFill>
              </a:defRPr>
            </a:pPr>
            <a:r>
              <a:rPr sz="1275" b="0">
                <a:solidFill>
                  <a:srgbClr val="5E6673"/>
                </a:solidFill>
              </a:rPr>
              <a:t>Tên/giao diện sản phẩm có thể thay đổi; quy trình sư phạm và kiểm chứng vẫn giữ nguyên.</a:t>
            </a:r>
          </a:p>
        </p:txBody>
      </p:sp>
      <p:sp>
        <p:nvSpPr>
          <p:cNvPr id="4" name="rule-24">
            <a:extLst xmlns:a="http://schemas.openxmlformats.org/drawingml/2006/main">
              <a:ext uri="{FF2B5EF4-FFF2-40B4-BE49-F238E27FC236}">
                <a16:creationId xmlns:a16="http://schemas.microsoft.com/office/drawing/2014/main" id="{955A1C9A-FC00-45D4-911B-2CDC3EF5EF72}"/>
              </a:ext>
            </a:extLst>
          </p:cNvPr>
          <p:cNvSpPr>
            <a:spLocks xmlns:a="http://schemas.openxmlformats.org/drawingml/2006/main" noGrp="1"/>
          </p:cNvSpPr>
          <p:nvPr/>
        </p:nvSpPr>
        <p:spPr>
          <a:xfrm xmlns:a="http://schemas.openxmlformats.org/drawingml/2006/main">
            <a:off x="400050" y="16954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page-24">
            <a:extLst xmlns:a="http://schemas.openxmlformats.org/drawingml/2006/main">
              <a:ext uri="{FF2B5EF4-FFF2-40B4-BE49-F238E27FC236}">
                <a16:creationId xmlns:a16="http://schemas.microsoft.com/office/drawing/2014/main" id="{B0F29604-681B-4597-B608-C5860C132AE0}"/>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24</a:t>
            </a:r>
          </a:p>
        </p:txBody>
      </p:sp>
      <p:sp>
        <p:nvSpPr>
          <p:cNvPr id="6" name="anim-24-1">
            <a:extLst xmlns:a="http://schemas.openxmlformats.org/drawingml/2006/main">
              <a:ext uri="{FF2B5EF4-FFF2-40B4-BE49-F238E27FC236}">
                <a16:creationId xmlns:a16="http://schemas.microsoft.com/office/drawing/2014/main" id="{A905706E-12BF-4B83-B1FE-EAD70F805C65}"/>
              </a:ext>
            </a:extLst>
          </p:cNvPr>
          <p:cNvSpPr>
            <a:spLocks xmlns:a="http://schemas.openxmlformats.org/drawingml/2006/main" noGrp="1"/>
          </p:cNvSpPr>
          <p:nvPr/>
        </p:nvSpPr>
        <p:spPr>
          <a:xfrm xmlns:a="http://schemas.openxmlformats.org/drawingml/2006/main">
            <a:off x="428625" y="2095500"/>
            <a:ext cx="2095500" cy="3143250"/>
          </a:xfrm>
          <a:prstGeom xmlns:a="http://schemas.openxmlformats.org/drawingml/2006/main" prst="roundRect">
            <a:avLst>
              <a:gd name="adj" fmla="val 5455"/>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1</a:t>
            </a:r>
          </a:p>
          <a:p xmlns:a="http://schemas.openxmlformats.org/drawingml/2006/main">
            <a:pPr algn="ctr">
              <a:defRPr sz="1425" b="0">
                <a:solidFill>
                  <a:srgbClr val="10131A"/>
                </a:solidFill>
              </a:defRPr>
            </a:pPr>
            <a:r>
              <a:rPr sz="1425" b="0">
                <a:solidFill>
                  <a:srgbClr val="10131A"/>
                </a:solidFill>
              </a:rPr>
              <a:t>TẠO NOTEBOOK</a:t>
            </a:r>
          </a:p>
          <a:p xmlns:a="http://schemas.openxmlformats.org/drawingml/2006/main">
            <a:pPr algn="ctr">
              <a:defRPr sz="1425" b="0">
                <a:solidFill>
                  <a:srgbClr val="10131A"/>
                </a:solidFill>
              </a:defRPr>
            </a:pPr>
            <a:r>
              <a:rPr sz="1425" b="0">
                <a:solidFill>
                  <a:srgbClr val="10131A"/>
                </a:solidFill>
              </a:rPr>
              <a:t>Mỗi bài/chủ đề một notebook; đặt tên theo môn – khối – bài.</a:t>
            </a:r>
          </a:p>
        </p:txBody>
      </p:sp>
      <p:sp>
        <p:nvSpPr>
          <p:cNvPr id="7" name="anim-24-2">
            <a:extLst xmlns:a="http://schemas.openxmlformats.org/drawingml/2006/main">
              <a:ext uri="{FF2B5EF4-FFF2-40B4-BE49-F238E27FC236}">
                <a16:creationId xmlns:a16="http://schemas.microsoft.com/office/drawing/2014/main" id="{F1939B9B-02A0-43F2-AF27-2A15F7FBDDD3}"/>
              </a:ext>
            </a:extLst>
          </p:cNvPr>
          <p:cNvSpPr>
            <a:spLocks xmlns:a="http://schemas.openxmlformats.org/drawingml/2006/main" noGrp="1"/>
          </p:cNvSpPr>
          <p:nvPr/>
        </p:nvSpPr>
        <p:spPr>
          <a:xfrm xmlns:a="http://schemas.openxmlformats.org/drawingml/2006/main">
            <a:off x="2762250" y="2095500"/>
            <a:ext cx="2095500" cy="3143250"/>
          </a:xfrm>
          <a:prstGeom xmlns:a="http://schemas.openxmlformats.org/drawingml/2006/main" prst="roundRect">
            <a:avLst>
              <a:gd name="adj" fmla="val 5455"/>
            </a:avLst>
          </a:prstGeom>
          <a:solidFill xmlns:a="http://schemas.openxmlformats.org/drawingml/2006/main">
            <a:srgbClr val="EAF5FB"/>
          </a:solidFill>
          <a:ln xmlns:a="http://schemas.openxmlformats.org/drawingml/2006/main" w="9525">
            <a:solidFill>
              <a:srgbClr val="1769E0"/>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2</a:t>
            </a:r>
          </a:p>
          <a:p xmlns:a="http://schemas.openxmlformats.org/drawingml/2006/main">
            <a:pPr algn="ctr">
              <a:defRPr sz="1425" b="0">
                <a:solidFill>
                  <a:srgbClr val="10131A"/>
                </a:solidFill>
              </a:defRPr>
            </a:pPr>
            <a:r>
              <a:rPr sz="1425" b="0">
                <a:solidFill>
                  <a:srgbClr val="10131A"/>
                </a:solidFill>
              </a:rPr>
              <a:t>ĐƯA NGUỒN CHUẨN</a:t>
            </a:r>
          </a:p>
          <a:p xmlns:a="http://schemas.openxmlformats.org/drawingml/2006/main">
            <a:pPr algn="ctr">
              <a:defRPr sz="1425" b="0">
                <a:solidFill>
                  <a:srgbClr val="10131A"/>
                </a:solidFill>
              </a:defRPr>
            </a:pPr>
            <a:r>
              <a:rPr sz="1425" b="0">
                <a:solidFill>
                  <a:srgbClr val="10131A"/>
                </a:solidFill>
              </a:rPr>
              <a:t>SGK, SGV, chương trình môn, Khung AI, tài liệu chính thống.</a:t>
            </a:r>
          </a:p>
        </p:txBody>
      </p:sp>
      <p:sp>
        <p:nvSpPr>
          <p:cNvPr id="8" name="anim-24-3">
            <a:extLst xmlns:a="http://schemas.openxmlformats.org/drawingml/2006/main">
              <a:ext uri="{FF2B5EF4-FFF2-40B4-BE49-F238E27FC236}">
                <a16:creationId xmlns:a16="http://schemas.microsoft.com/office/drawing/2014/main" id="{9990A2D1-B4ED-4127-81DB-E829C9B68F1F}"/>
              </a:ext>
            </a:extLst>
          </p:cNvPr>
          <p:cNvSpPr>
            <a:spLocks xmlns:a="http://schemas.openxmlformats.org/drawingml/2006/main" noGrp="1"/>
          </p:cNvSpPr>
          <p:nvPr/>
        </p:nvSpPr>
        <p:spPr>
          <a:xfrm xmlns:a="http://schemas.openxmlformats.org/drawingml/2006/main">
            <a:off x="5095875" y="2095500"/>
            <a:ext cx="2095500" cy="3143250"/>
          </a:xfrm>
          <a:prstGeom xmlns:a="http://schemas.openxmlformats.org/drawingml/2006/main" prst="roundRect">
            <a:avLst>
              <a:gd name="adj" fmla="val 5455"/>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3</a:t>
            </a:r>
          </a:p>
          <a:p xmlns:a="http://schemas.openxmlformats.org/drawingml/2006/main">
            <a:pPr algn="ctr">
              <a:defRPr sz="1425" b="0">
                <a:solidFill>
                  <a:srgbClr val="10131A"/>
                </a:solidFill>
              </a:defRPr>
            </a:pPr>
            <a:r>
              <a:rPr sz="1425" b="0">
                <a:solidFill>
                  <a:srgbClr val="10131A"/>
                </a:solidFill>
              </a:rPr>
              <a:t>YÊU CẦU BẢN NHÁP</a:t>
            </a:r>
          </a:p>
          <a:p xmlns:a="http://schemas.openxmlformats.org/drawingml/2006/main">
            <a:pPr algn="ctr">
              <a:defRPr sz="1425" b="0">
                <a:solidFill>
                  <a:srgbClr val="10131A"/>
                </a:solidFill>
              </a:defRPr>
            </a:pPr>
            <a:r>
              <a:rPr sz="1425" b="0">
                <a:solidFill>
                  <a:srgbClr val="10131A"/>
                </a:solidFill>
              </a:rPr>
              <a:t>Mục tiêu, hoạt động, câu hỏi, quiz, rubric, tài liệu phân hóa.</a:t>
            </a:r>
          </a:p>
        </p:txBody>
      </p:sp>
      <p:sp>
        <p:nvSpPr>
          <p:cNvPr id="9" name="anim-24-4">
            <a:extLst xmlns:a="http://schemas.openxmlformats.org/drawingml/2006/main">
              <a:ext uri="{FF2B5EF4-FFF2-40B4-BE49-F238E27FC236}">
                <a16:creationId xmlns:a16="http://schemas.microsoft.com/office/drawing/2014/main" id="{EAF5D06B-1871-4FFE-A72C-9E52EB860620}"/>
              </a:ext>
            </a:extLst>
          </p:cNvPr>
          <p:cNvSpPr>
            <a:spLocks xmlns:a="http://schemas.openxmlformats.org/drawingml/2006/main" noGrp="1"/>
          </p:cNvSpPr>
          <p:nvPr/>
        </p:nvSpPr>
        <p:spPr>
          <a:xfrm xmlns:a="http://schemas.openxmlformats.org/drawingml/2006/main">
            <a:off x="7429500" y="2095500"/>
            <a:ext cx="2095500" cy="3143250"/>
          </a:xfrm>
          <a:prstGeom xmlns:a="http://schemas.openxmlformats.org/drawingml/2006/main" prst="roundRect">
            <a:avLst>
              <a:gd name="adj" fmla="val 5455"/>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4</a:t>
            </a:r>
          </a:p>
          <a:p xmlns:a="http://schemas.openxmlformats.org/drawingml/2006/main">
            <a:pPr algn="ctr">
              <a:defRPr sz="1425" b="0">
                <a:solidFill>
                  <a:srgbClr val="10131A"/>
                </a:solidFill>
              </a:defRPr>
            </a:pPr>
            <a:r>
              <a:rPr sz="1425" b="0">
                <a:solidFill>
                  <a:srgbClr val="10131A"/>
                </a:solidFill>
              </a:rPr>
              <a:t>MỞ TRÍCH DẪN</a:t>
            </a:r>
          </a:p>
          <a:p xmlns:a="http://schemas.openxmlformats.org/drawingml/2006/main">
            <a:pPr algn="ctr">
              <a:defRPr sz="1425" b="0">
                <a:solidFill>
                  <a:srgbClr val="10131A"/>
                </a:solidFill>
              </a:defRPr>
            </a:pPr>
            <a:r>
              <a:rPr sz="1425" b="0">
                <a:solidFill>
                  <a:srgbClr val="10131A"/>
                </a:solidFill>
              </a:rPr>
              <a:t>Kiểm tra từng ý với đúng đoạn nguồn; loại bỏ nội dung suy diễn.</a:t>
            </a:r>
          </a:p>
        </p:txBody>
      </p:sp>
      <p:sp>
        <p:nvSpPr>
          <p:cNvPr id="10" name="anim-24-5">
            <a:extLst xmlns:a="http://schemas.openxmlformats.org/drawingml/2006/main">
              <a:ext uri="{FF2B5EF4-FFF2-40B4-BE49-F238E27FC236}">
                <a16:creationId xmlns:a16="http://schemas.microsoft.com/office/drawing/2014/main" id="{F4D4D403-C537-4747-98DB-3C77AF0A5F57}"/>
              </a:ext>
            </a:extLst>
          </p:cNvPr>
          <p:cNvSpPr>
            <a:spLocks xmlns:a="http://schemas.openxmlformats.org/drawingml/2006/main" noGrp="1"/>
          </p:cNvSpPr>
          <p:nvPr/>
        </p:nvSpPr>
        <p:spPr>
          <a:xfrm xmlns:a="http://schemas.openxmlformats.org/drawingml/2006/main">
            <a:off x="9763125" y="2095500"/>
            <a:ext cx="2095500" cy="3143250"/>
          </a:xfrm>
          <a:prstGeom xmlns:a="http://schemas.openxmlformats.org/drawingml/2006/main" prst="roundRect">
            <a:avLst>
              <a:gd name="adj" fmla="val 5455"/>
            </a:avLst>
          </a:prstGeom>
          <a:solidFill xmlns:a="http://schemas.openxmlformats.org/drawingml/2006/main">
            <a:srgbClr val="F0F2F5"/>
          </a:solidFill>
          <a:ln xmlns:a="http://schemas.openxmlformats.org/drawingml/2006/main" w="9525">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0131A"/>
                </a:solidFill>
              </a:defRPr>
            </a:pPr>
            <a:r>
              <a:rPr sz="1425" b="0">
                <a:solidFill>
                  <a:srgbClr val="10131A"/>
                </a:solidFill>
              </a:rPr>
              <a:t>5</a:t>
            </a:r>
          </a:p>
          <a:p xmlns:a="http://schemas.openxmlformats.org/drawingml/2006/main">
            <a:pPr algn="ctr">
              <a:defRPr sz="1425" b="0">
                <a:solidFill>
                  <a:srgbClr val="10131A"/>
                </a:solidFill>
              </a:defRPr>
            </a:pPr>
            <a:r>
              <a:rPr sz="1425" b="0">
                <a:solidFill>
                  <a:srgbClr val="10131A"/>
                </a:solidFill>
              </a:rPr>
              <a:t>GIÁO VIÊN HOÀN THIỆN</a:t>
            </a:r>
          </a:p>
          <a:p xmlns:a="http://schemas.openxmlformats.org/drawingml/2006/main">
            <a:pPr algn="ctr">
              <a:defRPr sz="1425" b="0">
                <a:solidFill>
                  <a:srgbClr val="10131A"/>
                </a:solidFill>
              </a:defRPr>
            </a:pPr>
            <a:r>
              <a:rPr sz="1425" b="0">
                <a:solidFill>
                  <a:srgbClr val="10131A"/>
                </a:solidFill>
              </a:rPr>
              <a:t>Điều chỉnh theo lớp học, thời lượng, thiết bị và trách nhiệm an toàn.</a:t>
            </a:r>
          </a:p>
        </p:txBody>
      </p:sp>
      <p:sp>
        <p:nvSpPr>
          <p:cNvPr id="11" name="anim-24-note">
            <a:extLst xmlns:a="http://schemas.openxmlformats.org/drawingml/2006/main">
              <a:ext uri="{FF2B5EF4-FFF2-40B4-BE49-F238E27FC236}">
                <a16:creationId xmlns:a16="http://schemas.microsoft.com/office/drawing/2014/main" id="{6CFD6028-6EB5-4314-AF15-FD95C37C4DEF}"/>
              </a:ext>
            </a:extLst>
          </p:cNvPr>
          <p:cNvSpPr>
            <a:spLocks xmlns:a="http://schemas.openxmlformats.org/drawingml/2006/main" noGrp="1"/>
          </p:cNvSpPr>
          <p:nvPr/>
        </p:nvSpPr>
        <p:spPr>
          <a:xfrm xmlns:a="http://schemas.openxmlformats.org/drawingml/2006/main">
            <a:off x="1238250" y="5619750"/>
            <a:ext cx="971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D84A4A"/>
                </a:solidFill>
              </a:defRPr>
            </a:pPr>
            <a:r>
              <a:rPr sz="1800" b="1">
                <a:solidFill>
                  <a:srgbClr val="D84A4A"/>
                </a:solidFill>
              </a:rPr>
              <a:t>Không đưa danh sách học sinh, điểm số, hình ảnh, giọng nói hoặc hồ sơ cá nhân vào notebook dùng để soạn bài.</a:t>
            </a:r>
          </a:p>
        </p:txBody>
      </p:sp>
      <p:sp>
        <p:nvSpPr>
          <p:cNvPr id="12" name="source-24">
            <a:extLst xmlns:a="http://schemas.openxmlformats.org/drawingml/2006/main">
              <a:ext uri="{FF2B5EF4-FFF2-40B4-BE49-F238E27FC236}">
                <a16:creationId xmlns:a16="http://schemas.microsoft.com/office/drawing/2014/main" id="{B912F017-EAFE-48F6-A940-29CB9EA168D0}"/>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bổ sung: Google for Education – Gemini Notebook.</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6"/>
                                          </p:tgtEl>
                                          <p:attrNameLst>
                                            <p:attrName>style.visibility</p:attrName>
                                          </p:attrNameLst>
                                        </p:cBhvr>
                                        <p:to>
                                          <p:strVal val="visible"/>
                                        </p:to>
                                      </p:set>
                                      <p:animEffect transition="in" filter="fade">
                                        <p:cBhvr>
                                          <p:cTn id="1006" dur="350"/>
                                          <p:tgtEl>
                                            <p:spTgt spid="6"/>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7"/>
                                          </p:tgtEl>
                                          <p:attrNameLst>
                                            <p:attrName>style.visibility</p:attrName>
                                          </p:attrNameLst>
                                        </p:cBhvr>
                                        <p:to>
                                          <p:strVal val="visible"/>
                                        </p:to>
                                      </p:set>
                                      <p:animEffect transition="in" filter="fade">
                                        <p:cBhvr>
                                          <p:cTn id="1011" dur="350"/>
                                          <p:tgtEl>
                                            <p:spTgt spid="7"/>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8"/>
                                          </p:tgtEl>
                                          <p:attrNameLst>
                                            <p:attrName>style.visibility</p:attrName>
                                          </p:attrNameLst>
                                        </p:cBhvr>
                                        <p:to>
                                          <p:strVal val="visible"/>
                                        </p:to>
                                      </p:set>
                                      <p:animEffect transition="in" filter="fade">
                                        <p:cBhvr>
                                          <p:cTn id="1016" dur="350"/>
                                          <p:tgtEl>
                                            <p:spTgt spid="8"/>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9"/>
                                          </p:tgtEl>
                                          <p:attrNameLst>
                                            <p:attrName>style.visibility</p:attrName>
                                          </p:attrNameLst>
                                        </p:cBhvr>
                                        <p:to>
                                          <p:strVal val="visible"/>
                                        </p:to>
                                      </p:set>
                                      <p:animEffect transition="in" filter="fade">
                                        <p:cBhvr>
                                          <p:cTn id="1021" dur="350"/>
                                          <p:tgtEl>
                                            <p:spTgt spid="9"/>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10"/>
                                          </p:tgtEl>
                                          <p:attrNameLst>
                                            <p:attrName>style.visibility</p:attrName>
                                          </p:attrNameLst>
                                        </p:cBhvr>
                                        <p:to>
                                          <p:strVal val="visible"/>
                                        </p:to>
                                      </p:set>
                                      <p:animEffect transition="in" filter="fade">
                                        <p:cBhvr>
                                          <p:cTn id="1026" dur="350"/>
                                          <p:tgtEl>
                                            <p:spTgt spid="10"/>
                                          </p:tgtEl>
                                        </p:cBhvr>
                                      </p:animEffect>
                                    </p:childTnLst>
                                  </p:cTn>
                                </p:par>
                              </p:childTnLst>
                            </p:cTn>
                          </p:par>
                        </p:childTnLst>
                      </p:cTn>
                    </p:par>
                    <p:par>
                      <p:cTn id="1027" fill="hold">
                        <p:stCondLst>
                          <p:cond delay="indefinite"/>
                        </p:stCondLst>
                        <p:childTnLst>
                          <p:par>
                            <p:cTn id="1028" fill="hold">
                              <p:stCondLst>
                                <p:cond delay="0"/>
                              </p:stCondLst>
                              <p:childTnLst>
                                <p:par>
                                  <p:cTn id="1029" presetID="10" presetClass="entr" presetSubtype="0" fill="hold" grpId="0" nodeType="clickEffect">
                                    <p:stCondLst>
                                      <p:cond delay="0"/>
                                    </p:stCondLst>
                                    <p:childTnLst>
                                      <p:set>
                                        <p:cBhvr>
                                          <p:cTn id="1030" dur="1" fill="hold">
                                            <p:stCondLst>
                                              <p:cond delay="0"/>
                                            </p:stCondLst>
                                          </p:cTn>
                                          <p:tgtEl>
                                            <p:spTgt spid="11"/>
                                          </p:tgtEl>
                                          <p:attrNameLst>
                                            <p:attrName>style.visibility</p:attrName>
                                          </p:attrNameLst>
                                        </p:cBhvr>
                                        <p:to>
                                          <p:strVal val="visible"/>
                                        </p:to>
                                      </p:set>
                                      <p:animEffect transition="in" filter="fade">
                                        <p:cBhvr>
                                          <p:cTn id="1031"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24737536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25">
            <a:extLst xmlns:a="http://schemas.openxmlformats.org/drawingml/2006/main">
              <a:ext uri="{FF2B5EF4-FFF2-40B4-BE49-F238E27FC236}">
                <a16:creationId xmlns:a16="http://schemas.microsoft.com/office/drawing/2014/main" id="{CE5CF1E1-ABC7-4987-9123-8BD1CE45C098}"/>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11 / NOTEBOOKLM</a:t>
            </a:r>
          </a:p>
        </p:txBody>
      </p:sp>
      <p:sp>
        <p:nvSpPr>
          <p:cNvPr id="2" name="title-25">
            <a:extLst xmlns:a="http://schemas.openxmlformats.org/drawingml/2006/main">
              <a:ext uri="{FF2B5EF4-FFF2-40B4-BE49-F238E27FC236}">
                <a16:creationId xmlns:a16="http://schemas.microsoft.com/office/drawing/2014/main" id="{67ECAE79-EBD5-4FA1-82E2-18E16531F195}"/>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Mẫu dùng NotebookLM để tích hợp AI vào kế hoạch bài dạy Toán 6</a:t>
            </a:r>
          </a:p>
        </p:txBody>
      </p:sp>
      <p:sp>
        <p:nvSpPr>
          <p:cNvPr id="3" name="rule-25">
            <a:extLst xmlns:a="http://schemas.openxmlformats.org/drawingml/2006/main">
              <a:ext uri="{FF2B5EF4-FFF2-40B4-BE49-F238E27FC236}">
                <a16:creationId xmlns:a16="http://schemas.microsoft.com/office/drawing/2014/main" id="{38076E41-7ECF-43F0-9328-1F9A82FDD352}"/>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25">
            <a:extLst xmlns:a="http://schemas.openxmlformats.org/drawingml/2006/main">
              <a:ext uri="{FF2B5EF4-FFF2-40B4-BE49-F238E27FC236}">
                <a16:creationId xmlns:a16="http://schemas.microsoft.com/office/drawing/2014/main" id="{351A1743-9CC6-46EF-931E-FB22A01C2600}"/>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25</a:t>
            </a:r>
          </a:p>
        </p:txBody>
      </p:sp>
      <p:sp>
        <p:nvSpPr>
          <p:cNvPr id="5" name="anim-25-prompt">
            <a:extLst xmlns:a="http://schemas.openxmlformats.org/drawingml/2006/main">
              <a:ext uri="{FF2B5EF4-FFF2-40B4-BE49-F238E27FC236}">
                <a16:creationId xmlns:a16="http://schemas.microsoft.com/office/drawing/2014/main" id="{7894617E-FAC8-48A4-86B3-FC6E6B9F456C}"/>
              </a:ext>
            </a:extLst>
          </p:cNvPr>
          <p:cNvSpPr>
            <a:spLocks xmlns:a="http://schemas.openxmlformats.org/drawingml/2006/main" noGrp="1"/>
          </p:cNvSpPr>
          <p:nvPr/>
        </p:nvSpPr>
        <p:spPr>
          <a:xfrm xmlns:a="http://schemas.openxmlformats.org/drawingml/2006/main">
            <a:off x="523875" y="1857375"/>
            <a:ext cx="6858000" cy="4095750"/>
          </a:xfrm>
          <a:prstGeom xmlns:a="http://schemas.openxmlformats.org/drawingml/2006/main" prst="roundRect">
            <a:avLst>
              <a:gd name="adj" fmla="val 2791"/>
            </a:avLst>
          </a:prstGeom>
          <a:solidFill xmlns:a="http://schemas.openxmlformats.org/drawingml/2006/main">
            <a:srgbClr val="10131A"/>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FFFFFF"/>
                </a:solidFill>
              </a:defRPr>
            </a:pPr>
            <a:r>
              <a:rPr sz="1425" b="0">
                <a:solidFill>
                  <a:srgbClr val="FFFFFF"/>
                </a:solidFill>
              </a:rPr>
              <a:t>CÂU LỆNH GỢI Ý</a:t>
            </a:r>
          </a:p>
          <a:p xmlns:a="http://schemas.openxmlformats.org/drawingml/2006/main">
            <a:r>
              <a:t/>
            </a:r>
          </a:p>
          <a:p xmlns:a="http://schemas.openxmlformats.org/drawingml/2006/main">
            <a:pPr algn="l">
              <a:defRPr sz="1425" b="0">
                <a:solidFill>
                  <a:srgbClr val="FFFFFF"/>
                </a:solidFill>
              </a:defRPr>
            </a:pPr>
            <a:r>
              <a:rPr sz="1425" b="0">
                <a:solidFill>
                  <a:srgbClr val="FFFFFF"/>
                </a:solidFill>
              </a:rPr>
              <a:t>Bạn là trợ lý thiết kế kế hoạch bài dạy Toán 6. Chỉ sử dụng các nguồn trong notebook. Với Bài 13 – Tập hợp các số nguyên, hãy:</a:t>
            </a:r>
          </a:p>
          <a:p xmlns:a="http://schemas.openxmlformats.org/drawingml/2006/main">
            <a:pPr algn="l">
              <a:defRPr sz="1425" b="0">
                <a:solidFill>
                  <a:srgbClr val="FFFFFF"/>
                </a:solidFill>
              </a:defRPr>
            </a:pPr>
            <a:r>
              <a:rPr sz="1425" b="0">
                <a:solidFill>
                  <a:srgbClr val="FFFFFF"/>
                </a:solidFill>
              </a:rPr>
              <a:t>1) liệt kê yêu cầu cần đạt môn Toán;</a:t>
            </a:r>
          </a:p>
          <a:p xmlns:a="http://schemas.openxmlformats.org/drawingml/2006/main">
            <a:pPr algn="l">
              <a:defRPr sz="1425" b="0">
                <a:solidFill>
                  <a:srgbClr val="FFFFFF"/>
                </a:solidFill>
              </a:defRPr>
            </a:pPr>
            <a:r>
              <a:rPr sz="1425" b="0">
                <a:solidFill>
                  <a:srgbClr val="FFFFFF"/>
                </a:solidFill>
              </a:rPr>
              <a:t>2) gợi ý hoạt động 10–15 phút tích hợp yêu cầu 6.A1.3, không làm tăng chuẩn môn;</a:t>
            </a:r>
          </a:p>
          <a:p xmlns:a="http://schemas.openxmlformats.org/drawingml/2006/main">
            <a:pPr algn="l">
              <a:defRPr sz="1425" b="0">
                <a:solidFill>
                  <a:srgbClr val="FFFFFF"/>
                </a:solidFill>
              </a:defRPr>
            </a:pPr>
            <a:r>
              <a:rPr sz="1425" b="0">
                <a:solidFill>
                  <a:srgbClr val="FFFFFF"/>
                </a:solidFill>
              </a:rPr>
              <a:t>3) tạo 3 câu trả lời mô phỏng AI, trong đó có 1 lỗi logic để học sinh kiểm chứng;</a:t>
            </a:r>
          </a:p>
          <a:p xmlns:a="http://schemas.openxmlformats.org/drawingml/2006/main">
            <a:pPr algn="l">
              <a:defRPr sz="1425" b="0">
                <a:solidFill>
                  <a:srgbClr val="FFFFFF"/>
                </a:solidFill>
              </a:defRPr>
            </a:pPr>
            <a:r>
              <a:rPr sz="1425" b="0">
                <a:solidFill>
                  <a:srgbClr val="FFFFFF"/>
                </a:solidFill>
              </a:rPr>
              <a:t>4) tạo phiếu 4 cột: Dữ kiện – AI trả lời – Minh chứng – Kết luận;</a:t>
            </a:r>
          </a:p>
          <a:p xmlns:a="http://schemas.openxmlformats.org/drawingml/2006/main">
            <a:pPr algn="l">
              <a:defRPr sz="1425" b="0">
                <a:solidFill>
                  <a:srgbClr val="FFFFFF"/>
                </a:solidFill>
              </a:defRPr>
            </a:pPr>
            <a:r>
              <a:rPr sz="1425" b="0">
                <a:solidFill>
                  <a:srgbClr val="FFFFFF"/>
                </a:solidFill>
              </a:rPr>
              <a:t>5) gắn trích dẫn cho từng đề xuất.</a:t>
            </a:r>
          </a:p>
        </p:txBody>
      </p:sp>
      <p:sp>
        <p:nvSpPr>
          <p:cNvPr id="6" name="anim-25-check">
            <a:extLst xmlns:a="http://schemas.openxmlformats.org/drawingml/2006/main">
              <a:ext uri="{FF2B5EF4-FFF2-40B4-BE49-F238E27FC236}">
                <a16:creationId xmlns:a16="http://schemas.microsoft.com/office/drawing/2014/main" id="{3C5CE951-609A-44DD-9AF6-E3C15624BFAB}"/>
              </a:ext>
            </a:extLst>
          </p:cNvPr>
          <p:cNvSpPr>
            <a:spLocks xmlns:a="http://schemas.openxmlformats.org/drawingml/2006/main" noGrp="1"/>
          </p:cNvSpPr>
          <p:nvPr/>
        </p:nvSpPr>
        <p:spPr>
          <a:xfrm xmlns:a="http://schemas.openxmlformats.org/drawingml/2006/main">
            <a:off x="7858125" y="1952625"/>
            <a:ext cx="3667125" cy="3143250"/>
          </a:xfrm>
          <a:prstGeom xmlns:a="http://schemas.openxmlformats.org/drawingml/2006/main" prst="roundRect">
            <a:avLst>
              <a:gd name="adj" fmla="val 3636"/>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0131A"/>
                </a:solidFill>
              </a:defRPr>
            </a:pPr>
            <a:r>
              <a:rPr sz="1575" b="0">
                <a:solidFill>
                  <a:srgbClr val="10131A"/>
                </a:solidFill>
              </a:rPr>
              <a:t>GIÁO VIÊN DUYỆT TRƯỚC KHI DÙNG</a:t>
            </a:r>
          </a:p>
          <a:p xmlns:a="http://schemas.openxmlformats.org/drawingml/2006/main">
            <a:pPr algn="l">
              <a:defRPr sz="1575" b="0">
                <a:solidFill>
                  <a:srgbClr val="10131A"/>
                </a:solidFill>
              </a:defRPr>
            </a:pPr>
            <a:r>
              <a:rPr sz="1575" b="0">
                <a:solidFill>
                  <a:srgbClr val="10131A"/>
                </a:solidFill>
              </a:rPr>
              <a:t>□ Mở và đọc trích dẫn</a:t>
            </a:r>
          </a:p>
          <a:p xmlns:a="http://schemas.openxmlformats.org/drawingml/2006/main">
            <a:pPr algn="l">
              <a:defRPr sz="1575" b="0">
                <a:solidFill>
                  <a:srgbClr val="10131A"/>
                </a:solidFill>
              </a:defRPr>
            </a:pPr>
            <a:r>
              <a:rPr sz="1575" b="0">
                <a:solidFill>
                  <a:srgbClr val="10131A"/>
                </a:solidFill>
              </a:rPr>
              <a:t>□ Đối chiếu đúng trang SGK</a:t>
            </a:r>
          </a:p>
          <a:p xmlns:a="http://schemas.openxmlformats.org/drawingml/2006/main">
            <a:pPr algn="l">
              <a:defRPr sz="1575" b="0">
                <a:solidFill>
                  <a:srgbClr val="10131A"/>
                </a:solidFill>
              </a:defRPr>
            </a:pPr>
            <a:r>
              <a:rPr sz="1575" b="0">
                <a:solidFill>
                  <a:srgbClr val="10131A"/>
                </a:solidFill>
              </a:rPr>
              <a:t>□ Loại bỏ câu hỏi vượt chuẩn</a:t>
            </a:r>
          </a:p>
          <a:p xmlns:a="http://schemas.openxmlformats.org/drawingml/2006/main">
            <a:pPr algn="l">
              <a:defRPr sz="1575" b="0">
                <a:solidFill>
                  <a:srgbClr val="10131A"/>
                </a:solidFill>
              </a:defRPr>
            </a:pPr>
            <a:r>
              <a:rPr sz="1575" b="0">
                <a:solidFill>
                  <a:srgbClr val="10131A"/>
                </a:solidFill>
              </a:rPr>
              <a:t>□ Không có dữ liệu cá nhân</a:t>
            </a:r>
          </a:p>
          <a:p xmlns:a="http://schemas.openxmlformats.org/drawingml/2006/main">
            <a:pPr algn="l">
              <a:defRPr sz="1575" b="0">
                <a:solidFill>
                  <a:srgbClr val="10131A"/>
                </a:solidFill>
              </a:defRPr>
            </a:pPr>
            <a:r>
              <a:rPr sz="1575" b="0">
                <a:solidFill>
                  <a:srgbClr val="10131A"/>
                </a:solidFill>
              </a:rPr>
              <a:t>□ Có phương án không thiết bị</a:t>
            </a:r>
          </a:p>
          <a:p xmlns:a="http://schemas.openxmlformats.org/drawingml/2006/main">
            <a:pPr algn="l">
              <a:defRPr sz="1575" b="0">
                <a:solidFill>
                  <a:srgbClr val="10131A"/>
                </a:solidFill>
              </a:defRPr>
            </a:pPr>
            <a:r>
              <a:rPr sz="1575" b="0">
                <a:solidFill>
                  <a:srgbClr val="10131A"/>
                </a:solidFill>
              </a:rPr>
              <a:t>□ Sửa ngôn ngữ phù hợp học sinh</a:t>
            </a:r>
          </a:p>
          <a:p xmlns:a="http://schemas.openxmlformats.org/drawingml/2006/main">
            <a:pPr algn="l">
              <a:defRPr sz="1575" b="0">
                <a:solidFill>
                  <a:srgbClr val="10131A"/>
                </a:solidFill>
              </a:defRPr>
            </a:pPr>
            <a:r>
              <a:rPr sz="1575" b="0">
                <a:solidFill>
                  <a:srgbClr val="10131A"/>
                </a:solidFill>
              </a:rPr>
              <a:t>□ Xác định rõ sản phẩm và tiêu chí</a:t>
            </a:r>
          </a:p>
        </p:txBody>
      </p:sp>
      <p:sp>
        <p:nvSpPr>
          <p:cNvPr id="7" name="anim-25-check-accent">
            <a:extLst xmlns:a="http://schemas.openxmlformats.org/drawingml/2006/main">
              <a:ext uri="{FF2B5EF4-FFF2-40B4-BE49-F238E27FC236}">
                <a16:creationId xmlns:a16="http://schemas.microsoft.com/office/drawing/2014/main" id="{659C094A-157B-4297-8167-02F82EE33FD1}"/>
              </a:ext>
            </a:extLst>
          </p:cNvPr>
          <p:cNvSpPr>
            <a:spLocks xmlns:a="http://schemas.openxmlformats.org/drawingml/2006/main" noGrp="1"/>
          </p:cNvSpPr>
          <p:nvPr/>
        </p:nvSpPr>
        <p:spPr>
          <a:xfrm xmlns:a="http://schemas.openxmlformats.org/drawingml/2006/main">
            <a:off x="7858125" y="1952625"/>
            <a:ext cx="76200" cy="314325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8" name="anim-25-flow">
            <a:extLst xmlns:a="http://schemas.openxmlformats.org/drawingml/2006/main">
              <a:ext uri="{FF2B5EF4-FFF2-40B4-BE49-F238E27FC236}">
                <a16:creationId xmlns:a16="http://schemas.microsoft.com/office/drawing/2014/main" id="{3C74033F-376F-479E-837A-9F7DCE77ACCD}"/>
              </a:ext>
            </a:extLst>
          </p:cNvPr>
          <p:cNvSpPr>
            <a:spLocks xmlns:a="http://schemas.openxmlformats.org/drawingml/2006/main" noGrp="1"/>
          </p:cNvSpPr>
          <p:nvPr/>
        </p:nvSpPr>
        <p:spPr>
          <a:xfrm xmlns:a="http://schemas.openxmlformats.org/drawingml/2006/main">
            <a:off x="7762875" y="5381625"/>
            <a:ext cx="3857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B2B5B"/>
                </a:solidFill>
              </a:defRPr>
            </a:pPr>
            <a:r>
              <a:rPr sz="1575" b="1">
                <a:solidFill>
                  <a:srgbClr val="0B2B5B"/>
                </a:solidFill>
              </a:rPr>
              <a:t>Nguồn chuẩn → Bản nháp AI → Kiểm tra trích dẫn → Giáo viên chỉnh sửa → Kế hoạch bài dạy</a:t>
            </a:r>
          </a:p>
        </p:txBody>
      </p:sp>
      <p:sp>
        <p:nvSpPr>
          <p:cNvPr id="9" name="source-25">
            <a:extLst xmlns:a="http://schemas.openxmlformats.org/drawingml/2006/main">
              <a:ext uri="{FF2B5EF4-FFF2-40B4-BE49-F238E27FC236}">
                <a16:creationId xmlns:a16="http://schemas.microsoft.com/office/drawing/2014/main" id="{1CD3199B-5E71-47C9-87A9-96B048D53C0E}"/>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Google for Education; mẫu câu lệnh là đề xuất vận dụng.</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8"/>
                                          </p:tgtEl>
                                          <p:attrNameLst>
                                            <p:attrName>style.visibility</p:attrName>
                                          </p:attrNameLst>
                                        </p:cBhvr>
                                        <p:to>
                                          <p:strVal val="visible"/>
                                        </p:to>
                                      </p:set>
                                      <p:animEffect transition="in" filter="fade">
                                        <p:cBhvr>
                                          <p:cTn id="1016"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54655243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26">
            <a:extLst xmlns:a="http://schemas.openxmlformats.org/drawingml/2006/main">
              <a:ext uri="{FF2B5EF4-FFF2-40B4-BE49-F238E27FC236}">
                <a16:creationId xmlns:a16="http://schemas.microsoft.com/office/drawing/2014/main" id="{E337FC39-53E8-4FC5-B584-BEABD273B10A}"/>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12 / VAI TRÒ GIÁO VIÊN</a:t>
            </a:r>
          </a:p>
        </p:txBody>
      </p:sp>
      <p:sp>
        <p:nvSpPr>
          <p:cNvPr id="2" name="title-26">
            <a:extLst xmlns:a="http://schemas.openxmlformats.org/drawingml/2006/main">
              <a:ext uri="{FF2B5EF4-FFF2-40B4-BE49-F238E27FC236}">
                <a16:creationId xmlns:a16="http://schemas.microsoft.com/office/drawing/2014/main" id="{145515FF-020B-49AB-8C66-6277DE8679A7}"/>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Giáo viên bộ môn là người thiết kế trải nghiệm và chịu trách nhiệm cuối cùng</a:t>
            </a:r>
          </a:p>
        </p:txBody>
      </p:sp>
      <p:sp>
        <p:nvSpPr>
          <p:cNvPr id="3" name="rule-26">
            <a:extLst xmlns:a="http://schemas.openxmlformats.org/drawingml/2006/main">
              <a:ext uri="{FF2B5EF4-FFF2-40B4-BE49-F238E27FC236}">
                <a16:creationId xmlns:a16="http://schemas.microsoft.com/office/drawing/2014/main" id="{FBBA7674-8404-4948-A75F-0706046B0D10}"/>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26">
            <a:extLst xmlns:a="http://schemas.openxmlformats.org/drawingml/2006/main">
              <a:ext uri="{FF2B5EF4-FFF2-40B4-BE49-F238E27FC236}">
                <a16:creationId xmlns:a16="http://schemas.microsoft.com/office/drawing/2014/main" id="{DCDE94A9-AFA8-4932-B939-7D8223929BE4}"/>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26</a:t>
            </a:r>
          </a:p>
        </p:txBody>
      </p:sp>
      <p:sp>
        <p:nvSpPr>
          <p:cNvPr id="5" name="anim-26-1">
            <a:extLst xmlns:a="http://schemas.openxmlformats.org/drawingml/2006/main">
              <a:ext uri="{FF2B5EF4-FFF2-40B4-BE49-F238E27FC236}">
                <a16:creationId xmlns:a16="http://schemas.microsoft.com/office/drawing/2014/main" id="{07E0FE4E-E9B9-4623-9F8D-F005F3F4D561}"/>
              </a:ext>
            </a:extLst>
          </p:cNvPr>
          <p:cNvSpPr>
            <a:spLocks xmlns:a="http://schemas.openxmlformats.org/drawingml/2006/main" noGrp="1"/>
          </p:cNvSpPr>
          <p:nvPr/>
        </p:nvSpPr>
        <p:spPr>
          <a:xfrm xmlns:a="http://schemas.openxmlformats.org/drawingml/2006/main">
            <a:off x="523875" y="2238375"/>
            <a:ext cx="3476625" cy="2857500"/>
          </a:xfrm>
          <a:prstGeom xmlns:a="http://schemas.openxmlformats.org/drawingml/2006/main" prst="roundRect">
            <a:avLst>
              <a:gd name="adj" fmla="val 4000"/>
            </a:avLst>
          </a:prstGeom>
          <a:solidFill xmlns:a="http://schemas.openxmlformats.org/drawingml/2006/main">
            <a:srgbClr val="EAF5FB"/>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TRƯỚC GIỜ HỌC</a:t>
            </a:r>
          </a:p>
          <a:p xmlns:a="http://schemas.openxmlformats.org/drawingml/2006/main">
            <a:pPr algn="l">
              <a:defRPr sz="1650" b="0">
                <a:solidFill>
                  <a:srgbClr val="10131A"/>
                </a:solidFill>
              </a:defRPr>
            </a:pPr>
            <a:r>
              <a:rPr sz="1650" b="0">
                <a:solidFill>
                  <a:srgbClr val="10131A"/>
                </a:solidFill>
              </a:rPr>
              <a:t>Chọn điểm tích hợp; rà công cụ và điều khoản; chuẩn bị nguồn chuẩn, dữ liệu mẫu, phương án không thiết bị và tiêu chí đánh giá.</a:t>
            </a:r>
          </a:p>
        </p:txBody>
      </p:sp>
      <p:sp>
        <p:nvSpPr>
          <p:cNvPr id="6" name="anim-26-1-accent">
            <a:extLst xmlns:a="http://schemas.openxmlformats.org/drawingml/2006/main">
              <a:ext uri="{FF2B5EF4-FFF2-40B4-BE49-F238E27FC236}">
                <a16:creationId xmlns:a16="http://schemas.microsoft.com/office/drawing/2014/main" id="{430AFD1F-5F18-41E6-94A9-B9A845F3924D}"/>
              </a:ext>
            </a:extLst>
          </p:cNvPr>
          <p:cNvSpPr>
            <a:spLocks xmlns:a="http://schemas.openxmlformats.org/drawingml/2006/main" noGrp="1"/>
          </p:cNvSpPr>
          <p:nvPr/>
        </p:nvSpPr>
        <p:spPr>
          <a:xfrm xmlns:a="http://schemas.openxmlformats.org/drawingml/2006/main">
            <a:off x="523875" y="2238375"/>
            <a:ext cx="76200" cy="2857500"/>
          </a:xfrm>
          <a:prstGeom xmlns:a="http://schemas.openxmlformats.org/drawingml/2006/main" prst="rect">
            <a:avLst/>
          </a:prstGeom>
          <a:solidFill xmlns:a="http://schemas.openxmlformats.org/drawingml/2006/main">
            <a:srgbClr val="1769E0"/>
          </a:solidFill>
          <a:ln xmlns:a="http://schemas.openxmlformats.org/drawingml/2006/main" w="0">
            <a:solidFill>
              <a:srgbClr val="1769E0"/>
            </a:solidFill>
            <a:prstDash val="solid"/>
          </a:ln>
        </p:spPr>
      </p:sp>
      <p:sp>
        <p:nvSpPr>
          <p:cNvPr id="7" name="anim-26-2">
            <a:extLst xmlns:a="http://schemas.openxmlformats.org/drawingml/2006/main">
              <a:ext uri="{FF2B5EF4-FFF2-40B4-BE49-F238E27FC236}">
                <a16:creationId xmlns:a16="http://schemas.microsoft.com/office/drawing/2014/main" id="{19679496-0194-44DE-BB61-154833BC6D51}"/>
              </a:ext>
            </a:extLst>
          </p:cNvPr>
          <p:cNvSpPr>
            <a:spLocks xmlns:a="http://schemas.openxmlformats.org/drawingml/2006/main" noGrp="1"/>
          </p:cNvSpPr>
          <p:nvPr/>
        </p:nvSpPr>
        <p:spPr>
          <a:xfrm xmlns:a="http://schemas.openxmlformats.org/drawingml/2006/main">
            <a:off x="4381500" y="2238375"/>
            <a:ext cx="3476625" cy="2857500"/>
          </a:xfrm>
          <a:prstGeom xmlns:a="http://schemas.openxmlformats.org/drawingml/2006/main" prst="roundRect">
            <a:avLst>
              <a:gd name="adj" fmla="val 4000"/>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TRONG GIỜ HỌC</a:t>
            </a:r>
          </a:p>
          <a:p xmlns:a="http://schemas.openxmlformats.org/drawingml/2006/main">
            <a:pPr algn="l">
              <a:defRPr sz="1650" b="0">
                <a:solidFill>
                  <a:srgbClr val="10131A"/>
                </a:solidFill>
              </a:defRPr>
            </a:pPr>
            <a:r>
              <a:rPr sz="1650" b="0">
                <a:solidFill>
                  <a:srgbClr val="10131A"/>
                </a:solidFill>
              </a:rPr>
              <a:t>Giao nhiệm vụ rõ; giám sát thao tác; yêu cầu ghi câu lệnh, nguồn, kết quả; đặt câu hỏi phản biện; không để AI thay suy nghĩ.</a:t>
            </a:r>
          </a:p>
        </p:txBody>
      </p:sp>
      <p:sp>
        <p:nvSpPr>
          <p:cNvPr id="8" name="anim-26-2-accent">
            <a:extLst xmlns:a="http://schemas.openxmlformats.org/drawingml/2006/main">
              <a:ext uri="{FF2B5EF4-FFF2-40B4-BE49-F238E27FC236}">
                <a16:creationId xmlns:a16="http://schemas.microsoft.com/office/drawing/2014/main" id="{23505538-2F61-435D-8285-FC2B1ACA55C8}"/>
              </a:ext>
            </a:extLst>
          </p:cNvPr>
          <p:cNvSpPr>
            <a:spLocks xmlns:a="http://schemas.openxmlformats.org/drawingml/2006/main" noGrp="1"/>
          </p:cNvSpPr>
          <p:nvPr/>
        </p:nvSpPr>
        <p:spPr>
          <a:xfrm xmlns:a="http://schemas.openxmlformats.org/drawingml/2006/main">
            <a:off x="4381500" y="2238375"/>
            <a:ext cx="76200" cy="2857500"/>
          </a:xfrm>
          <a:prstGeom xmlns:a="http://schemas.openxmlformats.org/drawingml/2006/main" prst="rect">
            <a:avLst/>
          </a:prstGeom>
          <a:solidFill xmlns:a="http://schemas.openxmlformats.org/drawingml/2006/main">
            <a:srgbClr val="44C2F0"/>
          </a:solidFill>
          <a:ln xmlns:a="http://schemas.openxmlformats.org/drawingml/2006/main" w="0">
            <a:solidFill>
              <a:srgbClr val="44C2F0"/>
            </a:solidFill>
            <a:prstDash val="solid"/>
          </a:ln>
        </p:spPr>
      </p:sp>
      <p:sp>
        <p:nvSpPr>
          <p:cNvPr id="9" name="anim-26-3">
            <a:extLst xmlns:a="http://schemas.openxmlformats.org/drawingml/2006/main">
              <a:ext uri="{FF2B5EF4-FFF2-40B4-BE49-F238E27FC236}">
                <a16:creationId xmlns:a16="http://schemas.microsoft.com/office/drawing/2014/main" id="{3317534D-9EFE-4292-A40B-91E5396F393A}"/>
              </a:ext>
            </a:extLst>
          </p:cNvPr>
          <p:cNvSpPr>
            <a:spLocks xmlns:a="http://schemas.openxmlformats.org/drawingml/2006/main" noGrp="1"/>
          </p:cNvSpPr>
          <p:nvPr/>
        </p:nvSpPr>
        <p:spPr>
          <a:xfrm xmlns:a="http://schemas.openxmlformats.org/drawingml/2006/main">
            <a:off x="8239125" y="2238375"/>
            <a:ext cx="3476625" cy="2857500"/>
          </a:xfrm>
          <a:prstGeom xmlns:a="http://schemas.openxmlformats.org/drawingml/2006/main" prst="roundRect">
            <a:avLst>
              <a:gd name="adj" fmla="val 4000"/>
            </a:avLst>
          </a:prstGeom>
          <a:solidFill xmlns:a="http://schemas.openxmlformats.org/drawingml/2006/main">
            <a:srgbClr val="F0F2F5"/>
          </a:solidFill>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31A"/>
                </a:solidFill>
              </a:defRPr>
            </a:pPr>
            <a:r>
              <a:rPr sz="1650" b="0">
                <a:solidFill>
                  <a:srgbClr val="10131A"/>
                </a:solidFill>
              </a:rPr>
              <a:t>SAU GIỜ HỌC</a:t>
            </a:r>
          </a:p>
          <a:p xmlns:a="http://schemas.openxmlformats.org/drawingml/2006/main">
            <a:pPr algn="l">
              <a:defRPr sz="1650" b="0">
                <a:solidFill>
                  <a:srgbClr val="10131A"/>
                </a:solidFill>
              </a:defRPr>
            </a:pPr>
            <a:r>
              <a:rPr sz="1650" b="0">
                <a:solidFill>
                  <a:srgbClr val="10131A"/>
                </a:solidFill>
              </a:rPr>
              <a:t>Thu minh chứng; phản hồi về kiến thức môn và năng lực AI; lưu ví dụ tốt/sai điển hình; điều chỉnh hoạt động cho lần sau.</a:t>
            </a:r>
          </a:p>
        </p:txBody>
      </p:sp>
      <p:sp>
        <p:nvSpPr>
          <p:cNvPr id="10" name="anim-26-3-accent">
            <a:extLst xmlns:a="http://schemas.openxmlformats.org/drawingml/2006/main">
              <a:ext uri="{FF2B5EF4-FFF2-40B4-BE49-F238E27FC236}">
                <a16:creationId xmlns:a16="http://schemas.microsoft.com/office/drawing/2014/main" id="{93037556-4B6F-42E9-AA83-528E88CA0AD7}"/>
              </a:ext>
            </a:extLst>
          </p:cNvPr>
          <p:cNvSpPr>
            <a:spLocks xmlns:a="http://schemas.openxmlformats.org/drawingml/2006/main" noGrp="1"/>
          </p:cNvSpPr>
          <p:nvPr/>
        </p:nvSpPr>
        <p:spPr>
          <a:xfrm xmlns:a="http://schemas.openxmlformats.org/drawingml/2006/main">
            <a:off x="8239125" y="2238375"/>
            <a:ext cx="76200" cy="2857500"/>
          </a:xfrm>
          <a:prstGeom xmlns:a="http://schemas.openxmlformats.org/drawingml/2006/main" prst="rect">
            <a:avLst/>
          </a:prstGeom>
          <a:solidFill xmlns:a="http://schemas.openxmlformats.org/drawingml/2006/main">
            <a:srgbClr val="1B8A5A"/>
          </a:solidFill>
          <a:ln xmlns:a="http://schemas.openxmlformats.org/drawingml/2006/main" w="0">
            <a:solidFill>
              <a:srgbClr val="1B8A5A"/>
            </a:solidFill>
            <a:prstDash val="solid"/>
          </a:ln>
        </p:spPr>
      </p:sp>
      <p:sp>
        <p:nvSpPr>
          <p:cNvPr id="11" name="anim-26-close">
            <a:extLst xmlns:a="http://schemas.openxmlformats.org/drawingml/2006/main">
              <a:ext uri="{FF2B5EF4-FFF2-40B4-BE49-F238E27FC236}">
                <a16:creationId xmlns:a16="http://schemas.microsoft.com/office/drawing/2014/main" id="{3A84F993-D33B-45E3-AAEA-0E45F5A2E5AC}"/>
              </a:ext>
            </a:extLst>
          </p:cNvPr>
          <p:cNvSpPr>
            <a:spLocks xmlns:a="http://schemas.openxmlformats.org/drawingml/2006/main" noGrp="1"/>
          </p:cNvSpPr>
          <p:nvPr/>
        </p:nvSpPr>
        <p:spPr>
          <a:xfrm xmlns:a="http://schemas.openxmlformats.org/drawingml/2006/main">
            <a:off x="1143000" y="5619750"/>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0B2B5B"/>
                </a:solidFill>
              </a:defRPr>
            </a:pPr>
            <a:r>
              <a:rPr sz="1875" b="1">
                <a:solidFill>
                  <a:srgbClr val="0B2B5B"/>
                </a:solidFill>
              </a:rPr>
              <a:t>Giáo viên không cần là kỹ sư AI; cần giỏi mục tiêu môn học, thiết kế nhiệm vụ, kiểm chứng và bảo vệ học sinh.</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7"/>
                                          </p:tgtEl>
                                          <p:attrNameLst>
                                            <p:attrName>style.visibility</p:attrName>
                                          </p:attrNameLst>
                                        </p:cBhvr>
                                        <p:to>
                                          <p:strVal val="visible"/>
                                        </p:to>
                                      </p:set>
                                      <p:animEffect transition="in" filter="fade">
                                        <p:cBhvr>
                                          <p:cTn id="1011" dur="350"/>
                                          <p:tgtEl>
                                            <p:spTgt spid="7"/>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9"/>
                                          </p:tgtEl>
                                          <p:attrNameLst>
                                            <p:attrName>style.visibility</p:attrName>
                                          </p:attrNameLst>
                                        </p:cBhvr>
                                        <p:to>
                                          <p:strVal val="visible"/>
                                        </p:to>
                                      </p:set>
                                      <p:animEffect transition="in" filter="fade">
                                        <p:cBhvr>
                                          <p:cTn id="1016" dur="350"/>
                                          <p:tgtEl>
                                            <p:spTgt spid="9"/>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11"/>
                                          </p:tgtEl>
                                          <p:attrNameLst>
                                            <p:attrName>style.visibility</p:attrName>
                                          </p:attrNameLst>
                                        </p:cBhvr>
                                        <p:to>
                                          <p:strVal val="visible"/>
                                        </p:to>
                                      </p:set>
                                      <p:animEffect transition="in" filter="fade">
                                        <p:cBhvr>
                                          <p:cTn id="1021" dur="3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42129641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27">
            <a:extLst xmlns:a="http://schemas.openxmlformats.org/drawingml/2006/main">
              <a:ext uri="{FF2B5EF4-FFF2-40B4-BE49-F238E27FC236}">
                <a16:creationId xmlns:a16="http://schemas.microsoft.com/office/drawing/2014/main" id="{C8CF4B7C-5DC8-4493-86D2-6C532F79E74E}"/>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13 / AN TOÀN – ĐẠO ĐỨC</a:t>
            </a:r>
          </a:p>
        </p:txBody>
      </p:sp>
      <p:sp>
        <p:nvSpPr>
          <p:cNvPr id="2" name="title-27">
            <a:extLst xmlns:a="http://schemas.openxmlformats.org/drawingml/2006/main">
              <a:ext uri="{FF2B5EF4-FFF2-40B4-BE49-F238E27FC236}">
                <a16:creationId xmlns:a16="http://schemas.microsoft.com/office/drawing/2014/main" id="{B22C58BC-267E-403F-9AAA-70A85D100128}"/>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Mọi hoạt động dùng AI phải đi qua bốn cửa kiểm soát</a:t>
            </a:r>
          </a:p>
        </p:txBody>
      </p:sp>
      <p:sp>
        <p:nvSpPr>
          <p:cNvPr id="3" name="rule-27">
            <a:extLst xmlns:a="http://schemas.openxmlformats.org/drawingml/2006/main">
              <a:ext uri="{FF2B5EF4-FFF2-40B4-BE49-F238E27FC236}">
                <a16:creationId xmlns:a16="http://schemas.microsoft.com/office/drawing/2014/main" id="{330B46D4-531E-444A-8E93-411927C13060}"/>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27">
            <a:extLst xmlns:a="http://schemas.openxmlformats.org/drawingml/2006/main">
              <a:ext uri="{FF2B5EF4-FFF2-40B4-BE49-F238E27FC236}">
                <a16:creationId xmlns:a16="http://schemas.microsoft.com/office/drawing/2014/main" id="{B0233B45-8796-455C-904F-B04DAF1BC0A4}"/>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27</a:t>
            </a:r>
          </a:p>
        </p:txBody>
      </p:sp>
      <p:sp>
        <p:nvSpPr>
          <p:cNvPr id="5" name="anim-27-1">
            <a:extLst xmlns:a="http://schemas.openxmlformats.org/drawingml/2006/main">
              <a:ext uri="{FF2B5EF4-FFF2-40B4-BE49-F238E27FC236}">
                <a16:creationId xmlns:a16="http://schemas.microsoft.com/office/drawing/2014/main" id="{66C6BD16-433A-417E-8A6B-20E5B737D778}"/>
              </a:ext>
            </a:extLst>
          </p:cNvPr>
          <p:cNvSpPr>
            <a:spLocks xmlns:a="http://schemas.openxmlformats.org/drawingml/2006/main" noGrp="1"/>
          </p:cNvSpPr>
          <p:nvPr/>
        </p:nvSpPr>
        <p:spPr>
          <a:xfrm xmlns:a="http://schemas.openxmlformats.org/drawingml/2006/main">
            <a:off x="714375" y="2286000"/>
            <a:ext cx="2095500" cy="2095500"/>
          </a:xfrm>
          <a:prstGeom xmlns:a="http://schemas.openxmlformats.org/drawingml/2006/main" prst="ellipse">
            <a:avLst/>
          </a:prstGeom>
          <a:solidFill xmlns:a="http://schemas.openxmlformats.org/drawingml/2006/main">
            <a:srgbClr val="1769E0"/>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1</a:t>
            </a:r>
          </a:p>
          <a:p xmlns:a="http://schemas.openxmlformats.org/drawingml/2006/main">
            <a:pPr algn="ctr">
              <a:defRPr sz="2175" b="1">
                <a:solidFill>
                  <a:srgbClr val="FFFFFF"/>
                </a:solidFill>
              </a:defRPr>
            </a:pPr>
            <a:r>
              <a:rPr sz="2175" b="1">
                <a:solidFill>
                  <a:srgbClr val="FFFFFF"/>
                </a:solidFill>
              </a:rPr>
              <a:t>MỤC ĐÍCH</a:t>
            </a:r>
          </a:p>
        </p:txBody>
      </p:sp>
      <p:sp>
        <p:nvSpPr>
          <p:cNvPr id="6" name="anim-27-2">
            <a:extLst xmlns:a="http://schemas.openxmlformats.org/drawingml/2006/main">
              <a:ext uri="{FF2B5EF4-FFF2-40B4-BE49-F238E27FC236}">
                <a16:creationId xmlns:a16="http://schemas.microsoft.com/office/drawing/2014/main" id="{8C0B5CA3-A49B-40E0-B13B-1F1001C1997F}"/>
              </a:ext>
            </a:extLst>
          </p:cNvPr>
          <p:cNvSpPr>
            <a:spLocks xmlns:a="http://schemas.openxmlformats.org/drawingml/2006/main" noGrp="1"/>
          </p:cNvSpPr>
          <p:nvPr/>
        </p:nvSpPr>
        <p:spPr>
          <a:xfrm xmlns:a="http://schemas.openxmlformats.org/drawingml/2006/main">
            <a:off x="3571875" y="2286000"/>
            <a:ext cx="2095500" cy="2095500"/>
          </a:xfrm>
          <a:prstGeom xmlns:a="http://schemas.openxmlformats.org/drawingml/2006/main" prst="ellipse">
            <a:avLst/>
          </a:prstGeom>
          <a:solidFill xmlns:a="http://schemas.openxmlformats.org/drawingml/2006/main">
            <a:srgbClr val="D84A4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FFFFFF"/>
                </a:solidFill>
              </a:defRPr>
            </a:pPr>
            <a:r>
              <a:rPr sz="2175" b="1">
                <a:solidFill>
                  <a:srgbClr val="FFFFFF"/>
                </a:solidFill>
              </a:rPr>
              <a:t>2</a:t>
            </a:r>
          </a:p>
          <a:p xmlns:a="http://schemas.openxmlformats.org/drawingml/2006/main">
            <a:pPr algn="ctr">
              <a:defRPr sz="2175" b="1">
                <a:solidFill>
                  <a:srgbClr val="FFFFFF"/>
                </a:solidFill>
              </a:defRPr>
            </a:pPr>
            <a:r>
              <a:rPr sz="2175" b="1">
                <a:solidFill>
                  <a:srgbClr val="FFFFFF"/>
                </a:solidFill>
              </a:rPr>
              <a:t>DỮ LIỆU</a:t>
            </a:r>
          </a:p>
        </p:txBody>
      </p:sp>
      <p:sp>
        <p:nvSpPr>
          <p:cNvPr id="7" name="anim-27-3">
            <a:extLst xmlns:a="http://schemas.openxmlformats.org/drawingml/2006/main">
              <a:ext uri="{FF2B5EF4-FFF2-40B4-BE49-F238E27FC236}">
                <a16:creationId xmlns:a16="http://schemas.microsoft.com/office/drawing/2014/main" id="{5F15C3B3-E47C-4976-B99F-F58BEDBCD3E0}"/>
              </a:ext>
            </a:extLst>
          </p:cNvPr>
          <p:cNvSpPr>
            <a:spLocks xmlns:a="http://schemas.openxmlformats.org/drawingml/2006/main" noGrp="1"/>
          </p:cNvSpPr>
          <p:nvPr/>
        </p:nvSpPr>
        <p:spPr>
          <a:xfrm xmlns:a="http://schemas.openxmlformats.org/drawingml/2006/main">
            <a:off x="6429375" y="2286000"/>
            <a:ext cx="2095500" cy="209550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FFFFFF"/>
                </a:solidFill>
              </a:defRPr>
            </a:pPr>
            <a:r>
              <a:rPr sz="2025" b="1">
                <a:solidFill>
                  <a:srgbClr val="FFFFFF"/>
                </a:solidFill>
              </a:rPr>
              <a:t>3</a:t>
            </a:r>
          </a:p>
          <a:p xmlns:a="http://schemas.openxmlformats.org/drawingml/2006/main">
            <a:pPr algn="ctr">
              <a:defRPr sz="2025" b="1">
                <a:solidFill>
                  <a:srgbClr val="FFFFFF"/>
                </a:solidFill>
              </a:defRPr>
            </a:pPr>
            <a:r>
              <a:rPr sz="2025" b="1">
                <a:solidFill>
                  <a:srgbClr val="FFFFFF"/>
                </a:solidFill>
              </a:rPr>
              <a:t>KIỂM CHỨNG</a:t>
            </a:r>
          </a:p>
        </p:txBody>
      </p:sp>
      <p:sp>
        <p:nvSpPr>
          <p:cNvPr id="8" name="anim-27-4">
            <a:extLst xmlns:a="http://schemas.openxmlformats.org/drawingml/2006/main">
              <a:ext uri="{FF2B5EF4-FFF2-40B4-BE49-F238E27FC236}">
                <a16:creationId xmlns:a16="http://schemas.microsoft.com/office/drawing/2014/main" id="{DE534375-4DEE-4A3E-8DAC-CB1DAEE0CAAA}"/>
              </a:ext>
            </a:extLst>
          </p:cNvPr>
          <p:cNvSpPr>
            <a:spLocks xmlns:a="http://schemas.openxmlformats.org/drawingml/2006/main" noGrp="1"/>
          </p:cNvSpPr>
          <p:nvPr/>
        </p:nvSpPr>
        <p:spPr>
          <a:xfrm xmlns:a="http://schemas.openxmlformats.org/drawingml/2006/main">
            <a:off x="9286875" y="2286000"/>
            <a:ext cx="2095500" cy="2095500"/>
          </a:xfrm>
          <a:prstGeom xmlns:a="http://schemas.openxmlformats.org/drawingml/2006/main" prst="ellipse">
            <a:avLst/>
          </a:prstGeom>
          <a:solidFill xmlns:a="http://schemas.openxmlformats.org/drawingml/2006/main">
            <a:srgbClr val="1B8A5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FFFFFF"/>
                </a:solidFill>
              </a:defRPr>
            </a:pPr>
            <a:r>
              <a:rPr sz="2025" b="1">
                <a:solidFill>
                  <a:srgbClr val="FFFFFF"/>
                </a:solidFill>
              </a:rPr>
              <a:t>4</a:t>
            </a:r>
          </a:p>
          <a:p xmlns:a="http://schemas.openxmlformats.org/drawingml/2006/main">
            <a:pPr algn="ctr">
              <a:defRPr sz="2025" b="1">
                <a:solidFill>
                  <a:srgbClr val="FFFFFF"/>
                </a:solidFill>
              </a:defRPr>
            </a:pPr>
            <a:r>
              <a:rPr sz="2025" b="1">
                <a:solidFill>
                  <a:srgbClr val="FFFFFF"/>
                </a:solidFill>
              </a:rPr>
              <a:t>TRÁCH NHIỆM</a:t>
            </a:r>
          </a:p>
        </p:txBody>
      </p:sp>
      <p:sp>
        <p:nvSpPr>
          <p:cNvPr id="9" name="anim-27-t1">
            <a:extLst xmlns:a="http://schemas.openxmlformats.org/drawingml/2006/main">
              <a:ext uri="{FF2B5EF4-FFF2-40B4-BE49-F238E27FC236}">
                <a16:creationId xmlns:a16="http://schemas.microsoft.com/office/drawing/2014/main" id="{D2C7D28B-B70E-4B8E-95B4-54AC81EC198A}"/>
              </a:ext>
            </a:extLst>
          </p:cNvPr>
          <p:cNvSpPr>
            <a:spLocks xmlns:a="http://schemas.openxmlformats.org/drawingml/2006/main" noGrp="1"/>
          </p:cNvSpPr>
          <p:nvPr/>
        </p:nvSpPr>
        <p:spPr>
          <a:xfrm xmlns:a="http://schemas.openxmlformats.org/drawingml/2006/main">
            <a:off x="571500" y="471487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10131A"/>
                </a:solidFill>
              </a:defRPr>
            </a:pPr>
            <a:r>
              <a:rPr sz="1500" b="0">
                <a:solidFill>
                  <a:srgbClr val="10131A"/>
                </a:solidFill>
              </a:rPr>
              <a:t>AI có thật sự cần?</a:t>
            </a:r>
          </a:p>
          <a:p xmlns:a="http://schemas.openxmlformats.org/drawingml/2006/main">
            <a:pPr algn="ctr">
              <a:defRPr sz="1500" b="0">
                <a:solidFill>
                  <a:srgbClr val="10131A"/>
                </a:solidFill>
              </a:defRPr>
            </a:pPr>
            <a:r>
              <a:rPr sz="1500" b="0">
                <a:solidFill>
                  <a:srgbClr val="10131A"/>
                </a:solidFill>
              </a:rPr>
              <a:t>Có cách đơn giản hơn?</a:t>
            </a:r>
          </a:p>
        </p:txBody>
      </p:sp>
      <p:sp>
        <p:nvSpPr>
          <p:cNvPr id="10" name="anim-27-t2">
            <a:extLst xmlns:a="http://schemas.openxmlformats.org/drawingml/2006/main">
              <a:ext uri="{FF2B5EF4-FFF2-40B4-BE49-F238E27FC236}">
                <a16:creationId xmlns:a16="http://schemas.microsoft.com/office/drawing/2014/main" id="{2A23B720-7CE3-4B6B-89CC-286701D5EEEE}"/>
              </a:ext>
            </a:extLst>
          </p:cNvPr>
          <p:cNvSpPr>
            <a:spLocks xmlns:a="http://schemas.openxmlformats.org/drawingml/2006/main" noGrp="1"/>
          </p:cNvSpPr>
          <p:nvPr/>
        </p:nvSpPr>
        <p:spPr>
          <a:xfrm xmlns:a="http://schemas.openxmlformats.org/drawingml/2006/main">
            <a:off x="3429000" y="471487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10131A"/>
                </a:solidFill>
              </a:defRPr>
            </a:pPr>
            <a:r>
              <a:rPr sz="1500" b="0">
                <a:solidFill>
                  <a:srgbClr val="10131A"/>
                </a:solidFill>
              </a:rPr>
              <a:t>Không nhập dữ liệu cá nhân;</a:t>
            </a:r>
          </a:p>
          <a:p xmlns:a="http://schemas.openxmlformats.org/drawingml/2006/main">
            <a:pPr algn="ctr">
              <a:defRPr sz="1500" b="0">
                <a:solidFill>
                  <a:srgbClr val="10131A"/>
                </a:solidFill>
              </a:defRPr>
            </a:pPr>
            <a:r>
              <a:rPr sz="1500" b="0">
                <a:solidFill>
                  <a:srgbClr val="10131A"/>
                </a:solidFill>
              </a:rPr>
              <a:t>tôn trọng bản quyền.</a:t>
            </a:r>
          </a:p>
        </p:txBody>
      </p:sp>
      <p:sp>
        <p:nvSpPr>
          <p:cNvPr id="11" name="anim-27-t3">
            <a:extLst xmlns:a="http://schemas.openxmlformats.org/drawingml/2006/main">
              <a:ext uri="{FF2B5EF4-FFF2-40B4-BE49-F238E27FC236}">
                <a16:creationId xmlns:a16="http://schemas.microsoft.com/office/drawing/2014/main" id="{0EA5ED8B-B16B-4092-9B52-B696448D1691}"/>
              </a:ext>
            </a:extLst>
          </p:cNvPr>
          <p:cNvSpPr>
            <a:spLocks xmlns:a="http://schemas.openxmlformats.org/drawingml/2006/main" noGrp="1"/>
          </p:cNvSpPr>
          <p:nvPr/>
        </p:nvSpPr>
        <p:spPr>
          <a:xfrm xmlns:a="http://schemas.openxmlformats.org/drawingml/2006/main">
            <a:off x="6286500" y="471487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10131A"/>
                </a:solidFill>
              </a:defRPr>
            </a:pPr>
            <a:r>
              <a:rPr sz="1500" b="0">
                <a:solidFill>
                  <a:srgbClr val="10131A"/>
                </a:solidFill>
              </a:rPr>
              <a:t>Đối chiếu nguồn, dữ kiện;</a:t>
            </a:r>
          </a:p>
          <a:p xmlns:a="http://schemas.openxmlformats.org/drawingml/2006/main">
            <a:pPr algn="ctr">
              <a:defRPr sz="1500" b="0">
                <a:solidFill>
                  <a:srgbClr val="10131A"/>
                </a:solidFill>
              </a:defRPr>
            </a:pPr>
            <a:r>
              <a:rPr sz="1500" b="0">
                <a:solidFill>
                  <a:srgbClr val="10131A"/>
                </a:solidFill>
              </a:rPr>
              <a:t>thử nhiều trường hợp.</a:t>
            </a:r>
          </a:p>
        </p:txBody>
      </p:sp>
      <p:sp>
        <p:nvSpPr>
          <p:cNvPr id="12" name="anim-27-t4">
            <a:extLst xmlns:a="http://schemas.openxmlformats.org/drawingml/2006/main">
              <a:ext uri="{FF2B5EF4-FFF2-40B4-BE49-F238E27FC236}">
                <a16:creationId xmlns:a16="http://schemas.microsoft.com/office/drawing/2014/main" id="{FE2E1ED6-E17F-47A4-B7BB-C2FA59B20A25}"/>
              </a:ext>
            </a:extLst>
          </p:cNvPr>
          <p:cNvSpPr>
            <a:spLocks xmlns:a="http://schemas.openxmlformats.org/drawingml/2006/main" noGrp="1"/>
          </p:cNvSpPr>
          <p:nvPr/>
        </p:nvSpPr>
        <p:spPr>
          <a:xfrm xmlns:a="http://schemas.openxmlformats.org/drawingml/2006/main">
            <a:off x="9144000" y="471487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10131A"/>
                </a:solidFill>
              </a:defRPr>
            </a:pPr>
            <a:r>
              <a:rPr sz="1500" b="0">
                <a:solidFill>
                  <a:srgbClr val="10131A"/>
                </a:solidFill>
              </a:rPr>
              <a:t>Khai báo AI hỗ trợ gì;</a:t>
            </a:r>
          </a:p>
          <a:p xmlns:a="http://schemas.openxmlformats.org/drawingml/2006/main">
            <a:pPr algn="ctr">
              <a:defRPr sz="1500" b="0">
                <a:solidFill>
                  <a:srgbClr val="10131A"/>
                </a:solidFill>
              </a:defRPr>
            </a:pPr>
            <a:r>
              <a:rPr sz="1500" b="0">
                <a:solidFill>
                  <a:srgbClr val="10131A"/>
                </a:solidFill>
              </a:rPr>
              <a:t>con người chịu trách nhiệm.</a:t>
            </a:r>
          </a:p>
        </p:txBody>
      </p:sp>
      <p:sp>
        <p:nvSpPr>
          <p:cNvPr id="13" name="anim-27-stop">
            <a:extLst xmlns:a="http://schemas.openxmlformats.org/drawingml/2006/main">
              <a:ext uri="{FF2B5EF4-FFF2-40B4-BE49-F238E27FC236}">
                <a16:creationId xmlns:a16="http://schemas.microsoft.com/office/drawing/2014/main" id="{B1F81EBD-2EC3-4BBC-8175-39AA580C2AEA}"/>
              </a:ext>
            </a:extLst>
          </p:cNvPr>
          <p:cNvSpPr>
            <a:spLocks xmlns:a="http://schemas.openxmlformats.org/drawingml/2006/main" noGrp="1"/>
          </p:cNvSpPr>
          <p:nvPr/>
        </p:nvSpPr>
        <p:spPr>
          <a:xfrm xmlns:a="http://schemas.openxmlformats.org/drawingml/2006/main">
            <a:off x="1238250" y="5810250"/>
            <a:ext cx="971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D84A4A"/>
                </a:solidFill>
              </a:defRPr>
            </a:pPr>
            <a:r>
              <a:rPr sz="1800" b="1">
                <a:solidFill>
                  <a:srgbClr val="D84A4A"/>
                </a:solidFill>
              </a:rPr>
              <a:t>Nếu không vượt qua một cửa kiểm soát: dừng, đổi công cụ hoặc chuyển sang phương án không AI.</a:t>
            </a:r>
          </a:p>
        </p:txBody>
      </p:sp>
      <p:sp>
        <p:nvSpPr>
          <p:cNvPr id="14" name="source-27">
            <a:extLst xmlns:a="http://schemas.openxmlformats.org/drawingml/2006/main">
              <a:ext uri="{FF2B5EF4-FFF2-40B4-BE49-F238E27FC236}">
                <a16:creationId xmlns:a16="http://schemas.microsoft.com/office/drawing/2014/main" id="{62D3C18E-04BB-4DBE-97E7-78EE27C6A5EA}"/>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Nguồn: Khung AI, yêu cầu về đạo đức, an toàn, quyền trẻ em, kiểm chứng và khai báo sử dụng AI.</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8"/>
                                          </p:tgtEl>
                                          <p:attrNameLst>
                                            <p:attrName>style.visibility</p:attrName>
                                          </p:attrNameLst>
                                        </p:cBhvr>
                                        <p:to>
                                          <p:strVal val="visible"/>
                                        </p:to>
                                      </p:set>
                                      <p:animEffect transition="in" filter="fade">
                                        <p:cBhvr>
                                          <p:cTn id="1021" dur="350"/>
                                          <p:tgtEl>
                                            <p:spTgt spid="8"/>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9"/>
                                          </p:tgtEl>
                                          <p:attrNameLst>
                                            <p:attrName>style.visibility</p:attrName>
                                          </p:attrNameLst>
                                        </p:cBhvr>
                                        <p:to>
                                          <p:strVal val="visible"/>
                                        </p:to>
                                      </p:set>
                                      <p:animEffect transition="in" filter="fade">
                                        <p:cBhvr>
                                          <p:cTn id="1026" dur="350"/>
                                          <p:tgtEl>
                                            <p:spTgt spid="9"/>
                                          </p:tgtEl>
                                        </p:cBhvr>
                                      </p:animEffect>
                                    </p:childTnLst>
                                  </p:cTn>
                                </p:par>
                              </p:childTnLst>
                            </p:cTn>
                          </p:par>
                        </p:childTnLst>
                      </p:cTn>
                    </p:par>
                    <p:par>
                      <p:cTn id="1027" fill="hold">
                        <p:stCondLst>
                          <p:cond delay="indefinite"/>
                        </p:stCondLst>
                        <p:childTnLst>
                          <p:par>
                            <p:cTn id="1028" fill="hold">
                              <p:stCondLst>
                                <p:cond delay="0"/>
                              </p:stCondLst>
                              <p:childTnLst>
                                <p:par>
                                  <p:cTn id="1029" presetID="10" presetClass="entr" presetSubtype="0" fill="hold" grpId="0" nodeType="clickEffect">
                                    <p:stCondLst>
                                      <p:cond delay="0"/>
                                    </p:stCondLst>
                                    <p:childTnLst>
                                      <p:set>
                                        <p:cBhvr>
                                          <p:cTn id="1030" dur="1" fill="hold">
                                            <p:stCondLst>
                                              <p:cond delay="0"/>
                                            </p:stCondLst>
                                          </p:cTn>
                                          <p:tgtEl>
                                            <p:spTgt spid="10"/>
                                          </p:tgtEl>
                                          <p:attrNameLst>
                                            <p:attrName>style.visibility</p:attrName>
                                          </p:attrNameLst>
                                        </p:cBhvr>
                                        <p:to>
                                          <p:strVal val="visible"/>
                                        </p:to>
                                      </p:set>
                                      <p:animEffect transition="in" filter="fade">
                                        <p:cBhvr>
                                          <p:cTn id="1031" dur="350"/>
                                          <p:tgtEl>
                                            <p:spTgt spid="10"/>
                                          </p:tgtEl>
                                        </p:cBhvr>
                                      </p:animEffect>
                                    </p:childTnLst>
                                  </p:cTn>
                                </p:par>
                              </p:childTnLst>
                            </p:cTn>
                          </p:par>
                        </p:childTnLst>
                      </p:cTn>
                    </p:par>
                    <p:par>
                      <p:cTn id="1032" fill="hold">
                        <p:stCondLst>
                          <p:cond delay="indefinite"/>
                        </p:stCondLst>
                        <p:childTnLst>
                          <p:par>
                            <p:cTn id="1033" fill="hold">
                              <p:stCondLst>
                                <p:cond delay="0"/>
                              </p:stCondLst>
                              <p:childTnLst>
                                <p:par>
                                  <p:cTn id="1034" presetID="10" presetClass="entr" presetSubtype="0" fill="hold" grpId="0" nodeType="clickEffect">
                                    <p:stCondLst>
                                      <p:cond delay="0"/>
                                    </p:stCondLst>
                                    <p:childTnLst>
                                      <p:set>
                                        <p:cBhvr>
                                          <p:cTn id="1035" dur="1" fill="hold">
                                            <p:stCondLst>
                                              <p:cond delay="0"/>
                                            </p:stCondLst>
                                          </p:cTn>
                                          <p:tgtEl>
                                            <p:spTgt spid="11"/>
                                          </p:tgtEl>
                                          <p:attrNameLst>
                                            <p:attrName>style.visibility</p:attrName>
                                          </p:attrNameLst>
                                        </p:cBhvr>
                                        <p:to>
                                          <p:strVal val="visible"/>
                                        </p:to>
                                      </p:set>
                                      <p:animEffect transition="in" filter="fade">
                                        <p:cBhvr>
                                          <p:cTn id="1036" dur="350"/>
                                          <p:tgtEl>
                                            <p:spTgt spid="11"/>
                                          </p:tgtEl>
                                        </p:cBhvr>
                                      </p:animEffect>
                                    </p:childTnLst>
                                  </p:cTn>
                                </p:par>
                              </p:childTnLst>
                            </p:cTn>
                          </p:par>
                        </p:childTnLst>
                      </p:cTn>
                    </p:par>
                    <p:par>
                      <p:cTn id="1037" fill="hold">
                        <p:stCondLst>
                          <p:cond delay="indefinite"/>
                        </p:stCondLst>
                        <p:childTnLst>
                          <p:par>
                            <p:cTn id="1038" fill="hold">
                              <p:stCondLst>
                                <p:cond delay="0"/>
                              </p:stCondLst>
                              <p:childTnLst>
                                <p:par>
                                  <p:cTn id="1039" presetID="10" presetClass="entr" presetSubtype="0" fill="hold" grpId="0" nodeType="clickEffect">
                                    <p:stCondLst>
                                      <p:cond delay="0"/>
                                    </p:stCondLst>
                                    <p:childTnLst>
                                      <p:set>
                                        <p:cBhvr>
                                          <p:cTn id="1040" dur="1" fill="hold">
                                            <p:stCondLst>
                                              <p:cond delay="0"/>
                                            </p:stCondLst>
                                          </p:cTn>
                                          <p:tgtEl>
                                            <p:spTgt spid="12"/>
                                          </p:tgtEl>
                                          <p:attrNameLst>
                                            <p:attrName>style.visibility</p:attrName>
                                          </p:attrNameLst>
                                        </p:cBhvr>
                                        <p:to>
                                          <p:strVal val="visible"/>
                                        </p:to>
                                      </p:set>
                                      <p:animEffect transition="in" filter="fade">
                                        <p:cBhvr>
                                          <p:cTn id="1041" dur="350"/>
                                          <p:tgtEl>
                                            <p:spTgt spid="12"/>
                                          </p:tgtEl>
                                        </p:cBhvr>
                                      </p:animEffect>
                                    </p:childTnLst>
                                  </p:cTn>
                                </p:par>
                              </p:childTnLst>
                            </p:cTn>
                          </p:par>
                        </p:childTnLst>
                      </p:cTn>
                    </p:par>
                    <p:par>
                      <p:cTn id="1042" fill="hold">
                        <p:stCondLst>
                          <p:cond delay="indefinite"/>
                        </p:stCondLst>
                        <p:childTnLst>
                          <p:par>
                            <p:cTn id="1043" fill="hold">
                              <p:stCondLst>
                                <p:cond delay="0"/>
                              </p:stCondLst>
                              <p:childTnLst>
                                <p:par>
                                  <p:cTn id="1044" presetID="10" presetClass="entr" presetSubtype="0" fill="hold" grpId="0" nodeType="clickEffect">
                                    <p:stCondLst>
                                      <p:cond delay="0"/>
                                    </p:stCondLst>
                                    <p:childTnLst>
                                      <p:set>
                                        <p:cBhvr>
                                          <p:cTn id="1045" dur="1" fill="hold">
                                            <p:stCondLst>
                                              <p:cond delay="0"/>
                                            </p:stCondLst>
                                          </p:cTn>
                                          <p:tgtEl>
                                            <p:spTgt spid="13"/>
                                          </p:tgtEl>
                                          <p:attrNameLst>
                                            <p:attrName>style.visibility</p:attrName>
                                          </p:attrNameLst>
                                        </p:cBhvr>
                                        <p:to>
                                          <p:strVal val="visible"/>
                                        </p:to>
                                      </p:set>
                                      <p:animEffect transition="in" filter="fade">
                                        <p:cBhvr>
                                          <p:cTn id="1046"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20569388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28">
            <a:extLst xmlns:a="http://schemas.openxmlformats.org/drawingml/2006/main">
              <a:ext uri="{FF2B5EF4-FFF2-40B4-BE49-F238E27FC236}">
                <a16:creationId xmlns:a16="http://schemas.microsoft.com/office/drawing/2014/main" id="{DB86FBC3-CED1-4429-8618-39AB709C4DFA}"/>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69E0"/>
                </a:solidFill>
              </a:defRPr>
            </a:pPr>
            <a:r>
              <a:rPr sz="1050" b="1">
                <a:solidFill>
                  <a:srgbClr val="1769E0"/>
                </a:solidFill>
              </a:rPr>
              <a:t>14 / LỘ TRÌNH NHÀ TRƯỜNG</a:t>
            </a:r>
          </a:p>
        </p:txBody>
      </p:sp>
      <p:sp>
        <p:nvSpPr>
          <p:cNvPr id="2" name="title-28">
            <a:extLst xmlns:a="http://schemas.openxmlformats.org/drawingml/2006/main">
              <a:ext uri="{FF2B5EF4-FFF2-40B4-BE49-F238E27FC236}">
                <a16:creationId xmlns:a16="http://schemas.microsoft.com/office/drawing/2014/main" id="{EF214FBF-636C-4694-9A35-25CAFB589100}"/>
              </a:ext>
            </a:extLst>
          </p:cNvPr>
          <p:cNvSpPr>
            <a:spLocks xmlns:a="http://schemas.openxmlformats.org/drawingml/2006/main" noGrp="1"/>
          </p:cNvSpPr>
          <p:nvPr/>
        </p:nvSpPr>
        <p:spPr>
          <a:xfrm xmlns:a="http://schemas.openxmlformats.org/drawingml/2006/main">
            <a:off x="400050" y="590550"/>
            <a:ext cx="1114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0131A"/>
                </a:solidFill>
              </a:defRPr>
            </a:pPr>
            <a:r>
              <a:rPr sz="2550" b="1">
                <a:solidFill>
                  <a:srgbClr val="10131A"/>
                </a:solidFill>
              </a:rPr>
              <a:t>Triển khai theo bốn giai đoạn để đi chắc và có minh chứng</a:t>
            </a:r>
          </a:p>
        </p:txBody>
      </p:sp>
      <p:sp>
        <p:nvSpPr>
          <p:cNvPr id="3" name="rule-28">
            <a:extLst xmlns:a="http://schemas.openxmlformats.org/drawingml/2006/main">
              <a:ext uri="{FF2B5EF4-FFF2-40B4-BE49-F238E27FC236}">
                <a16:creationId xmlns:a16="http://schemas.microsoft.com/office/drawing/2014/main" id="{9A34782F-D320-435A-B855-47A6D0D8BB95}"/>
              </a:ext>
            </a:extLst>
          </p:cNvPr>
          <p:cNvSpPr>
            <a:spLocks xmlns:a="http://schemas.openxmlformats.org/drawingml/2006/main" noGrp="1"/>
          </p:cNvSpPr>
          <p:nvPr/>
        </p:nvSpPr>
        <p:spPr>
          <a:xfrm xmlns:a="http://schemas.openxmlformats.org/drawingml/2006/main">
            <a:off x="400050" y="1504950"/>
            <a:ext cx="113919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page-28">
            <a:extLst xmlns:a="http://schemas.openxmlformats.org/drawingml/2006/main">
              <a:ext uri="{FF2B5EF4-FFF2-40B4-BE49-F238E27FC236}">
                <a16:creationId xmlns:a16="http://schemas.microsoft.com/office/drawing/2014/main" id="{BEEBC0C4-C8FE-4319-82D5-A6EE6C7A6D50}"/>
              </a:ext>
            </a:extLst>
          </p:cNvPr>
          <p:cNvSpPr>
            <a:spLocks xmlns:a="http://schemas.openxmlformats.org/drawingml/2006/main" noGrp="1"/>
          </p:cNvSpPr>
          <p:nvPr/>
        </p:nvSpPr>
        <p:spPr>
          <a:xfrm xmlns:a="http://schemas.openxmlformats.org/drawingml/2006/main">
            <a:off x="1123950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3"/>
                </a:solidFill>
              </a:defRPr>
            </a:pPr>
            <a:r>
              <a:rPr sz="975" b="0">
                <a:solidFill>
                  <a:srgbClr val="5E6673"/>
                </a:solidFill>
              </a:rPr>
              <a:t>28</a:t>
            </a:r>
          </a:p>
        </p:txBody>
      </p:sp>
      <p:sp>
        <p:nvSpPr>
          <p:cNvPr id="5" name="anim-28-1">
            <a:extLst xmlns:a="http://schemas.openxmlformats.org/drawingml/2006/main">
              <a:ext uri="{FF2B5EF4-FFF2-40B4-BE49-F238E27FC236}">
                <a16:creationId xmlns:a16="http://schemas.microsoft.com/office/drawing/2014/main" id="{52D4F045-A284-4E29-8AEB-B1023AAC1428}"/>
              </a:ext>
            </a:extLst>
          </p:cNvPr>
          <p:cNvSpPr>
            <a:spLocks xmlns:a="http://schemas.openxmlformats.org/drawingml/2006/main" noGrp="1"/>
          </p:cNvSpPr>
          <p:nvPr/>
        </p:nvSpPr>
        <p:spPr>
          <a:xfrm xmlns:a="http://schemas.openxmlformats.org/drawingml/2006/main">
            <a:off x="523875" y="2238375"/>
            <a:ext cx="2619375" cy="3143250"/>
          </a:xfrm>
          <a:prstGeom xmlns:a="http://schemas.openxmlformats.org/drawingml/2006/main" prst="roundRect">
            <a:avLst>
              <a:gd name="adj" fmla="val 4364"/>
            </a:avLst>
          </a:prstGeom>
          <a:solidFill xmlns:a="http://schemas.openxmlformats.org/drawingml/2006/main">
            <a:srgbClr val="EAF5FB"/>
          </a:solidFill>
          <a:ln xmlns:a="http://schemas.openxmlformats.org/drawingml/2006/main" w="19050">
            <a:solidFill>
              <a:srgbClr val="1769E0"/>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10131A"/>
                </a:solidFill>
              </a:defRPr>
            </a:pPr>
            <a:r>
              <a:rPr sz="1500" b="0">
                <a:solidFill>
                  <a:srgbClr val="10131A"/>
                </a:solidFill>
              </a:rPr>
              <a:t>08–09/2026</a:t>
            </a:r>
          </a:p>
          <a:p xmlns:a="http://schemas.openxmlformats.org/drawingml/2006/main">
            <a:pPr algn="ctr">
              <a:defRPr sz="1500" b="0">
                <a:solidFill>
                  <a:srgbClr val="10131A"/>
                </a:solidFill>
              </a:defRPr>
            </a:pPr>
            <a:r>
              <a:rPr sz="1500" b="0">
                <a:solidFill>
                  <a:srgbClr val="10131A"/>
                </a:solidFill>
              </a:rPr>
              <a:t>CHUẨN BỊ</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Thành lập nhóm nòng cốt; rà thiết bị/tài khoản; thống nhất quy tắc; xây 12 tiết từng khối.</a:t>
            </a:r>
          </a:p>
        </p:txBody>
      </p:sp>
      <p:sp>
        <p:nvSpPr>
          <p:cNvPr id="6" name="anim-28-2">
            <a:extLst xmlns:a="http://schemas.openxmlformats.org/drawingml/2006/main">
              <a:ext uri="{FF2B5EF4-FFF2-40B4-BE49-F238E27FC236}">
                <a16:creationId xmlns:a16="http://schemas.microsoft.com/office/drawing/2014/main" id="{DBE431C5-5C65-45ED-8DDC-7D6999105042}"/>
              </a:ext>
            </a:extLst>
          </p:cNvPr>
          <p:cNvSpPr>
            <a:spLocks xmlns:a="http://schemas.openxmlformats.org/drawingml/2006/main" noGrp="1"/>
          </p:cNvSpPr>
          <p:nvPr/>
        </p:nvSpPr>
        <p:spPr>
          <a:xfrm xmlns:a="http://schemas.openxmlformats.org/drawingml/2006/main">
            <a:off x="3429000" y="2238375"/>
            <a:ext cx="2619375" cy="3143250"/>
          </a:xfrm>
          <a:prstGeom xmlns:a="http://schemas.openxmlformats.org/drawingml/2006/main" prst="roundRect">
            <a:avLst>
              <a:gd name="adj" fmla="val 4364"/>
            </a:avLst>
          </a:prstGeom>
          <a:solidFill xmlns:a="http://schemas.openxmlformats.org/drawingml/2006/main">
            <a:srgbClr val="F0F2F5"/>
          </a:solidFill>
          <a:ln xmlns:a="http://schemas.openxmlformats.org/drawingml/2006/main" w="19050">
            <a:solidFill>
              <a:srgbClr val="44C2F0"/>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10131A"/>
                </a:solidFill>
              </a:defRPr>
            </a:pPr>
            <a:r>
              <a:rPr sz="1500" b="0">
                <a:solidFill>
                  <a:srgbClr val="10131A"/>
                </a:solidFill>
              </a:rPr>
              <a:t>10–12/2026</a:t>
            </a:r>
          </a:p>
          <a:p xmlns:a="http://schemas.openxmlformats.org/drawingml/2006/main">
            <a:pPr algn="ctr">
              <a:defRPr sz="1500" b="0">
                <a:solidFill>
                  <a:srgbClr val="10131A"/>
                </a:solidFill>
              </a:defRPr>
            </a:pPr>
            <a:r>
              <a:rPr sz="1500" b="0">
                <a:solidFill>
                  <a:srgbClr val="10131A"/>
                </a:solidFill>
              </a:rPr>
              <a:t>THÍ ĐIỂM</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Mỗi tổ chọn 1–2 bài tích hợp; ưu tiên Toán 6 và một môn khác; dự giờ, thu sản phẩm.</a:t>
            </a:r>
          </a:p>
        </p:txBody>
      </p:sp>
      <p:sp>
        <p:nvSpPr>
          <p:cNvPr id="7" name="anim-28-3">
            <a:extLst xmlns:a="http://schemas.openxmlformats.org/drawingml/2006/main">
              <a:ext uri="{FF2B5EF4-FFF2-40B4-BE49-F238E27FC236}">
                <a16:creationId xmlns:a16="http://schemas.microsoft.com/office/drawing/2014/main" id="{870C2E92-25E5-448B-B0DA-9A4E2399DB42}"/>
              </a:ext>
            </a:extLst>
          </p:cNvPr>
          <p:cNvSpPr>
            <a:spLocks xmlns:a="http://schemas.openxmlformats.org/drawingml/2006/main" noGrp="1"/>
          </p:cNvSpPr>
          <p:nvPr/>
        </p:nvSpPr>
        <p:spPr>
          <a:xfrm xmlns:a="http://schemas.openxmlformats.org/drawingml/2006/main">
            <a:off x="6334125" y="2238375"/>
            <a:ext cx="2619375" cy="3143250"/>
          </a:xfrm>
          <a:prstGeom xmlns:a="http://schemas.openxmlformats.org/drawingml/2006/main" prst="roundRect">
            <a:avLst>
              <a:gd name="adj" fmla="val 4364"/>
            </a:avLst>
          </a:prstGeom>
          <a:solidFill xmlns:a="http://schemas.openxmlformats.org/drawingml/2006/main">
            <a:srgbClr val="F0F2F5"/>
          </a:solidFill>
          <a:ln xmlns:a="http://schemas.openxmlformats.org/drawingml/2006/main" w="19050">
            <a:solidFill>
              <a:srgbClr val="F59E0B"/>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10131A"/>
                </a:solidFill>
              </a:defRPr>
            </a:pPr>
            <a:r>
              <a:rPr sz="1500" b="0">
                <a:solidFill>
                  <a:srgbClr val="10131A"/>
                </a:solidFill>
              </a:rPr>
              <a:t>01–04/2027</a:t>
            </a:r>
          </a:p>
          <a:p xmlns:a="http://schemas.openxmlformats.org/drawingml/2006/main">
            <a:pPr algn="ctr">
              <a:defRPr sz="1500" b="0">
                <a:solidFill>
                  <a:srgbClr val="10131A"/>
                </a:solidFill>
              </a:defRPr>
            </a:pPr>
            <a:r>
              <a:rPr sz="1500" b="0">
                <a:solidFill>
                  <a:srgbClr val="10131A"/>
                </a:solidFill>
              </a:rPr>
              <a:t>MỞ RỘNG</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Điều chỉnh chuyên đề; mỗi môn có tối thiểu một minh chứng tích hợp phù hợp; tổ chức dự án nhỏ.</a:t>
            </a:r>
          </a:p>
        </p:txBody>
      </p:sp>
      <p:sp>
        <p:nvSpPr>
          <p:cNvPr id="8" name="anim-28-4">
            <a:extLst xmlns:a="http://schemas.openxmlformats.org/drawingml/2006/main">
              <a:ext uri="{FF2B5EF4-FFF2-40B4-BE49-F238E27FC236}">
                <a16:creationId xmlns:a16="http://schemas.microsoft.com/office/drawing/2014/main" id="{6CDBEBD8-CA3E-4412-A820-F5BCEFC970FA}"/>
              </a:ext>
            </a:extLst>
          </p:cNvPr>
          <p:cNvSpPr>
            <a:spLocks xmlns:a="http://schemas.openxmlformats.org/drawingml/2006/main" noGrp="1"/>
          </p:cNvSpPr>
          <p:nvPr/>
        </p:nvSpPr>
        <p:spPr>
          <a:xfrm xmlns:a="http://schemas.openxmlformats.org/drawingml/2006/main">
            <a:off x="9239250" y="2238375"/>
            <a:ext cx="2619375" cy="3143250"/>
          </a:xfrm>
          <a:prstGeom xmlns:a="http://schemas.openxmlformats.org/drawingml/2006/main" prst="roundRect">
            <a:avLst>
              <a:gd name="adj" fmla="val 4364"/>
            </a:avLst>
          </a:prstGeom>
          <a:solidFill xmlns:a="http://schemas.openxmlformats.org/drawingml/2006/main">
            <a:srgbClr val="F0F2F5"/>
          </a:solidFill>
          <a:ln xmlns:a="http://schemas.openxmlformats.org/drawingml/2006/main" w="19050">
            <a:solidFill>
              <a:srgbClr val="1B8A5A"/>
            </a:solid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10131A"/>
                </a:solidFill>
              </a:defRPr>
            </a:pPr>
            <a:r>
              <a:rPr sz="1500" b="0">
                <a:solidFill>
                  <a:srgbClr val="10131A"/>
                </a:solidFill>
              </a:rPr>
              <a:t>05/2027</a:t>
            </a:r>
          </a:p>
          <a:p xmlns:a="http://schemas.openxmlformats.org/drawingml/2006/main">
            <a:pPr algn="ctr">
              <a:defRPr sz="1500" b="0">
                <a:solidFill>
                  <a:srgbClr val="10131A"/>
                </a:solidFill>
              </a:defRPr>
            </a:pPr>
            <a:r>
              <a:rPr sz="1500" b="0">
                <a:solidFill>
                  <a:srgbClr val="10131A"/>
                </a:solidFill>
              </a:rPr>
              <a:t>ĐÁNH GIÁ – CẬP NHẬT</a:t>
            </a:r>
          </a:p>
          <a:p xmlns:a="http://schemas.openxmlformats.org/drawingml/2006/main">
            <a:r>
              <a:t/>
            </a:r>
          </a:p>
          <a:p xmlns:a="http://schemas.openxmlformats.org/drawingml/2006/main">
            <a:pPr algn="ctr">
              <a:defRPr sz="1500" b="0">
                <a:solidFill>
                  <a:srgbClr val="10131A"/>
                </a:solidFill>
              </a:defRPr>
            </a:pPr>
            <a:r>
              <a:rPr sz="1500" b="0">
                <a:solidFill>
                  <a:srgbClr val="10131A"/>
                </a:solidFill>
              </a:rPr>
              <a:t>Tổng hợp mức độ đáp ứng, khó khăn, rủi ro; cập nhật danh mục công cụ và kế hoạch năm sau.</a:t>
            </a:r>
          </a:p>
        </p:txBody>
      </p:sp>
      <p:sp>
        <p:nvSpPr>
          <p:cNvPr id="9" name="anim-28-kpi">
            <a:extLst xmlns:a="http://schemas.openxmlformats.org/drawingml/2006/main">
              <a:ext uri="{FF2B5EF4-FFF2-40B4-BE49-F238E27FC236}">
                <a16:creationId xmlns:a16="http://schemas.microsoft.com/office/drawing/2014/main" id="{760E5882-3EE5-4F4F-ABEE-0F77814E8672}"/>
              </a:ext>
            </a:extLst>
          </p:cNvPr>
          <p:cNvSpPr>
            <a:spLocks xmlns:a="http://schemas.openxmlformats.org/drawingml/2006/main" noGrp="1"/>
          </p:cNvSpPr>
          <p:nvPr/>
        </p:nvSpPr>
        <p:spPr>
          <a:xfrm xmlns:a="http://schemas.openxmlformats.org/drawingml/2006/main">
            <a:off x="1047750" y="5762625"/>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B2B5B"/>
                </a:solidFill>
              </a:defRPr>
            </a:pPr>
            <a:r>
              <a:rPr sz="1650" b="1">
                <a:solidFill>
                  <a:srgbClr val="0B2B5B"/>
                </a:solidFill>
              </a:rPr>
              <a:t>Minh chứng quản trị cần có: kế hoạch 12 tiết • bài dạy tích hợp • rubric • sản phẩm học sinh • biên bản/rút kinh nghiệm • báo cáo cuối năm</a:t>
            </a:r>
          </a:p>
        </p:txBody>
      </p:sp>
      <p:sp>
        <p:nvSpPr>
          <p:cNvPr id="10" name="source-28">
            <a:extLst xmlns:a="http://schemas.openxmlformats.org/drawingml/2006/main">
              <a:ext uri="{FF2B5EF4-FFF2-40B4-BE49-F238E27FC236}">
                <a16:creationId xmlns:a16="http://schemas.microsoft.com/office/drawing/2014/main" id="{4DC362D4-3AF8-4CD8-BFA1-11423E369C6F}"/>
              </a:ext>
            </a:extLst>
          </p:cNvPr>
          <p:cNvSpPr>
            <a:spLocks xmlns:a="http://schemas.openxmlformats.org/drawingml/2006/main" noGrp="1"/>
          </p:cNvSpPr>
          <p:nvPr/>
        </p:nvSpPr>
        <p:spPr>
          <a:xfrm xmlns:a="http://schemas.openxmlformats.org/drawingml/2006/main">
            <a:off x="40005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5E6673"/>
                </a:solidFill>
              </a:defRPr>
            </a:pPr>
            <a:r>
              <a:rPr sz="825" b="0">
                <a:solidFill>
                  <a:srgbClr val="5E6673"/>
                </a:solidFill>
              </a:rPr>
              <a:t>Lộ trình đề xuất cho Trường THCS Trần Phú, năm học 2026–2027.</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5"/>
                                          </p:tgtEl>
                                          <p:attrNameLst>
                                            <p:attrName>style.visibility</p:attrName>
                                          </p:attrNameLst>
                                        </p:cBhvr>
                                        <p:to>
                                          <p:strVal val="visible"/>
                                        </p:to>
                                      </p:set>
                                      <p:animEffect transition="in" filter="fade">
                                        <p:cBhvr>
                                          <p:cTn id="1006" dur="350"/>
                                          <p:tgtEl>
                                            <p:spTgt spid="5"/>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6"/>
                                          </p:tgtEl>
                                          <p:attrNameLst>
                                            <p:attrName>style.visibility</p:attrName>
                                          </p:attrNameLst>
                                        </p:cBhvr>
                                        <p:to>
                                          <p:strVal val="visible"/>
                                        </p:to>
                                      </p:set>
                                      <p:animEffect transition="in" filter="fade">
                                        <p:cBhvr>
                                          <p:cTn id="1011" dur="350"/>
                                          <p:tgtEl>
                                            <p:spTgt spid="6"/>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7"/>
                                          </p:tgtEl>
                                          <p:attrNameLst>
                                            <p:attrName>style.visibility</p:attrName>
                                          </p:attrNameLst>
                                        </p:cBhvr>
                                        <p:to>
                                          <p:strVal val="visible"/>
                                        </p:to>
                                      </p:set>
                                      <p:animEffect transition="in" filter="fade">
                                        <p:cBhvr>
                                          <p:cTn id="1016" dur="350"/>
                                          <p:tgtEl>
                                            <p:spTgt spid="7"/>
                                          </p:tgtEl>
                                        </p:cBhvr>
                                      </p:animEffect>
                                    </p:childTnLst>
                                  </p:cTn>
                                </p:par>
                              </p:childTnLst>
                            </p:cTn>
                          </p:par>
                        </p:childTnLst>
                      </p:cTn>
                    </p:par>
                    <p:par>
                      <p:cTn id="1017" fill="hold">
                        <p:stCondLst>
                          <p:cond delay="indefinite"/>
                        </p:stCondLst>
                        <p:childTnLst>
                          <p:par>
                            <p:cTn id="1018" fill="hold">
                              <p:stCondLst>
                                <p:cond delay="0"/>
                              </p:stCondLst>
                              <p:childTnLst>
                                <p:par>
                                  <p:cTn id="1019" presetID="10" presetClass="entr" presetSubtype="0" fill="hold" grpId="0" nodeType="clickEffect">
                                    <p:stCondLst>
                                      <p:cond delay="0"/>
                                    </p:stCondLst>
                                    <p:childTnLst>
                                      <p:set>
                                        <p:cBhvr>
                                          <p:cTn id="1020" dur="1" fill="hold">
                                            <p:stCondLst>
                                              <p:cond delay="0"/>
                                            </p:stCondLst>
                                          </p:cTn>
                                          <p:tgtEl>
                                            <p:spTgt spid="8"/>
                                          </p:tgtEl>
                                          <p:attrNameLst>
                                            <p:attrName>style.visibility</p:attrName>
                                          </p:attrNameLst>
                                        </p:cBhvr>
                                        <p:to>
                                          <p:strVal val="visible"/>
                                        </p:to>
                                      </p:set>
                                      <p:animEffect transition="in" filter="fade">
                                        <p:cBhvr>
                                          <p:cTn id="1021" dur="350"/>
                                          <p:tgtEl>
                                            <p:spTgt spid="8"/>
                                          </p:tgtEl>
                                        </p:cBhvr>
                                      </p:animEffect>
                                    </p:childTnLst>
                                  </p:cTn>
                                </p:par>
                              </p:childTnLst>
                            </p:cTn>
                          </p:par>
                        </p:childTnLst>
                      </p:cTn>
                    </p:par>
                    <p:par>
                      <p:cTn id="1022" fill="hold">
                        <p:stCondLst>
                          <p:cond delay="indefinite"/>
                        </p:stCondLst>
                        <p:childTnLst>
                          <p:par>
                            <p:cTn id="1023" fill="hold">
                              <p:stCondLst>
                                <p:cond delay="0"/>
                              </p:stCondLst>
                              <p:childTnLst>
                                <p:par>
                                  <p:cTn id="1024" presetID="10" presetClass="entr" presetSubtype="0" fill="hold" grpId="0" nodeType="clickEffect">
                                    <p:stCondLst>
                                      <p:cond delay="0"/>
                                    </p:stCondLst>
                                    <p:childTnLst>
                                      <p:set>
                                        <p:cBhvr>
                                          <p:cTn id="1025" dur="1" fill="hold">
                                            <p:stCondLst>
                                              <p:cond delay="0"/>
                                            </p:stCondLst>
                                          </p:cTn>
                                          <p:tgtEl>
                                            <p:spTgt spid="9"/>
                                          </p:tgtEl>
                                          <p:attrNameLst>
                                            <p:attrName>style.visibility</p:attrName>
                                          </p:attrNameLst>
                                        </p:cBhvr>
                                        <p:to>
                                          <p:strVal val="visible"/>
                                        </p:to>
                                      </p:set>
                                      <p:animEffect transition="in" filter="fade">
                                        <p:cBhvr>
                                          <p:cTn id="1026"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247255770"/>
      </p:ext>
    </p:extLst>
  </p:cSld>
</p:sld>
</file>

<file path=ppt/slides/slide29.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7" name="close-label">
            <a:extLst xmlns:a="http://schemas.openxmlformats.org/drawingml/2006/main">
              <a:ext uri="{FF2B5EF4-FFF2-40B4-BE49-F238E27FC236}">
                <a16:creationId xmlns:a16="http://schemas.microsoft.com/office/drawing/2014/main" id="{EF486B31-8FD4-4BF1-9AD8-388AD071C728}"/>
              </a:ext>
            </a:extLst>
          </p:cNvPr>
          <p:cNvSpPr>
            <a:spLocks xmlns:a="http://schemas.openxmlformats.org/drawingml/2006/main" noGrp="1"/>
          </p:cNvSpPr>
          <p:nvPr/>
        </p:nvSpPr>
        <p:spPr>
          <a:xfrm xmlns:a="http://schemas.openxmlformats.org/drawingml/2006/main">
            <a:off x="619125" y="666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44C2F0"/>
                </a:solidFill>
              </a:defRPr>
            </a:pPr>
            <a:r>
              <a:rPr sz="1200" b="1">
                <a:solidFill>
                  <a:srgbClr val="44C2F0"/>
                </a:solidFill>
              </a:rPr>
              <a:t>KẾT LUẬN</a:t>
            </a:r>
          </a:p>
        </p:txBody>
      </p:sp>
      <p:sp>
        <p:nvSpPr>
          <p:cNvPr id="2" name="close-title">
            <a:extLst xmlns:a="http://schemas.openxmlformats.org/drawingml/2006/main">
              <a:ext uri="{FF2B5EF4-FFF2-40B4-BE49-F238E27FC236}">
                <a16:creationId xmlns:a16="http://schemas.microsoft.com/office/drawing/2014/main" id="{35EF13AB-B42D-4414-A2E4-611C60226036}"/>
              </a:ext>
            </a:extLst>
          </p:cNvPr>
          <p:cNvSpPr>
            <a:spLocks xmlns:a="http://schemas.openxmlformats.org/drawingml/2006/main" noGrp="1"/>
          </p:cNvSpPr>
          <p:nvPr/>
        </p:nvSpPr>
        <p:spPr>
          <a:xfrm xmlns:a="http://schemas.openxmlformats.org/drawingml/2006/main">
            <a:off x="619125" y="1381125"/>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125" b="1">
                <a:solidFill>
                  <a:srgbClr val="FFFFFF"/>
                </a:solidFill>
              </a:defRPr>
            </a:pPr>
            <a:r>
              <a:rPr sz="4125" b="1">
                <a:solidFill>
                  <a:srgbClr val="FFFFFF"/>
                </a:solidFill>
              </a:rPr>
              <a:t>AI hỗ trợ mở rộng năng lực.</a:t>
            </a:r>
          </a:p>
          <a:p xmlns:a="http://schemas.openxmlformats.org/drawingml/2006/main">
            <a:pPr algn="l">
              <a:defRPr sz="4125" b="1">
                <a:solidFill>
                  <a:srgbClr val="FFFFFF"/>
                </a:solidFill>
              </a:defRPr>
            </a:pPr>
            <a:r>
              <a:rPr sz="4125" b="1">
                <a:solidFill>
                  <a:srgbClr val="FFFFFF"/>
                </a:solidFill>
              </a:rPr>
              <a:t>Con người vẫn quyết định.</a:t>
            </a:r>
          </a:p>
        </p:txBody>
      </p:sp>
      <p:sp>
        <p:nvSpPr>
          <p:cNvPr id="3" name="anim-29-1">
            <a:extLst xmlns:a="http://schemas.openxmlformats.org/drawingml/2006/main">
              <a:ext uri="{FF2B5EF4-FFF2-40B4-BE49-F238E27FC236}">
                <a16:creationId xmlns:a16="http://schemas.microsoft.com/office/drawing/2014/main" id="{CEB76D78-C81E-4A54-96F7-03D356DCFD98}"/>
              </a:ext>
            </a:extLst>
          </p:cNvPr>
          <p:cNvSpPr>
            <a:spLocks xmlns:a="http://schemas.openxmlformats.org/drawingml/2006/main" noGrp="1"/>
          </p:cNvSpPr>
          <p:nvPr/>
        </p:nvSpPr>
        <p:spPr>
          <a:xfrm xmlns:a="http://schemas.openxmlformats.org/drawingml/2006/main">
            <a:off x="666750" y="4095750"/>
            <a:ext cx="3048000" cy="1238250"/>
          </a:xfrm>
          <a:prstGeom xmlns:a="http://schemas.openxmlformats.org/drawingml/2006/main" prst="roundRect">
            <a:avLst>
              <a:gd name="adj" fmla="val 9231"/>
            </a:avLst>
          </a:prstGeom>
          <a:solidFill xmlns:a="http://schemas.openxmlformats.org/drawingml/2006/main">
            <a:srgbClr val="1769E0"/>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NHÀ TRƯỜNG</a:t>
            </a:r>
          </a:p>
          <a:p xmlns:a="http://schemas.openxmlformats.org/drawingml/2006/main">
            <a:pPr algn="ctr">
              <a:defRPr sz="1800" b="1">
                <a:solidFill>
                  <a:srgbClr val="FFFFFF"/>
                </a:solidFill>
              </a:defRPr>
            </a:pPr>
            <a:r>
              <a:rPr sz="1800" b="1">
                <a:solidFill>
                  <a:srgbClr val="FFFFFF"/>
                </a:solidFill>
              </a:rPr>
              <a:t>thiết kế hệ thống triển khai</a:t>
            </a:r>
          </a:p>
        </p:txBody>
      </p:sp>
      <p:sp>
        <p:nvSpPr>
          <p:cNvPr id="4" name="anim-29-2">
            <a:extLst xmlns:a="http://schemas.openxmlformats.org/drawingml/2006/main">
              <a:ext uri="{FF2B5EF4-FFF2-40B4-BE49-F238E27FC236}">
                <a16:creationId xmlns:a16="http://schemas.microsoft.com/office/drawing/2014/main" id="{96A16337-A553-44D0-9A52-8D430AF4B1B9}"/>
              </a:ext>
            </a:extLst>
          </p:cNvPr>
          <p:cNvSpPr>
            <a:spLocks xmlns:a="http://schemas.openxmlformats.org/drawingml/2006/main" noGrp="1"/>
          </p:cNvSpPr>
          <p:nvPr/>
        </p:nvSpPr>
        <p:spPr>
          <a:xfrm xmlns:a="http://schemas.openxmlformats.org/drawingml/2006/main">
            <a:off x="4524375" y="4095750"/>
            <a:ext cx="3048000" cy="1238250"/>
          </a:xfrm>
          <a:prstGeom xmlns:a="http://schemas.openxmlformats.org/drawingml/2006/main" prst="roundRect">
            <a:avLst>
              <a:gd name="adj" fmla="val 9231"/>
            </a:avLst>
          </a:prstGeom>
          <a:solidFill xmlns:a="http://schemas.openxmlformats.org/drawingml/2006/main">
            <a:srgbClr val="44C2F0"/>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B2B5B"/>
                </a:solidFill>
              </a:defRPr>
            </a:pPr>
            <a:r>
              <a:rPr sz="1800" b="1">
                <a:solidFill>
                  <a:srgbClr val="0B2B5B"/>
                </a:solidFill>
              </a:rPr>
              <a:t>GIÁO VIÊN</a:t>
            </a:r>
          </a:p>
          <a:p xmlns:a="http://schemas.openxmlformats.org/drawingml/2006/main">
            <a:pPr algn="ctr">
              <a:defRPr sz="1800" b="1">
                <a:solidFill>
                  <a:srgbClr val="0B2B5B"/>
                </a:solidFill>
              </a:defRPr>
            </a:pPr>
            <a:r>
              <a:rPr sz="1800" b="1">
                <a:solidFill>
                  <a:srgbClr val="0B2B5B"/>
                </a:solidFill>
              </a:rPr>
              <a:t>thiết kế nhiệm vụ và kiểm soát</a:t>
            </a:r>
          </a:p>
        </p:txBody>
      </p:sp>
      <p:sp>
        <p:nvSpPr>
          <p:cNvPr id="5" name="anim-29-3">
            <a:extLst xmlns:a="http://schemas.openxmlformats.org/drawingml/2006/main">
              <a:ext uri="{FF2B5EF4-FFF2-40B4-BE49-F238E27FC236}">
                <a16:creationId xmlns:a16="http://schemas.microsoft.com/office/drawing/2014/main" id="{C69F3F1D-13D8-4546-A23F-C0010E7E9E48}"/>
              </a:ext>
            </a:extLst>
          </p:cNvPr>
          <p:cNvSpPr>
            <a:spLocks xmlns:a="http://schemas.openxmlformats.org/drawingml/2006/main" noGrp="1"/>
          </p:cNvSpPr>
          <p:nvPr/>
        </p:nvSpPr>
        <p:spPr>
          <a:xfrm xmlns:a="http://schemas.openxmlformats.org/drawingml/2006/main">
            <a:off x="8382000" y="4095750"/>
            <a:ext cx="3048000" cy="1238250"/>
          </a:xfrm>
          <a:prstGeom xmlns:a="http://schemas.openxmlformats.org/drawingml/2006/main" prst="roundRect">
            <a:avLst>
              <a:gd name="adj" fmla="val 9231"/>
            </a:avLst>
          </a:prstGeom>
          <a:solidFill xmlns:a="http://schemas.openxmlformats.org/drawingml/2006/main">
            <a:srgbClr val="1B8A5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FFFFF"/>
                </a:solidFill>
              </a:defRPr>
            </a:pPr>
            <a:r>
              <a:rPr sz="1725" b="1">
                <a:solidFill>
                  <a:srgbClr val="FFFFFF"/>
                </a:solidFill>
              </a:rPr>
              <a:t>HỌC SINH</a:t>
            </a:r>
          </a:p>
          <a:p xmlns:a="http://schemas.openxmlformats.org/drawingml/2006/main">
            <a:pPr algn="ctr">
              <a:defRPr sz="1725" b="1">
                <a:solidFill>
                  <a:srgbClr val="FFFFFF"/>
                </a:solidFill>
              </a:defRPr>
            </a:pPr>
            <a:r>
              <a:rPr sz="1725" b="1">
                <a:solidFill>
                  <a:srgbClr val="FFFFFF"/>
                </a:solidFill>
              </a:rPr>
              <a:t>học cách kiểm chứng và chịu trách nhiệm</a:t>
            </a:r>
          </a:p>
        </p:txBody>
      </p:sp>
      <p:sp>
        <p:nvSpPr>
          <p:cNvPr id="6" name="close-footer">
            <a:extLst xmlns:a="http://schemas.openxmlformats.org/drawingml/2006/main">
              <a:ext uri="{FF2B5EF4-FFF2-40B4-BE49-F238E27FC236}">
                <a16:creationId xmlns:a16="http://schemas.microsoft.com/office/drawing/2014/main" id="{DCFCE804-B7EB-40B6-875A-141F7653D5D9}"/>
              </a:ext>
            </a:extLst>
          </p:cNvPr>
          <p:cNvSpPr>
            <a:spLocks xmlns:a="http://schemas.openxmlformats.org/drawingml/2006/main" noGrp="1"/>
          </p:cNvSpPr>
          <p:nvPr/>
        </p:nvSpPr>
        <p:spPr>
          <a:xfrm xmlns:a="http://schemas.openxmlformats.org/drawingml/2006/main">
            <a:off x="619125" y="6048375"/>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D5D9E0"/>
                </a:solidFill>
              </a:defRPr>
            </a:pPr>
            <a:r>
              <a:rPr sz="1500" b="1">
                <a:solidFill>
                  <a:srgbClr val="D5D9E0"/>
                </a:solidFill>
              </a:rPr>
              <a:t>12 tiết tạo nền • Tích hợp tạo vận dụng • Dự án tạo chiều sâu</a:t>
            </a:r>
          </a:p>
        </p:txBody>
      </p:sp>
    </p:spTree>
    <p:transition spd="fast">
      <p:fade/>
    </p:transition>
    <p:timing>
      <p:tnLst>
        <p:par>
          <p:cTn id="1000" dur="indefinite" restart="never" nodeType="tmRoot">
            <p:childTnLst>
              <p:seq concurrent="1" nextAc="seek">
                <p:cTn id="1001" dur="indefinite" nodeType="mainSeq">
                  <p:childTnLst>
                    <p:par>
                      <p:cTn id="1002" fill="hold">
                        <p:stCondLst>
                          <p:cond delay="indefinite"/>
                        </p:stCondLst>
                        <p:childTnLst>
                          <p:par>
                            <p:cTn id="1003" fill="hold">
                              <p:stCondLst>
                                <p:cond delay="0"/>
                              </p:stCondLst>
                              <p:childTnLst>
                                <p:par>
                                  <p:cTn id="1004" presetID="10" presetClass="entr" presetSubtype="0" fill="hold" grpId="0" nodeType="clickEffect">
                                    <p:stCondLst>
                                      <p:cond delay="0"/>
                                    </p:stCondLst>
                                    <p:childTnLst>
                                      <p:set>
                                        <p:cBhvr>
                                          <p:cTn id="1005" dur="1" fill="hold">
                                            <p:stCondLst>
                                              <p:cond delay="0"/>
                                            </p:stCondLst>
                                          </p:cTn>
                                          <p:tgtEl>
                                            <p:spTgt spid="3"/>
                                          </p:tgtEl>
                                          <p:attrNameLst>
                                            <p:attrName>style.visibility</p:attrName>
                                          </p:attrNameLst>
                                        </p:cBhvr>
                                        <p:to>
                                          <p:strVal val="visible"/>
                                        </p:to>
                                      </p:set>
                                      <p:animEffect transition="in" filter="fade">
                                        <p:cBhvr>
                                          <p:cTn id="1006" dur="350"/>
                                          <p:tgtEl>
                                            <p:spTgt spid="3"/>
                                          </p:tgtEl>
                                        </p:cBhvr>
                                      </p:animEffect>
                                    </p:childTnLst>
                                  </p:cTn>
                                </p:par>
                              </p:childTnLst>
                            </p:cTn>
                          </p:par>
                        </p:childTnLst>
                      </p:cTn>
                    </p:par>
                    <p:par>
                      <p:cTn id="1007" fill="hold">
                        <p:stCondLst>
                          <p:cond delay="indefinite"/>
                        </p:stCondLst>
                        <p:childTnLst>
                          <p:par>
                            <p:cTn id="1008" fill="hold">
                              <p:stCondLst>
                                <p:cond delay="0"/>
                              </p:stCondLst>
                              <p:childTnLst>
                                <p:par>
                                  <p:cTn id="1009" presetID="10" presetClass="entr" presetSubtype="0" fill="hold" grpId="0" nodeType="clickEffect">
                                    <p:stCondLst>
                                      <p:cond delay="0"/>
                                    </p:stCondLst>
                                    <p:childTnLst>
                                      <p:set>
                                        <p:cBhvr>
                                          <p:cTn id="1010" dur="1" fill="hold">
                                            <p:stCondLst>
                                              <p:cond delay="0"/>
                                            </p:stCondLst>
                                          </p:cTn>
                                          <p:tgtEl>
                                            <p:spTgt spid="4"/>
                                          </p:tgtEl>
                                          <p:attrNameLst>
                                            <p:attrName>style.visibility</p:attrName>
                                          </p:attrNameLst>
                                        </p:cBhvr>
                                        <p:to>
                                          <p:strVal val="visible"/>
                                        </p:to>
                                      </p:set>
                                      <p:animEffect transition="in" filter="fade">
                                        <p:cBhvr>
                                          <p:cTn id="1011" dur="350"/>
                                          <p:tgtEl>
                                            <p:spTgt spid="4"/>
                                          </p:tgtEl>
                                        </p:cBhvr>
                                      </p:animEffect>
                                    </p:childTnLst>
                                  </p:cTn>
                                </p:par>
                              </p:childTnLst>
                            </p:cTn>
                          </p:par>
                        </p:childTnLst>
                      </p:cTn>
                    </p:par>
                    <p:par>
                      <p:cTn id="1012" fill="hold">
                        <p:stCondLst>
                          <p:cond delay="indefinite"/>
                        </p:stCondLst>
                        <p:childTnLst>
                          <p:par>
                            <p:cTn id="1013" fill="hold">
                              <p:stCondLst>
                                <p:cond delay="0"/>
                              </p:stCondLst>
                              <p:childTnLst>
                                <p:par>
                                  <p:cTn id="1014" presetID="10" presetClass="entr" presetSubtype="0" fill="hold" grpId="0" nodeType="clickEffect">
                                    <p:stCondLst>
                                      <p:cond delay="0"/>
                                    </p:stCondLst>
                                    <p:childTnLst>
                                      <p:set>
                                        <p:cBhvr>
                                          <p:cTn id="1015" dur="1" fill="hold">
                                            <p:stCondLst>
                                              <p:cond delay="0"/>
                                            </p:stCondLst>
                                          </p:cTn>
                                          <p:tgtEl>
                                            <p:spTgt spid="5"/>
                                          </p:tgtEl>
                                          <p:attrNameLst>
                                            <p:attrName>style.visibility</p:attrName>
                                          </p:attrNameLst>
                                        </p:cBhvr>
                                        <p:to>
                                          <p:strVal val="visible"/>
                                        </p:to>
                                      </p:set>
                                      <p:animEffect transition="in" filter="fade">
                                        <p:cBhvr>
                                          <p:cTn id="1016" dur="3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BB962C8B-B14F-4D97-AF65-F5344CB8AC3E}">
        <p14:creationId xmlns:p14="http://schemas.microsoft.com/office/powerpoint/2010/main" val="1312620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2026-08-24T15:43:56.7830000Z</dcterms:created>
  <dcterms:modified xsi:type="dcterms:W3CDTF">2026-08-24T15:43:56.7830000Z</dcterms:modified>
</coreProperties>
</file>