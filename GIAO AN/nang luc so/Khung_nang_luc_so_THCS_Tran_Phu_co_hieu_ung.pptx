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6f0c951091a4fe2" /><Relationship Type="http://schemas.openxmlformats.org/officeDocument/2006/relationships/extended-properties" Target="/docProps/app.xml" Id="Rd53901b0ff5d44f4" /><Relationship Type="http://schemas.openxmlformats.org/officeDocument/2006/relationships/officeDocument" Target="/ppt/presentation.xml" Id="R63ba693bf0714bf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130bd95c3514927"/>
  </p:sldMasterIdLst>
  <p:notesMasterIdLst>
    <p:notesMasterId xmlns:r="http://schemas.openxmlformats.org/officeDocument/2006/relationships" r:id="R9ce4976ba11c4039"/>
  </p:notesMasterIdLst>
  <p:sldIdLst>
    <p:sldId xmlns:r="http://schemas.openxmlformats.org/officeDocument/2006/relationships" id="256" r:id="R102bfe1d8bb742b3"/>
    <p:sldId xmlns:r="http://schemas.openxmlformats.org/officeDocument/2006/relationships" id="257" r:id="R8730ca097c3f4625"/>
    <p:sldId xmlns:r="http://schemas.openxmlformats.org/officeDocument/2006/relationships" id="258" r:id="R0d8deba3ab2840ff"/>
    <p:sldId xmlns:r="http://schemas.openxmlformats.org/officeDocument/2006/relationships" id="259" r:id="R60bac996b1794656"/>
    <p:sldId xmlns:r="http://schemas.openxmlformats.org/officeDocument/2006/relationships" id="260" r:id="Rc4d4e4ecb13942d6"/>
    <p:sldId xmlns:r="http://schemas.openxmlformats.org/officeDocument/2006/relationships" id="261" r:id="R616e1eb17c5a4436"/>
    <p:sldId xmlns:r="http://schemas.openxmlformats.org/officeDocument/2006/relationships" id="262" r:id="Rd85ab317a3364adf"/>
    <p:sldId xmlns:r="http://schemas.openxmlformats.org/officeDocument/2006/relationships" id="263" r:id="Rc07df0b42e244c09"/>
    <p:sldId xmlns:r="http://schemas.openxmlformats.org/officeDocument/2006/relationships" id="264" r:id="R2dcfba7c5a7449ee"/>
    <p:sldId xmlns:r="http://schemas.openxmlformats.org/officeDocument/2006/relationships" id="265" r:id="Rcee13416c82c4d0f"/>
    <p:sldId xmlns:r="http://schemas.openxmlformats.org/officeDocument/2006/relationships" id="266" r:id="R90a12c4e7efe46d3"/>
    <p:sldId xmlns:r="http://schemas.openxmlformats.org/officeDocument/2006/relationships" id="267" r:id="R1520d8719d1f4c22"/>
    <p:sldId xmlns:r="http://schemas.openxmlformats.org/officeDocument/2006/relationships" id="268" r:id="R9164e289b7534433"/>
    <p:sldId xmlns:r="http://schemas.openxmlformats.org/officeDocument/2006/relationships" id="269" r:id="R6a8c4316c59b4e90"/>
    <p:sldId xmlns:r="http://schemas.openxmlformats.org/officeDocument/2006/relationships" id="270" r:id="Rdddcb929a0fb4e83"/>
    <p:sldId xmlns:r="http://schemas.openxmlformats.org/officeDocument/2006/relationships" id="271" r:id="R3834093f7ae94bfd"/>
    <p:sldId xmlns:r="http://schemas.openxmlformats.org/officeDocument/2006/relationships" id="272" r:id="Rfeaf55035cfd4032"/>
    <p:sldId xmlns:r="http://schemas.openxmlformats.org/officeDocument/2006/relationships" id="273" r:id="Rf6ee44a07d2e4bac"/>
    <p:sldId xmlns:r="http://schemas.openxmlformats.org/officeDocument/2006/relationships" id="274" r:id="R64a0096ade0e485e"/>
    <p:sldId xmlns:r="http://schemas.openxmlformats.org/officeDocument/2006/relationships" id="275" r:id="Re658d0fb7ae04329"/>
    <p:sldId xmlns:r="http://schemas.openxmlformats.org/officeDocument/2006/relationships" id="276" r:id="R7e71ffc4db514267"/>
    <p:sldId xmlns:r="http://schemas.openxmlformats.org/officeDocument/2006/relationships" id="277" r:id="R248065b773d249b6"/>
    <p:sldId xmlns:r="http://schemas.openxmlformats.org/officeDocument/2006/relationships" id="278" r:id="R8c069149abfc49c2"/>
    <p:sldId xmlns:r="http://schemas.openxmlformats.org/officeDocument/2006/relationships" id="279" r:id="R16c04c8ae03245d9"/>
    <p:sldId xmlns:r="http://schemas.openxmlformats.org/officeDocument/2006/relationships" id="280" r:id="Rf00f49d3957a426c"/>
    <p:sldId xmlns:r="http://schemas.openxmlformats.org/officeDocument/2006/relationships" id="281" r:id="R0a67fffa52f34f30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9ded57c2a584d67" /><Relationship Type="http://schemas.openxmlformats.org/officeDocument/2006/relationships/slideMaster" Target="/ppt/slideMasters/slideMaster1.xml" Id="Rd130bd95c3514927" /><Relationship Type="http://schemas.openxmlformats.org/officeDocument/2006/relationships/notesMaster" Target="/ppt/notesMasters/notesMaster1.xml" Id="R9ce4976ba11c4039" /><Relationship Type="http://schemas.openxmlformats.org/officeDocument/2006/relationships/presProps" Target="/ppt/presProps.xml" Id="R6fc7709f54b5429d" /><Relationship Type="http://schemas.openxmlformats.org/officeDocument/2006/relationships/tableStyles" Target="/ppt/tableStyles.xml" Id="R51a50d21fed54f04" /><Relationship Type="http://schemas.openxmlformats.org/officeDocument/2006/relationships/slide" Target="/ppt/slides/slide1.xml" Id="R102bfe1d8bb742b3" /><Relationship Type="http://schemas.openxmlformats.org/officeDocument/2006/relationships/slide" Target="/ppt/slides/slide2.xml" Id="R8730ca097c3f4625" /><Relationship Type="http://schemas.openxmlformats.org/officeDocument/2006/relationships/slide" Target="/ppt/slides/slide3.xml" Id="R0d8deba3ab2840ff" /><Relationship Type="http://schemas.openxmlformats.org/officeDocument/2006/relationships/slide" Target="/ppt/slides/slide4.xml" Id="R60bac996b1794656" /><Relationship Type="http://schemas.openxmlformats.org/officeDocument/2006/relationships/slide" Target="/ppt/slides/slide5.xml" Id="Rc4d4e4ecb13942d6" /><Relationship Type="http://schemas.openxmlformats.org/officeDocument/2006/relationships/slide" Target="/ppt/slides/slide6.xml" Id="R616e1eb17c5a4436" /><Relationship Type="http://schemas.openxmlformats.org/officeDocument/2006/relationships/slide" Target="/ppt/slides/slide7.xml" Id="Rd85ab317a3364adf" /><Relationship Type="http://schemas.openxmlformats.org/officeDocument/2006/relationships/slide" Target="/ppt/slides/slide8.xml" Id="Rc07df0b42e244c09" /><Relationship Type="http://schemas.openxmlformats.org/officeDocument/2006/relationships/slide" Target="/ppt/slides/slide9.xml" Id="R2dcfba7c5a7449ee" /><Relationship Type="http://schemas.openxmlformats.org/officeDocument/2006/relationships/slide" Target="/ppt/slides/slide10.xml" Id="Rcee13416c82c4d0f" /><Relationship Type="http://schemas.openxmlformats.org/officeDocument/2006/relationships/slide" Target="/ppt/slides/slide11.xml" Id="R90a12c4e7efe46d3" /><Relationship Type="http://schemas.openxmlformats.org/officeDocument/2006/relationships/slide" Target="/ppt/slides/slide12.xml" Id="R1520d8719d1f4c22" /><Relationship Type="http://schemas.openxmlformats.org/officeDocument/2006/relationships/slide" Target="/ppt/slides/slide13.xml" Id="R9164e289b7534433" /><Relationship Type="http://schemas.openxmlformats.org/officeDocument/2006/relationships/slide" Target="/ppt/slides/slide14.xml" Id="R6a8c4316c59b4e90" /><Relationship Type="http://schemas.openxmlformats.org/officeDocument/2006/relationships/slide" Target="/ppt/slides/slide15.xml" Id="Rdddcb929a0fb4e83" /><Relationship Type="http://schemas.openxmlformats.org/officeDocument/2006/relationships/slide" Target="/ppt/slides/slide16.xml" Id="R3834093f7ae94bfd" /><Relationship Type="http://schemas.openxmlformats.org/officeDocument/2006/relationships/slide" Target="/ppt/slides/slide17.xml" Id="Rfeaf55035cfd4032" /><Relationship Type="http://schemas.openxmlformats.org/officeDocument/2006/relationships/slide" Target="/ppt/slides/slide18.xml" Id="Rf6ee44a07d2e4bac" /><Relationship Type="http://schemas.openxmlformats.org/officeDocument/2006/relationships/slide" Target="/ppt/slides/slide19.xml" Id="R64a0096ade0e485e" /><Relationship Type="http://schemas.openxmlformats.org/officeDocument/2006/relationships/slide" Target="/ppt/slides/slide20.xml" Id="Re658d0fb7ae04329" /><Relationship Type="http://schemas.openxmlformats.org/officeDocument/2006/relationships/slide" Target="/ppt/slides/slide21.xml" Id="R7e71ffc4db514267" /><Relationship Type="http://schemas.openxmlformats.org/officeDocument/2006/relationships/slide" Target="/ppt/slides/slide22.xml" Id="R248065b773d249b6" /><Relationship Type="http://schemas.openxmlformats.org/officeDocument/2006/relationships/slide" Target="/ppt/slides/slide23.xml" Id="R8c069149abfc49c2" /><Relationship Type="http://schemas.openxmlformats.org/officeDocument/2006/relationships/slide" Target="/ppt/slides/slide24.xml" Id="R16c04c8ae03245d9" /><Relationship Type="http://schemas.openxmlformats.org/officeDocument/2006/relationships/slide" Target="/ppt/slides/slide25.xml" Id="Rf00f49d3957a426c" /><Relationship Type="http://schemas.openxmlformats.org/officeDocument/2006/relationships/slide" Target="/ppt/slides/slide26.xml" Id="R0a67fffa52f34f3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b006f30345e402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e26245af2be424b" /><Relationship Type="http://schemas.openxmlformats.org/officeDocument/2006/relationships/notesMaster" Target="/ppt/notesMasters/notesMaster1.xml" Id="R5f1f07114dd04a7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171b6f0bdc645e3" /><Relationship Type="http://schemas.openxmlformats.org/officeDocument/2006/relationships/notesMaster" Target="/ppt/notesMasters/notesMaster1.xml" Id="R84b734816f254dc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3ea69c675ca487f" /><Relationship Type="http://schemas.openxmlformats.org/officeDocument/2006/relationships/notesMaster" Target="/ppt/notesMasters/notesMaster1.xml" Id="Rd29fa206edb9488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f3396ac1cc54f26" /><Relationship Type="http://schemas.openxmlformats.org/officeDocument/2006/relationships/notesMaster" Target="/ppt/notesMasters/notesMaster1.xml" Id="R3c2a2c4bda16440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abfe37146824b6d" /><Relationship Type="http://schemas.openxmlformats.org/officeDocument/2006/relationships/notesMaster" Target="/ppt/notesMasters/notesMaster1.xml" Id="Rb19abab310c6401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91643f14ae7b484f" /><Relationship Type="http://schemas.openxmlformats.org/officeDocument/2006/relationships/notesMaster" Target="/ppt/notesMasters/notesMaster1.xml" Id="Rf403ed23e89e4a7a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368d63dfc65e4dce" /><Relationship Type="http://schemas.openxmlformats.org/officeDocument/2006/relationships/notesMaster" Target="/ppt/notesMasters/notesMaster1.xml" Id="Rc3d8915bc58c402d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1fbd614aee3e4f7c" /><Relationship Type="http://schemas.openxmlformats.org/officeDocument/2006/relationships/notesMaster" Target="/ppt/notesMasters/notesMaster1.xml" Id="Rc2afd9ccb7904cad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a18a8db78efa446d" /><Relationship Type="http://schemas.openxmlformats.org/officeDocument/2006/relationships/notesMaster" Target="/ppt/notesMasters/notesMaster1.xml" Id="Rf8b6dbdcc1d145a5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861e35c7ad5345d7" /><Relationship Type="http://schemas.openxmlformats.org/officeDocument/2006/relationships/notesMaster" Target="/ppt/notesMasters/notesMaster1.xml" Id="R56b23d5fac014c34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ac025325cf2549c1" /><Relationship Type="http://schemas.openxmlformats.org/officeDocument/2006/relationships/notesMaster" Target="/ppt/notesMasters/notesMaster1.xml" Id="R21619303ddcc430d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e73e177bed0640dd" /><Relationship Type="http://schemas.openxmlformats.org/officeDocument/2006/relationships/notesMaster" Target="/ppt/notesMasters/notesMaster1.xml" Id="Rc01a237be0f5412f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c3373d9371084024" /><Relationship Type="http://schemas.openxmlformats.org/officeDocument/2006/relationships/notesMaster" Target="/ppt/notesMasters/notesMaster1.xml" Id="R40963bbb0ee0468c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a13d67d1105e4148" /><Relationship Type="http://schemas.openxmlformats.org/officeDocument/2006/relationships/notesMaster" Target="/ppt/notesMasters/notesMaster1.xml" Id="Rde7b9427bd574c03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65d33afc762e436c" /><Relationship Type="http://schemas.openxmlformats.org/officeDocument/2006/relationships/notesMaster" Target="/ppt/notesMasters/notesMaster1.xml" Id="R8d544f4a4012499a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4b6abaf104fc49b0" /><Relationship Type="http://schemas.openxmlformats.org/officeDocument/2006/relationships/notesMaster" Target="/ppt/notesMasters/notesMaster1.xml" Id="R7a3bc1132b70466a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0e1ca73b46b44989" /><Relationship Type="http://schemas.openxmlformats.org/officeDocument/2006/relationships/notesMaster" Target="/ppt/notesMasters/notesMaster1.xml" Id="R2c482f55b60946b8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718845d1e7c44bc3" /><Relationship Type="http://schemas.openxmlformats.org/officeDocument/2006/relationships/notesMaster" Target="/ppt/notesMasters/notesMaster1.xml" Id="Ra90fc775d5d14d66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6fa4ca62ec394c5e" /><Relationship Type="http://schemas.openxmlformats.org/officeDocument/2006/relationships/notesMaster" Target="/ppt/notesMasters/notesMaster1.xml" Id="R20e7d708e5904eed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63ad4baa6633427d" /><Relationship Type="http://schemas.openxmlformats.org/officeDocument/2006/relationships/notesMaster" Target="/ppt/notesMasters/notesMaster1.xml" Id="Re24001164f584fac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2271d9d211e342ab" /><Relationship Type="http://schemas.openxmlformats.org/officeDocument/2006/relationships/notesMaster" Target="/ppt/notesMasters/notesMaster1.xml" Id="Ra86bf07d35514b61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e816cd04f405411a" /><Relationship Type="http://schemas.openxmlformats.org/officeDocument/2006/relationships/notesMaster" Target="/ppt/notesMasters/notesMaster1.xml" Id="R0df77d81f4aa460c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9361108ef5f14c0d" /><Relationship Type="http://schemas.openxmlformats.org/officeDocument/2006/relationships/notesMaster" Target="/ppt/notesMasters/notesMaster1.xml" Id="R6f9f7ce8cf3f41ce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b3a87a6d01694f81" /><Relationship Type="http://schemas.openxmlformats.org/officeDocument/2006/relationships/notesMaster" Target="/ppt/notesMasters/notesMaster1.xml" Id="R24627ba16b8044c4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2e7f0865b27e4c75" /><Relationship Type="http://schemas.openxmlformats.org/officeDocument/2006/relationships/notesMaster" Target="/ppt/notesMasters/notesMaster1.xml" Id="Re11dc3cb53454126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b9bf7d6d9ce44af9" /><Relationship Type="http://schemas.openxmlformats.org/officeDocument/2006/relationships/notesMaster" Target="/ppt/notesMasters/notesMaster1.xml" Id="Rf064ce2ac8b743f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Mở đầu: năng lực số là năng lực học tập và sống có trách nhiệm trong môi trường số.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Thông tư 02/2025/TT-BGDĐT và Công văn 3456/BGDĐT-GDPT (tệp do người dùng cung cấp).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Nêu rõ cấu trúc triển khai để tránh hiểu năng lực số chỉ là nhiệm vụ của giáo viên Tin học.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Thông tư 02/2025/TT-BGDĐT và Công văn 3456/BGDĐT-GDPT (tệp do người dùng cung cấp).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Kết nối nhu cầu phát triển năng lực số với hành vi học tập và an toàn của học sinh THCS.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Thông tư 02/2025/TT-BGDĐT và Công văn 3456/BGDĐT-GDPT (tệp do người dùng cung cấp).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Nêu căn cứ pháp lý và ý nghĩa quản trị cấp trường.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Thông tư 02/2025/TT-BGDĐT và Công văn 3456/BGDĐT-GDPT (tệp do người dùng cung cấp).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Đây là bốn nguyên tắc để Hiệu trưởng và tổ chuyên môn duyệt kế hoạch.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Thông tư 02/2025/TT-BGDĐT và Công văn 3456/BGDĐT-GDPT (tệp do người dùng cung cấp).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Giới thiệu sáu miền theo tên và ý nghĩa ngắn gọn.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Thông tư 02/2025/TT-BGDĐT và Công văn 3456/BGDĐT-GDPT (tệp do người dùng cung cấp).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Chuyển khung thành hành vi có thể quan sát ở học sinh THCS.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Thông tư 02/2025/TT-BGDĐT và Công văn 3456/BGDĐT-GDPT (tệp do người dùng cung cấp).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Làm rõ vai trò hai bên để phối hợp tổ chuyên môn.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Thông tư 02/2025/TT-BGDĐT và Công văn 3456/BGDĐT-GDPT (tệp do người dùng cung cấp).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Quy trình dùng khi tổ chuyên môn thiết kế và duyệt kế hoạch bài dạy.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Thông tư 02/2025/TT-BGDĐT và Công văn 3456/BGDĐT-GDPT (tệp do người dùng cung cấp).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Bản đồ này giúp các tổ xác định điểm tích hợp tự nhiên.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Thông tư 02/2025/TT-BGDĐT và Công văn 3456/BGDĐT-GDPT (tệp do người dùng cung cấp).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Phân hóa theo khối lớp; tổ chuyên môn chọn đúng mức độ, không dạy dồn.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Thông tư 02/2025/TT-BGDĐT và Công văn 3456/BGDĐT-GDPT (tệp do người dùng cung cấp).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Phân hóa theo khối lớp; tổ chuyên môn chọn đúng mức độ, không dạy dồn.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Thông tư 02/2025/TT-BGDĐT và Công văn 3456/BGDĐT-GDPT (tệp do người dùng cung cấp).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Phân hóa theo khối lớp; tổ chuyên môn chọn đúng mức độ, không dạy dồn.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Thông tư 02/2025/TT-BGDĐT và Công văn 3456/BGDĐT-GDPT (tệp do người dùng cung cấp).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Phân hóa theo khối lớp; tổ chuyên môn chọn đúng mức độ, không dạy dồn.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Thông tư 02/2025/TT-BGDĐT và Công văn 3456/BGDĐT-GDPT (tệp do người dùng cung cấp).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Mở phần trọng tâm bằng việc xác định đúng giao điểm giữa bài học Toán và khung NLS.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Thông tư 02/2025/TT-BGDĐT và Công văn 3456/BGDĐT-GDPT (tệp do người dùng cung cấp).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Tích hợp miền khai thác dữ liệu và thông tin, đồng thời củng cố số nguyên.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Thông tư 02/2025/TT-BGDĐT và Công văn 3456/BGDĐT-GDPT (tệp do người dùng cung cấp).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Tích hợp giải quyết vấn đề và sử dụng công cụ số có kiểm chứng.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Thông tư 02/2025/TT-BGDĐT và Công văn 3456/BGDĐT-GDPT (tệp do người dùng cung cấp).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Rubric minh chứng kết hợp yêu cầu môn Toán và yêu cầu năng lực số.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Thông tư 02/2025/TT-BGDĐT và Công văn 3456/BGDĐT-GDPT (tệp do người dùng cung cấp).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Ví dụ tích hợp nội môn Ngữ văn.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Thông tư 02/2025/TT-BGDĐT và Công văn 3456/BGDĐT-GDPT (tệp do người dùng cung cấp).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Nêu hai ví dụ khác nhau nhưng cùng nguyên tắc dữ liệu và phản hồi.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Thông tư 02/2025/TT-BGDĐT và Công văn 3456/BGDĐT-GDPT (tệp do người dùng cung cấp).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Các ví dụ giúp tổ chuyên môn thấy năng lực số xuất hiện tự nhiên trong yêu cầu môn học.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Thông tư 02/2025/TT-BGDĐT và Công văn 3456/BGDĐT-GDPT (tệp do người dùng cung cấp).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Liên kết với khung giáo dục AI nhưng đặt đúng vị trí trong miền 6 của NLS.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Thông tư 02/2025/TT-BGDĐT và Công văn 3456/BGDĐT-GDPT (tệp do người dùng cung cấp).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Tóm tắt thành công cụ ra quyết định đơn giản cho giáo viên và học sinh.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Thông tư 02/2025/TT-BGDĐT và Công văn 3456/BGDĐT-GDPT (tệp do người dùng cung cấp).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Nhấn mạnh đánh giá có căn cứ, sau mỗi năm học.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Thông tư 02/2025/TT-BGDĐT và Công văn 3456/BGDĐT-GDPT (tệp do người dùng cung cấp).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Lộ trình đề xuất cho THCS Trần Phú, năm học 2026-2027.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Thông tư 02/2025/TT-BGDĐT và Công văn 3456/BGDĐT-GDPT (tệp do người dùng cung cấp).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Kết luận bằng vai trò rõ ràng của ba chủ thể.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Thông tư 02/2025/TT-BGDĐT và Công văn 3456/BGDĐT-GDPT (tệp do người dùng cung cấp).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fc9026c51a6452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6d0c80a04ba4b13" /><Relationship Type="http://schemas.openxmlformats.org/officeDocument/2006/relationships/slideLayout" Target="/ppt/slideLayouts/slideLayout1.xml" Id="R194bc444dc8d4d3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94bc444dc8d4d3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478a17fabea4b65" /><Relationship Type="http://schemas.openxmlformats.org/officeDocument/2006/relationships/notesSlide" Target="/ppt/notesSlides/notesSlide1.xml" Id="R07a1fdeba994466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0467eaca5694fcc" /><Relationship Type="http://schemas.openxmlformats.org/officeDocument/2006/relationships/notesSlide" Target="/ppt/notesSlides/notesSlide2.xml" Id="R603e7d6f39974e9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0c9b5159f464cb9" /><Relationship Type="http://schemas.openxmlformats.org/officeDocument/2006/relationships/notesSlide" Target="/ppt/notesSlides/notesSlide3.xml" Id="Re562b9e3f3664a8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26333e1536c43ec" /><Relationship Type="http://schemas.openxmlformats.org/officeDocument/2006/relationships/notesSlide" Target="/ppt/notesSlides/notesSlide4.xml" Id="Rf07bfb0d9e0d4eb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f9989a8b7014811" /><Relationship Type="http://schemas.openxmlformats.org/officeDocument/2006/relationships/notesSlide" Target="/ppt/notesSlides/notesSlide5.xml" Id="Rbf61d05828134ee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05dd714e583413b" /><Relationship Type="http://schemas.openxmlformats.org/officeDocument/2006/relationships/notesSlide" Target="/ppt/notesSlides/notesSlide6.xml" Id="Rd2e0c18f1a774919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610cc6d9cf44250" /><Relationship Type="http://schemas.openxmlformats.org/officeDocument/2006/relationships/notesSlide" Target="/ppt/notesSlides/notesSlide7.xml" Id="Rd24024d555db426a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fc2f0d54b5c4cdf" /><Relationship Type="http://schemas.openxmlformats.org/officeDocument/2006/relationships/notesSlide" Target="/ppt/notesSlides/notesSlide8.xml" Id="R92503fb392b64473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f98b46c161b45e4" /><Relationship Type="http://schemas.openxmlformats.org/officeDocument/2006/relationships/notesSlide" Target="/ppt/notesSlides/notesSlide9.xml" Id="R85b172497de04bbe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a6e84f5a5a94d01" /><Relationship Type="http://schemas.openxmlformats.org/officeDocument/2006/relationships/notesSlide" Target="/ppt/notesSlides/notesSlide10.xml" Id="R0373676ff2dd4213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2af1acaee024d66" /><Relationship Type="http://schemas.openxmlformats.org/officeDocument/2006/relationships/notesSlide" Target="/ppt/notesSlides/notesSlide11.xml" Id="R7c6ac565186245bf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017dcaf017e468a" /><Relationship Type="http://schemas.openxmlformats.org/officeDocument/2006/relationships/notesSlide" Target="/ppt/notesSlides/notesSlide12.xml" Id="R620d439ea6284ed9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eb4d12c89eb4f3b" /><Relationship Type="http://schemas.openxmlformats.org/officeDocument/2006/relationships/notesSlide" Target="/ppt/notesSlides/notesSlide13.xml" Id="R866d96031c1c4932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ff456b1d49f4afc" /><Relationship Type="http://schemas.openxmlformats.org/officeDocument/2006/relationships/notesSlide" Target="/ppt/notesSlides/notesSlide14.xml" Id="R2cf196b1d84f45fe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99359560fde41cc" /><Relationship Type="http://schemas.openxmlformats.org/officeDocument/2006/relationships/notesSlide" Target="/ppt/notesSlides/notesSlide15.xml" Id="R461f39cad4354a5b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c285b932e33427f" /><Relationship Type="http://schemas.openxmlformats.org/officeDocument/2006/relationships/notesSlide" Target="/ppt/notesSlides/notesSlide16.xml" Id="R9b95724634a24ebd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71c7362cadd4062" /><Relationship Type="http://schemas.openxmlformats.org/officeDocument/2006/relationships/notesSlide" Target="/ppt/notesSlides/notesSlide17.xml" Id="R23349009a5f7450d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800cb4446de4a7c" /><Relationship Type="http://schemas.openxmlformats.org/officeDocument/2006/relationships/notesSlide" Target="/ppt/notesSlides/notesSlide18.xml" Id="R2ea1ecbbed0943af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99c16d30e824dea" /><Relationship Type="http://schemas.openxmlformats.org/officeDocument/2006/relationships/notesSlide" Target="/ppt/notesSlides/notesSlide19.xml" Id="R20d7dabf69a74085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9dc477f77934ff6" /><Relationship Type="http://schemas.openxmlformats.org/officeDocument/2006/relationships/notesSlide" Target="/ppt/notesSlides/notesSlide20.xml" Id="R73847abd400c45ad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cd416c5dc4645e1" /><Relationship Type="http://schemas.openxmlformats.org/officeDocument/2006/relationships/notesSlide" Target="/ppt/notesSlides/notesSlide21.xml" Id="Rb0e198bbf26e438f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b773b503fe94e7e" /><Relationship Type="http://schemas.openxmlformats.org/officeDocument/2006/relationships/notesSlide" Target="/ppt/notesSlides/notesSlide22.xml" Id="Rd567acfa28424491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22b5d5304004075" /><Relationship Type="http://schemas.openxmlformats.org/officeDocument/2006/relationships/notesSlide" Target="/ppt/notesSlides/notesSlide23.xml" Id="Rae8cc255cf3e4a34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4c7b1a1ad3b474d" /><Relationship Type="http://schemas.openxmlformats.org/officeDocument/2006/relationships/notesSlide" Target="/ppt/notesSlides/notesSlide24.xml" Id="Rff0312977df14cd6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51548608ae042cf" /><Relationship Type="http://schemas.openxmlformats.org/officeDocument/2006/relationships/notesSlide" Target="/ppt/notesSlides/notesSlide25.xml" Id="Rd667e7ce4f13496f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d007e6c1676473a" /><Relationship Type="http://schemas.openxmlformats.org/officeDocument/2006/relationships/notesSlide" Target="/ppt/notesSlides/notesSlide26.xml" Id="Rd07a3bfd6de44f7d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0131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coverbar">
            <a:extLst xmlns:a="http://schemas.openxmlformats.org/drawingml/2006/main">
              <a:ext uri="{FF2B5EF4-FFF2-40B4-BE49-F238E27FC236}">
                <a16:creationId xmlns:a16="http://schemas.microsoft.com/office/drawing/2014/main" id="{88BC3E41-DE80-41C7-8056-850C1B3A8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191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4C2F0"/>
          </a:solidFill>
          <a:ln xmlns:a="http://schemas.openxmlformats.org/drawingml/2006/main" w="0">
            <a:solidFill>
              <a:srgbClr val="44C2F0"/>
            </a:solidFill>
            <a:prstDash val="solid"/>
          </a:ln>
        </p:spPr>
      </p:sp>
      <p:sp>
        <p:nvSpPr>
          <p:cNvPr id="2" name="cover-school">
            <a:extLst xmlns:a="http://schemas.openxmlformats.org/drawingml/2006/main">
              <a:ext uri="{FF2B5EF4-FFF2-40B4-BE49-F238E27FC236}">
                <a16:creationId xmlns:a16="http://schemas.microsoft.com/office/drawing/2014/main" id="{1078D161-AD40-4117-AA8F-17B7EFDD9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66750"/>
            <a:ext cx="4286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44C2F0"/>
                </a:solidFill>
              </a:defRPr>
            </a:pPr>
            <a:r>
              <a:rPr sz="1275" b="1">
                <a:solidFill>
                  <a:srgbClr val="44C2F0"/>
                </a:solidFill>
              </a:rPr>
              <a:t>TRƯỜNG THCS TRẦN PHÚ</a:t>
            </a:r>
          </a:p>
        </p:txBody>
      </p:sp>
      <p:sp>
        <p:nvSpPr>
          <p:cNvPr id="3" name="cover-title">
            <a:extLst xmlns:a="http://schemas.openxmlformats.org/drawingml/2006/main">
              <a:ext uri="{FF2B5EF4-FFF2-40B4-BE49-F238E27FC236}">
                <a16:creationId xmlns:a16="http://schemas.microsoft.com/office/drawing/2014/main" id="{22F6D564-1A64-442F-B3F9-D4D3D4FD4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524000"/>
            <a:ext cx="5715000" cy="2762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4125" b="1">
                <a:solidFill>
                  <a:srgbClr val="FFFFFF"/>
                </a:solidFill>
              </a:defRPr>
            </a:pPr>
            <a:r>
              <a:rPr sz="4125" b="1">
                <a:solidFill>
                  <a:srgbClr val="FFFFFF"/>
                </a:solidFill>
              </a:rPr>
              <a:t>TRIỂN KHAI</a:t>
            </a:r>
          </a:p>
          <a:p xmlns:a="http://schemas.openxmlformats.org/drawingml/2006/main">
            <a:pPr algn="l">
              <a:defRPr sz="4125" b="1">
                <a:solidFill>
                  <a:srgbClr val="FFFFFF"/>
                </a:solidFill>
              </a:defRPr>
            </a:pPr>
            <a:r>
              <a:rPr sz="4125" b="1">
                <a:solidFill>
                  <a:srgbClr val="FFFFFF"/>
                </a:solidFill>
              </a:rPr>
              <a:t>KHUNG NĂNG LỰC SỐ</a:t>
            </a:r>
          </a:p>
          <a:p xmlns:a="http://schemas.openxmlformats.org/drawingml/2006/main">
            <a:pPr algn="l">
              <a:defRPr sz="4125" b="1">
                <a:solidFill>
                  <a:srgbClr val="FFFFFF"/>
                </a:solidFill>
              </a:defRPr>
            </a:pPr>
            <a:r>
              <a:rPr sz="4125" b="1">
                <a:solidFill>
                  <a:srgbClr val="FFFFFF"/>
                </a:solidFill>
              </a:rPr>
              <a:t>Ở CẤP THCS</a:t>
            </a:r>
          </a:p>
        </p:txBody>
      </p:sp>
      <p:sp>
        <p:nvSpPr>
          <p:cNvPr id="4" name="cover-sub">
            <a:extLst xmlns:a="http://schemas.openxmlformats.org/drawingml/2006/main">
              <a:ext uri="{FF2B5EF4-FFF2-40B4-BE49-F238E27FC236}">
                <a16:creationId xmlns:a16="http://schemas.microsoft.com/office/drawing/2014/main" id="{757233D4-7540-4E98-9986-F6FB66D1E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762500"/>
            <a:ext cx="5334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D9DEE8"/>
                </a:solidFill>
              </a:defRPr>
            </a:pPr>
            <a:r>
              <a:rPr sz="1800" b="0">
                <a:solidFill>
                  <a:srgbClr val="D9DEE8"/>
                </a:solidFill>
              </a:rPr>
              <a:t>Từ khung quốc gia đến tích hợp trong môn học và minh chứng học sinh</a:t>
            </a:r>
          </a:p>
        </p:txBody>
      </p:sp>
      <p:sp>
        <p:nvSpPr>
          <p:cNvPr id="5" name="cover-right">
            <a:extLst xmlns:a="http://schemas.openxmlformats.org/drawingml/2006/main">
              <a:ext uri="{FF2B5EF4-FFF2-40B4-BE49-F238E27FC236}">
                <a16:creationId xmlns:a16="http://schemas.microsoft.com/office/drawing/2014/main" id="{20ED0CC2-5AB0-4A7A-ADCF-59D6EE2CF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524000"/>
            <a:ext cx="228600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4350" b="1">
                <a:solidFill>
                  <a:srgbClr val="1769E0"/>
                </a:solidFill>
              </a:defRPr>
            </a:pPr>
            <a:r>
              <a:rPr sz="4350" b="1">
                <a:solidFill>
                  <a:srgbClr val="1769E0"/>
                </a:solidFill>
              </a:rPr>
              <a:t>NĂNG</a:t>
            </a:r>
          </a:p>
          <a:p xmlns:a="http://schemas.openxmlformats.org/drawingml/2006/main">
            <a:pPr algn="ctr">
              <a:defRPr sz="4350" b="1">
                <a:solidFill>
                  <a:srgbClr val="1769E0"/>
                </a:solidFill>
              </a:defRPr>
            </a:pPr>
            <a:r>
              <a:rPr sz="4350" b="1">
                <a:solidFill>
                  <a:srgbClr val="1769E0"/>
                </a:solidFill>
              </a:rPr>
              <a:t>LỰC</a:t>
            </a:r>
          </a:p>
          <a:p xmlns:a="http://schemas.openxmlformats.org/drawingml/2006/main">
            <a:pPr algn="ctr">
              <a:defRPr sz="4350" b="1">
                <a:solidFill>
                  <a:srgbClr val="1769E0"/>
                </a:solidFill>
              </a:defRPr>
            </a:pPr>
            <a:r>
              <a:rPr sz="4350" b="1">
                <a:solidFill>
                  <a:srgbClr val="1769E0"/>
                </a:solidFill>
              </a:rPr>
              <a:t>SỐ</a:t>
            </a:r>
          </a:p>
        </p:txBody>
      </p:sp>
      <p:sp>
        <p:nvSpPr>
          <p:cNvPr id="6" name="cover-footer">
            <a:extLst xmlns:a="http://schemas.openxmlformats.org/drawingml/2006/main">
              <a:ext uri="{FF2B5EF4-FFF2-40B4-BE49-F238E27FC236}">
                <a16:creationId xmlns:a16="http://schemas.microsoft.com/office/drawing/2014/main" id="{A4B36478-9560-4E2A-8E75-31C68E53C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609600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4C2F0"/>
                </a:solidFill>
              </a:defRPr>
            </a:pPr>
            <a:r>
              <a:rPr sz="1125" b="1">
                <a:solidFill>
                  <a:srgbClr val="44C2F0"/>
                </a:solidFill>
              </a:rPr>
              <a:t>BÁO CÁO TRIỂN KHAI • NĂM HỌC 2026-2027</a:t>
            </a:r>
          </a:p>
        </p:txBody>
      </p:sp>
    </p:spTree>
    <p:transition spd="fast">
      <p:fade/>
    </p:transition>
    <p:extLst>
      <p:ext uri="{BB962C8B-B14F-4D97-AF65-F5344CB8AC3E}">
        <p14:creationId xmlns:p14="http://schemas.microsoft.com/office/powerpoint/2010/main" val="49860928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ection-2">
            <a:extLst xmlns:a="http://schemas.openxmlformats.org/drawingml/2006/main">
              <a:ext uri="{FF2B5EF4-FFF2-40B4-BE49-F238E27FC236}">
                <a16:creationId xmlns:a16="http://schemas.microsoft.com/office/drawing/2014/main" id="{561A3809-29A4-4F41-878A-9CAE62384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47650"/>
            <a:ext cx="419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769E0"/>
                </a:solidFill>
              </a:defRPr>
            </a:pPr>
            <a:r>
              <a:rPr sz="1050" b="1">
                <a:solidFill>
                  <a:srgbClr val="1769E0"/>
                </a:solidFill>
              </a:rPr>
              <a:t>THÔNG ĐIỆP ĐIỀU HÀNH</a:t>
            </a:r>
          </a:p>
        </p:txBody>
      </p:sp>
      <p:sp>
        <p:nvSpPr>
          <p:cNvPr id="2" name="title-2">
            <a:extLst xmlns:a="http://schemas.openxmlformats.org/drawingml/2006/main">
              <a:ext uri="{FF2B5EF4-FFF2-40B4-BE49-F238E27FC236}">
                <a16:creationId xmlns:a16="http://schemas.microsoft.com/office/drawing/2014/main" id="{61A4133D-3553-41D3-9EB8-5395F9F50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0550"/>
            <a:ext cx="11144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0131A"/>
                </a:solidFill>
              </a:defRPr>
            </a:pPr>
            <a:r>
              <a:rPr sz="2400" b="1">
                <a:solidFill>
                  <a:srgbClr val="10131A"/>
                </a:solidFill>
              </a:rPr>
              <a:t>Nhà trường triển khai năng lực số theo ba lớp, không làm rời rạc</a:t>
            </a:r>
          </a:p>
        </p:txBody>
      </p:sp>
      <p:sp>
        <p:nvSpPr>
          <p:cNvPr id="3" name="rule-2">
            <a:extLst xmlns:a="http://schemas.openxmlformats.org/drawingml/2006/main">
              <a:ext uri="{FF2B5EF4-FFF2-40B4-BE49-F238E27FC236}">
                <a16:creationId xmlns:a16="http://schemas.microsoft.com/office/drawing/2014/main" id="{60225886-C74D-477B-819A-6B094715E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04950"/>
            <a:ext cx="11391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4" name="page-2">
            <a:extLst xmlns:a="http://schemas.openxmlformats.org/drawingml/2006/main">
              <a:ext uri="{FF2B5EF4-FFF2-40B4-BE49-F238E27FC236}">
                <a16:creationId xmlns:a16="http://schemas.microsoft.com/office/drawing/2014/main" id="{D684C60E-BF4D-47E7-961E-F7B230385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86500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E6673"/>
                </a:solidFill>
              </a:defRPr>
            </a:pPr>
            <a:r>
              <a:rPr sz="975" b="0">
                <a:solidFill>
                  <a:srgbClr val="5E6673"/>
                </a:solidFill>
              </a:rPr>
              <a:t>02</a:t>
            </a:r>
          </a:p>
        </p:txBody>
      </p:sp>
      <p:sp>
        <p:nvSpPr>
          <p:cNvPr id="5" name="anim-02-0">
            <a:extLst xmlns:a="http://schemas.openxmlformats.org/drawingml/2006/main">
              <a:ext uri="{FF2B5EF4-FFF2-40B4-BE49-F238E27FC236}">
                <a16:creationId xmlns:a16="http://schemas.microsoft.com/office/drawing/2014/main" id="{7C4A4FE4-11DB-4902-8AF1-8E135B2F6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90750"/>
            <a:ext cx="3238500" cy="2476500"/>
          </a:xfrm>
          <a:prstGeom xmlns:a="http://schemas.openxmlformats.org/drawingml/2006/main" prst="roundRect">
            <a:avLst>
              <a:gd name="adj" fmla="val 4615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0131A"/>
                </a:solidFill>
              </a:defRPr>
            </a:pPr>
            <a:r>
              <a:rPr sz="1800" b="0">
                <a:solidFill>
                  <a:srgbClr val="10131A"/>
                </a:solidFill>
              </a:rPr>
              <a:t>CỐT LÕI</a:t>
            </a:r>
          </a:p>
          <a:p xmlns:a="http://schemas.openxmlformats.org/drawingml/2006/main">
            <a:pPr algn="l">
              <a:defRPr sz="1800" b="0">
                <a:solidFill>
                  <a:srgbClr val="10131A"/>
                </a:solidFill>
              </a:defRPr>
            </a:pPr>
            <a:r>
              <a:rPr sz="1800" b="0">
                <a:solidFill>
                  <a:srgbClr val="10131A"/>
                </a:solidFill>
              </a:rPr>
              <a:t>Môn Tin học hình thành nền tảng và hệ thống kĩ năng số.</a:t>
            </a:r>
          </a:p>
        </p:txBody>
      </p:sp>
      <p:sp>
        <p:nvSpPr>
          <p:cNvPr id="6" name="anim-02-0-accent">
            <a:extLst xmlns:a="http://schemas.openxmlformats.org/drawingml/2006/main">
              <a:ext uri="{FF2B5EF4-FFF2-40B4-BE49-F238E27FC236}">
                <a16:creationId xmlns:a16="http://schemas.microsoft.com/office/drawing/2014/main" id="{020C8689-0295-4EF2-8445-708FC2B3B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90750"/>
            <a:ext cx="7620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9E0"/>
          </a:solidFill>
          <a:ln xmlns:a="http://schemas.openxmlformats.org/drawingml/2006/main" w="0">
            <a:solidFill>
              <a:srgbClr val="1769E0"/>
            </a:solidFill>
            <a:prstDash val="solid"/>
          </a:ln>
        </p:spPr>
      </p:sp>
      <p:sp>
        <p:nvSpPr>
          <p:cNvPr id="7" name="anim-02-1">
            <a:extLst xmlns:a="http://schemas.openxmlformats.org/drawingml/2006/main">
              <a:ext uri="{FF2B5EF4-FFF2-40B4-BE49-F238E27FC236}">
                <a16:creationId xmlns:a16="http://schemas.microsoft.com/office/drawing/2014/main" id="{ADA8ED95-4E74-419E-AC0A-AB8790D8B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190750"/>
            <a:ext cx="3238500" cy="2476500"/>
          </a:xfrm>
          <a:prstGeom xmlns:a="http://schemas.openxmlformats.org/drawingml/2006/main" prst="roundRect">
            <a:avLst>
              <a:gd name="adj" fmla="val 4615"/>
            </a:avLst>
          </a:prstGeom>
          <a:solidFill xmlns:a="http://schemas.openxmlformats.org/drawingml/2006/main">
            <a:srgbClr val="F0F2F5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0131A"/>
                </a:solidFill>
              </a:defRPr>
            </a:pPr>
            <a:r>
              <a:rPr sz="1800" b="0">
                <a:solidFill>
                  <a:srgbClr val="10131A"/>
                </a:solidFill>
              </a:rPr>
              <a:t>TÍCH HỢP</a:t>
            </a:r>
          </a:p>
          <a:p xmlns:a="http://schemas.openxmlformats.org/drawingml/2006/main">
            <a:pPr algn="l">
              <a:defRPr sz="1800" b="0">
                <a:solidFill>
                  <a:srgbClr val="10131A"/>
                </a:solidFill>
              </a:defRPr>
            </a:pPr>
            <a:r>
              <a:rPr sz="1800" b="0">
                <a:solidFill>
                  <a:srgbClr val="10131A"/>
                </a:solidFill>
              </a:rPr>
              <a:t>Các môn học tạo môi trường vận dụng kĩ năng số trong nhiệm vụ thật.</a:t>
            </a:r>
          </a:p>
        </p:txBody>
      </p:sp>
      <p:sp>
        <p:nvSpPr>
          <p:cNvPr id="8" name="anim-02-1-accent">
            <a:extLst xmlns:a="http://schemas.openxmlformats.org/drawingml/2006/main">
              <a:ext uri="{FF2B5EF4-FFF2-40B4-BE49-F238E27FC236}">
                <a16:creationId xmlns:a16="http://schemas.microsoft.com/office/drawing/2014/main" id="{99027829-2F59-4AF4-AB3F-20F01EC00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190750"/>
            <a:ext cx="7620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4C2F0"/>
          </a:solidFill>
          <a:ln xmlns:a="http://schemas.openxmlformats.org/drawingml/2006/main" w="0">
            <a:solidFill>
              <a:srgbClr val="44C2F0"/>
            </a:solidFill>
            <a:prstDash val="solid"/>
          </a:ln>
        </p:spPr>
      </p:sp>
      <p:sp>
        <p:nvSpPr>
          <p:cNvPr id="9" name="anim-02-2">
            <a:extLst xmlns:a="http://schemas.openxmlformats.org/drawingml/2006/main">
              <a:ext uri="{FF2B5EF4-FFF2-40B4-BE49-F238E27FC236}">
                <a16:creationId xmlns:a16="http://schemas.microsoft.com/office/drawing/2014/main" id="{A57CB4B9-6CB5-4E43-B55D-B734F533D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190750"/>
            <a:ext cx="3238500" cy="2476500"/>
          </a:xfrm>
          <a:prstGeom xmlns:a="http://schemas.openxmlformats.org/drawingml/2006/main" prst="roundRect">
            <a:avLst>
              <a:gd name="adj" fmla="val 4615"/>
            </a:avLst>
          </a:prstGeom>
          <a:solidFill xmlns:a="http://schemas.openxmlformats.org/drawingml/2006/main">
            <a:srgbClr val="F0F2F5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0131A"/>
                </a:solidFill>
              </a:defRPr>
            </a:pPr>
            <a:r>
              <a:rPr sz="1800" b="0">
                <a:solidFill>
                  <a:srgbClr val="10131A"/>
                </a:solidFill>
              </a:rPr>
              <a:t>MỞ RỘNG</a:t>
            </a:r>
          </a:p>
          <a:p xmlns:a="http://schemas.openxmlformats.org/drawingml/2006/main">
            <a:pPr algn="l">
              <a:defRPr sz="1800" b="0">
                <a:solidFill>
                  <a:srgbClr val="10131A"/>
                </a:solidFill>
              </a:defRPr>
            </a:pPr>
            <a:r>
              <a:rPr sz="1800" b="0">
                <a:solidFill>
                  <a:srgbClr val="10131A"/>
                </a:solidFill>
              </a:rPr>
              <a:t>Câu lạc bộ, STEM, trải nghiệm và dự án tạo chiều sâu.</a:t>
            </a:r>
          </a:p>
        </p:txBody>
      </p:sp>
      <p:sp>
        <p:nvSpPr>
          <p:cNvPr id="10" name="anim-02-2-accent">
            <a:extLst xmlns:a="http://schemas.openxmlformats.org/drawingml/2006/main">
              <a:ext uri="{FF2B5EF4-FFF2-40B4-BE49-F238E27FC236}">
                <a16:creationId xmlns:a16="http://schemas.microsoft.com/office/drawing/2014/main" id="{B757D2F7-A714-4336-9ACD-2FE6CCD1D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190750"/>
            <a:ext cx="7620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8A5A"/>
          </a:solidFill>
          <a:ln xmlns:a="http://schemas.openxmlformats.org/drawingml/2006/main" w="0">
            <a:solidFill>
              <a:srgbClr val="1B8A5A"/>
            </a:solidFill>
            <a:prstDash val="solid"/>
          </a:ln>
        </p:spPr>
      </p:sp>
      <p:sp>
        <p:nvSpPr>
          <p:cNvPr id="11" name="anim-02-close">
            <a:extLst xmlns:a="http://schemas.openxmlformats.org/drawingml/2006/main">
              <a:ext uri="{FF2B5EF4-FFF2-40B4-BE49-F238E27FC236}">
                <a16:creationId xmlns:a16="http://schemas.microsoft.com/office/drawing/2014/main" id="{1BDC8190-6F68-4BCF-AD82-CA17E9323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619750"/>
            <a:ext cx="9715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0B2B5B"/>
                </a:solidFill>
              </a:defRPr>
            </a:pPr>
            <a:r>
              <a:rPr sz="2100" b="1">
                <a:solidFill>
                  <a:srgbClr val="0B2B5B"/>
                </a:solidFill>
              </a:rPr>
              <a:t>Tin học chủ đạo; mọi môn học cùng phát triển năng lực số liên tục.</a:t>
            </a:r>
          </a:p>
        </p:txBody>
      </p:sp>
      <p:sp>
        <p:nvSpPr>
          <p:cNvPr id="12" name="source-2">
            <a:extLst xmlns:a="http://schemas.openxmlformats.org/drawingml/2006/main">
              <a:ext uri="{FF2B5EF4-FFF2-40B4-BE49-F238E27FC236}">
                <a16:creationId xmlns:a16="http://schemas.microsoft.com/office/drawing/2014/main" id="{AB79C8AA-5F77-4B50-A6FC-3A0F26D47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0"/>
            <a:ext cx="990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E6673"/>
                </a:solidFill>
              </a:defRPr>
            </a:pPr>
            <a:r>
              <a:rPr sz="825" b="0">
                <a:solidFill>
                  <a:srgbClr val="5E6673"/>
                </a:solidFill>
              </a:rPr>
              <a:t>Nguồn: Công văn 3456/BGDĐT-GDPT, mục I.2 và II.2.</a:t>
            </a:r>
          </a:p>
        </p:txBody>
      </p:sp>
    </p:spTree>
    <p:transition spd="fast">
      <p:fade/>
    </p:transition>
    <p:timing>
      <p:tnLst>
        <p:par>
          <p:cTn id="1000" dur="indefinite" restart="never" nodeType="tmRoot">
            <p:childTnLst>
              <p:seq concurrent="1" nextAc="seek">
                <p:cTn id="1001" dur="indefinite" nodeType="mainSeq">
                  <p:childTnLst>
                    <p:par>
                      <p:cTn id="1002" fill="hold">
                        <p:stCondLst>
                          <p:cond delay="indefinite"/>
                        </p:stCondLst>
                        <p:childTnLst>
                          <p:par>
                            <p:cTn id="1003" fill="hold">
                              <p:stCondLst>
                                <p:cond delay="0"/>
                              </p:stCondLst>
                              <p:childTnLst>
                                <p:par>
                                  <p:cTn id="1004" presetID="10" presetClass="entr" presetSubtype="0" fill="hold" grpId="0" nodeType="clickEffect">
                                    <p:stCondLst>
                                      <p:cond delay="0"/>
                                    </p:stCondLst>
                                    <p:childTnLst>
                                      <p:set>
                                        <p:cBhvr>
                                          <p:cTn id="1005" dur="1" fill="hold">
                                            <p:stCondLst>
                                              <p:cond delay="0"/>
                                            </p:stCondLst>
                                          </p:cTn>
                                          <p:tgtEl>
                                            <p:spTgt spid="5"/>
                                          </p:tgtEl>
                                          <p:attrNameLst>
                                            <p:attrName>style.visibility</p:attrName>
                                          </p:attrNameLst>
                                        </p:cBhvr>
                                        <p:to>
                                          <p:strVal val="visible"/>
                                        </p:to>
                                      </p:set>
                                      <p:animEffect transition="in" filter="fade">
                                        <p:cBhvr>
                                          <p:cTn id="1006" dur="350"/>
                                          <p:tgtEl>
                                            <p:spTgt spid="5"/>
                                          </p:tgtEl>
                                        </p:cBhvr>
                                      </p:animEffect>
                                    </p:childTnLst>
                                  </p:cTn>
                                </p:par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1007" fill="hold">
                        <p:stCondLst>
                          <p:cond delay="indefinite"/>
                        </p:stCondLst>
                        <p:childTnLst>
                          <p:par>
                            <p:cTn id="1008" fill="hold">
                              <p:stCondLst>
                                <p:cond delay="0"/>
                              </p:stCondLst>
                              <p:childTnLst>
                                <p:par>
                                  <p:cTn id="1009" presetID="10" presetClass="entr" presetSubtype="0" fill="hold" grpId="0" nodeType="clickEffect">
                                    <p:stCondLst>
                                      <p:cond delay="0"/>
                                    </p:stCondLst>
                                    <p:childTnLst>
                                      <p:set>
                                        <p:cBhvr>
                                          <p:cTn id="1010" dur="1" fill="hold">
                                            <p:stCondLst>
                                              <p:cond delay="0"/>
                                            </p:stCondLst>
                                          </p:cTn>
                                          <p:tgtEl>
                                            <p:spTgt spid="7"/>
                                          </p:tgtEl>
                                          <p:attrNameLst>
                                            <p:attrName>style.visibility</p:attrName>
                                          </p:attrNameLst>
                                        </p:cBhvr>
                                        <p:to>
                                          <p:strVal val="visible"/>
                                        </p:to>
                                      </p:set>
                                      <p:animEffect transition="in" filter="fade">
                                        <p:cBhvr>
                                          <p:cTn id="1011" dur="350"/>
                                          <p:tgtEl>
                                            <p:spTgt spid="7"/>
                                          </p:tgtEl>
                                        </p:cBhvr>
                                      </p:animEffect>
                                    </p:childTnLst>
                                  </p:cTn>
                                </p:par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1012" fill="hold">
                        <p:stCondLst>
                          <p:cond delay="indefinite"/>
                        </p:stCondLst>
                        <p:childTnLst>
                          <p:par>
                            <p:cTn id="1013" fill="hold">
                              <p:stCondLst>
                                <p:cond delay="0"/>
                              </p:stCondLst>
                              <p:childTnLst>
                                <p:par>
                                  <p:cTn id="1014" presetID="10" presetClass="entr" presetSubtype="0" fill="hold" grpId="0" nodeType="clickEffect">
                                    <p:stCondLst>
                                      <p:cond delay="0"/>
                                    </p:stCondLst>
                                    <p:childTnLst>
                                      <p:set>
                                        <p:cBhvr>
                                          <p:cTn id="1015" dur="1" fill="hold">
                                            <p:stCondLst>
                                              <p:cond delay="0"/>
                                            </p:stCondLst>
                                          </p:cTn>
                                          <p:tgtEl>
                                            <p:spTgt spid="9"/>
                                          </p:tgtEl>
                                          <p:attrNameLst>
                                            <p:attrName>style.visibility</p:attrName>
                                          </p:attrNameLst>
                                        </p:cBhvr>
                                        <p:to>
                                          <p:strVal val="visible"/>
                                        </p:to>
                                      </p:set>
                                      <p:animEffect transition="in" filter="fade">
                                        <p:cBhvr>
                                          <p:cTn id="1016" dur="350"/>
                                          <p:tgtEl>
                                            <p:spTgt spid="9"/>
                                          </p:tgtEl>
                                        </p:cBhvr>
                                      </p:animEffect>
                                    </p:childTnLst>
                                  </p:cTn>
                                </p:par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1017" fill="hold">
                        <p:stCondLst>
                          <p:cond delay="indefinite"/>
                        </p:stCondLst>
                        <p:childTnLst>
                          <p:par>
                            <p:cTn id="1018" fill="hold">
                              <p:stCondLst>
                                <p:cond delay="0"/>
                              </p:stCondLst>
                              <p:childTnLst>
                                <p:par>
                                  <p:cTn id="1019" presetID="10" presetClass="entr" presetSubtype="0" fill="hold" grpId="0" nodeType="clickEffect">
                                    <p:stCondLst>
                                      <p:cond delay="0"/>
                                    </p:stCondLst>
                                    <p:childTnLst>
                                      <p:set>
                                        <p:cBhvr>
                                          <p:cTn id="1020" dur="1" fill="hold">
                                            <p:stCondLst>
                                              <p:cond delay="0"/>
                                            </p:stCondLst>
                                          </p:cTn>
                                          <p:tgtEl>
                                            <p:spTgt spid="11"/>
                                          </p:tgtEl>
                                          <p:attrNameLst>
                                            <p:attrName>style.visibility</p:attrName>
                                          </p:attrNameLst>
                                        </p:cBhvr>
                                        <p:to>
                                          <p:strVal val="visible"/>
                                        </p:to>
                                      </p:set>
                                      <p:animEffect transition="in" filter="fade">
                                        <p:cBhvr>
                                          <p:cTn id="1021" dur="350"/>
                                          <p:tgtEl>
                                            <p:spTgt spid="11"/>
                                          </p:tgtEl>
                                        </p:cBhvr>
                                      </p:animEffect>
                                    </p:childTnLst>
                                  </p:cTn>
                                </p:par>
                              </p:childTnLst>
                            </p:cTn>
                          </p:par>
                        </p:childTnLst>
                      </p:cTn>
                    </p:par>
                  </p:childTnLst>
                </p:cTn>
                <p:prevCondLst>
                  <p:cond evt="onPrev" delay="0">
                    <p:tgtEl>
                      <p:sldTgt/>
                    </p:tgtEl>
                  </p:cond>
                </p:prevCondLst>
                <p:nextCondLst>
                  <p:cond evt="onNext" delay="0">
                    <p:tgtEl>
                      <p:sldTgt/>
                    </p:tgtEl>
                  </p:cond>
                </p:nextCondLst>
              </p:seq>
            </p:childTnLst>
          </p:cTn>
        </p:par>
      </p:tnLst>
    </p:timing>
    <p:extLst>
      <p:ext uri="{BB962C8B-B14F-4D97-AF65-F5344CB8AC3E}">
        <p14:creationId xmlns:p14="http://schemas.microsoft.com/office/powerpoint/2010/main" val="143303340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section-3">
            <a:extLst xmlns:a="http://schemas.openxmlformats.org/drawingml/2006/main">
              <a:ext uri="{FF2B5EF4-FFF2-40B4-BE49-F238E27FC236}">
                <a16:creationId xmlns:a16="http://schemas.microsoft.com/office/drawing/2014/main" id="{D72A850D-4B7D-46AD-9D34-DD0232664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47650"/>
            <a:ext cx="419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769E0"/>
                </a:solidFill>
              </a:defRPr>
            </a:pPr>
            <a:r>
              <a:rPr sz="1050" b="1">
                <a:solidFill>
                  <a:srgbClr val="1769E0"/>
                </a:solidFill>
              </a:rPr>
              <a:t>01 / BỐI CẢNH</a:t>
            </a:r>
          </a:p>
        </p:txBody>
      </p:sp>
      <p:sp>
        <p:nvSpPr>
          <p:cNvPr id="2" name="title-3">
            <a:extLst xmlns:a="http://schemas.openxmlformats.org/drawingml/2006/main">
              <a:ext uri="{FF2B5EF4-FFF2-40B4-BE49-F238E27FC236}">
                <a16:creationId xmlns:a16="http://schemas.microsoft.com/office/drawing/2014/main" id="{130B0C0D-9B50-48BE-8EA3-B364B3318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0550"/>
            <a:ext cx="11144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0131A"/>
                </a:solidFill>
              </a:defRPr>
            </a:pPr>
            <a:r>
              <a:rPr sz="2400" b="1">
                <a:solidFill>
                  <a:srgbClr val="10131A"/>
                </a:solidFill>
              </a:rPr>
              <a:t>Năng lực số là điều kiện để học sinh học tốt và sống an toàn</a:t>
            </a:r>
          </a:p>
        </p:txBody>
      </p:sp>
      <p:sp>
        <p:nvSpPr>
          <p:cNvPr id="3" name="rule-3">
            <a:extLst xmlns:a="http://schemas.openxmlformats.org/drawingml/2006/main">
              <a:ext uri="{FF2B5EF4-FFF2-40B4-BE49-F238E27FC236}">
                <a16:creationId xmlns:a16="http://schemas.microsoft.com/office/drawing/2014/main" id="{B3BC81C3-991D-4C42-BB9F-CDF0F2E02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04950"/>
            <a:ext cx="11391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4" name="page-3">
            <a:extLst xmlns:a="http://schemas.openxmlformats.org/drawingml/2006/main">
              <a:ext uri="{FF2B5EF4-FFF2-40B4-BE49-F238E27FC236}">
                <a16:creationId xmlns:a16="http://schemas.microsoft.com/office/drawing/2014/main" id="{0E490B8F-07F3-445F-B932-CAFEEDDEA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86500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E6673"/>
                </a:solidFill>
              </a:defRPr>
            </a:pPr>
            <a:r>
              <a:rPr sz="975" b="0">
                <a:solidFill>
                  <a:srgbClr val="5E6673"/>
                </a:solidFill>
              </a:rPr>
              <a:t>03</a:t>
            </a:r>
          </a:p>
        </p:txBody>
      </p:sp>
      <p:sp>
        <p:nvSpPr>
          <p:cNvPr id="5" name="anim-03-big">
            <a:extLst xmlns:a="http://schemas.openxmlformats.org/drawingml/2006/main">
              <a:ext uri="{FF2B5EF4-FFF2-40B4-BE49-F238E27FC236}">
                <a16:creationId xmlns:a16="http://schemas.microsoft.com/office/drawing/2014/main" id="{3D36E40F-CF77-4F80-AE94-CFFE0D40D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238375"/>
            <a:ext cx="542925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0B2B5B"/>
                </a:solidFill>
              </a:defRPr>
            </a:pPr>
            <a:r>
              <a:rPr sz="3000" b="1">
                <a:solidFill>
                  <a:srgbClr val="0B2B5B"/>
                </a:solidFill>
              </a:rPr>
              <a:t>Học sinh cần biết tìm đúng, giao tiếp đúng, tạo đúng, bảo vệ mình và giải quyết vấn đề trong môi trường số.</a:t>
            </a:r>
          </a:p>
        </p:txBody>
      </p:sp>
      <p:sp>
        <p:nvSpPr>
          <p:cNvPr id="6" name="anim-03-list">
            <a:extLst xmlns:a="http://schemas.openxmlformats.org/drawingml/2006/main">
              <a:ext uri="{FF2B5EF4-FFF2-40B4-BE49-F238E27FC236}">
                <a16:creationId xmlns:a16="http://schemas.microsoft.com/office/drawing/2014/main" id="{D8E9FF25-BA82-4DD6-A6E7-93ABE4B0C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143125"/>
            <a:ext cx="4476750" cy="314325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0F2F5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0131A"/>
                </a:solidFill>
              </a:defRPr>
            </a:pPr>
            <a:r>
              <a:rPr sz="1650" b="0">
                <a:solidFill>
                  <a:srgbClr val="10131A"/>
                </a:solidFill>
              </a:rPr>
              <a:t>• Thông tin nhiều nhưng không phải thông tin nào cũng đáng tin.</a:t>
            </a:r>
          </a:p>
          <a:p xmlns:a="http://schemas.openxmlformats.org/drawingml/2006/main">
            <a:pPr algn="l">
              <a:defRPr sz="1650" b="0">
                <a:solidFill>
                  <a:srgbClr val="10131A"/>
                </a:solidFill>
              </a:defRPr>
            </a:pPr>
            <a:r>
              <a:rPr sz="1650" b="0">
                <a:solidFill>
                  <a:srgbClr val="10131A"/>
                </a:solidFill>
              </a:rPr>
              <a:t>• Học tập, giao tiếp và sáng tạo ngày càng dựa trên dữ liệu, nền tảng số và AI.</a:t>
            </a:r>
          </a:p>
          <a:p xmlns:a="http://schemas.openxmlformats.org/drawingml/2006/main">
            <a:pPr algn="l">
              <a:defRPr sz="1650" b="0">
                <a:solidFill>
                  <a:srgbClr val="10131A"/>
                </a:solidFill>
              </a:defRPr>
            </a:pPr>
            <a:r>
              <a:rPr sz="1650" b="0">
                <a:solidFill>
                  <a:srgbClr val="10131A"/>
                </a:solidFill>
              </a:rPr>
              <a:t>• Rủi ro về dữ liệu cá nhân, bắt nạt trực tuyến, lừa đảo và phụ thuộc thiết bị là có thật.</a:t>
            </a:r>
          </a:p>
          <a:p xmlns:a="http://schemas.openxmlformats.org/drawingml/2006/main">
            <a:pPr algn="l">
              <a:defRPr sz="1650" b="0">
                <a:solidFill>
                  <a:srgbClr val="10131A"/>
                </a:solidFill>
              </a:defRPr>
            </a:pPr>
            <a:r>
              <a:rPr sz="1650" b="0">
                <a:solidFill>
                  <a:srgbClr val="10131A"/>
                </a:solidFill>
              </a:rPr>
              <a:t>• Năng lực số giúp học sinh chủ động, có trách nhiệm và sẵn sàng cho tương lai.</a:t>
            </a:r>
          </a:p>
        </p:txBody>
      </p:sp>
    </p:spTree>
    <p:transition spd="fast">
      <p:fade/>
    </p:transition>
    <p:timing>
      <p:tnLst>
        <p:par>
          <p:cTn id="1000" dur="indefinite" restart="never" nodeType="tmRoot">
            <p:childTnLst>
              <p:seq concurrent="1" nextAc="seek">
                <p:cTn id="1001" dur="indefinite" nodeType="mainSeq">
                  <p:childTnLst>
                    <p:par>
                      <p:cTn id="1002" fill="hold">
                        <p:stCondLst>
                          <p:cond delay="indefinite"/>
                        </p:stCondLst>
                        <p:childTnLst>
                          <p:par>
                            <p:cTn id="1003" fill="hold">
                              <p:stCondLst>
                                <p:cond delay="0"/>
                              </p:stCondLst>
                              <p:childTnLst>
                                <p:par>
                                  <p:cTn id="1004" presetID="10" presetClass="entr" presetSubtype="0" fill="hold" grpId="0" nodeType="clickEffect">
                                    <p:stCondLst>
                                      <p:cond delay="0"/>
                                    </p:stCondLst>
                                    <p:childTnLst>
                                      <p:set>
                                        <p:cBhvr>
                                          <p:cTn id="1005" dur="1" fill="hold">
                                            <p:stCondLst>
                                              <p:cond delay="0"/>
                                            </p:stCondLst>
                                          </p:cTn>
                                          <p:tgtEl>
                                            <p:spTgt spid="5"/>
                                          </p:tgtEl>
                                          <p:attrNameLst>
                                            <p:attrName>style.visibility</p:attrName>
                                          </p:attrNameLst>
                                        </p:cBhvr>
                                        <p:to>
                                          <p:strVal val="visible"/>
                                        </p:to>
                                      </p:set>
                                      <p:animEffect transition="in" filter="fade">
                                        <p:cBhvr>
                                          <p:cTn id="1006" dur="350"/>
                                          <p:tgtEl>
                                            <p:spTgt spid="5"/>
                                          </p:tgtEl>
                                        </p:cBhvr>
                                      </p:animEffect>
                                    </p:childTnLst>
                                  </p:cTn>
                                </p:par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1007" fill="hold">
                        <p:stCondLst>
                          <p:cond delay="indefinite"/>
                        </p:stCondLst>
                        <p:childTnLst>
                          <p:par>
                            <p:cTn id="1008" fill="hold">
                              <p:stCondLst>
                                <p:cond delay="0"/>
                              </p:stCondLst>
                              <p:childTnLst>
                                <p:par>
                                  <p:cTn id="1009" presetID="10" presetClass="entr" presetSubtype="0" fill="hold" grpId="0" nodeType="clickEffect">
                                    <p:stCondLst>
                                      <p:cond delay="0"/>
                                    </p:stCondLst>
                                    <p:childTnLst>
                                      <p:set>
                                        <p:cBhvr>
                                          <p:cTn id="1010" dur="1" fill="hold">
                                            <p:stCondLst>
                                              <p:cond delay="0"/>
                                            </p:stCondLst>
                                          </p:cTn>
                                          <p:tgtEl>
                                            <p:spTgt spid="6"/>
                                          </p:tgtEl>
                                          <p:attrNameLst>
                                            <p:attrName>style.visibility</p:attrName>
                                          </p:attrNameLst>
                                        </p:cBhvr>
                                        <p:to>
                                          <p:strVal val="visible"/>
                                        </p:to>
                                      </p:set>
                                      <p:animEffect transition="in" filter="fade">
                                        <p:cBhvr>
                                          <p:cTn id="1011" dur="350"/>
                                          <p:tgtEl>
                                            <p:spTgt spid="6"/>
                                          </p:tgtEl>
                                        </p:cBhvr>
                                      </p:animEffect>
                                    </p:childTnLst>
                                  </p:cTn>
                                </p:par>
                              </p:childTnLst>
                            </p:cTn>
                          </p:par>
                        </p:childTnLst>
                      </p:cTn>
                    </p:par>
                  </p:childTnLst>
                </p:cTn>
                <p:prevCondLst>
                  <p:cond evt="onPrev" delay="0">
                    <p:tgtEl>
                      <p:sldTgt/>
                    </p:tgtEl>
                  </p:cond>
                </p:prevCondLst>
                <p:nextCondLst>
                  <p:cond evt="onNext" delay="0">
                    <p:tgtEl>
                      <p:sldTgt/>
                    </p:tgtEl>
                  </p:cond>
                </p:nextCondLst>
              </p:seq>
            </p:childTnLst>
          </p:cTn>
        </p:par>
      </p:tnLst>
    </p:timing>
    <p:extLst>
      <p:ext uri="{BB962C8B-B14F-4D97-AF65-F5344CB8AC3E}">
        <p14:creationId xmlns:p14="http://schemas.microsoft.com/office/powerpoint/2010/main" val="123788083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section-4">
            <a:extLst xmlns:a="http://schemas.openxmlformats.org/drawingml/2006/main">
              <a:ext uri="{FF2B5EF4-FFF2-40B4-BE49-F238E27FC236}">
                <a16:creationId xmlns:a16="http://schemas.microsoft.com/office/drawing/2014/main" id="{160D8201-A31B-4E1E-BB0C-F20F9AEEF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47650"/>
            <a:ext cx="419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769E0"/>
                </a:solidFill>
              </a:defRPr>
            </a:pPr>
            <a:r>
              <a:rPr sz="1050" b="1">
                <a:solidFill>
                  <a:srgbClr val="1769E0"/>
                </a:solidFill>
              </a:rPr>
              <a:t>02 / CĂN CỨ</a:t>
            </a:r>
          </a:p>
        </p:txBody>
      </p:sp>
      <p:sp>
        <p:nvSpPr>
          <p:cNvPr id="2" name="title-4">
            <a:extLst xmlns:a="http://schemas.openxmlformats.org/drawingml/2006/main">
              <a:ext uri="{FF2B5EF4-FFF2-40B4-BE49-F238E27FC236}">
                <a16:creationId xmlns:a16="http://schemas.microsoft.com/office/drawing/2014/main" id="{B4B9BAB2-BBA2-4726-9A85-02EFACE98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0550"/>
            <a:ext cx="11144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0131A"/>
                </a:solidFill>
              </a:defRPr>
            </a:pPr>
            <a:r>
              <a:rPr sz="2400" b="1">
                <a:solidFill>
                  <a:srgbClr val="10131A"/>
                </a:solidFill>
              </a:rPr>
              <a:t>Thông tư 02/2025 tạo khung thống nhất về năng lực số cho người học</a:t>
            </a:r>
          </a:p>
        </p:txBody>
      </p:sp>
      <p:sp>
        <p:nvSpPr>
          <p:cNvPr id="3" name="rule-4">
            <a:extLst xmlns:a="http://schemas.openxmlformats.org/drawingml/2006/main">
              <a:ext uri="{FF2B5EF4-FFF2-40B4-BE49-F238E27FC236}">
                <a16:creationId xmlns:a16="http://schemas.microsoft.com/office/drawing/2014/main" id="{2FC42507-79B5-43D5-99A8-2578043C4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04950"/>
            <a:ext cx="11391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4" name="page-4">
            <a:extLst xmlns:a="http://schemas.openxmlformats.org/drawingml/2006/main">
              <a:ext uri="{FF2B5EF4-FFF2-40B4-BE49-F238E27FC236}">
                <a16:creationId xmlns:a16="http://schemas.microsoft.com/office/drawing/2014/main" id="{A7455691-6463-4B5E-8B37-ABF4A3BEA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86500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E6673"/>
                </a:solidFill>
              </a:defRPr>
            </a:pPr>
            <a:r>
              <a:rPr sz="975" b="0">
                <a:solidFill>
                  <a:srgbClr val="5E6673"/>
                </a:solidFill>
              </a:rPr>
              <a:t>04</a:t>
            </a:r>
          </a:p>
        </p:txBody>
      </p:sp>
      <p:sp>
        <p:nvSpPr>
          <p:cNvPr id="5" name="anim-04-a">
            <a:extLst xmlns:a="http://schemas.openxmlformats.org/drawingml/2006/main">
              <a:ext uri="{FF2B5EF4-FFF2-40B4-BE49-F238E27FC236}">
                <a16:creationId xmlns:a16="http://schemas.microsoft.com/office/drawing/2014/main" id="{5E242698-E4F2-4019-9038-B48ADC605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95500"/>
            <a:ext cx="4953000" cy="17145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0131A"/>
                </a:solidFill>
              </a:defRPr>
            </a:pPr>
            <a:r>
              <a:rPr sz="1875" b="0">
                <a:solidFill>
                  <a:srgbClr val="10131A"/>
                </a:solidFill>
              </a:rPr>
              <a:t>CĂN CỨ</a:t>
            </a:r>
          </a:p>
          <a:p xmlns:a="http://schemas.openxmlformats.org/drawingml/2006/main">
            <a:pPr algn="l">
              <a:defRPr sz="1875" b="0">
                <a:solidFill>
                  <a:srgbClr val="10131A"/>
                </a:solidFill>
              </a:defRPr>
            </a:pPr>
            <a:r>
              <a:rPr sz="1875" b="0">
                <a:solidFill>
                  <a:srgbClr val="10131A"/>
                </a:solidFill>
              </a:rPr>
              <a:t>Thông tư 02/2025/TT-BGDĐT ngày 24/01/2025 quy định Khung năng lực số cho người học.</a:t>
            </a:r>
          </a:p>
        </p:txBody>
      </p:sp>
      <p:sp>
        <p:nvSpPr>
          <p:cNvPr id="6" name="anim-04-a-accent">
            <a:extLst xmlns:a="http://schemas.openxmlformats.org/drawingml/2006/main">
              <a:ext uri="{FF2B5EF4-FFF2-40B4-BE49-F238E27FC236}">
                <a16:creationId xmlns:a16="http://schemas.microsoft.com/office/drawing/2014/main" id="{1AF5F5FF-A61C-4970-8732-5DF78DEF4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95500"/>
            <a:ext cx="7620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9E0"/>
          </a:solidFill>
          <a:ln xmlns:a="http://schemas.openxmlformats.org/drawingml/2006/main" w="0">
            <a:solidFill>
              <a:srgbClr val="1769E0"/>
            </a:solidFill>
            <a:prstDash val="solid"/>
          </a:ln>
        </p:spPr>
      </p:sp>
      <p:sp>
        <p:nvSpPr>
          <p:cNvPr id="7" name="anim-04-b">
            <a:extLst xmlns:a="http://schemas.openxmlformats.org/drawingml/2006/main">
              <a:ext uri="{FF2B5EF4-FFF2-40B4-BE49-F238E27FC236}">
                <a16:creationId xmlns:a16="http://schemas.microsoft.com/office/drawing/2014/main" id="{549710FE-3BC5-4925-A4BB-43A23C5C6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095500"/>
            <a:ext cx="4953000" cy="17145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0F2F5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0131A"/>
                </a:solidFill>
              </a:defRPr>
            </a:pPr>
            <a:r>
              <a:rPr sz="1875" b="0">
                <a:solidFill>
                  <a:srgbClr val="10131A"/>
                </a:solidFill>
              </a:rPr>
              <a:t>CẤU TRÚC KHUNG</a:t>
            </a:r>
          </a:p>
          <a:p xmlns:a="http://schemas.openxmlformats.org/drawingml/2006/main">
            <a:pPr algn="l">
              <a:defRPr sz="1875" b="0">
                <a:solidFill>
                  <a:srgbClr val="10131A"/>
                </a:solidFill>
              </a:defRPr>
            </a:pPr>
            <a:r>
              <a:rPr sz="1875" b="0">
                <a:solidFill>
                  <a:srgbClr val="10131A"/>
                </a:solidFill>
              </a:rPr>
              <a:t>6 miền năng lực • 24 năng lực thành phần • 4 trình độ từ cơ bản đến chuyên sâu, theo 8 bậc.</a:t>
            </a:r>
          </a:p>
        </p:txBody>
      </p:sp>
      <p:sp>
        <p:nvSpPr>
          <p:cNvPr id="8" name="anim-04-b-accent">
            <a:extLst xmlns:a="http://schemas.openxmlformats.org/drawingml/2006/main">
              <a:ext uri="{FF2B5EF4-FFF2-40B4-BE49-F238E27FC236}">
                <a16:creationId xmlns:a16="http://schemas.microsoft.com/office/drawing/2014/main" id="{3BB1A3EF-36A2-4631-9189-F64AF967E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095500"/>
            <a:ext cx="7620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4C2F0"/>
          </a:solidFill>
          <a:ln xmlns:a="http://schemas.openxmlformats.org/drawingml/2006/main" w="0">
            <a:solidFill>
              <a:srgbClr val="44C2F0"/>
            </a:solidFill>
            <a:prstDash val="solid"/>
          </a:ln>
        </p:spPr>
      </p:sp>
      <p:sp>
        <p:nvSpPr>
          <p:cNvPr id="9" name="anim-04-c">
            <a:extLst xmlns:a="http://schemas.openxmlformats.org/drawingml/2006/main">
              <a:ext uri="{FF2B5EF4-FFF2-40B4-BE49-F238E27FC236}">
                <a16:creationId xmlns:a16="http://schemas.microsoft.com/office/drawing/2014/main" id="{C9995839-5250-412C-AFE5-6D9D8F2AD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4333875"/>
            <a:ext cx="7048500" cy="1285875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EAF7F0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0131A"/>
                </a:solidFill>
              </a:defRPr>
            </a:pPr>
            <a:r>
              <a:rPr sz="1650" b="0">
                <a:solidFill>
                  <a:srgbClr val="10131A"/>
                </a:solidFill>
              </a:rPr>
              <a:t>Ý NGHĨA VỚI THCS</a:t>
            </a:r>
          </a:p>
          <a:p xmlns:a="http://schemas.openxmlformats.org/drawingml/2006/main">
            <a:pPr algn="l">
              <a:defRPr sz="1650" b="0">
                <a:solidFill>
                  <a:srgbClr val="10131A"/>
                </a:solidFill>
              </a:defRPr>
            </a:pPr>
            <a:r>
              <a:rPr sz="1650" b="0">
                <a:solidFill>
                  <a:srgbClr val="10131A"/>
                </a:solidFill>
              </a:rPr>
              <a:t>Nhà trường chủ động bổ sung, cập nhật yêu cầu năng lực số vào kế hoạch giáo dục, tài liệu học tập và điều kiện triển khai.</a:t>
            </a:r>
          </a:p>
        </p:txBody>
      </p:sp>
      <p:sp>
        <p:nvSpPr>
          <p:cNvPr id="10" name="anim-04-c-accent">
            <a:extLst xmlns:a="http://schemas.openxmlformats.org/drawingml/2006/main">
              <a:ext uri="{FF2B5EF4-FFF2-40B4-BE49-F238E27FC236}">
                <a16:creationId xmlns:a16="http://schemas.microsoft.com/office/drawing/2014/main" id="{D3F403C4-D49A-46A3-B941-B371EFE8E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4333875"/>
            <a:ext cx="76200" cy="1285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8A5A"/>
          </a:solidFill>
          <a:ln xmlns:a="http://schemas.openxmlformats.org/drawingml/2006/main" w="0">
            <a:solidFill>
              <a:srgbClr val="1B8A5A"/>
            </a:solidFill>
            <a:prstDash val="solid"/>
          </a:ln>
        </p:spPr>
      </p:sp>
      <p:sp>
        <p:nvSpPr>
          <p:cNvPr id="11" name="source-4">
            <a:extLst xmlns:a="http://schemas.openxmlformats.org/drawingml/2006/main">
              <a:ext uri="{FF2B5EF4-FFF2-40B4-BE49-F238E27FC236}">
                <a16:creationId xmlns:a16="http://schemas.microsoft.com/office/drawing/2014/main" id="{9030D43A-8BE4-4935-BF94-3728AF606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0"/>
            <a:ext cx="990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E6673"/>
                </a:solidFill>
              </a:defRPr>
            </a:pPr>
            <a:r>
              <a:rPr sz="825" b="0">
                <a:solidFill>
                  <a:srgbClr val="5E6673"/>
                </a:solidFill>
              </a:rPr>
              <a:t>Nguồn: Thông tư 02/2025/TT-BGDĐT, Điều 1, 3 và 4.</a:t>
            </a:r>
          </a:p>
        </p:txBody>
      </p:sp>
    </p:spTree>
    <p:transition spd="fast">
      <p:fade/>
    </p:transition>
    <p:timing>
      <p:tnLst>
        <p:par>
          <p:cTn id="1000" dur="indefinite" restart="never" nodeType="tmRoot">
            <p:childTnLst>
              <p:seq concurrent="1" nextAc="seek">
                <p:cTn id="1001" dur="indefinite" nodeType="mainSeq">
                  <p:childTnLst>
                    <p:par>
                      <p:cTn id="1002" fill="hold">
                        <p:stCondLst>
                          <p:cond delay="indefinite"/>
                        </p:stCondLst>
                        <p:childTnLst>
                          <p:par>
                            <p:cTn id="1003" fill="hold">
                              <p:stCondLst>
                                <p:cond delay="0"/>
                              </p:stCondLst>
                              <p:childTnLst>
                                <p:par>
                                  <p:cTn id="1004" presetID="10" presetClass="entr" presetSubtype="0" fill="hold" grpId="0" nodeType="clickEffect">
                                    <p:stCondLst>
                                      <p:cond delay="0"/>
                                    </p:stCondLst>
                                    <p:childTnLst>
                                      <p:set>
                                        <p:cBhvr>
                                          <p:cTn id="1005" dur="1" fill="hold">
                                            <p:stCondLst>
                                              <p:cond delay="0"/>
                                            </p:stCondLst>
                                          </p:cTn>
                                          <p:tgtEl>
                                            <p:spTgt spid="5"/>
                                          </p:tgtEl>
                                          <p:attrNameLst>
                                            <p:attrName>style.visibility</p:attrName>
                                          </p:attrNameLst>
                                        </p:cBhvr>
                                        <p:to>
                                          <p:strVal val="visible"/>
                                        </p:to>
                                      </p:set>
                                      <p:animEffect transition="in" filter="fade">
                                        <p:cBhvr>
                                          <p:cTn id="1006" dur="350"/>
                                          <p:tgtEl>
                                            <p:spTgt spid="5"/>
                                          </p:tgtEl>
                                        </p:cBhvr>
                                      </p:animEffect>
                                    </p:childTnLst>
                                  </p:cTn>
                                </p:par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1007" fill="hold">
                        <p:stCondLst>
                          <p:cond delay="indefinite"/>
                        </p:stCondLst>
                        <p:childTnLst>
                          <p:par>
                            <p:cTn id="1008" fill="hold">
                              <p:stCondLst>
                                <p:cond delay="0"/>
                              </p:stCondLst>
                              <p:childTnLst>
                                <p:par>
                                  <p:cTn id="1009" presetID="10" presetClass="entr" presetSubtype="0" fill="hold" grpId="0" nodeType="clickEffect">
                                    <p:stCondLst>
                                      <p:cond delay="0"/>
                                    </p:stCondLst>
                                    <p:childTnLst>
                                      <p:set>
                                        <p:cBhvr>
                                          <p:cTn id="1010" dur="1" fill="hold">
                                            <p:stCondLst>
                                              <p:cond delay="0"/>
                                            </p:stCondLst>
                                          </p:cTn>
                                          <p:tgtEl>
                                            <p:spTgt spid="7"/>
                                          </p:tgtEl>
                                          <p:attrNameLst>
                                            <p:attrName>style.visibility</p:attrName>
                                          </p:attrNameLst>
                                        </p:cBhvr>
                                        <p:to>
                                          <p:strVal val="visible"/>
                                        </p:to>
                                      </p:set>
                                      <p:animEffect transition="in" filter="fade">
                                        <p:cBhvr>
                                          <p:cTn id="1011" dur="350"/>
                                          <p:tgtEl>
                                            <p:spTgt spid="7"/>
                                          </p:tgtEl>
                                        </p:cBhvr>
                                      </p:animEffect>
                                    </p:childTnLst>
                                  </p:cTn>
                                </p:par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1012" fill="hold">
                        <p:stCondLst>
                          <p:cond delay="indefinite"/>
                        </p:stCondLst>
                        <p:childTnLst>
                          <p:par>
                            <p:cTn id="1013" fill="hold">
                              <p:stCondLst>
                                <p:cond delay="0"/>
                              </p:stCondLst>
                              <p:childTnLst>
                                <p:par>
                                  <p:cTn id="1014" presetID="10" presetClass="entr" presetSubtype="0" fill="hold" grpId="0" nodeType="clickEffect">
                                    <p:stCondLst>
                                      <p:cond delay="0"/>
                                    </p:stCondLst>
                                    <p:childTnLst>
                                      <p:set>
                                        <p:cBhvr>
                                          <p:cTn id="1015" dur="1" fill="hold">
                                            <p:stCondLst>
                                              <p:cond delay="0"/>
                                            </p:stCondLst>
                                          </p:cTn>
                                          <p:tgtEl>
                                            <p:spTgt spid="9"/>
                                          </p:tgtEl>
                                          <p:attrNameLst>
                                            <p:attrName>style.visibility</p:attrName>
                                          </p:attrNameLst>
                                        </p:cBhvr>
                                        <p:to>
                                          <p:strVal val="visible"/>
                                        </p:to>
                                      </p:set>
                                      <p:animEffect transition="in" filter="fade">
                                        <p:cBhvr>
                                          <p:cTn id="1016" dur="350"/>
                                          <p:tgtEl>
                                            <p:spTgt spid="9"/>
                                          </p:tgtEl>
                                        </p:cBhvr>
                                      </p:animEffect>
                                    </p:childTnLst>
                                  </p:cTn>
                                </p:par>
                              </p:childTnLst>
                            </p:cTn>
                          </p:par>
                        </p:childTnLst>
                      </p:cTn>
                    </p:par>
                  </p:childTnLst>
                </p:cTn>
                <p:prevCondLst>
                  <p:cond evt="onPrev" delay="0">
                    <p:tgtEl>
                      <p:sldTgt/>
                    </p:tgtEl>
                  </p:cond>
                </p:prevCondLst>
                <p:nextCondLst>
                  <p:cond evt="onNext" delay="0">
                    <p:tgtEl>
                      <p:sldTgt/>
                    </p:tgtEl>
                  </p:cond>
                </p:nextCondLst>
              </p:seq>
            </p:childTnLst>
          </p:cTn>
        </p:par>
      </p:tnLst>
    </p:timing>
    <p:extLst>
      <p:ext uri="{BB962C8B-B14F-4D97-AF65-F5344CB8AC3E}">
        <p14:creationId xmlns:p14="http://schemas.microsoft.com/office/powerpoint/2010/main" val="42747700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section-5">
            <a:extLst xmlns:a="http://schemas.openxmlformats.org/drawingml/2006/main">
              <a:ext uri="{FF2B5EF4-FFF2-40B4-BE49-F238E27FC236}">
                <a16:creationId xmlns:a16="http://schemas.microsoft.com/office/drawing/2014/main" id="{5479C7F4-4AC7-480D-9E22-3D338E3CF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47650"/>
            <a:ext cx="419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769E0"/>
                </a:solidFill>
              </a:defRPr>
            </a:pPr>
            <a:r>
              <a:rPr sz="1050" b="1">
                <a:solidFill>
                  <a:srgbClr val="1769E0"/>
                </a:solidFill>
              </a:rPr>
              <a:t>02 / CĂN CỨ</a:t>
            </a:r>
          </a:p>
        </p:txBody>
      </p:sp>
      <p:sp>
        <p:nvSpPr>
          <p:cNvPr id="2" name="title-5">
            <a:extLst xmlns:a="http://schemas.openxmlformats.org/drawingml/2006/main">
              <a:ext uri="{FF2B5EF4-FFF2-40B4-BE49-F238E27FC236}">
                <a16:creationId xmlns:a16="http://schemas.microsoft.com/office/drawing/2014/main" id="{EF1B256E-D7E8-438C-9237-E6278DADA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0550"/>
            <a:ext cx="11144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0131A"/>
                </a:solidFill>
              </a:defRPr>
            </a:pPr>
            <a:r>
              <a:rPr sz="2400" b="1">
                <a:solidFill>
                  <a:srgbClr val="10131A"/>
                </a:solidFill>
              </a:rPr>
              <a:t>Công văn 3456 định hướng triển khai phù hợp, không gây quá tải</a:t>
            </a:r>
          </a:p>
        </p:txBody>
      </p:sp>
      <p:sp>
        <p:nvSpPr>
          <p:cNvPr id="3" name="rule-5">
            <a:extLst xmlns:a="http://schemas.openxmlformats.org/drawingml/2006/main">
              <a:ext uri="{FF2B5EF4-FFF2-40B4-BE49-F238E27FC236}">
                <a16:creationId xmlns:a16="http://schemas.microsoft.com/office/drawing/2014/main" id="{6ED1A87C-833B-4F72-893E-EB1DEAC27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04950"/>
            <a:ext cx="11391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4" name="page-5">
            <a:extLst xmlns:a="http://schemas.openxmlformats.org/drawingml/2006/main">
              <a:ext uri="{FF2B5EF4-FFF2-40B4-BE49-F238E27FC236}">
                <a16:creationId xmlns:a16="http://schemas.microsoft.com/office/drawing/2014/main" id="{ED80A961-1FB9-464A-9B25-F4813FAE2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86500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E6673"/>
                </a:solidFill>
              </a:defRPr>
            </a:pPr>
            <a:r>
              <a:rPr sz="975" b="0">
                <a:solidFill>
                  <a:srgbClr val="5E6673"/>
                </a:solidFill>
              </a:rPr>
              <a:t>05</a:t>
            </a:r>
          </a:p>
        </p:txBody>
      </p:sp>
      <p:sp>
        <p:nvSpPr>
          <p:cNvPr id="5" name="anim-05-0">
            <a:extLst xmlns:a="http://schemas.openxmlformats.org/drawingml/2006/main">
              <a:ext uri="{FF2B5EF4-FFF2-40B4-BE49-F238E27FC236}">
                <a16:creationId xmlns:a16="http://schemas.microsoft.com/office/drawing/2014/main" id="{19210433-6243-4962-8664-12EC01960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095500"/>
            <a:ext cx="5286375" cy="1524000"/>
          </a:xfrm>
          <a:prstGeom xmlns:a="http://schemas.openxmlformats.org/drawingml/2006/main" prst="roundRect">
            <a:avLst>
              <a:gd name="adj" fmla="val 7500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0131A"/>
                </a:solidFill>
              </a:defRPr>
            </a:pPr>
            <a:r>
              <a:rPr sz="1650" b="0">
                <a:solidFill>
                  <a:srgbClr val="10131A"/>
                </a:solidFill>
              </a:rPr>
              <a:t>PHÙ HỢP - THỰC TIỄN</a:t>
            </a:r>
          </a:p>
          <a:p xmlns:a="http://schemas.openxmlformats.org/drawingml/2006/main">
            <a:pPr algn="l">
              <a:defRPr sz="1650" b="0">
                <a:solidFill>
                  <a:srgbClr val="10131A"/>
                </a:solidFill>
              </a:defRPr>
            </a:pPr>
            <a:r>
              <a:rPr sz="1650" b="0">
                <a:solidFill>
                  <a:srgbClr val="10131A"/>
                </a:solidFill>
              </a:rPr>
              <a:t>Triển khai từng bước, bám điều kiện Việt Nam và nhà trường.</a:t>
            </a:r>
          </a:p>
        </p:txBody>
      </p:sp>
      <p:sp>
        <p:nvSpPr>
          <p:cNvPr id="6" name="anim-05-0-accent">
            <a:extLst xmlns:a="http://schemas.openxmlformats.org/drawingml/2006/main">
              <a:ext uri="{FF2B5EF4-FFF2-40B4-BE49-F238E27FC236}">
                <a16:creationId xmlns:a16="http://schemas.microsoft.com/office/drawing/2014/main" id="{D935A84F-EE81-4C86-A581-C041CC413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095500"/>
            <a:ext cx="7620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9E0"/>
          </a:solidFill>
          <a:ln xmlns:a="http://schemas.openxmlformats.org/drawingml/2006/main" w="0">
            <a:solidFill>
              <a:srgbClr val="1769E0"/>
            </a:solidFill>
            <a:prstDash val="solid"/>
          </a:ln>
        </p:spPr>
      </p:sp>
      <p:sp>
        <p:nvSpPr>
          <p:cNvPr id="7" name="anim-05-1">
            <a:extLst xmlns:a="http://schemas.openxmlformats.org/drawingml/2006/main">
              <a:ext uri="{FF2B5EF4-FFF2-40B4-BE49-F238E27FC236}">
                <a16:creationId xmlns:a16="http://schemas.microsoft.com/office/drawing/2014/main" id="{BE6BA5B0-517D-4145-B9A6-DC66BBF35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095500"/>
            <a:ext cx="5286375" cy="1524000"/>
          </a:xfrm>
          <a:prstGeom xmlns:a="http://schemas.openxmlformats.org/drawingml/2006/main" prst="roundRect">
            <a:avLst>
              <a:gd name="adj" fmla="val 7500"/>
            </a:avLst>
          </a:prstGeom>
          <a:solidFill xmlns:a="http://schemas.openxmlformats.org/drawingml/2006/main">
            <a:srgbClr val="F0F2F5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0131A"/>
                </a:solidFill>
              </a:defRPr>
            </a:pPr>
            <a:r>
              <a:rPr sz="1650" b="0">
                <a:solidFill>
                  <a:srgbClr val="10131A"/>
                </a:solidFill>
              </a:rPr>
              <a:t>KHÔNG QUÁ TẢI</a:t>
            </a:r>
          </a:p>
          <a:p xmlns:a="http://schemas.openxmlformats.org/drawingml/2006/main">
            <a:pPr algn="l">
              <a:defRPr sz="1650" b="0">
                <a:solidFill>
                  <a:srgbClr val="10131A"/>
                </a:solidFill>
              </a:defRPr>
            </a:pPr>
            <a:r>
              <a:rPr sz="1650" b="0">
                <a:solidFill>
                  <a:srgbClr val="10131A"/>
                </a:solidFill>
              </a:rPr>
              <a:t>Không làm thay đổi yêu cầu cần đạt của môn học, không thêm áp lực hình thức.</a:t>
            </a:r>
          </a:p>
        </p:txBody>
      </p:sp>
      <p:sp>
        <p:nvSpPr>
          <p:cNvPr id="8" name="anim-05-1-accent">
            <a:extLst xmlns:a="http://schemas.openxmlformats.org/drawingml/2006/main">
              <a:ext uri="{FF2B5EF4-FFF2-40B4-BE49-F238E27FC236}">
                <a16:creationId xmlns:a16="http://schemas.microsoft.com/office/drawing/2014/main" id="{89004817-4695-4BAC-ACA0-CE374EF3F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095500"/>
            <a:ext cx="7620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4C2F0"/>
          </a:solidFill>
          <a:ln xmlns:a="http://schemas.openxmlformats.org/drawingml/2006/main" w="0">
            <a:solidFill>
              <a:srgbClr val="44C2F0"/>
            </a:solidFill>
            <a:prstDash val="solid"/>
          </a:ln>
        </p:spPr>
      </p:sp>
      <p:sp>
        <p:nvSpPr>
          <p:cNvPr id="9" name="anim-05-2">
            <a:extLst xmlns:a="http://schemas.openxmlformats.org/drawingml/2006/main">
              <a:ext uri="{FF2B5EF4-FFF2-40B4-BE49-F238E27FC236}">
                <a16:creationId xmlns:a16="http://schemas.microsoft.com/office/drawing/2014/main" id="{B01F360E-938C-4D04-ACC7-164776C84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4143375"/>
            <a:ext cx="5286375" cy="1524000"/>
          </a:xfrm>
          <a:prstGeom xmlns:a="http://schemas.openxmlformats.org/drawingml/2006/main" prst="roundRect">
            <a:avLst>
              <a:gd name="adj" fmla="val 7500"/>
            </a:avLst>
          </a:prstGeom>
          <a:solidFill xmlns:a="http://schemas.openxmlformats.org/drawingml/2006/main">
            <a:srgbClr val="F0F2F5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0131A"/>
                </a:solidFill>
              </a:defRPr>
            </a:pPr>
            <a:r>
              <a:rPr sz="1650" b="0">
                <a:solidFill>
                  <a:srgbClr val="10131A"/>
                </a:solidFill>
              </a:rPr>
              <a:t>TẬN DỤNG NGUỒN LỰC</a:t>
            </a:r>
          </a:p>
          <a:p xmlns:a="http://schemas.openxmlformats.org/drawingml/2006/main">
            <a:pPr algn="l">
              <a:defRPr sz="1650" b="0">
                <a:solidFill>
                  <a:srgbClr val="10131A"/>
                </a:solidFill>
              </a:defRPr>
            </a:pPr>
            <a:r>
              <a:rPr sz="1650" b="0">
                <a:solidFill>
                  <a:srgbClr val="10131A"/>
                </a:solidFill>
              </a:rPr>
              <a:t>Phát huy thiết bị, phần mềm và nền tảng hiện có; tránh đầu tư dàn trải.</a:t>
            </a:r>
          </a:p>
        </p:txBody>
      </p:sp>
      <p:sp>
        <p:nvSpPr>
          <p:cNvPr id="10" name="anim-05-2-accent">
            <a:extLst xmlns:a="http://schemas.openxmlformats.org/drawingml/2006/main">
              <a:ext uri="{FF2B5EF4-FFF2-40B4-BE49-F238E27FC236}">
                <a16:creationId xmlns:a16="http://schemas.microsoft.com/office/drawing/2014/main" id="{1DA44424-1548-4738-8B09-9D1FFE49D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4143375"/>
            <a:ext cx="7620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F59E0B"/>
            </a:solidFill>
            <a:prstDash val="solid"/>
          </a:ln>
        </p:spPr>
      </p:sp>
      <p:sp>
        <p:nvSpPr>
          <p:cNvPr id="11" name="anim-05-3">
            <a:extLst xmlns:a="http://schemas.openxmlformats.org/drawingml/2006/main">
              <a:ext uri="{FF2B5EF4-FFF2-40B4-BE49-F238E27FC236}">
                <a16:creationId xmlns:a16="http://schemas.microsoft.com/office/drawing/2014/main" id="{AFD834FA-37F9-475F-85D4-22569638A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143375"/>
            <a:ext cx="5286375" cy="1524000"/>
          </a:xfrm>
          <a:prstGeom xmlns:a="http://schemas.openxmlformats.org/drawingml/2006/main" prst="roundRect">
            <a:avLst>
              <a:gd name="adj" fmla="val 7500"/>
            </a:avLst>
          </a:prstGeom>
          <a:solidFill xmlns:a="http://schemas.openxmlformats.org/drawingml/2006/main">
            <a:srgbClr val="F0F2F5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0131A"/>
                </a:solidFill>
              </a:defRPr>
            </a:pPr>
            <a:r>
              <a:rPr sz="1650" b="0">
                <a:solidFill>
                  <a:srgbClr val="10131A"/>
                </a:solidFill>
              </a:rPr>
              <a:t>CÔNG BẰNG</a:t>
            </a:r>
          </a:p>
          <a:p xmlns:a="http://schemas.openxmlformats.org/drawingml/2006/main">
            <a:pPr algn="l">
              <a:defRPr sz="1650" b="0">
                <a:solidFill>
                  <a:srgbClr val="10131A"/>
                </a:solidFill>
              </a:defRPr>
            </a:pPr>
            <a:r>
              <a:rPr sz="1650" b="0">
                <a:solidFill>
                  <a:srgbClr val="10131A"/>
                </a:solidFill>
              </a:rPr>
              <a:t>Mọi học sinh đều có cơ hội tiếp cận; có phương án thiết bị dùng chung/không thiết bị.</a:t>
            </a:r>
          </a:p>
        </p:txBody>
      </p:sp>
      <p:sp>
        <p:nvSpPr>
          <p:cNvPr id="12" name="anim-05-3-accent">
            <a:extLst xmlns:a="http://schemas.openxmlformats.org/drawingml/2006/main">
              <a:ext uri="{FF2B5EF4-FFF2-40B4-BE49-F238E27FC236}">
                <a16:creationId xmlns:a16="http://schemas.microsoft.com/office/drawing/2014/main" id="{7E85DCB5-10D3-4F9F-B45C-D54A16B33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143375"/>
            <a:ext cx="7620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8A5A"/>
          </a:solidFill>
          <a:ln xmlns:a="http://schemas.openxmlformats.org/drawingml/2006/main" w="0">
            <a:solidFill>
              <a:srgbClr val="1B8A5A"/>
            </a:solidFill>
            <a:prstDash val="solid"/>
          </a:ln>
        </p:spPr>
      </p:sp>
      <p:sp>
        <p:nvSpPr>
          <p:cNvPr id="13" name="source-5">
            <a:extLst xmlns:a="http://schemas.openxmlformats.org/drawingml/2006/main">
              <a:ext uri="{FF2B5EF4-FFF2-40B4-BE49-F238E27FC236}">
                <a16:creationId xmlns:a16="http://schemas.microsoft.com/office/drawing/2014/main" id="{AADE67E6-5137-4876-937F-0426E888A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0"/>
            <a:ext cx="990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E6673"/>
                </a:solidFill>
              </a:defRPr>
            </a:pPr>
            <a:r>
              <a:rPr sz="825" b="0">
                <a:solidFill>
                  <a:srgbClr val="5E6673"/>
                </a:solidFill>
              </a:rPr>
              <a:t>Nguồn: Công văn 3456/BGDĐT-GDPT, mục I.2.</a:t>
            </a:r>
          </a:p>
        </p:txBody>
      </p:sp>
    </p:spTree>
    <p:transition spd="fast">
      <p:fade/>
    </p:transition>
    <p:timing>
      <p:tnLst>
        <p:par>
          <p:cTn id="1000" dur="indefinite" restart="never" nodeType="tmRoot">
            <p:childTnLst>
              <p:seq concurrent="1" nextAc="seek">
                <p:cTn id="1001" dur="indefinite" nodeType="mainSeq">
                  <p:childTnLst>
                    <p:par>
                      <p:cTn id="1002" fill="hold">
                        <p:stCondLst>
                          <p:cond delay="indefinite"/>
                        </p:stCondLst>
                        <p:childTnLst>
                          <p:par>
                            <p:cTn id="1003" fill="hold">
                              <p:stCondLst>
                                <p:cond delay="0"/>
                              </p:stCondLst>
                              <p:childTnLst>
                                <p:par>
                                  <p:cTn id="1004" presetID="10" presetClass="entr" presetSubtype="0" fill="hold" grpId="0" nodeType="clickEffect">
                                    <p:stCondLst>
                                      <p:cond delay="0"/>
                                    </p:stCondLst>
                                    <p:childTnLst>
                                      <p:set>
                                        <p:cBhvr>
                                          <p:cTn id="1005" dur="1" fill="hold">
                                            <p:stCondLst>
                                              <p:cond delay="0"/>
                                            </p:stCondLst>
                                          </p:cTn>
                                          <p:tgtEl>
                                            <p:spTgt spid="5"/>
                                          </p:tgtEl>
                                          <p:attrNameLst>
                                            <p:attrName>style.visibility</p:attrName>
                                          </p:attrNameLst>
                                        </p:cBhvr>
                                        <p:to>
                                          <p:strVal val="visible"/>
                                        </p:to>
                                      </p:set>
                                      <p:animEffect transition="in" filter="fade">
                                        <p:cBhvr>
                                          <p:cTn id="1006" dur="350"/>
                                          <p:tgtEl>
                                            <p:spTgt spid="5"/>
                                          </p:tgtEl>
                                        </p:cBhvr>
                                      </p:animEffect>
                                    </p:childTnLst>
                                  </p:cTn>
                                </p:par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1007" fill="hold">
                        <p:stCondLst>
                          <p:cond delay="indefinite"/>
                        </p:stCondLst>
                        <p:childTnLst>
                          <p:par>
                            <p:cTn id="1008" fill="hold">
                              <p:stCondLst>
                                <p:cond delay="0"/>
                              </p:stCondLst>
                              <p:childTnLst>
                                <p:par>
                                  <p:cTn id="1009" presetID="10" presetClass="entr" presetSubtype="0" fill="hold" grpId="0" nodeType="clickEffect">
                                    <p:stCondLst>
                                      <p:cond delay="0"/>
                                    </p:stCondLst>
                                    <p:childTnLst>
                                      <p:set>
                                        <p:cBhvr>
                                          <p:cTn id="1010" dur="1" fill="hold">
                                            <p:stCondLst>
                                              <p:cond delay="0"/>
                                            </p:stCondLst>
                                          </p:cTn>
                                          <p:tgtEl>
                                            <p:spTgt spid="7"/>
                                          </p:tgtEl>
                                          <p:attrNameLst>
                                            <p:attrName>style.visibility</p:attrName>
                                          </p:attrNameLst>
                                        </p:cBhvr>
                                        <p:to>
                                          <p:strVal val="visible"/>
                                        </p:to>
                                      </p:set>
                                      <p:animEffect transition="in" filter="fade">
                                        <p:cBhvr>
                                          <p:cTn id="1011" dur="350"/>
                                          <p:tgtEl>
                                            <p:spTgt spid="7"/>
                                          </p:tgtEl>
                                        </p:cBhvr>
                                      </p:animEffect>
                                    </p:childTnLst>
                                  </p:cTn>
                                </p:par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1012" fill="hold">
                        <p:stCondLst>
                          <p:cond delay="indefinite"/>
                        </p:stCondLst>
                        <p:childTnLst>
                          <p:par>
                            <p:cTn id="1013" fill="hold">
                              <p:stCondLst>
                                <p:cond delay="0"/>
                              </p:stCondLst>
                              <p:childTnLst>
                                <p:par>
                                  <p:cTn id="1014" presetID="10" presetClass="entr" presetSubtype="0" fill="hold" grpId="0" nodeType="clickEffect">
                                    <p:stCondLst>
                                      <p:cond delay="0"/>
                                    </p:stCondLst>
                                    <p:childTnLst>
                                      <p:set>
                                        <p:cBhvr>
                                          <p:cTn id="1015" dur="1" fill="hold">
                                            <p:stCondLst>
                                              <p:cond delay="0"/>
                                            </p:stCondLst>
                                          </p:cTn>
                                          <p:tgtEl>
                                            <p:spTgt spid="9"/>
                                          </p:tgtEl>
                                          <p:attrNameLst>
                                            <p:attrName>style.visibility</p:attrName>
                                          </p:attrNameLst>
                                        </p:cBhvr>
                                        <p:to>
                                          <p:strVal val="visible"/>
                                        </p:to>
                                      </p:set>
                                      <p:animEffect transition="in" filter="fade">
                                        <p:cBhvr>
                                          <p:cTn id="1016" dur="350"/>
                                          <p:tgtEl>
                                            <p:spTgt spid="9"/>
                                          </p:tgtEl>
                                        </p:cBhvr>
                                      </p:animEffect>
                                    </p:childTnLst>
                                  </p:cTn>
                                </p:par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1017" fill="hold">
                        <p:stCondLst>
                          <p:cond delay="indefinite"/>
                        </p:stCondLst>
                        <p:childTnLst>
                          <p:par>
                            <p:cTn id="1018" fill="hold">
                              <p:stCondLst>
                                <p:cond delay="0"/>
                              </p:stCondLst>
                              <p:childTnLst>
                                <p:par>
                                  <p:cTn id="1019" presetID="10" presetClass="entr" presetSubtype="0" fill="hold" grpId="0" nodeType="clickEffect">
                                    <p:stCondLst>
                                      <p:cond delay="0"/>
                                    </p:stCondLst>
                                    <p:childTnLst>
                                      <p:set>
                                        <p:cBhvr>
                                          <p:cTn id="1020" dur="1" fill="hold">
                                            <p:stCondLst>
                                              <p:cond delay="0"/>
                                            </p:stCondLst>
                                          </p:cTn>
                                          <p:tgtEl>
                                            <p:spTgt spid="11"/>
                                          </p:tgtEl>
                                          <p:attrNameLst>
                                            <p:attrName>style.visibility</p:attrName>
                                          </p:attrNameLst>
                                        </p:cBhvr>
                                        <p:to>
                                          <p:strVal val="visible"/>
                                        </p:to>
                                      </p:set>
                                      <p:animEffect transition="in" filter="fade">
                                        <p:cBhvr>
                                          <p:cTn id="1021" dur="350"/>
                                          <p:tgtEl>
                                            <p:spTgt spid="11"/>
                                          </p:tgtEl>
                                        </p:cBhvr>
                                      </p:animEffect>
                                    </p:childTnLst>
                                  </p:cTn>
                                </p:par>
                              </p:childTnLst>
                            </p:cTn>
                          </p:par>
                        </p:childTnLst>
                      </p:cTn>
                    </p:par>
                  </p:childTnLst>
                </p:cTn>
                <p:prevCondLst>
                  <p:cond evt="onPrev" delay="0">
                    <p:tgtEl>
                      <p:sldTgt/>
                    </p:tgtEl>
                  </p:cond>
                </p:prevCondLst>
                <p:nextCondLst>
                  <p:cond evt="onNext" delay="0">
                    <p:tgtEl>
                      <p:sldTgt/>
                    </p:tgtEl>
                  </p:cond>
                </p:nextCondLst>
              </p:seq>
            </p:childTnLst>
          </p:cTn>
        </p:par>
      </p:tnLst>
    </p:timing>
    <p:extLst>
      <p:ext uri="{BB962C8B-B14F-4D97-AF65-F5344CB8AC3E}">
        <p14:creationId xmlns:p14="http://schemas.microsoft.com/office/powerpoint/2010/main" val="213823139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section-6">
            <a:extLst xmlns:a="http://schemas.openxmlformats.org/drawingml/2006/main">
              <a:ext uri="{FF2B5EF4-FFF2-40B4-BE49-F238E27FC236}">
                <a16:creationId xmlns:a16="http://schemas.microsoft.com/office/drawing/2014/main" id="{54AE5047-69F8-4DB5-93E0-3AC249485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47650"/>
            <a:ext cx="419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769E0"/>
                </a:solidFill>
              </a:defRPr>
            </a:pPr>
            <a:r>
              <a:rPr sz="1050" b="1">
                <a:solidFill>
                  <a:srgbClr val="1769E0"/>
                </a:solidFill>
              </a:rPr>
              <a:t>03 / KHUNG NĂNG LỰC</a:t>
            </a:r>
          </a:p>
        </p:txBody>
      </p:sp>
      <p:sp>
        <p:nvSpPr>
          <p:cNvPr id="2" name="title-6">
            <a:extLst xmlns:a="http://schemas.openxmlformats.org/drawingml/2006/main">
              <a:ext uri="{FF2B5EF4-FFF2-40B4-BE49-F238E27FC236}">
                <a16:creationId xmlns:a16="http://schemas.microsoft.com/office/drawing/2014/main" id="{7CAC658B-DBE8-4E7D-A291-352F0499F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0550"/>
            <a:ext cx="11144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0131A"/>
                </a:solidFill>
              </a:defRPr>
            </a:pPr>
            <a:r>
              <a:rPr sz="2400" b="1">
                <a:solidFill>
                  <a:srgbClr val="10131A"/>
                </a:solidFill>
              </a:rPr>
              <a:t>Sáu miền năng lực số phải đi cùng nhau trong trải nghiệm học tập</a:t>
            </a:r>
          </a:p>
        </p:txBody>
      </p:sp>
      <p:sp>
        <p:nvSpPr>
          <p:cNvPr id="3" name="rule-6">
            <a:extLst xmlns:a="http://schemas.openxmlformats.org/drawingml/2006/main">
              <a:ext uri="{FF2B5EF4-FFF2-40B4-BE49-F238E27FC236}">
                <a16:creationId xmlns:a16="http://schemas.microsoft.com/office/drawing/2014/main" id="{3C64C3C6-82FE-44AD-B162-9633A3385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04950"/>
            <a:ext cx="11391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4" name="page-6">
            <a:extLst xmlns:a="http://schemas.openxmlformats.org/drawingml/2006/main">
              <a:ext uri="{FF2B5EF4-FFF2-40B4-BE49-F238E27FC236}">
                <a16:creationId xmlns:a16="http://schemas.microsoft.com/office/drawing/2014/main" id="{4357EA7B-A0EB-459D-9A10-ED4344046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86500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E6673"/>
                </a:solidFill>
              </a:defRPr>
            </a:pPr>
            <a:r>
              <a:rPr sz="975" b="0">
                <a:solidFill>
                  <a:srgbClr val="5E6673"/>
                </a:solidFill>
              </a:rPr>
              <a:t>06</a:t>
            </a:r>
          </a:p>
        </p:txBody>
      </p:sp>
      <p:sp>
        <p:nvSpPr>
          <p:cNvPr id="5" name="anim-06-0">
            <a:extLst xmlns:a="http://schemas.openxmlformats.org/drawingml/2006/main">
              <a:ext uri="{FF2B5EF4-FFF2-40B4-BE49-F238E27FC236}">
                <a16:creationId xmlns:a16="http://schemas.microsoft.com/office/drawing/2014/main" id="{9C074B7F-48D2-4086-AEB3-175B3CF7E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047875"/>
            <a:ext cx="342900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0131A"/>
                </a:solidFill>
              </a:defRPr>
            </a:pPr>
            <a:r>
              <a:rPr sz="1500" b="0">
                <a:solidFill>
                  <a:srgbClr val="10131A"/>
                </a:solidFill>
              </a:rPr>
              <a:t>1. KHAI THÁC DỮ LIỆU</a:t>
            </a:r>
          </a:p>
          <a:p xmlns:a="http://schemas.openxmlformats.org/drawingml/2006/main">
            <a:pPr algn="l">
              <a:defRPr sz="1500" b="0">
                <a:solidFill>
                  <a:srgbClr val="10131A"/>
                </a:solidFill>
              </a:defRPr>
            </a:pPr>
            <a:r>
              <a:rPr sz="1500" b="0">
                <a:solidFill>
                  <a:srgbClr val="10131A"/>
                </a:solidFill>
              </a:rPr>
              <a:t>Tìm kiếm, đánh giá, tổ chức và sử dụng dữ liệu/thông tin.</a:t>
            </a:r>
          </a:p>
        </p:txBody>
      </p:sp>
      <p:sp>
        <p:nvSpPr>
          <p:cNvPr id="6" name="anim-06-0-accent">
            <a:extLst xmlns:a="http://schemas.openxmlformats.org/drawingml/2006/main">
              <a:ext uri="{FF2B5EF4-FFF2-40B4-BE49-F238E27FC236}">
                <a16:creationId xmlns:a16="http://schemas.microsoft.com/office/drawing/2014/main" id="{40489E05-9912-4215-8AD6-43A0F7F36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047875"/>
            <a:ext cx="762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9E0"/>
          </a:solidFill>
          <a:ln xmlns:a="http://schemas.openxmlformats.org/drawingml/2006/main" w="0">
            <a:solidFill>
              <a:srgbClr val="1769E0"/>
            </a:solidFill>
            <a:prstDash val="solid"/>
          </a:ln>
        </p:spPr>
      </p:sp>
      <p:sp>
        <p:nvSpPr>
          <p:cNvPr id="7" name="anim-06-1">
            <a:extLst xmlns:a="http://schemas.openxmlformats.org/drawingml/2006/main">
              <a:ext uri="{FF2B5EF4-FFF2-40B4-BE49-F238E27FC236}">
                <a16:creationId xmlns:a16="http://schemas.microsoft.com/office/drawing/2014/main" id="{78B26A79-1EC7-405C-A6E0-C9C697C07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047875"/>
            <a:ext cx="342900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0F2F5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0131A"/>
                </a:solidFill>
              </a:defRPr>
            </a:pPr>
            <a:r>
              <a:rPr sz="1500" b="0">
                <a:solidFill>
                  <a:srgbClr val="10131A"/>
                </a:solidFill>
              </a:rPr>
              <a:t>2. GIAO TIẾP - HỢP TÁC</a:t>
            </a:r>
          </a:p>
          <a:p xmlns:a="http://schemas.openxmlformats.org/drawingml/2006/main">
            <a:pPr algn="l">
              <a:defRPr sz="1500" b="0">
                <a:solidFill>
                  <a:srgbClr val="10131A"/>
                </a:solidFill>
              </a:defRPr>
            </a:pPr>
            <a:r>
              <a:rPr sz="1500" b="0">
                <a:solidFill>
                  <a:srgbClr val="10131A"/>
                </a:solidFill>
              </a:rPr>
              <a:t>Tương tác, chia sẻ, hợp tác và quản lí danh tính số.</a:t>
            </a:r>
          </a:p>
        </p:txBody>
      </p:sp>
      <p:sp>
        <p:nvSpPr>
          <p:cNvPr id="8" name="anim-06-1-accent">
            <a:extLst xmlns:a="http://schemas.openxmlformats.org/drawingml/2006/main">
              <a:ext uri="{FF2B5EF4-FFF2-40B4-BE49-F238E27FC236}">
                <a16:creationId xmlns:a16="http://schemas.microsoft.com/office/drawing/2014/main" id="{A3FC8816-2315-48F0-8AB3-61C8741AF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047875"/>
            <a:ext cx="762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4C2F0"/>
          </a:solidFill>
          <a:ln xmlns:a="http://schemas.openxmlformats.org/drawingml/2006/main" w="0">
            <a:solidFill>
              <a:srgbClr val="44C2F0"/>
            </a:solidFill>
            <a:prstDash val="solid"/>
          </a:ln>
        </p:spPr>
      </p:sp>
      <p:sp>
        <p:nvSpPr>
          <p:cNvPr id="9" name="anim-06-2">
            <a:extLst xmlns:a="http://schemas.openxmlformats.org/drawingml/2006/main">
              <a:ext uri="{FF2B5EF4-FFF2-40B4-BE49-F238E27FC236}">
                <a16:creationId xmlns:a16="http://schemas.microsoft.com/office/drawing/2014/main" id="{C2857155-D470-4E79-AC78-A87852298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2047875"/>
            <a:ext cx="342900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0F2F5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0131A"/>
                </a:solidFill>
              </a:defRPr>
            </a:pPr>
            <a:r>
              <a:rPr sz="1500" b="0">
                <a:solidFill>
                  <a:srgbClr val="10131A"/>
                </a:solidFill>
              </a:rPr>
              <a:t>3. SÁNG TẠO NỘI DUNG</a:t>
            </a:r>
          </a:p>
          <a:p xmlns:a="http://schemas.openxmlformats.org/drawingml/2006/main">
            <a:pPr algn="l">
              <a:defRPr sz="1500" b="0">
                <a:solidFill>
                  <a:srgbClr val="10131A"/>
                </a:solidFill>
              </a:defRPr>
            </a:pPr>
            <a:r>
              <a:rPr sz="1500" b="0">
                <a:solidFill>
                  <a:srgbClr val="10131A"/>
                </a:solidFill>
              </a:rPr>
              <a:t>Tạo, chỉnh sửa, chia sẻ nội dung; tôn trọng bản quyền.</a:t>
            </a:r>
          </a:p>
        </p:txBody>
      </p:sp>
      <p:sp>
        <p:nvSpPr>
          <p:cNvPr id="10" name="anim-06-2-accent">
            <a:extLst xmlns:a="http://schemas.openxmlformats.org/drawingml/2006/main">
              <a:ext uri="{FF2B5EF4-FFF2-40B4-BE49-F238E27FC236}">
                <a16:creationId xmlns:a16="http://schemas.microsoft.com/office/drawing/2014/main" id="{5C0A244F-2B59-4603-8078-0E78C652C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2047875"/>
            <a:ext cx="762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F59E0B"/>
            </a:solidFill>
            <a:prstDash val="solid"/>
          </a:ln>
        </p:spPr>
      </p:sp>
      <p:sp>
        <p:nvSpPr>
          <p:cNvPr id="11" name="anim-06-3">
            <a:extLst xmlns:a="http://schemas.openxmlformats.org/drawingml/2006/main">
              <a:ext uri="{FF2B5EF4-FFF2-40B4-BE49-F238E27FC236}">
                <a16:creationId xmlns:a16="http://schemas.microsoft.com/office/drawing/2014/main" id="{0E3F1B9B-6B02-46FE-9254-242C12F7B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4000500"/>
            <a:ext cx="342900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0F2F5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0131A"/>
                </a:solidFill>
              </a:defRPr>
            </a:pPr>
            <a:r>
              <a:rPr sz="1500" b="0">
                <a:solidFill>
                  <a:srgbClr val="10131A"/>
                </a:solidFill>
              </a:rPr>
              <a:t>4. AN TOÀN</a:t>
            </a:r>
          </a:p>
          <a:p xmlns:a="http://schemas.openxmlformats.org/drawingml/2006/main">
            <a:pPr algn="l">
              <a:defRPr sz="1500" b="0">
                <a:solidFill>
                  <a:srgbClr val="10131A"/>
                </a:solidFill>
              </a:defRPr>
            </a:pPr>
            <a:r>
              <a:rPr sz="1500" b="0">
                <a:solidFill>
                  <a:srgbClr val="10131A"/>
                </a:solidFill>
              </a:rPr>
              <a:t>Bảo vệ thiết bị, dữ liệu, sức khỏe và môi trường số.</a:t>
            </a:r>
          </a:p>
        </p:txBody>
      </p:sp>
      <p:sp>
        <p:nvSpPr>
          <p:cNvPr id="12" name="anim-06-3-accent">
            <a:extLst xmlns:a="http://schemas.openxmlformats.org/drawingml/2006/main">
              <a:ext uri="{FF2B5EF4-FFF2-40B4-BE49-F238E27FC236}">
                <a16:creationId xmlns:a16="http://schemas.microsoft.com/office/drawing/2014/main" id="{C9D71CFA-0228-4A4A-A783-E8440B750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4000500"/>
            <a:ext cx="762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4A4A"/>
          </a:solidFill>
          <a:ln xmlns:a="http://schemas.openxmlformats.org/drawingml/2006/main" w="0">
            <a:solidFill>
              <a:srgbClr val="D84A4A"/>
            </a:solidFill>
            <a:prstDash val="solid"/>
          </a:ln>
        </p:spPr>
      </p:sp>
      <p:sp>
        <p:nvSpPr>
          <p:cNvPr id="13" name="anim-06-4">
            <a:extLst xmlns:a="http://schemas.openxmlformats.org/drawingml/2006/main">
              <a:ext uri="{FF2B5EF4-FFF2-40B4-BE49-F238E27FC236}">
                <a16:creationId xmlns:a16="http://schemas.microsoft.com/office/drawing/2014/main" id="{968E18B6-2BC8-4FB6-9DBF-937AAD5ED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4000500"/>
            <a:ext cx="342900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0F2F5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0131A"/>
                </a:solidFill>
              </a:defRPr>
            </a:pPr>
            <a:r>
              <a:rPr sz="1500" b="0">
                <a:solidFill>
                  <a:srgbClr val="10131A"/>
                </a:solidFill>
              </a:rPr>
              <a:t>5. GIẢI QUYẾT VẤN ĐỀ</a:t>
            </a:r>
          </a:p>
          <a:p xmlns:a="http://schemas.openxmlformats.org/drawingml/2006/main">
            <a:pPr algn="l">
              <a:defRPr sz="1500" b="0">
                <a:solidFill>
                  <a:srgbClr val="10131A"/>
                </a:solidFill>
              </a:defRPr>
            </a:pPr>
            <a:r>
              <a:rPr sz="1500" b="0">
                <a:solidFill>
                  <a:srgbClr val="10131A"/>
                </a:solidFill>
              </a:rPr>
              <a:t>Xác định nhu cầu, khắc phục sự cố, đổi mới bằng công nghệ.</a:t>
            </a:r>
          </a:p>
        </p:txBody>
      </p:sp>
      <p:sp>
        <p:nvSpPr>
          <p:cNvPr id="14" name="anim-06-4-accent">
            <a:extLst xmlns:a="http://schemas.openxmlformats.org/drawingml/2006/main">
              <a:ext uri="{FF2B5EF4-FFF2-40B4-BE49-F238E27FC236}">
                <a16:creationId xmlns:a16="http://schemas.microsoft.com/office/drawing/2014/main" id="{1E5F795B-D438-48F8-9B11-E68F8C50D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4000500"/>
            <a:ext cx="762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8A5A"/>
          </a:solidFill>
          <a:ln xmlns:a="http://schemas.openxmlformats.org/drawingml/2006/main" w="0">
            <a:solidFill>
              <a:srgbClr val="1B8A5A"/>
            </a:solidFill>
            <a:prstDash val="solid"/>
          </a:ln>
        </p:spPr>
      </p:sp>
      <p:sp>
        <p:nvSpPr>
          <p:cNvPr id="15" name="anim-06-5">
            <a:extLst xmlns:a="http://schemas.openxmlformats.org/drawingml/2006/main">
              <a:ext uri="{FF2B5EF4-FFF2-40B4-BE49-F238E27FC236}">
                <a16:creationId xmlns:a16="http://schemas.microsoft.com/office/drawing/2014/main" id="{40F3F332-F6E1-4D6E-A347-DA7E85E41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4000500"/>
            <a:ext cx="342900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0F2F5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0131A"/>
                </a:solidFill>
              </a:defRPr>
            </a:pPr>
            <a:r>
              <a:rPr sz="1500" b="0">
                <a:solidFill>
                  <a:srgbClr val="10131A"/>
                </a:solidFill>
              </a:rPr>
              <a:t>6. ỨNG DỤNG AI</a:t>
            </a:r>
          </a:p>
          <a:p xmlns:a="http://schemas.openxmlformats.org/drawingml/2006/main">
            <a:pPr algn="l">
              <a:defRPr sz="1500" b="0">
                <a:solidFill>
                  <a:srgbClr val="10131A"/>
                </a:solidFill>
              </a:defRPr>
            </a:pPr>
            <a:r>
              <a:rPr sz="1500" b="0">
                <a:solidFill>
                  <a:srgbClr val="10131A"/>
                </a:solidFill>
              </a:rPr>
              <a:t>Hiểu, sử dụng và đánh giá AI có đạo đức, trách nhiệm.</a:t>
            </a:r>
          </a:p>
        </p:txBody>
      </p:sp>
      <p:sp>
        <p:nvSpPr>
          <p:cNvPr id="16" name="anim-06-5-accent">
            <a:extLst xmlns:a="http://schemas.openxmlformats.org/drawingml/2006/main">
              <a:ext uri="{FF2B5EF4-FFF2-40B4-BE49-F238E27FC236}">
                <a16:creationId xmlns:a16="http://schemas.microsoft.com/office/drawing/2014/main" id="{14FDC9BF-C6AA-4FD1-B123-FE573A1F5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4000500"/>
            <a:ext cx="762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B5B"/>
          </a:solidFill>
          <a:ln xmlns:a="http://schemas.openxmlformats.org/drawingml/2006/main" w="0">
            <a:solidFill>
              <a:srgbClr val="0B2B5B"/>
            </a:solidFill>
            <a:prstDash val="solid"/>
          </a:ln>
        </p:spPr>
      </p:sp>
      <p:sp>
        <p:nvSpPr>
          <p:cNvPr id="17" name="source-6">
            <a:extLst xmlns:a="http://schemas.openxmlformats.org/drawingml/2006/main">
              <a:ext uri="{FF2B5EF4-FFF2-40B4-BE49-F238E27FC236}">
                <a16:creationId xmlns:a16="http://schemas.microsoft.com/office/drawing/2014/main" id="{9501D41C-128C-46CB-A91E-7551CCE53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0"/>
            <a:ext cx="990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E6673"/>
                </a:solidFill>
              </a:defRPr>
            </a:pPr>
            <a:r>
              <a:rPr sz="825" b="0">
                <a:solidFill>
                  <a:srgbClr val="5E6673"/>
                </a:solidFill>
              </a:rPr>
              <a:t>Nguồn: Thông tư 02/2025/TT-BGDĐT, Phụ lục Khung năng lực số.</a:t>
            </a:r>
          </a:p>
        </p:txBody>
      </p:sp>
    </p:spTree>
    <p:transition spd="fast">
      <p:fade/>
    </p:transition>
    <p:timing>
      <p:tnLst>
        <p:par>
          <p:cTn id="1000" dur="indefinite" restart="never" nodeType="tmRoot">
            <p:childTnLst>
              <p:seq concurrent="1" nextAc="seek">
                <p:cTn id="1001" dur="indefinite" nodeType="mainSeq">
                  <p:childTnLst>
                    <p:par>
                      <p:cTn id="1002" fill="hold">
                        <p:stCondLst>
                          <p:cond delay="indefinite"/>
                        </p:stCondLst>
                        <p:childTnLst>
                          <p:par>
                            <p:cTn id="1003" fill="hold">
                              <p:stCondLst>
                                <p:cond delay="0"/>
                              </p:stCondLst>
                              <p:childTnLst>
                                <p:par>
                                  <p:cTn id="1004" presetID="10" presetClass="entr" presetSubtype="0" fill="hold" grpId="0" nodeType="clickEffect">
                                    <p:stCondLst>
                                      <p:cond delay="0"/>
                                    </p:stCondLst>
                                    <p:childTnLst>
                                      <p:set>
                                        <p:cBhvr>
                                          <p:cTn id="1005" dur="1" fill="hold">
                                            <p:stCondLst>
                                              <p:cond delay="0"/>
                                            </p:stCondLst>
                                          </p:cTn>
                                          <p:tgtEl>
                                            <p:spTgt spid="5"/>
                                          </p:tgtEl>
                                          <p:attrNameLst>
                                            <p:attrName>style.visibility</p:attrName>
                                          </p:attrNameLst>
                                        </p:cBhvr>
                                        <p:to>
                                          <p:strVal val="visible"/>
                                        </p:to>
                                      </p:set>
                                      <p:animEffect transition="in" filter="fade">
                                        <p:cBhvr>
                                          <p:cTn id="1006" dur="350"/>
                                          <p:tgtEl>
                                            <p:spTgt spid="5"/>
                                          </p:tgtEl>
                                        </p:cBhvr>
                                      </p:animEffect>
                                    </p:childTnLst>
                                  </p:cTn>
                                </p:par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1007" fill="hold">
                        <p:stCondLst>
                          <p:cond delay="indefinite"/>
                        </p:stCondLst>
                        <p:childTnLst>
                          <p:par>
                            <p:cTn id="1008" fill="hold">
                              <p:stCondLst>
                                <p:cond delay="0"/>
                              </p:stCondLst>
                              <p:childTnLst>
                                <p:par>
                                  <p:cTn id="1009" presetID="10" presetClass="entr" presetSubtype="0" fill="hold" grpId="0" nodeType="clickEffect">
                                    <p:stCondLst>
                                      <p:cond delay="0"/>
                                    </p:stCondLst>
                                    <p:childTnLst>
                                      <p:set>
                                        <p:cBhvr>
                                          <p:cTn id="1010" dur="1" fill="hold">
                                            <p:stCondLst>
                                              <p:cond delay="0"/>
                                            </p:stCondLst>
                                          </p:cTn>
                                          <p:tgtEl>
                                            <p:spTgt spid="7"/>
                                          </p:tgtEl>
                                          <p:attrNameLst>
                                            <p:attrName>style.visibility</p:attrName>
                                          </p:attrNameLst>
                                        </p:cBhvr>
                                        <p:to>
                                          <p:strVal val="visible"/>
                                        </p:to>
                                      </p:set>
                                      <p:animEffect transition="in" filter="fade">
                                        <p:cBhvr>
                                          <p:cTn id="1011" dur="350"/>
                                          <p:tgtEl>
                                            <p:spTgt spid="7"/>
                                          </p:tgtEl>
                                        </p:cBhvr>
                                      </p:animEffect>
                                    </p:childTnLst>
                                  </p:cTn>
                                </p:par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1012" fill="hold">
                        <p:stCondLst>
                          <p:cond delay="indefinite"/>
                        </p:stCondLst>
                        <p:childTnLst>
                          <p:par>
                            <p:cTn id="1013" fill="hold">
                              <p:stCondLst>
                                <p:cond delay="0"/>
                              </p:stCondLst>
                              <p:childTnLst>
                                <p:par>
                                  <p:cTn id="1014" presetID="10" presetClass="entr" presetSubtype="0" fill="hold" grpId="0" nodeType="clickEffect">
                                    <p:stCondLst>
                                      <p:cond delay="0"/>
                                    </p:stCondLst>
                                    <p:childTnLst>
                                      <p:set>
                                        <p:cBhvr>
                                          <p:cTn id="1015" dur="1" fill="hold">
                                            <p:stCondLst>
                                              <p:cond delay="0"/>
                                            </p:stCondLst>
                                          </p:cTn>
                                          <p:tgtEl>
                                            <p:spTgt spid="9"/>
                                          </p:tgtEl>
                                          <p:attrNameLst>
                                            <p:attrName>style.visibility</p:attrName>
                                          </p:attrNameLst>
                                        </p:cBhvr>
                                        <p:to>
                                          <p:strVal val="visible"/>
                                        </p:to>
                                      </p:set>
                                      <p:animEffect transition="in" filter="fade">
                                        <p:cBhvr>
                                          <p:cTn id="1016" dur="350"/>
                                          <p:tgtEl>
                                            <p:spTgt spid="9"/>
                                          </p:tgtEl>
                                        </p:cBhvr>
                                      </p:animEffect>
                                    </p:childTnLst>
                                  </p:cTn>
                                </p:par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1017" fill="hold">
                        <p:stCondLst>
                          <p:cond delay="indefinite"/>
                        </p:stCondLst>
                        <p:childTnLst>
                          <p:par>
                            <p:cTn id="1018" fill="hold">
                              <p:stCondLst>
                                <p:cond delay="0"/>
                              </p:stCondLst>
                              <p:childTnLst>
                                <p:par>
                                  <p:cTn id="1019" presetID="10" presetClass="entr" presetSubtype="0" fill="hold" grpId="0" nodeType="clickEffect">
                                    <p:stCondLst>
                                      <p:cond delay="0"/>
                                    </p:stCondLst>
                                    <p:childTnLst>
                                      <p:set>
                                        <p:cBhvr>
                                          <p:cTn id="1020" dur="1" fill="hold">
                                            <p:stCondLst>
                                              <p:cond delay="0"/>
                                            </p:stCondLst>
                                          </p:cTn>
                                          <p:tgtEl>
                                            <p:spTgt spid="11"/>
                                          </p:tgtEl>
                                          <p:attrNameLst>
                                            <p:attrName>style.visibility</p:attrName>
                                          </p:attrNameLst>
                                        </p:cBhvr>
                                        <p:to>
                                          <p:strVal val="visible"/>
                                        </p:to>
                                      </p:set>
                                      <p:animEffect transition="in" filter="fade">
                                        <p:cBhvr>
                                          <p:cTn id="1021" dur="350"/>
                                          <p:tgtEl>
                                            <p:spTgt spid="11"/>
                                          </p:tgtEl>
                                        </p:cBhvr>
                                      </p:animEffect>
                                    </p:childTnLst>
                                  </p:cTn>
                                </p:par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1022" fill="hold">
                        <p:stCondLst>
                          <p:cond delay="indefinite"/>
                        </p:stCondLst>
                        <p:childTnLst>
                          <p:par>
                            <p:cTn id="1023" fill="hold">
                              <p:stCondLst>
                                <p:cond delay="0"/>
                              </p:stCondLst>
                              <p:childTnLst>
                                <p:par>
                                  <p:cTn id="1024" presetID="10" presetClass="entr" presetSubtype="0" fill="hold" grpId="0" nodeType="clickEffect">
                                    <p:stCondLst>
                                      <p:cond delay="0"/>
                                    </p:stCondLst>
                                    <p:childTnLst>
                                      <p:set>
                                        <p:cBhvr>
                                          <p:cTn id="1025" dur="1" fill="hold">
                                            <p:stCondLst>
                                              <p:cond delay="0"/>
                                            </p:stCondLst>
                                          </p:cTn>
                                          <p:tgtEl>
                                            <p:spTgt spid="13"/>
                                          </p:tgtEl>
                                          <p:attrNameLst>
                                            <p:attrName>style.visibility</p:attrName>
                                          </p:attrNameLst>
                                        </p:cBhvr>
                                        <p:to>
                                          <p:strVal val="visible"/>
                                        </p:to>
                                      </p:set>
                                      <p:animEffect transition="in" filter="fade">
                                        <p:cBhvr>
                                          <p:cTn id="1026" dur="350"/>
                                          <p:tgtEl>
                                            <p:spTgt spid="13"/>
                                          </p:tgtEl>
                                        </p:cBhvr>
                                      </p:animEffect>
                                    </p:childTnLst>
                                  </p:cTn>
                                </p:par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1027" fill="hold">
                        <p:stCondLst>
                          <p:cond delay="indefinite"/>
                        </p:stCondLst>
                        <p:childTnLst>
                          <p:par>
                            <p:cTn id="1028" fill="hold">
                              <p:stCondLst>
                                <p:cond delay="0"/>
                              </p:stCondLst>
                              <p:childTnLst>
                                <p:par>
                                  <p:cTn id="1029" presetID="10" presetClass="entr" presetSubtype="0" fill="hold" grpId="0" nodeType="clickEffect">
                                    <p:stCondLst>
                                      <p:cond delay="0"/>
                                    </p:stCondLst>
                                    <p:childTnLst>
                                      <p:set>
                                        <p:cBhvr>
                                          <p:cTn id="1030" dur="1" fill="hold">
                                            <p:stCondLst>
                                              <p:cond delay="0"/>
                                            </p:stCondLst>
                                          </p:cTn>
                                          <p:tgtEl>
                                            <p:spTgt spid="15"/>
                                          </p:tgtEl>
                                          <p:attrNameLst>
                                            <p:attrName>style.visibility</p:attrName>
                                          </p:attrNameLst>
                                        </p:cBhvr>
                                        <p:to>
                                          <p:strVal val="visible"/>
                                        </p:to>
                                      </p:set>
                                      <p:animEffect transition="in" filter="fade">
                                        <p:cBhvr>
                                          <p:cTn id="1031" dur="350"/>
                                          <p:tgtEl>
                                            <p:spTgt spid="15"/>
                                          </p:tgtEl>
                                        </p:cBhvr>
                                      </p:animEffect>
                                    </p:childTnLst>
                                  </p:cTn>
                                </p:par>
                              </p:childTnLst>
                            </p:cTn>
                          </p:par>
                        </p:childTnLst>
                      </p:cTn>
                    </p:par>
                  </p:childTnLst>
                </p:cTn>
                <p:prevCondLst>
                  <p:cond evt="onPrev" delay="0">
                    <p:tgtEl>
                      <p:sldTgt/>
                    </p:tgtEl>
                  </p:cond>
                </p:prevCondLst>
                <p:nextCondLst>
                  <p:cond evt="onNext" delay="0">
                    <p:tgtEl>
                      <p:sldTgt/>
                    </p:tgtEl>
                  </p:cond>
                </p:nextCondLst>
              </p:seq>
            </p:childTnLst>
          </p:cTn>
        </p:par>
      </p:tnLst>
    </p:timing>
    <p:extLst>
      <p:ext uri="{BB962C8B-B14F-4D97-AF65-F5344CB8AC3E}">
        <p14:creationId xmlns:p14="http://schemas.microsoft.com/office/powerpoint/2010/main" val="151028901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ection-7">
            <a:extLst xmlns:a="http://schemas.openxmlformats.org/drawingml/2006/main">
              <a:ext uri="{FF2B5EF4-FFF2-40B4-BE49-F238E27FC236}">
                <a16:creationId xmlns:a16="http://schemas.microsoft.com/office/drawing/2014/main" id="{8708E27D-6FFE-4EE3-BF28-4FB40557E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47650"/>
            <a:ext cx="419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769E0"/>
                </a:solidFill>
              </a:defRPr>
            </a:pPr>
            <a:r>
              <a:rPr sz="1050" b="1">
                <a:solidFill>
                  <a:srgbClr val="1769E0"/>
                </a:solidFill>
              </a:rPr>
              <a:t>04 / MỤC TIÊU THCS</a:t>
            </a:r>
          </a:p>
        </p:txBody>
      </p:sp>
      <p:sp>
        <p:nvSpPr>
          <p:cNvPr id="2" name="title-7">
            <a:extLst xmlns:a="http://schemas.openxmlformats.org/drawingml/2006/main">
              <a:ext uri="{FF2B5EF4-FFF2-40B4-BE49-F238E27FC236}">
                <a16:creationId xmlns:a16="http://schemas.microsoft.com/office/drawing/2014/main" id="{628FC015-EC76-4BA5-9A1B-53FDEBAED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0550"/>
            <a:ext cx="11144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0131A"/>
                </a:solidFill>
              </a:defRPr>
            </a:pPr>
            <a:r>
              <a:rPr sz="2400" b="1">
                <a:solidFill>
                  <a:srgbClr val="10131A"/>
                </a:solidFill>
              </a:rPr>
              <a:t>Ở THCS, năng lực số là biết làm, biết kiểm chứng và biết chịu trách nhiệm</a:t>
            </a:r>
          </a:p>
        </p:txBody>
      </p:sp>
      <p:sp>
        <p:nvSpPr>
          <p:cNvPr id="3" name="rule-7">
            <a:extLst xmlns:a="http://schemas.openxmlformats.org/drawingml/2006/main">
              <a:ext uri="{FF2B5EF4-FFF2-40B4-BE49-F238E27FC236}">
                <a16:creationId xmlns:a16="http://schemas.microsoft.com/office/drawing/2014/main" id="{2457DC63-B379-4353-AD7B-4B683C12C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04950"/>
            <a:ext cx="11391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4" name="page-7">
            <a:extLst xmlns:a="http://schemas.openxmlformats.org/drawingml/2006/main">
              <a:ext uri="{FF2B5EF4-FFF2-40B4-BE49-F238E27FC236}">
                <a16:creationId xmlns:a16="http://schemas.microsoft.com/office/drawing/2014/main" id="{C3A0632F-75E9-4599-9FCD-9B347FAA1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86500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E6673"/>
                </a:solidFill>
              </a:defRPr>
            </a:pPr>
            <a:r>
              <a:rPr sz="975" b="0">
                <a:solidFill>
                  <a:srgbClr val="5E6673"/>
                </a:solidFill>
              </a:rPr>
              <a:t>07</a:t>
            </a:r>
          </a:p>
        </p:txBody>
      </p:sp>
      <p:sp>
        <p:nvSpPr>
          <p:cNvPr id="5" name="anim-07-0">
            <a:extLst xmlns:a="http://schemas.openxmlformats.org/drawingml/2006/main">
              <a:ext uri="{FF2B5EF4-FFF2-40B4-BE49-F238E27FC236}">
                <a16:creationId xmlns:a16="http://schemas.microsoft.com/office/drawing/2014/main" id="{6A8E3807-7484-4F1A-A555-80DED2769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095500"/>
            <a:ext cx="5238750" cy="1571625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0131A"/>
                </a:solidFill>
              </a:defRPr>
            </a:pPr>
            <a:r>
              <a:rPr sz="1650" b="0">
                <a:solidFill>
                  <a:srgbClr val="10131A"/>
                </a:solidFill>
              </a:rPr>
              <a:t>TÌM VÀ ĐÁNH GIÁ</a:t>
            </a:r>
          </a:p>
          <a:p xmlns:a="http://schemas.openxmlformats.org/drawingml/2006/main">
            <a:pPr algn="l">
              <a:defRPr sz="1650" b="0">
                <a:solidFill>
                  <a:srgbClr val="10131A"/>
                </a:solidFill>
              </a:defRPr>
            </a:pPr>
            <a:r>
              <a:rPr sz="1650" b="0">
                <a:solidFill>
                  <a:srgbClr val="10131A"/>
                </a:solidFill>
              </a:rPr>
              <a:t>Biết xác định nhu cầu, tìm nguồn, kiểm tra độ tin cậy và lưu trữ thông tin.</a:t>
            </a:r>
          </a:p>
        </p:txBody>
      </p:sp>
      <p:sp>
        <p:nvSpPr>
          <p:cNvPr id="6" name="anim-07-0-accent">
            <a:extLst xmlns:a="http://schemas.openxmlformats.org/drawingml/2006/main">
              <a:ext uri="{FF2B5EF4-FFF2-40B4-BE49-F238E27FC236}">
                <a16:creationId xmlns:a16="http://schemas.microsoft.com/office/drawing/2014/main" id="{45961248-FAB3-4498-82A8-D80F19444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095500"/>
            <a:ext cx="76200" cy="1571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9E0"/>
          </a:solidFill>
          <a:ln xmlns:a="http://schemas.openxmlformats.org/drawingml/2006/main" w="0">
            <a:solidFill>
              <a:srgbClr val="1769E0"/>
            </a:solidFill>
            <a:prstDash val="solid"/>
          </a:ln>
        </p:spPr>
      </p:sp>
      <p:sp>
        <p:nvSpPr>
          <p:cNvPr id="7" name="anim-07-1">
            <a:extLst xmlns:a="http://schemas.openxmlformats.org/drawingml/2006/main">
              <a:ext uri="{FF2B5EF4-FFF2-40B4-BE49-F238E27FC236}">
                <a16:creationId xmlns:a16="http://schemas.microsoft.com/office/drawing/2014/main" id="{ADCBBE6A-16F9-4855-9FB3-FBD9597D2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2095500"/>
            <a:ext cx="5238750" cy="1571625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F0F2F5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0131A"/>
                </a:solidFill>
              </a:defRPr>
            </a:pPr>
            <a:r>
              <a:rPr sz="1650" b="0">
                <a:solidFill>
                  <a:srgbClr val="10131A"/>
                </a:solidFill>
              </a:rPr>
              <a:t>GIAO TIẾP VÀ TẠO SẢN PHẨM</a:t>
            </a:r>
          </a:p>
          <a:p xmlns:a="http://schemas.openxmlformats.org/drawingml/2006/main">
            <a:pPr algn="l">
              <a:defRPr sz="1650" b="0">
                <a:solidFill>
                  <a:srgbClr val="10131A"/>
                </a:solidFill>
              </a:defRPr>
            </a:pPr>
            <a:r>
              <a:rPr sz="1650" b="0">
                <a:solidFill>
                  <a:srgbClr val="10131A"/>
                </a:solidFill>
              </a:rPr>
              <a:t>Biết hợp tác số, trình bày ý tưởng, tạo nội dung phù hợp và ghi nguồn.</a:t>
            </a:r>
          </a:p>
        </p:txBody>
      </p:sp>
      <p:sp>
        <p:nvSpPr>
          <p:cNvPr id="8" name="anim-07-1-accent">
            <a:extLst xmlns:a="http://schemas.openxmlformats.org/drawingml/2006/main">
              <a:ext uri="{FF2B5EF4-FFF2-40B4-BE49-F238E27FC236}">
                <a16:creationId xmlns:a16="http://schemas.microsoft.com/office/drawing/2014/main" id="{1E9AA754-30E1-49C7-8717-A7FC6DBAB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2095500"/>
            <a:ext cx="76200" cy="1571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4C2F0"/>
          </a:solidFill>
          <a:ln xmlns:a="http://schemas.openxmlformats.org/drawingml/2006/main" w="0">
            <a:solidFill>
              <a:srgbClr val="44C2F0"/>
            </a:solidFill>
            <a:prstDash val="solid"/>
          </a:ln>
        </p:spPr>
      </p:sp>
      <p:sp>
        <p:nvSpPr>
          <p:cNvPr id="9" name="anim-07-2">
            <a:extLst xmlns:a="http://schemas.openxmlformats.org/drawingml/2006/main">
              <a:ext uri="{FF2B5EF4-FFF2-40B4-BE49-F238E27FC236}">
                <a16:creationId xmlns:a16="http://schemas.microsoft.com/office/drawing/2014/main" id="{616EBCCC-2CF9-414F-8314-2D8F233D3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4095750"/>
            <a:ext cx="5238750" cy="1571625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F0F2F5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0131A"/>
                </a:solidFill>
              </a:defRPr>
            </a:pPr>
            <a:r>
              <a:rPr sz="1650" b="0">
                <a:solidFill>
                  <a:srgbClr val="10131A"/>
                </a:solidFill>
              </a:rPr>
              <a:t>AN TOÀN VÀ TỰ CHỦ</a:t>
            </a:r>
          </a:p>
          <a:p xmlns:a="http://schemas.openxmlformats.org/drawingml/2006/main">
            <a:pPr algn="l">
              <a:defRPr sz="1650" b="0">
                <a:solidFill>
                  <a:srgbClr val="10131A"/>
                </a:solidFill>
              </a:defRPr>
            </a:pPr>
            <a:r>
              <a:rPr sz="1650" b="0">
                <a:solidFill>
                  <a:srgbClr val="10131A"/>
                </a:solidFill>
              </a:rPr>
              <a:t>Biết bảo vệ dữ liệu, danh tính, sức khỏe số; ứng xử văn minh.</a:t>
            </a:r>
          </a:p>
        </p:txBody>
      </p:sp>
      <p:sp>
        <p:nvSpPr>
          <p:cNvPr id="10" name="anim-07-2-accent">
            <a:extLst xmlns:a="http://schemas.openxmlformats.org/drawingml/2006/main">
              <a:ext uri="{FF2B5EF4-FFF2-40B4-BE49-F238E27FC236}">
                <a16:creationId xmlns:a16="http://schemas.microsoft.com/office/drawing/2014/main" id="{7BB236F2-7439-4C2D-8271-9C3604506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4095750"/>
            <a:ext cx="76200" cy="1571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4A4A"/>
          </a:solidFill>
          <a:ln xmlns:a="http://schemas.openxmlformats.org/drawingml/2006/main" w="0">
            <a:solidFill>
              <a:srgbClr val="D84A4A"/>
            </a:solidFill>
            <a:prstDash val="solid"/>
          </a:ln>
        </p:spPr>
      </p:sp>
      <p:sp>
        <p:nvSpPr>
          <p:cNvPr id="11" name="anim-07-3">
            <a:extLst xmlns:a="http://schemas.openxmlformats.org/drawingml/2006/main">
              <a:ext uri="{FF2B5EF4-FFF2-40B4-BE49-F238E27FC236}">
                <a16:creationId xmlns:a16="http://schemas.microsoft.com/office/drawing/2014/main" id="{D31459BE-EF25-4CA3-AA9E-0053A627D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4095750"/>
            <a:ext cx="5238750" cy="1571625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F0F2F5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0131A"/>
                </a:solidFill>
              </a:defRPr>
            </a:pPr>
            <a:r>
              <a:rPr sz="1650" b="0">
                <a:solidFill>
                  <a:srgbClr val="10131A"/>
                </a:solidFill>
              </a:rPr>
              <a:t>GIẢI QUYẾT VẤN ĐỀ</a:t>
            </a:r>
          </a:p>
          <a:p xmlns:a="http://schemas.openxmlformats.org/drawingml/2006/main">
            <a:pPr algn="l">
              <a:defRPr sz="1650" b="0">
                <a:solidFill>
                  <a:srgbClr val="10131A"/>
                </a:solidFill>
              </a:defRPr>
            </a:pPr>
            <a:r>
              <a:rPr sz="1650" b="0">
                <a:solidFill>
                  <a:srgbClr val="10131A"/>
                </a:solidFill>
              </a:rPr>
              <a:t>Biết chọn công cụ, thử nghiệm, sửa lỗi và đánh giá tác động của công nghệ.</a:t>
            </a:r>
          </a:p>
        </p:txBody>
      </p:sp>
      <p:sp>
        <p:nvSpPr>
          <p:cNvPr id="12" name="anim-07-3-accent">
            <a:extLst xmlns:a="http://schemas.openxmlformats.org/drawingml/2006/main">
              <a:ext uri="{FF2B5EF4-FFF2-40B4-BE49-F238E27FC236}">
                <a16:creationId xmlns:a16="http://schemas.microsoft.com/office/drawing/2014/main" id="{823E6CC5-8D8D-4D38-BE33-0C650DA5D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4095750"/>
            <a:ext cx="76200" cy="1571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8A5A"/>
          </a:solidFill>
          <a:ln xmlns:a="http://schemas.openxmlformats.org/drawingml/2006/main" w="0">
            <a:solidFill>
              <a:srgbClr val="1B8A5A"/>
            </a:solidFill>
            <a:prstDash val="solid"/>
          </a:ln>
        </p:spPr>
      </p:sp>
    </p:spTree>
    <p:transition spd="fast">
      <p:fade/>
    </p:transition>
    <p:timing>
      <p:tnLst>
        <p:par>
          <p:cTn id="1000" dur="indefinite" restart="never" nodeType="tmRoot">
            <p:childTnLst>
              <p:seq concurrent="1" nextAc="seek">
                <p:cTn id="1001" dur="indefinite" nodeType="mainSeq">
                  <p:childTnLst>
                    <p:par>
                      <p:cTn id="1002" fill="hold">
                        <p:stCondLst>
                          <p:cond delay="indefinite"/>
                        </p:stCondLst>
                        <p:childTnLst>
                          <p:par>
                            <p:cTn id="1003" fill="hold">
                              <p:stCondLst>
                                <p:cond delay="0"/>
                              </p:stCondLst>
                              <p:childTnLst>
                                <p:par>
                                  <p:cTn id="1004" presetID="10" presetClass="entr" presetSubtype="0" fill="hold" grpId="0" nodeType="clickEffect">
                                    <p:stCondLst>
                                      <p:cond delay="0"/>
                                    </p:stCondLst>
                                    <p:childTnLst>
                                      <p:set>
                                        <p:cBhvr>
                                          <p:cTn id="1005" dur="1" fill="hold">
                                            <p:stCondLst>
                                              <p:cond delay="0"/>
                                            </p:stCondLst>
                                          </p:cTn>
                                          <p:tgtEl>
                                            <p:spTgt spid="5"/>
                                          </p:tgtEl>
                                          <p:attrNameLst>
                                            <p:attrName>style.visibility</p:attrName>
                                          </p:attrNameLst>
                                        </p:cBhvr>
                                        <p:to>
                                          <p:strVal val="visible"/>
                                        </p:to>
                                      </p:set>
                                      <p:animEffect transition="in" filter="fade">
                                        <p:cBhvr>
                                          <p:cTn id="1006" dur="350"/>
                                          <p:tgtEl>
                                            <p:spTgt spid="5"/>
                                          </p:tgtEl>
                                        </p:cBhvr>
                                      </p:animEffect>
                                    </p:childTnLst>
                                  </p:cTn>
                                </p:par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1007" fill="hold">
                        <p:stCondLst>
                          <p:cond delay="indefinite"/>
                        </p:stCondLst>
                        <p:childTnLst>
                          <p:par>
                            <p:cTn id="1008" fill="hold">
                              <p:stCondLst>
                                <p:cond delay="0"/>
                              </p:stCondLst>
                              <p:childTnLst>
                                <p:par>
                                  <p:cTn id="1009" presetID="10" presetClass="entr" presetSubtype="0" fill="hold" grpId="0" nodeType="clickEffect">
                                    <p:stCondLst>
                                      <p:cond delay="0"/>
                                    </p:stCondLst>
                                    <p:childTnLst>
                                      <p:set>
                                        <p:cBhvr>
                                          <p:cTn id="1010" dur="1" fill="hold">
                                            <p:stCondLst>
                                              <p:cond delay="0"/>
                                            </p:stCondLst>
                                          </p:cTn>
                                          <p:tgtEl>
                                            <p:spTgt spid="7"/>
                                          </p:tgtEl>
                                          <p:attrNameLst>
                                            <p:attrName>style.visibility</p:attrName>
                                          </p:attrNameLst>
                                        </p:cBhvr>
                                        <p:to>
                                          <p:strVal val="visible"/>
                                        </p:to>
                                      </p:set>
                                      <p:animEffect transition="in" filter="fade">
                                        <p:cBhvr>
                                          <p:cTn id="1011" dur="350"/>
                                          <p:tgtEl>
                                            <p:spTgt spid="7"/>
                                          </p:tgtEl>
                                        </p:cBhvr>
                                      </p:animEffect>
                                    </p:childTnLst>
                                  </p:cTn>
                                </p:par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1012" fill="hold">
                        <p:stCondLst>
                          <p:cond delay="indefinite"/>
                        </p:stCondLst>
                        <p:childTnLst>
                          <p:par>
                            <p:cTn id="1013" fill="hold">
                              <p:stCondLst>
                                <p:cond delay="0"/>
                              </p:stCondLst>
                              <p:childTnLst>
                                <p:par>
                                  <p:cTn id="1014" presetID="10" presetClass="entr" presetSubtype="0" fill="hold" grpId="0" nodeType="clickEffect">
                                    <p:stCondLst>
                                      <p:cond delay="0"/>
                                    </p:stCondLst>
                                    <p:childTnLst>
                                      <p:set>
                                        <p:cBhvr>
                                          <p:cTn id="1015" dur="1" fill="hold">
                                            <p:stCondLst>
                                              <p:cond delay="0"/>
                                            </p:stCondLst>
                                          </p:cTn>
                                          <p:tgtEl>
                                            <p:spTgt spid="9"/>
                                          </p:tgtEl>
                                          <p:attrNameLst>
                                            <p:attrName>style.visibility</p:attrName>
                                          </p:attrNameLst>
                                        </p:cBhvr>
                                        <p:to>
                                          <p:strVal val="visible"/>
                                        </p:to>
                                      </p:set>
                                      <p:animEffect transition="in" filter="fade">
                                        <p:cBhvr>
                                          <p:cTn id="1016" dur="350"/>
                                          <p:tgtEl>
                                            <p:spTgt spid="9"/>
                                          </p:tgtEl>
                                        </p:cBhvr>
                                      </p:animEffect>
                                    </p:childTnLst>
                                  </p:cTn>
                                </p:par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1017" fill="hold">
                        <p:stCondLst>
                          <p:cond delay="indefinite"/>
                        </p:stCondLst>
                        <p:childTnLst>
                          <p:par>
                            <p:cTn id="1018" fill="hold">
                              <p:stCondLst>
                                <p:cond delay="0"/>
                              </p:stCondLst>
                              <p:childTnLst>
                                <p:par>
                                  <p:cTn id="1019" presetID="10" presetClass="entr" presetSubtype="0" fill="hold" grpId="0" nodeType="clickEffect">
                                    <p:stCondLst>
                                      <p:cond delay="0"/>
                                    </p:stCondLst>
                                    <p:childTnLst>
                                      <p:set>
                                        <p:cBhvr>
                                          <p:cTn id="1020" dur="1" fill="hold">
                                            <p:stCondLst>
                                              <p:cond delay="0"/>
                                            </p:stCondLst>
                                          </p:cTn>
                                          <p:tgtEl>
                                            <p:spTgt spid="11"/>
                                          </p:tgtEl>
                                          <p:attrNameLst>
                                            <p:attrName>style.visibility</p:attrName>
                                          </p:attrNameLst>
                                        </p:cBhvr>
                                        <p:to>
                                          <p:strVal val="visible"/>
                                        </p:to>
                                      </p:set>
                                      <p:animEffect transition="in" filter="fade">
                                        <p:cBhvr>
                                          <p:cTn id="1021" dur="350"/>
                                          <p:tgtEl>
                                            <p:spTgt spid="11"/>
                                          </p:tgtEl>
                                        </p:cBhvr>
                                      </p:animEffect>
                                    </p:childTnLst>
                                  </p:cTn>
                                </p:par>
                              </p:childTnLst>
                            </p:cTn>
                          </p:par>
                        </p:childTnLst>
                      </p:cTn>
                    </p:par>
                  </p:childTnLst>
                </p:cTn>
                <p:prevCondLst>
                  <p:cond evt="onPrev" delay="0">
                    <p:tgtEl>
                      <p:sldTgt/>
                    </p:tgtEl>
                  </p:cond>
                </p:prevCondLst>
                <p:nextCondLst>
                  <p:cond evt="onNext" delay="0">
                    <p:tgtEl>
                      <p:sldTgt/>
                    </p:tgtEl>
                  </p:cond>
                </p:nextCondLst>
              </p:seq>
            </p:childTnLst>
          </p:cTn>
        </p:par>
      </p:tnLst>
    </p:timing>
    <p:extLst>
      <p:ext uri="{BB962C8B-B14F-4D97-AF65-F5344CB8AC3E}">
        <p14:creationId xmlns:p14="http://schemas.microsoft.com/office/powerpoint/2010/main" val="116450425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section-8">
            <a:extLst xmlns:a="http://schemas.openxmlformats.org/drawingml/2006/main">
              <a:ext uri="{FF2B5EF4-FFF2-40B4-BE49-F238E27FC236}">
                <a16:creationId xmlns:a16="http://schemas.microsoft.com/office/drawing/2014/main" id="{7E964BCA-654C-499F-A126-CB73B9467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47650"/>
            <a:ext cx="419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769E0"/>
                </a:solidFill>
              </a:defRPr>
            </a:pPr>
            <a:r>
              <a:rPr sz="1050" b="1">
                <a:solidFill>
                  <a:srgbClr val="1769E0"/>
                </a:solidFill>
              </a:rPr>
              <a:t>05 / VAI TRÒ CÁC MÔN</a:t>
            </a:r>
          </a:p>
        </p:txBody>
      </p:sp>
      <p:sp>
        <p:nvSpPr>
          <p:cNvPr id="2" name="title-8">
            <a:extLst xmlns:a="http://schemas.openxmlformats.org/drawingml/2006/main">
              <a:ext uri="{FF2B5EF4-FFF2-40B4-BE49-F238E27FC236}">
                <a16:creationId xmlns:a16="http://schemas.microsoft.com/office/drawing/2014/main" id="{35F171B6-503A-4457-A0F4-F97DF828C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0550"/>
            <a:ext cx="11144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0131A"/>
                </a:solidFill>
              </a:defRPr>
            </a:pPr>
            <a:r>
              <a:rPr sz="2400" b="1">
                <a:solidFill>
                  <a:srgbClr val="10131A"/>
                </a:solidFill>
              </a:rPr>
              <a:t>Tin học giữ vai trò chủ đạo; môn học khác tạo “địa chỉ” vận dụng</a:t>
            </a:r>
          </a:p>
        </p:txBody>
      </p:sp>
      <p:sp>
        <p:nvSpPr>
          <p:cNvPr id="3" name="rule-8">
            <a:extLst xmlns:a="http://schemas.openxmlformats.org/drawingml/2006/main">
              <a:ext uri="{FF2B5EF4-FFF2-40B4-BE49-F238E27FC236}">
                <a16:creationId xmlns:a16="http://schemas.microsoft.com/office/drawing/2014/main" id="{592C781A-7829-4CC7-AB80-28246DD7B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04950"/>
            <a:ext cx="11391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4" name="page-8">
            <a:extLst xmlns:a="http://schemas.openxmlformats.org/drawingml/2006/main">
              <a:ext uri="{FF2B5EF4-FFF2-40B4-BE49-F238E27FC236}">
                <a16:creationId xmlns:a16="http://schemas.microsoft.com/office/drawing/2014/main" id="{9375981C-0206-4830-AC25-3F8FAC35E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86500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E6673"/>
                </a:solidFill>
              </a:defRPr>
            </a:pPr>
            <a:r>
              <a:rPr sz="975" b="0">
                <a:solidFill>
                  <a:srgbClr val="5E6673"/>
                </a:solidFill>
              </a:rPr>
              <a:t>08</a:t>
            </a:r>
          </a:p>
        </p:txBody>
      </p:sp>
      <p:sp>
        <p:nvSpPr>
          <p:cNvPr id="5" name="anim-08-left">
            <a:extLst xmlns:a="http://schemas.openxmlformats.org/drawingml/2006/main">
              <a:ext uri="{FF2B5EF4-FFF2-40B4-BE49-F238E27FC236}">
                <a16:creationId xmlns:a16="http://schemas.microsoft.com/office/drawing/2014/main" id="{7DB1A7C2-1A7F-4409-A008-C227A4C7F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190750"/>
            <a:ext cx="4476750" cy="2381250"/>
          </a:xfrm>
          <a:prstGeom xmlns:a="http://schemas.openxmlformats.org/drawingml/2006/main" prst="roundRect">
            <a:avLst>
              <a:gd name="adj" fmla="val 4800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0131A"/>
                </a:solidFill>
              </a:defRPr>
            </a:pPr>
            <a:r>
              <a:rPr sz="1875" b="0">
                <a:solidFill>
                  <a:srgbClr val="10131A"/>
                </a:solidFill>
              </a:rPr>
              <a:t>MÔN TIN HỌC</a:t>
            </a:r>
          </a:p>
          <a:p xmlns:a="http://schemas.openxmlformats.org/drawingml/2006/main">
            <a:pPr algn="l">
              <a:defRPr sz="1875" b="0">
                <a:solidFill>
                  <a:srgbClr val="10131A"/>
                </a:solidFill>
              </a:defRPr>
            </a:pPr>
            <a:r>
              <a:rPr sz="1875" b="0">
                <a:solidFill>
                  <a:srgbClr val="10131A"/>
                </a:solidFill>
              </a:rPr>
              <a:t>• Cung cấp kiến thức nền tảng và hệ thống kĩ năng số cốt lõi.</a:t>
            </a:r>
          </a:p>
          <a:p xmlns:a="http://schemas.openxmlformats.org/drawingml/2006/main">
            <a:pPr algn="l">
              <a:defRPr sz="1875" b="0">
                <a:solidFill>
                  <a:srgbClr val="10131A"/>
                </a:solidFill>
              </a:defRPr>
            </a:pPr>
            <a:r>
              <a:rPr sz="1875" b="0">
                <a:solidFill>
                  <a:srgbClr val="10131A"/>
                </a:solidFill>
              </a:rPr>
              <a:t>• Giáo viên Tin học tư vấn, hỗ trợ giáo viên các môn khai thác công cụ số.</a:t>
            </a:r>
          </a:p>
        </p:txBody>
      </p:sp>
      <p:sp>
        <p:nvSpPr>
          <p:cNvPr id="6" name="anim-08-right">
            <a:extLst xmlns:a="http://schemas.openxmlformats.org/drawingml/2006/main">
              <a:ext uri="{FF2B5EF4-FFF2-40B4-BE49-F238E27FC236}">
                <a16:creationId xmlns:a16="http://schemas.microsoft.com/office/drawing/2014/main" id="{E55172AB-24CF-4FEF-B118-A132C0D38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190750"/>
            <a:ext cx="4476750" cy="2381250"/>
          </a:xfrm>
          <a:prstGeom xmlns:a="http://schemas.openxmlformats.org/drawingml/2006/main" prst="roundRect">
            <a:avLst>
              <a:gd name="adj" fmla="val 4800"/>
            </a:avLst>
          </a:prstGeom>
          <a:solidFill xmlns:a="http://schemas.openxmlformats.org/drawingml/2006/main">
            <a:srgbClr val="F0F2F5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0131A"/>
                </a:solidFill>
              </a:defRPr>
            </a:pPr>
            <a:r>
              <a:rPr sz="1800" b="0">
                <a:solidFill>
                  <a:srgbClr val="10131A"/>
                </a:solidFill>
              </a:rPr>
              <a:t>CÁC MÔN HỌC VÀ HOẠT ĐỘNG GIÁO DỤC</a:t>
            </a:r>
          </a:p>
          <a:p xmlns:a="http://schemas.openxmlformats.org/drawingml/2006/main">
            <a:pPr algn="l">
              <a:defRPr sz="1800" b="0">
                <a:solidFill>
                  <a:srgbClr val="10131A"/>
                </a:solidFill>
              </a:defRPr>
            </a:pPr>
            <a:r>
              <a:rPr sz="1800" b="0">
                <a:solidFill>
                  <a:srgbClr val="10131A"/>
                </a:solidFill>
              </a:rPr>
              <a:t>• Giao nhiệm vụ gắn yêu cầu môn học.</a:t>
            </a:r>
          </a:p>
          <a:p xmlns:a="http://schemas.openxmlformats.org/drawingml/2006/main">
            <a:pPr algn="l">
              <a:defRPr sz="1800" b="0">
                <a:solidFill>
                  <a:srgbClr val="10131A"/>
                </a:solidFill>
              </a:defRPr>
            </a:pPr>
            <a:r>
              <a:rPr sz="1800" b="0">
                <a:solidFill>
                  <a:srgbClr val="10131A"/>
                </a:solidFill>
              </a:rPr>
              <a:t>• Học sinh dùng kĩ năng số để tìm hiểu, hợp tác, tạo sản phẩm, trình bày và tự bảo vệ.</a:t>
            </a:r>
          </a:p>
          <a:p xmlns:a="http://schemas.openxmlformats.org/drawingml/2006/main">
            <a:pPr algn="l">
              <a:defRPr sz="1800" b="0">
                <a:solidFill>
                  <a:srgbClr val="10131A"/>
                </a:solidFill>
              </a:defRPr>
            </a:pPr>
            <a:r>
              <a:rPr sz="1800" b="0">
                <a:solidFill>
                  <a:srgbClr val="10131A"/>
                </a:solidFill>
              </a:rPr>
              <a:t>• Có thể tích hợp nội môn, liên môn, STEM và dự án.</a:t>
            </a:r>
          </a:p>
        </p:txBody>
      </p:sp>
      <p:sp>
        <p:nvSpPr>
          <p:cNvPr id="7" name="anim-08-close">
            <a:extLst xmlns:a="http://schemas.openxmlformats.org/drawingml/2006/main">
              <a:ext uri="{FF2B5EF4-FFF2-40B4-BE49-F238E27FC236}">
                <a16:creationId xmlns:a16="http://schemas.microsoft.com/office/drawing/2014/main" id="{C49F46C8-3CB0-4F6F-B51E-08AA1B724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524500"/>
            <a:ext cx="9906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D84A4A"/>
                </a:solidFill>
              </a:defRPr>
            </a:pPr>
            <a:r>
              <a:rPr sz="1875" b="1">
                <a:solidFill>
                  <a:srgbClr val="D84A4A"/>
                </a:solidFill>
              </a:rPr>
              <a:t>Không phải “cho dùng công nghệ”; phải là dùng công nghệ để đạt tốt hơn yêu cầu cần đạt của bài học.</a:t>
            </a:r>
          </a:p>
        </p:txBody>
      </p:sp>
      <p:sp>
        <p:nvSpPr>
          <p:cNvPr id="8" name="source-8">
            <a:extLst xmlns:a="http://schemas.openxmlformats.org/drawingml/2006/main">
              <a:ext uri="{FF2B5EF4-FFF2-40B4-BE49-F238E27FC236}">
                <a16:creationId xmlns:a16="http://schemas.microsoft.com/office/drawing/2014/main" id="{215938C3-A271-4AB2-A76F-AA4D8C3A1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0"/>
            <a:ext cx="990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E6673"/>
                </a:solidFill>
              </a:defRPr>
            </a:pPr>
            <a:r>
              <a:rPr sz="825" b="0">
                <a:solidFill>
                  <a:srgbClr val="5E6673"/>
                </a:solidFill>
              </a:rPr>
              <a:t>Nguồn: Công văn 3456/BGDĐT-GDPT, mục I.2 và II.1-2.</a:t>
            </a:r>
          </a:p>
        </p:txBody>
      </p:sp>
    </p:spTree>
    <p:transition spd="fast">
      <p:fade/>
    </p:transition>
    <p:timing>
      <p:tnLst>
        <p:par>
          <p:cTn id="1000" dur="indefinite" restart="never" nodeType="tmRoot">
            <p:childTnLst>
              <p:seq concurrent="1" nextAc="seek">
                <p:cTn id="1001" dur="indefinite" nodeType="mainSeq">
                  <p:childTnLst>
                    <p:par>
                      <p:cTn id="1002" fill="hold">
                        <p:stCondLst>
                          <p:cond delay="indefinite"/>
                        </p:stCondLst>
                        <p:childTnLst>
                          <p:par>
                            <p:cTn id="1003" fill="hold">
                              <p:stCondLst>
                                <p:cond delay="0"/>
                              </p:stCondLst>
                              <p:childTnLst>
                                <p:par>
                                  <p:cTn id="1004" presetID="10" presetClass="entr" presetSubtype="0" fill="hold" grpId="0" nodeType="clickEffect">
                                    <p:stCondLst>
                                      <p:cond delay="0"/>
                                    </p:stCondLst>
                                    <p:childTnLst>
                                      <p:set>
                                        <p:cBhvr>
                                          <p:cTn id="1005" dur="1" fill="hold">
                                            <p:stCondLst>
                                              <p:cond delay="0"/>
                                            </p:stCondLst>
                                          </p:cTn>
                                          <p:tgtEl>
                                            <p:spTgt spid="5"/>
                                          </p:tgtEl>
                                          <p:attrNameLst>
                                            <p:attrName>style.visibility</p:attrName>
                                          </p:attrNameLst>
                                        </p:cBhvr>
                                        <p:to>
                                          <p:strVal val="visible"/>
                                        </p:to>
                                      </p:set>
                                      <p:animEffect transition="in" filter="fade">
                                        <p:cBhvr>
                                          <p:cTn id="1006" dur="350"/>
                                          <p:tgtEl>
                                            <p:spTgt spid="5"/>
                                          </p:tgtEl>
                                        </p:cBhvr>
                                      </p:animEffect>
                                    </p:childTnLst>
                                  </p:cTn>
                                </p:par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1007" fill="hold">
                        <p:stCondLst>
                          <p:cond delay="indefinite"/>
                        </p:stCondLst>
                        <p:childTnLst>
                          <p:par>
                            <p:cTn id="1008" fill="hold">
                              <p:stCondLst>
                                <p:cond delay="0"/>
                              </p:stCondLst>
                              <p:childTnLst>
                                <p:par>
                                  <p:cTn id="1009" presetID="10" presetClass="entr" presetSubtype="0" fill="hold" grpId="0" nodeType="clickEffect">
                                    <p:stCondLst>
                                      <p:cond delay="0"/>
                                    </p:stCondLst>
                                    <p:childTnLst>
                                      <p:set>
                                        <p:cBhvr>
                                          <p:cTn id="1010" dur="1" fill="hold">
                                            <p:stCondLst>
                                              <p:cond delay="0"/>
                                            </p:stCondLst>
                                          </p:cTn>
                                          <p:tgtEl>
                                            <p:spTgt spid="6"/>
                                          </p:tgtEl>
                                          <p:attrNameLst>
                                            <p:attrName>style.visibility</p:attrName>
                                          </p:attrNameLst>
                                        </p:cBhvr>
                                        <p:to>
                                          <p:strVal val="visible"/>
                                        </p:to>
                                      </p:set>
                                      <p:animEffect transition="in" filter="fade">
                                        <p:cBhvr>
                                          <p:cTn id="1011" dur="350"/>
                                          <p:tgtEl>
                                            <p:spTgt spid="6"/>
                                          </p:tgtEl>
                                        </p:cBhvr>
                                      </p:animEffect>
                                    </p:childTnLst>
                                  </p:cTn>
                                </p:par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1012" fill="hold">
                        <p:stCondLst>
                          <p:cond delay="indefinite"/>
                        </p:stCondLst>
                        <p:childTnLst>
                          <p:par>
                            <p:cTn id="1013" fill="hold">
                              <p:stCondLst>
                                <p:cond delay="0"/>
                              </p:stCondLst>
                              <p:childTnLst>
                                <p:par>
                                  <p:cTn id="1014" presetID="10" presetClass="entr" presetSubtype="0" fill="hold" grpId="0" nodeType="clickEffect">
                                    <p:stCondLst>
                                      <p:cond delay="0"/>
                                    </p:stCondLst>
                                    <p:childTnLst>
                                      <p:set>
                                        <p:cBhvr>
                                          <p:cTn id="1015" dur="1" fill="hold">
                                            <p:stCondLst>
                                              <p:cond delay="0"/>
                                            </p:stCondLst>
                                          </p:cTn>
                                          <p:tgtEl>
                                            <p:spTgt spid="7"/>
                                          </p:tgtEl>
                                          <p:attrNameLst>
                                            <p:attrName>style.visibility</p:attrName>
                                          </p:attrNameLst>
                                        </p:cBhvr>
                                        <p:to>
                                          <p:strVal val="visible"/>
                                        </p:to>
                                      </p:set>
                                      <p:animEffect transition="in" filter="fade">
                                        <p:cBhvr>
                                          <p:cTn id="1016" dur="350"/>
                                          <p:tgtEl>
                                            <p:spTgt spid="7"/>
                                          </p:tgtEl>
                                        </p:cBhvr>
                                      </p:animEffect>
                                    </p:childTnLst>
                                  </p:cTn>
                                </p:par>
                              </p:childTnLst>
                            </p:cTn>
                          </p:par>
                        </p:childTnLst>
                      </p:cTn>
                    </p:par>
                  </p:childTnLst>
                </p:cTn>
                <p:prevCondLst>
                  <p:cond evt="onPrev" delay="0">
                    <p:tgtEl>
                      <p:sldTgt/>
                    </p:tgtEl>
                  </p:cond>
                </p:prevCondLst>
                <p:nextCondLst>
                  <p:cond evt="onNext" delay="0">
                    <p:tgtEl>
                      <p:sldTgt/>
                    </p:tgtEl>
                  </p:cond>
                </p:nextCondLst>
              </p:seq>
            </p:childTnLst>
          </p:cTn>
        </p:par>
      </p:tnLst>
    </p:timing>
    <p:extLst>
      <p:ext uri="{BB962C8B-B14F-4D97-AF65-F5344CB8AC3E}">
        <p14:creationId xmlns:p14="http://schemas.microsoft.com/office/powerpoint/2010/main" val="288207388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section-9">
            <a:extLst xmlns:a="http://schemas.openxmlformats.org/drawingml/2006/main">
              <a:ext uri="{FF2B5EF4-FFF2-40B4-BE49-F238E27FC236}">
                <a16:creationId xmlns:a16="http://schemas.microsoft.com/office/drawing/2014/main" id="{58146698-8148-4414-AF9A-43C1B60EA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47650"/>
            <a:ext cx="419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769E0"/>
                </a:solidFill>
              </a:defRPr>
            </a:pPr>
            <a:r>
              <a:rPr sz="1050" b="1">
                <a:solidFill>
                  <a:srgbClr val="1769E0"/>
                </a:solidFill>
              </a:rPr>
              <a:t>06 / QUY TRÌNH TÍCH HỢP</a:t>
            </a:r>
          </a:p>
        </p:txBody>
      </p:sp>
      <p:sp>
        <p:nvSpPr>
          <p:cNvPr id="2" name="title-9">
            <a:extLst xmlns:a="http://schemas.openxmlformats.org/drawingml/2006/main">
              <a:ext uri="{FF2B5EF4-FFF2-40B4-BE49-F238E27FC236}">
                <a16:creationId xmlns:a16="http://schemas.microsoft.com/office/drawing/2014/main" id="{67E26F80-0F66-488E-B568-A2BFF965E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0550"/>
            <a:ext cx="11144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0131A"/>
                </a:solidFill>
              </a:defRPr>
            </a:pPr>
            <a:r>
              <a:rPr sz="2400" b="1">
                <a:solidFill>
                  <a:srgbClr val="10131A"/>
                </a:solidFill>
              </a:rPr>
              <a:t>Mỗi bài dạy có thể phát triển năng lực số bằng năm bước rõ ràng</a:t>
            </a:r>
          </a:p>
        </p:txBody>
      </p:sp>
      <p:sp>
        <p:nvSpPr>
          <p:cNvPr id="3" name="rule-9">
            <a:extLst xmlns:a="http://schemas.openxmlformats.org/drawingml/2006/main">
              <a:ext uri="{FF2B5EF4-FFF2-40B4-BE49-F238E27FC236}">
                <a16:creationId xmlns:a16="http://schemas.microsoft.com/office/drawing/2014/main" id="{43B562B6-2CFC-48EA-942D-7DA742346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04950"/>
            <a:ext cx="11391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4" name="page-9">
            <a:extLst xmlns:a="http://schemas.openxmlformats.org/drawingml/2006/main">
              <a:ext uri="{FF2B5EF4-FFF2-40B4-BE49-F238E27FC236}">
                <a16:creationId xmlns:a16="http://schemas.microsoft.com/office/drawing/2014/main" id="{B72E8CA8-509D-4B0C-AF8B-9A5DDD6E5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86500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E6673"/>
                </a:solidFill>
              </a:defRPr>
            </a:pPr>
            <a:r>
              <a:rPr sz="975" b="0">
                <a:solidFill>
                  <a:srgbClr val="5E6673"/>
                </a:solidFill>
              </a:rPr>
              <a:t>09</a:t>
            </a:r>
          </a:p>
        </p:txBody>
      </p:sp>
      <p:sp>
        <p:nvSpPr>
          <p:cNvPr id="5" name="anim-09-0">
            <a:extLst xmlns:a="http://schemas.openxmlformats.org/drawingml/2006/main">
              <a:ext uri="{FF2B5EF4-FFF2-40B4-BE49-F238E27FC236}">
                <a16:creationId xmlns:a16="http://schemas.microsoft.com/office/drawing/2014/main" id="{512086D5-89F0-4438-8DC1-76A59E2D6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2143125"/>
            <a:ext cx="2095500" cy="3048000"/>
          </a:xfrm>
          <a:prstGeom xmlns:a="http://schemas.openxmlformats.org/drawingml/2006/main" prst="roundRect">
            <a:avLst>
              <a:gd name="adj" fmla="val 5455"/>
            </a:avLst>
          </a:prstGeom>
          <a:solidFill xmlns:a="http://schemas.openxmlformats.org/drawingml/2006/main">
            <a:srgbClr val="F0F2F5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10131A"/>
                </a:solidFill>
              </a:defRPr>
            </a:pPr>
            <a:r>
              <a:rPr sz="1425" b="0">
                <a:solidFill>
                  <a:srgbClr val="10131A"/>
                </a:solidFill>
              </a:rPr>
              <a:t>1</a:t>
            </a:r>
          </a:p>
          <a:p xmlns:a="http://schemas.openxmlformats.org/drawingml/2006/main">
            <a:pPr algn="ctr">
              <a:defRPr sz="1425" b="0">
                <a:solidFill>
                  <a:srgbClr val="10131A"/>
                </a:solidFill>
              </a:defRPr>
            </a:pPr>
            <a:r>
              <a:rPr sz="1425" b="0">
                <a:solidFill>
                  <a:srgbClr val="10131A"/>
                </a:solidFill>
              </a:rPr>
              <a:t>ĐỐI CHIẾU</a:t>
            </a:r>
          </a:p>
          <a:p xmlns:a="http://schemas.openxmlformats.org/drawingml/2006/main">
            <a:pPr algn="ctr">
              <a:defRPr sz="1425" b="0">
                <a:solidFill>
                  <a:srgbClr val="10131A"/>
                </a:solidFill>
              </a:defRPr>
            </a:pPr>
            <a:r>
              <a:rPr sz="1425" b="0">
                <a:solidFill>
                  <a:srgbClr val="10131A"/>
                </a:solidFill>
              </a:rPr>
              <a:t>Yêu cầu cần đạt môn học với một hoặc vài năng lực thành phần.</a:t>
            </a:r>
          </a:p>
        </p:txBody>
      </p:sp>
      <p:sp>
        <p:nvSpPr>
          <p:cNvPr id="6" name="anim-09-1">
            <a:extLst xmlns:a="http://schemas.openxmlformats.org/drawingml/2006/main">
              <a:ext uri="{FF2B5EF4-FFF2-40B4-BE49-F238E27FC236}">
                <a16:creationId xmlns:a16="http://schemas.microsoft.com/office/drawing/2014/main" id="{37EE5AFD-1FD1-4CC2-A4BD-4EEC49183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2143125"/>
            <a:ext cx="2095500" cy="3048000"/>
          </a:xfrm>
          <a:prstGeom xmlns:a="http://schemas.openxmlformats.org/drawingml/2006/main" prst="roundRect">
            <a:avLst>
              <a:gd name="adj" fmla="val 5455"/>
            </a:avLst>
          </a:prstGeom>
          <a:solidFill xmlns:a="http://schemas.openxmlformats.org/drawingml/2006/main">
            <a:srgbClr val="F0F2F5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10131A"/>
                </a:solidFill>
              </a:defRPr>
            </a:pPr>
            <a:r>
              <a:rPr sz="1425" b="0">
                <a:solidFill>
                  <a:srgbClr val="10131A"/>
                </a:solidFill>
              </a:rPr>
              <a:t>2</a:t>
            </a:r>
          </a:p>
          <a:p xmlns:a="http://schemas.openxmlformats.org/drawingml/2006/main">
            <a:pPr algn="ctr">
              <a:defRPr sz="1425" b="0">
                <a:solidFill>
                  <a:srgbClr val="10131A"/>
                </a:solidFill>
              </a:defRPr>
            </a:pPr>
            <a:r>
              <a:rPr sz="1425" b="0">
                <a:solidFill>
                  <a:srgbClr val="10131A"/>
                </a:solidFill>
              </a:rPr>
              <a:t>CHỌN ĐỊA CHỈ</a:t>
            </a:r>
          </a:p>
          <a:p xmlns:a="http://schemas.openxmlformats.org/drawingml/2006/main">
            <a:pPr algn="ctr">
              <a:defRPr sz="1425" b="0">
                <a:solidFill>
                  <a:srgbClr val="10131A"/>
                </a:solidFill>
              </a:defRPr>
            </a:pPr>
            <a:r>
              <a:rPr sz="1425" b="0">
                <a:solidFill>
                  <a:srgbClr val="10131A"/>
                </a:solidFill>
              </a:rPr>
              <a:t>Xác định hoạt động nào học sinh thật sự cần dùng kĩ năng số.</a:t>
            </a:r>
          </a:p>
        </p:txBody>
      </p:sp>
      <p:sp>
        <p:nvSpPr>
          <p:cNvPr id="7" name="anim-09-2">
            <a:extLst xmlns:a="http://schemas.openxmlformats.org/drawingml/2006/main">
              <a:ext uri="{FF2B5EF4-FFF2-40B4-BE49-F238E27FC236}">
                <a16:creationId xmlns:a16="http://schemas.microsoft.com/office/drawing/2014/main" id="{4C22A843-C62D-4B3C-AB2D-043DA3DFB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2143125"/>
            <a:ext cx="2095500" cy="3048000"/>
          </a:xfrm>
          <a:prstGeom xmlns:a="http://schemas.openxmlformats.org/drawingml/2006/main" prst="roundRect">
            <a:avLst>
              <a:gd name="adj" fmla="val 5455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1769E0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10131A"/>
                </a:solidFill>
              </a:defRPr>
            </a:pPr>
            <a:r>
              <a:rPr sz="1425" b="0">
                <a:solidFill>
                  <a:srgbClr val="10131A"/>
                </a:solidFill>
              </a:rPr>
              <a:t>3</a:t>
            </a:r>
          </a:p>
          <a:p xmlns:a="http://schemas.openxmlformats.org/drawingml/2006/main">
            <a:pPr algn="ctr">
              <a:defRPr sz="1425" b="0">
                <a:solidFill>
                  <a:srgbClr val="10131A"/>
                </a:solidFill>
              </a:defRPr>
            </a:pPr>
            <a:r>
              <a:rPr sz="1425" b="0">
                <a:solidFill>
                  <a:srgbClr val="10131A"/>
                </a:solidFill>
              </a:rPr>
              <a:t>THIẾT KẾ NHIỆM VỤ</a:t>
            </a:r>
          </a:p>
          <a:p xmlns:a="http://schemas.openxmlformats.org/drawingml/2006/main">
            <a:pPr algn="ctr">
              <a:defRPr sz="1425" b="0">
                <a:solidFill>
                  <a:srgbClr val="10131A"/>
                </a:solidFill>
              </a:defRPr>
            </a:pPr>
            <a:r>
              <a:rPr sz="1425" b="0">
                <a:solidFill>
                  <a:srgbClr val="10131A"/>
                </a:solidFill>
              </a:rPr>
              <a:t>Nguồn, dữ kiện, công cụ, sản phẩm và phương án không thiết bị.</a:t>
            </a:r>
          </a:p>
        </p:txBody>
      </p:sp>
      <p:sp>
        <p:nvSpPr>
          <p:cNvPr id="8" name="anim-09-3">
            <a:extLst xmlns:a="http://schemas.openxmlformats.org/drawingml/2006/main">
              <a:ext uri="{FF2B5EF4-FFF2-40B4-BE49-F238E27FC236}">
                <a16:creationId xmlns:a16="http://schemas.microsoft.com/office/drawing/2014/main" id="{E84DE539-1C7E-4589-8515-E0E25605E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143125"/>
            <a:ext cx="2095500" cy="3048000"/>
          </a:xfrm>
          <a:prstGeom xmlns:a="http://schemas.openxmlformats.org/drawingml/2006/main" prst="roundRect">
            <a:avLst>
              <a:gd name="adj" fmla="val 5455"/>
            </a:avLst>
          </a:prstGeom>
          <a:solidFill xmlns:a="http://schemas.openxmlformats.org/drawingml/2006/main">
            <a:srgbClr val="F0F2F5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10131A"/>
                </a:solidFill>
              </a:defRPr>
            </a:pPr>
            <a:r>
              <a:rPr sz="1425" b="0">
                <a:solidFill>
                  <a:srgbClr val="10131A"/>
                </a:solidFill>
              </a:rPr>
              <a:t>4</a:t>
            </a:r>
          </a:p>
          <a:p xmlns:a="http://schemas.openxmlformats.org/drawingml/2006/main">
            <a:pPr algn="ctr">
              <a:defRPr sz="1425" b="0">
                <a:solidFill>
                  <a:srgbClr val="10131A"/>
                </a:solidFill>
              </a:defRPr>
            </a:pPr>
            <a:r>
              <a:rPr sz="1425" b="0">
                <a:solidFill>
                  <a:srgbClr val="10131A"/>
                </a:solidFill>
              </a:rPr>
              <a:t>BUỘC CÓ MINH CHỨNG</a:t>
            </a:r>
          </a:p>
          <a:p xmlns:a="http://schemas.openxmlformats.org/drawingml/2006/main">
            <a:pPr algn="ctr">
              <a:defRPr sz="1425" b="0">
                <a:solidFill>
                  <a:srgbClr val="10131A"/>
                </a:solidFill>
              </a:defRPr>
            </a:pPr>
            <a:r>
              <a:rPr sz="1425" b="0">
                <a:solidFill>
                  <a:srgbClr val="10131A"/>
                </a:solidFill>
              </a:rPr>
              <a:t>Lịch sử tìm kiếm, nguồn, tệp sản phẩm, phản hồi và giải thích.</a:t>
            </a:r>
          </a:p>
        </p:txBody>
      </p:sp>
      <p:sp>
        <p:nvSpPr>
          <p:cNvPr id="9" name="anim-09-4">
            <a:extLst xmlns:a="http://schemas.openxmlformats.org/drawingml/2006/main">
              <a:ext uri="{FF2B5EF4-FFF2-40B4-BE49-F238E27FC236}">
                <a16:creationId xmlns:a16="http://schemas.microsoft.com/office/drawing/2014/main" id="{4170181D-5E56-4D2C-829D-4F7ADA908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3125" y="2143125"/>
            <a:ext cx="2095500" cy="3048000"/>
          </a:xfrm>
          <a:prstGeom xmlns:a="http://schemas.openxmlformats.org/drawingml/2006/main" prst="roundRect">
            <a:avLst>
              <a:gd name="adj" fmla="val 5455"/>
            </a:avLst>
          </a:prstGeom>
          <a:solidFill xmlns:a="http://schemas.openxmlformats.org/drawingml/2006/main">
            <a:srgbClr val="F0F2F5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10131A"/>
                </a:solidFill>
              </a:defRPr>
            </a:pPr>
            <a:r>
              <a:rPr sz="1425" b="0">
                <a:solidFill>
                  <a:srgbClr val="10131A"/>
                </a:solidFill>
              </a:rPr>
              <a:t>5</a:t>
            </a:r>
          </a:p>
          <a:p xmlns:a="http://schemas.openxmlformats.org/drawingml/2006/main">
            <a:pPr algn="ctr">
              <a:defRPr sz="1425" b="0">
                <a:solidFill>
                  <a:srgbClr val="10131A"/>
                </a:solidFill>
              </a:defRPr>
            </a:pPr>
            <a:r>
              <a:rPr sz="1425" b="0">
                <a:solidFill>
                  <a:srgbClr val="10131A"/>
                </a:solidFill>
              </a:rPr>
              <a:t>ĐÁNH GIÁ - ĐIỀU CHỈNH</a:t>
            </a:r>
          </a:p>
          <a:p xmlns:a="http://schemas.openxmlformats.org/drawingml/2006/main">
            <a:pPr algn="ctr">
              <a:defRPr sz="1425" b="0">
                <a:solidFill>
                  <a:srgbClr val="10131A"/>
                </a:solidFill>
              </a:defRPr>
            </a:pPr>
            <a:r>
              <a:rPr sz="1425" b="0">
                <a:solidFill>
                  <a:srgbClr val="10131A"/>
                </a:solidFill>
              </a:rPr>
              <a:t>Nhận xét theo tiêu chí; rà soát mức độ sau năm học.</a:t>
            </a:r>
          </a:p>
        </p:txBody>
      </p:sp>
      <p:sp>
        <p:nvSpPr>
          <p:cNvPr id="10" name="anim-09-close">
            <a:extLst xmlns:a="http://schemas.openxmlformats.org/drawingml/2006/main">
              <a:ext uri="{FF2B5EF4-FFF2-40B4-BE49-F238E27FC236}">
                <a16:creationId xmlns:a16="http://schemas.microsoft.com/office/drawing/2014/main" id="{E872BA3F-7A27-4B54-A69D-D3F64989A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619750"/>
            <a:ext cx="8953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0B2B5B"/>
                </a:solidFill>
              </a:defRPr>
            </a:pPr>
            <a:r>
              <a:rPr sz="1950" b="1">
                <a:solidFill>
                  <a:srgbClr val="0B2B5B"/>
                </a:solidFill>
              </a:rPr>
              <a:t>Tích hợp làm rõ bài học, không tạo thêm một “bài kiểm tra công nghệ” riêng.</a:t>
            </a:r>
          </a:p>
        </p:txBody>
      </p:sp>
    </p:spTree>
    <p:transition spd="fast">
      <p:fade/>
    </p:transition>
    <p:timing>
      <p:tnLst>
        <p:par>
          <p:cTn id="1000" dur="indefinite" restart="never" nodeType="tmRoot">
            <p:childTnLst>
              <p:seq concurrent="1" nextAc="seek">
                <p:cTn id="1001" dur="indefinite" nodeType="mainSeq">
                  <p:childTnLst>
                    <p:par>
                      <p:cTn id="1002" fill="hold">
                        <p:stCondLst>
                          <p:cond delay="indefinite"/>
                        </p:stCondLst>
                        <p:childTnLst>
                          <p:par>
                            <p:cTn id="1003" fill="hold">
                              <p:stCondLst>
                                <p:cond delay="0"/>
                              </p:stCondLst>
                              <p:childTnLst>
                                <p:par>
                                  <p:cTn id="1004" presetID="10" presetClass="entr" presetSubtype="0" fill="hold" grpId="0" nodeType="clickEffect">
                                    <p:stCondLst>
                                      <p:cond delay="0"/>
                                    </p:stCondLst>
                                    <p:childTnLst>
                                      <p:set>
                                        <p:cBhvr>
                                          <p:cTn id="1005" dur="1" fill="hold">
                                            <p:stCondLst>
                                              <p:cond delay="0"/>
                                            </p:stCondLst>
                                          </p:cTn>
                                          <p:tgtEl>
                                            <p:spTgt spid="5"/>
                                          </p:tgtEl>
                                          <p:attrNameLst>
                                            <p:attrName>style.visibility</p:attrName>
                                          </p:attrNameLst>
                                        </p:cBhvr>
                                        <p:to>
                                          <p:strVal val="visible"/>
                                        </p:to>
                                      </p:set>
                                      <p:animEffect transition="in" filter="fade">
                                        <p:cBhvr>
                                          <p:cTn id="1006" dur="350"/>
                                          <p:tgtEl>
                                            <p:spTgt spid="5"/>
                                          </p:tgtEl>
                                        </p:cBhvr>
                                      </p:animEffect>
                                    </p:childTnLst>
                                  </p:cTn>
                                </p:par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1007" fill="hold">
                        <p:stCondLst>
                          <p:cond delay="indefinite"/>
                        </p:stCondLst>
                        <p:childTnLst>
                          <p:par>
                            <p:cTn id="1008" fill="hold">
                              <p:stCondLst>
                                <p:cond delay="0"/>
                              </p:stCondLst>
                              <p:childTnLst>
                                <p:par>
                                  <p:cTn id="1009" presetID="10" presetClass="entr" presetSubtype="0" fill="hold" grpId="0" nodeType="clickEffect">
                                    <p:stCondLst>
                                      <p:cond delay="0"/>
                                    </p:stCondLst>
                                    <p:childTnLst>
                                      <p:set>
                                        <p:cBhvr>
                                          <p:cTn id="1010" dur="1" fill="hold">
                                            <p:stCondLst>
                                              <p:cond delay="0"/>
                                            </p:stCondLst>
                                          </p:cTn>
                                          <p:tgtEl>
                                            <p:spTgt spid="6"/>
                                          </p:tgtEl>
                                          <p:attrNameLst>
                                            <p:attrName>style.visibility</p:attrName>
                                          </p:attrNameLst>
                                        </p:cBhvr>
                                        <p:to>
                                          <p:strVal val="visible"/>
                                        </p:to>
                                      </p:set>
                                      <p:animEffect transition="in" filter="fade">
                                        <p:cBhvr>
                                          <p:cTn id="1011" dur="350"/>
                                          <p:tgtEl>
                                            <p:spTgt spid="6"/>
                                          </p:tgtEl>
                                        </p:cBhvr>
                                      </p:animEffect>
                                    </p:childTnLst>
                                  </p:cTn>
                                </p:par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1012" fill="hold">
                        <p:stCondLst>
                          <p:cond delay="indefinite"/>
                        </p:stCondLst>
                        <p:childTnLst>
                          <p:par>
                            <p:cTn id="1013" fill="hold">
                              <p:stCondLst>
                                <p:cond delay="0"/>
                              </p:stCondLst>
                              <p:childTnLst>
                                <p:par>
                                  <p:cTn id="1014" presetID="10" presetClass="entr" presetSubtype="0" fill="hold" grpId="0" nodeType="clickEffect">
                                    <p:stCondLst>
                                      <p:cond delay="0"/>
                                    </p:stCondLst>
                                    <p:childTnLst>
                                      <p:set>
                                        <p:cBhvr>
                                          <p:cTn id="1015" dur="1" fill="hold">
                                            <p:stCondLst>
                                              <p:cond delay="0"/>
                                            </p:stCondLst>
                                          </p:cTn>
                                          <p:tgtEl>
                                            <p:spTgt spid="7"/>
                                          </p:tgtEl>
                                          <p:attrNameLst>
                                            <p:attrName>style.visibility</p:attrName>
                                          </p:attrNameLst>
                                        </p:cBhvr>
                                        <p:to>
                                          <p:strVal val="visible"/>
                                        </p:to>
                                      </p:set>
                                      <p:animEffect transition="in" filter="fade">
                                        <p:cBhvr>
                                          <p:cTn id="1016" dur="350"/>
                                          <p:tgtEl>
                                            <p:spTgt spid="7"/>
                                          </p:tgtEl>
                                        </p:cBhvr>
                                      </p:animEffect>
                                    </p:childTnLst>
                                  </p:cTn>
                                </p:par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1017" fill="hold">
                        <p:stCondLst>
                          <p:cond delay="indefinite"/>
                        </p:stCondLst>
                        <p:childTnLst>
                          <p:par>
                            <p:cTn id="1018" fill="hold">
                              <p:stCondLst>
                                <p:cond delay="0"/>
                              </p:stCondLst>
                              <p:childTnLst>
                                <p:par>
                                  <p:cTn id="1019" presetID="10" presetClass="entr" presetSubtype="0" fill="hold" grpId="0" nodeType="clickEffect">
                                    <p:stCondLst>
                                      <p:cond delay="0"/>
                                    </p:stCondLst>
                                    <p:childTnLst>
                                      <p:set>
                                        <p:cBhvr>
                                          <p:cTn id="1020" dur="1" fill="hold">
                                            <p:stCondLst>
                                              <p:cond delay="0"/>
                                            </p:stCondLst>
                                          </p:cTn>
                                          <p:tgtEl>
                                            <p:spTgt spid="8"/>
                                          </p:tgtEl>
                                          <p:attrNameLst>
                                            <p:attrName>style.visibility</p:attrName>
                                          </p:attrNameLst>
                                        </p:cBhvr>
                                        <p:to>
                                          <p:strVal val="visible"/>
                                        </p:to>
                                      </p:set>
                                      <p:animEffect transition="in" filter="fade">
                                        <p:cBhvr>
                                          <p:cTn id="1021" dur="350"/>
                                          <p:tgtEl>
                                            <p:spTgt spid="8"/>
                                          </p:tgtEl>
                                        </p:cBhvr>
                                      </p:animEffect>
                                    </p:childTnLst>
                                  </p:cTn>
                                </p:par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1022" fill="hold">
                        <p:stCondLst>
                          <p:cond delay="indefinite"/>
                        </p:stCondLst>
                        <p:childTnLst>
                          <p:par>
                            <p:cTn id="1023" fill="hold">
                              <p:stCondLst>
                                <p:cond delay="0"/>
                              </p:stCondLst>
                              <p:childTnLst>
                                <p:par>
                                  <p:cTn id="1024" presetID="10" presetClass="entr" presetSubtype="0" fill="hold" grpId="0" nodeType="clickEffect">
                                    <p:stCondLst>
                                      <p:cond delay="0"/>
                                    </p:stCondLst>
                                    <p:childTnLst>
                                      <p:set>
                                        <p:cBhvr>
                                          <p:cTn id="1025" dur="1" fill="hold">
                                            <p:stCondLst>
                                              <p:cond delay="0"/>
                                            </p:stCondLst>
                                          </p:cTn>
                                          <p:tgtEl>
                                            <p:spTgt spid="9"/>
                                          </p:tgtEl>
                                          <p:attrNameLst>
                                            <p:attrName>style.visibility</p:attrName>
                                          </p:attrNameLst>
                                        </p:cBhvr>
                                        <p:to>
                                          <p:strVal val="visible"/>
                                        </p:to>
                                      </p:set>
                                      <p:animEffect transition="in" filter="fade">
                                        <p:cBhvr>
                                          <p:cTn id="1026" dur="350"/>
                                          <p:tgtEl>
                                            <p:spTgt spid="9"/>
                                          </p:tgtEl>
                                        </p:cBhvr>
                                      </p:animEffect>
                                    </p:childTnLst>
                                  </p:cTn>
                                </p:par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1027" fill="hold">
                        <p:stCondLst>
                          <p:cond delay="indefinite"/>
                        </p:stCondLst>
                        <p:childTnLst>
                          <p:par>
                            <p:cTn id="1028" fill="hold">
                              <p:stCondLst>
                                <p:cond delay="0"/>
                              </p:stCondLst>
                              <p:childTnLst>
                                <p:par>
                                  <p:cTn id="1029" presetID="10" presetClass="entr" presetSubtype="0" fill="hold" grpId="0" nodeType="clickEffect">
                                    <p:stCondLst>
                                      <p:cond delay="0"/>
                                    </p:stCondLst>
                                    <p:childTnLst>
                                      <p:set>
                                        <p:cBhvr>
                                          <p:cTn id="1030" dur="1" fill="hold">
                                            <p:stCondLst>
                                              <p:cond delay="0"/>
                                            </p:stCondLst>
                                          </p:cTn>
                                          <p:tgtEl>
                                            <p:spTgt spid="10"/>
                                          </p:tgtEl>
                                          <p:attrNameLst>
                                            <p:attrName>style.visibility</p:attrName>
                                          </p:attrNameLst>
                                        </p:cBhvr>
                                        <p:to>
                                          <p:strVal val="visible"/>
                                        </p:to>
                                      </p:set>
                                      <p:animEffect transition="in" filter="fade">
                                        <p:cBhvr>
                                          <p:cTn id="1031" dur="350"/>
                                          <p:tgtEl>
                                            <p:spTgt spid="10"/>
                                          </p:tgtEl>
                                        </p:cBhvr>
                                      </p:animEffect>
                                    </p:childTnLst>
                                  </p:cTn>
                                </p:par>
                              </p:childTnLst>
                            </p:cTn>
                          </p:par>
                        </p:childTnLst>
                      </p:cTn>
                    </p:par>
                  </p:childTnLst>
                </p:cTn>
                <p:prevCondLst>
                  <p:cond evt="onPrev" delay="0">
                    <p:tgtEl>
                      <p:sldTgt/>
                    </p:tgtEl>
                  </p:cond>
                </p:prevCondLst>
                <p:nextCondLst>
                  <p:cond evt="onNext" delay="0">
                    <p:tgtEl>
                      <p:sldTgt/>
                    </p:tgtEl>
                  </p:cond>
                </p:nextCondLst>
              </p:seq>
            </p:childTnLst>
          </p:cTn>
        </p:par>
      </p:tnLst>
    </p:timing>
    <p:extLst>
      <p:ext uri="{BB962C8B-B14F-4D97-AF65-F5344CB8AC3E}">
        <p14:creationId xmlns:p14="http://schemas.microsoft.com/office/powerpoint/2010/main" val="1706189155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section-10">
            <a:extLst xmlns:a="http://schemas.openxmlformats.org/drawingml/2006/main">
              <a:ext uri="{FF2B5EF4-FFF2-40B4-BE49-F238E27FC236}">
                <a16:creationId xmlns:a16="http://schemas.microsoft.com/office/drawing/2014/main" id="{70DE2BA9-F3E3-4B23-9645-5F5414A57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47650"/>
            <a:ext cx="419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769E0"/>
                </a:solidFill>
              </a:defRPr>
            </a:pPr>
            <a:r>
              <a:rPr sz="1050" b="1">
                <a:solidFill>
                  <a:srgbClr val="1769E0"/>
                </a:solidFill>
              </a:rPr>
              <a:t>07 / BẢN ĐỒ MÔN HỌC</a:t>
            </a:r>
          </a:p>
        </p:txBody>
      </p:sp>
      <p:sp>
        <p:nvSpPr>
          <p:cNvPr id="2" name="title-10">
            <a:extLst xmlns:a="http://schemas.openxmlformats.org/drawingml/2006/main">
              <a:ext uri="{FF2B5EF4-FFF2-40B4-BE49-F238E27FC236}">
                <a16:creationId xmlns:a16="http://schemas.microsoft.com/office/drawing/2014/main" id="{978A38D8-8BDB-48CF-BC65-06A546500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0550"/>
            <a:ext cx="11144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0131A"/>
                </a:solidFill>
              </a:defRPr>
            </a:pPr>
            <a:r>
              <a:rPr sz="2400" b="1">
                <a:solidFill>
                  <a:srgbClr val="10131A"/>
                </a:solidFill>
              </a:rPr>
              <a:t>Mỗi môn có điểm vào riêng, nhưng cùng đòi hỏi minh chứng số</a:t>
            </a:r>
          </a:p>
        </p:txBody>
      </p:sp>
      <p:sp>
        <p:nvSpPr>
          <p:cNvPr id="3" name="rule-10">
            <a:extLst xmlns:a="http://schemas.openxmlformats.org/drawingml/2006/main">
              <a:ext uri="{FF2B5EF4-FFF2-40B4-BE49-F238E27FC236}">
                <a16:creationId xmlns:a16="http://schemas.microsoft.com/office/drawing/2014/main" id="{961A3622-1DE9-4E73-8700-C1F5E7ED1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04950"/>
            <a:ext cx="11391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4" name="page-10">
            <a:extLst xmlns:a="http://schemas.openxmlformats.org/drawingml/2006/main">
              <a:ext uri="{FF2B5EF4-FFF2-40B4-BE49-F238E27FC236}">
                <a16:creationId xmlns:a16="http://schemas.microsoft.com/office/drawing/2014/main" id="{F737C8DE-10B1-40D0-A07D-D35685F63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86500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E6673"/>
                </a:solidFill>
              </a:defRPr>
            </a:pPr>
            <a:r>
              <a:rPr sz="975" b="0">
                <a:solidFill>
                  <a:srgbClr val="5E6673"/>
                </a:solidFill>
              </a:rPr>
              <a:t>10</a:t>
            </a:r>
          </a:p>
        </p:txBody>
      </p:sp>
      <p:sp>
        <p:nvSpPr>
          <p:cNvPr id="5" name="table-h">
            <a:extLst xmlns:a="http://schemas.openxmlformats.org/drawingml/2006/main">
              <a:ext uri="{FF2B5EF4-FFF2-40B4-BE49-F238E27FC236}">
                <a16:creationId xmlns:a16="http://schemas.microsoft.com/office/drawing/2014/main" id="{A7288E45-BC14-4ECE-80D7-8F08C8C9F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952625"/>
            <a:ext cx="11144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31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MÔN                 ĐỊA CHỈ TÍCH HỢP                                  MINH CHỨNG</a:t>
            </a:r>
          </a:p>
        </p:txBody>
      </p:sp>
      <p:sp>
        <p:nvSpPr>
          <p:cNvPr id="6" name="anim-10-0a">
            <a:extLst xmlns:a="http://schemas.openxmlformats.org/drawingml/2006/main">
              <a:ext uri="{FF2B5EF4-FFF2-40B4-BE49-F238E27FC236}">
                <a16:creationId xmlns:a16="http://schemas.microsoft.com/office/drawing/2014/main" id="{EE1F68DF-F9EC-45FA-AC28-312E71011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400300"/>
            <a:ext cx="142875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B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B2B5B"/>
                </a:solidFill>
              </a:defRPr>
            </a:pPr>
            <a:r>
              <a:rPr sz="1200" b="1">
                <a:solidFill>
                  <a:srgbClr val="0B2B5B"/>
                </a:solidFill>
              </a:rPr>
              <a:t>TOÁN</a:t>
            </a:r>
          </a:p>
        </p:txBody>
      </p:sp>
      <p:sp>
        <p:nvSpPr>
          <p:cNvPr id="7" name="anim-10-0b">
            <a:extLst xmlns:a="http://schemas.openxmlformats.org/drawingml/2006/main">
              <a:ext uri="{FF2B5EF4-FFF2-40B4-BE49-F238E27FC236}">
                <a16:creationId xmlns:a16="http://schemas.microsoft.com/office/drawing/2014/main" id="{EAEBD1A4-396B-4B58-9708-5299DC7DB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2400300"/>
            <a:ext cx="409575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B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131A"/>
                </a:solidFill>
              </a:defRPr>
            </a:pPr>
            <a:r>
              <a:rPr sz="1200" b="0">
                <a:solidFill>
                  <a:srgbClr val="10131A"/>
                </a:solidFill>
              </a:rPr>
              <a:t>Dữ liệu, biểu đồ, bảng tính, mô phỏng</a:t>
            </a:r>
          </a:p>
        </p:txBody>
      </p:sp>
      <p:sp>
        <p:nvSpPr>
          <p:cNvPr id="8" name="anim-10-0c">
            <a:extLst xmlns:a="http://schemas.openxmlformats.org/drawingml/2006/main">
              <a:ext uri="{FF2B5EF4-FFF2-40B4-BE49-F238E27FC236}">
                <a16:creationId xmlns:a16="http://schemas.microsoft.com/office/drawing/2014/main" id="{6F67EBF3-BFC8-4669-98CE-AA2A60955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2400300"/>
            <a:ext cx="561975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B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131A"/>
                </a:solidFill>
              </a:defRPr>
            </a:pPr>
            <a:r>
              <a:rPr sz="1200" b="0">
                <a:solidFill>
                  <a:srgbClr val="10131A"/>
                </a:solidFill>
              </a:rPr>
              <a:t>Bảng dữ liệu đúng, cách tính, biểu đồ và giải thích</a:t>
            </a:r>
          </a:p>
        </p:txBody>
      </p:sp>
      <p:sp>
        <p:nvSpPr>
          <p:cNvPr id="9" name="anim-10-1a">
            <a:extLst xmlns:a="http://schemas.openxmlformats.org/drawingml/2006/main">
              <a:ext uri="{FF2B5EF4-FFF2-40B4-BE49-F238E27FC236}">
                <a16:creationId xmlns:a16="http://schemas.microsoft.com/office/drawing/2014/main" id="{A3D9F197-ABF9-4376-848B-76287DA30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990850"/>
            <a:ext cx="142875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2F5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B2B5B"/>
                </a:solidFill>
              </a:defRPr>
            </a:pPr>
            <a:r>
              <a:rPr sz="1200" b="1">
                <a:solidFill>
                  <a:srgbClr val="0B2B5B"/>
                </a:solidFill>
              </a:rPr>
              <a:t>NGỮ VĂN</a:t>
            </a:r>
          </a:p>
        </p:txBody>
      </p:sp>
      <p:sp>
        <p:nvSpPr>
          <p:cNvPr id="10" name="anim-10-1b">
            <a:extLst xmlns:a="http://schemas.openxmlformats.org/drawingml/2006/main">
              <a:ext uri="{FF2B5EF4-FFF2-40B4-BE49-F238E27FC236}">
                <a16:creationId xmlns:a16="http://schemas.microsoft.com/office/drawing/2014/main" id="{74A44AF8-E8F9-4472-968F-23BEB062F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2990850"/>
            <a:ext cx="409575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2F5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131A"/>
                </a:solidFill>
              </a:defRPr>
            </a:pPr>
            <a:r>
              <a:rPr sz="1200" b="0">
                <a:solidFill>
                  <a:srgbClr val="10131A"/>
                </a:solidFill>
              </a:rPr>
              <a:t>Tìm - đánh giá nguồn, tạo nội dung số</a:t>
            </a:r>
          </a:p>
        </p:txBody>
      </p:sp>
      <p:sp>
        <p:nvSpPr>
          <p:cNvPr id="11" name="anim-10-1c">
            <a:extLst xmlns:a="http://schemas.openxmlformats.org/drawingml/2006/main">
              <a:ext uri="{FF2B5EF4-FFF2-40B4-BE49-F238E27FC236}">
                <a16:creationId xmlns:a16="http://schemas.microsoft.com/office/drawing/2014/main" id="{2509EDBA-C32C-4D52-AECF-3563E3E4C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2990850"/>
            <a:ext cx="561975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2F5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131A"/>
                </a:solidFill>
              </a:defRPr>
            </a:pPr>
            <a:r>
              <a:rPr sz="1200" b="0">
                <a:solidFill>
                  <a:srgbClr val="10131A"/>
                </a:solidFill>
              </a:rPr>
              <a:t>Nguồn trích dẫn, bản nháp, bản sửa và lí giải</a:t>
            </a:r>
          </a:p>
        </p:txBody>
      </p:sp>
      <p:sp>
        <p:nvSpPr>
          <p:cNvPr id="12" name="anim-10-2a">
            <a:extLst xmlns:a="http://schemas.openxmlformats.org/drawingml/2006/main">
              <a:ext uri="{FF2B5EF4-FFF2-40B4-BE49-F238E27FC236}">
                <a16:creationId xmlns:a16="http://schemas.microsoft.com/office/drawing/2014/main" id="{734A029A-358D-433D-A048-E086449B8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581400"/>
            <a:ext cx="142875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B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B2B5B"/>
                </a:solidFill>
              </a:defRPr>
            </a:pPr>
            <a:r>
              <a:rPr sz="1200" b="1">
                <a:solidFill>
                  <a:srgbClr val="0B2B5B"/>
                </a:solidFill>
              </a:rPr>
              <a:t>TIẾNG ANH</a:t>
            </a:r>
          </a:p>
        </p:txBody>
      </p:sp>
      <p:sp>
        <p:nvSpPr>
          <p:cNvPr id="13" name="anim-10-2b">
            <a:extLst xmlns:a="http://schemas.openxmlformats.org/drawingml/2006/main">
              <a:ext uri="{FF2B5EF4-FFF2-40B4-BE49-F238E27FC236}">
                <a16:creationId xmlns:a16="http://schemas.microsoft.com/office/drawing/2014/main" id="{78CCD4B7-DA52-428A-A01F-9F293A44F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3581400"/>
            <a:ext cx="409575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B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131A"/>
                </a:solidFill>
              </a:defRPr>
            </a:pPr>
            <a:r>
              <a:rPr sz="1200" b="0">
                <a:solidFill>
                  <a:srgbClr val="10131A"/>
                </a:solidFill>
              </a:rPr>
              <a:t>Giao tiếp số, học liệu đa phương thức</a:t>
            </a:r>
          </a:p>
        </p:txBody>
      </p:sp>
      <p:sp>
        <p:nvSpPr>
          <p:cNvPr id="14" name="anim-10-2c">
            <a:extLst xmlns:a="http://schemas.openxmlformats.org/drawingml/2006/main">
              <a:ext uri="{FF2B5EF4-FFF2-40B4-BE49-F238E27FC236}">
                <a16:creationId xmlns:a16="http://schemas.microsoft.com/office/drawing/2014/main" id="{46DBC169-14E6-41DE-91D6-ED939DBE0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3581400"/>
            <a:ext cx="561975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B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131A"/>
                </a:solidFill>
              </a:defRPr>
            </a:pPr>
            <a:r>
              <a:rPr sz="1200" b="0">
                <a:solidFill>
                  <a:srgbClr val="10131A"/>
                </a:solidFill>
              </a:rPr>
              <a:t>Đoạn hội thoại, phản hồi, bản ghi cải thiện</a:t>
            </a:r>
          </a:p>
        </p:txBody>
      </p:sp>
      <p:sp>
        <p:nvSpPr>
          <p:cNvPr id="15" name="anim-10-3a">
            <a:extLst xmlns:a="http://schemas.openxmlformats.org/drawingml/2006/main">
              <a:ext uri="{FF2B5EF4-FFF2-40B4-BE49-F238E27FC236}">
                <a16:creationId xmlns:a16="http://schemas.microsoft.com/office/drawing/2014/main" id="{0F5FAC37-9B0E-4147-A34A-F7C60998A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4171950"/>
            <a:ext cx="142875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2F5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B2B5B"/>
                </a:solidFill>
              </a:defRPr>
            </a:pPr>
            <a:r>
              <a:rPr sz="1200" b="1">
                <a:solidFill>
                  <a:srgbClr val="0B2B5B"/>
                </a:solidFill>
              </a:rPr>
              <a:t>KHTN</a:t>
            </a:r>
          </a:p>
        </p:txBody>
      </p:sp>
      <p:sp>
        <p:nvSpPr>
          <p:cNvPr id="16" name="anim-10-3b">
            <a:extLst xmlns:a="http://schemas.openxmlformats.org/drawingml/2006/main">
              <a:ext uri="{FF2B5EF4-FFF2-40B4-BE49-F238E27FC236}">
                <a16:creationId xmlns:a16="http://schemas.microsoft.com/office/drawing/2014/main" id="{863716C4-1589-41AA-9511-8D5C80C14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4171950"/>
            <a:ext cx="409575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2F5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131A"/>
                </a:solidFill>
              </a:defRPr>
            </a:pPr>
            <a:r>
              <a:rPr sz="1200" b="0">
                <a:solidFill>
                  <a:srgbClr val="10131A"/>
                </a:solidFill>
              </a:rPr>
              <a:t>Dữ liệu thí nghiệm, mô phỏng, an toàn số</a:t>
            </a:r>
          </a:p>
        </p:txBody>
      </p:sp>
      <p:sp>
        <p:nvSpPr>
          <p:cNvPr id="17" name="anim-10-3c">
            <a:extLst xmlns:a="http://schemas.openxmlformats.org/drawingml/2006/main">
              <a:ext uri="{FF2B5EF4-FFF2-40B4-BE49-F238E27FC236}">
                <a16:creationId xmlns:a16="http://schemas.microsoft.com/office/drawing/2014/main" id="{96CFCDCE-B373-472E-BAC4-43C9AC4D1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4171950"/>
            <a:ext cx="561975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2F5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131A"/>
                </a:solidFill>
              </a:defRPr>
            </a:pPr>
            <a:r>
              <a:rPr sz="1200" b="0">
                <a:solidFill>
                  <a:srgbClr val="10131A"/>
                </a:solidFill>
              </a:rPr>
              <a:t>Nhật kí số liệu, kết luận có căn cứ</a:t>
            </a:r>
          </a:p>
        </p:txBody>
      </p:sp>
      <p:sp>
        <p:nvSpPr>
          <p:cNvPr id="18" name="anim-10-4a">
            <a:extLst xmlns:a="http://schemas.openxmlformats.org/drawingml/2006/main">
              <a:ext uri="{FF2B5EF4-FFF2-40B4-BE49-F238E27FC236}">
                <a16:creationId xmlns:a16="http://schemas.microsoft.com/office/drawing/2014/main" id="{F061CCB3-495D-4794-BB48-91E52122E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4762500"/>
            <a:ext cx="142875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B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B2B5B"/>
                </a:solidFill>
              </a:defRPr>
            </a:pPr>
            <a:r>
              <a:rPr sz="1200" b="1">
                <a:solidFill>
                  <a:srgbClr val="0B2B5B"/>
                </a:solidFill>
              </a:rPr>
              <a:t>LS - ĐL</a:t>
            </a:r>
          </a:p>
        </p:txBody>
      </p:sp>
      <p:sp>
        <p:nvSpPr>
          <p:cNvPr id="19" name="anim-10-4b">
            <a:extLst xmlns:a="http://schemas.openxmlformats.org/drawingml/2006/main">
              <a:ext uri="{FF2B5EF4-FFF2-40B4-BE49-F238E27FC236}">
                <a16:creationId xmlns:a16="http://schemas.microsoft.com/office/drawing/2014/main" id="{3BEA90C9-25A4-4A73-B3D6-8616DD8F5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4762500"/>
            <a:ext cx="409575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B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131A"/>
                </a:solidFill>
              </a:defRPr>
            </a:pPr>
            <a:r>
              <a:rPr sz="1200" b="0">
                <a:solidFill>
                  <a:srgbClr val="10131A"/>
                </a:solidFill>
              </a:rPr>
              <a:t>Bản đồ, tư liệu số, kiểm chứng nguồn</a:t>
            </a:r>
          </a:p>
        </p:txBody>
      </p:sp>
      <p:sp>
        <p:nvSpPr>
          <p:cNvPr id="20" name="anim-10-4c">
            <a:extLst xmlns:a="http://schemas.openxmlformats.org/drawingml/2006/main">
              <a:ext uri="{FF2B5EF4-FFF2-40B4-BE49-F238E27FC236}">
                <a16:creationId xmlns:a16="http://schemas.microsoft.com/office/drawing/2014/main" id="{E6219D97-8F71-48BC-AFEB-DAD03D196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4762500"/>
            <a:ext cx="561975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B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131A"/>
                </a:solidFill>
              </a:defRPr>
            </a:pPr>
            <a:r>
              <a:rPr sz="1200" b="0">
                <a:solidFill>
                  <a:srgbClr val="10131A"/>
                </a:solidFill>
              </a:rPr>
              <a:t>So sánh nguồn, bản đồ số, dẫn chứng</a:t>
            </a:r>
          </a:p>
        </p:txBody>
      </p:sp>
      <p:sp>
        <p:nvSpPr>
          <p:cNvPr id="21" name="anim-10-5a">
            <a:extLst xmlns:a="http://schemas.openxmlformats.org/drawingml/2006/main">
              <a:ext uri="{FF2B5EF4-FFF2-40B4-BE49-F238E27FC236}">
                <a16:creationId xmlns:a16="http://schemas.microsoft.com/office/drawing/2014/main" id="{31DDBE22-0972-4FAA-86D3-9016DF487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5353050"/>
            <a:ext cx="142875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2F5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B2B5B"/>
                </a:solidFill>
              </a:defRPr>
            </a:pPr>
            <a:r>
              <a:rPr sz="1200" b="1">
                <a:solidFill>
                  <a:srgbClr val="0B2B5B"/>
                </a:solidFill>
              </a:rPr>
              <a:t>TIN/HĐTN</a:t>
            </a:r>
          </a:p>
        </p:txBody>
      </p:sp>
      <p:sp>
        <p:nvSpPr>
          <p:cNvPr id="22" name="anim-10-5b">
            <a:extLst xmlns:a="http://schemas.openxmlformats.org/drawingml/2006/main">
              <a:ext uri="{FF2B5EF4-FFF2-40B4-BE49-F238E27FC236}">
                <a16:creationId xmlns:a16="http://schemas.microsoft.com/office/drawing/2014/main" id="{6DE7E002-E8E8-425D-A8C0-81F66F569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5353050"/>
            <a:ext cx="409575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2F5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131A"/>
                </a:solidFill>
              </a:defRPr>
            </a:pPr>
            <a:r>
              <a:rPr sz="1200" b="0">
                <a:solidFill>
                  <a:srgbClr val="10131A"/>
                </a:solidFill>
              </a:rPr>
              <a:t>Kĩ năng nền tảng, an toàn, dự án</a:t>
            </a:r>
          </a:p>
        </p:txBody>
      </p:sp>
      <p:sp>
        <p:nvSpPr>
          <p:cNvPr id="23" name="anim-10-5c">
            <a:extLst xmlns:a="http://schemas.openxmlformats.org/drawingml/2006/main">
              <a:ext uri="{FF2B5EF4-FFF2-40B4-BE49-F238E27FC236}">
                <a16:creationId xmlns:a16="http://schemas.microsoft.com/office/drawing/2014/main" id="{F97D2B61-3931-4718-B521-B4369D49D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5353050"/>
            <a:ext cx="561975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2F5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131A"/>
                </a:solidFill>
              </a:defRPr>
            </a:pPr>
            <a:r>
              <a:rPr sz="1200" b="0">
                <a:solidFill>
                  <a:srgbClr val="10131A"/>
                </a:solidFill>
              </a:rPr>
              <a:t>Sản phẩm số, quy tắc và phản hồi</a:t>
            </a:r>
          </a:p>
        </p:txBody>
      </p:sp>
    </p:spTree>
    <p:transition spd="fast">
      <p:fade/>
    </p:transition>
    <p:timing>
      <p:tnLst>
        <p:par>
          <p:cTn id="1000" dur="indefinite" restart="never" nodeType="tmRoot">
            <p:childTnLst>
              <p:seq concurrent="1" nextAc="seek">
                <p:cTn id="1001" dur="indefinite" nodeType="mainSeq">
                  <p:childTnLst>
                    <p:par>
                      <p:cTn id="1002" fill="hold">
                        <p:stCondLst>
                          <p:cond delay="indefinite"/>
                        </p:stCondLst>
                        <p:childTnLst>
                          <p:par>
                            <p:cTn id="1003" fill="hold">
                              <p:stCondLst>
                                <p:cond delay="0"/>
                              </p:stCondLst>
                              <p:childTnLst>
                                <p:par>
                                  <p:cTn id="1004" presetID="10" presetClass="entr" presetSubtype="0" fill="hold" grpId="0" nodeType="clickEffect">
                                    <p:stCondLst>
                                      <p:cond delay="0"/>
                                    </p:stCondLst>
                                    <p:childTnLst>
                                      <p:set>
                                        <p:cBhvr>
                                          <p:cTn id="1005" dur="1" fill="hold">
                                            <p:stCondLst>
                                              <p:cond delay="0"/>
                                            </p:stCondLst>
                                          </p:cTn>
                                          <p:tgtEl>
                                            <p:spTgt spid="6"/>
                                          </p:tgtEl>
                                          <p:attrNameLst>
                                            <p:attrName>style.visibility</p:attrName>
                                          </p:attrNameLst>
                                        </p:cBhvr>
                                        <p:to>
                                          <p:strVal val="visible"/>
                                        </p:to>
                                      </p:set>
                                      <p:animEffect transition="in" filter="fade">
                                        <p:cBhvr>
                                          <p:cTn id="1006" dur="350"/>
                                          <p:tgtEl>
                                            <p:spTgt spid="6"/>
                                          </p:tgtEl>
                                        </p:cBhvr>
                                      </p:animEffect>
                                    </p:childTnLst>
                                  </p:cTn>
                                </p:par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1007" fill="hold">
                        <p:stCondLst>
                          <p:cond delay="indefinite"/>
                        </p:stCondLst>
                        <p:childTnLst>
                          <p:par>
                            <p:cTn id="1008" fill="hold">
                              <p:stCondLst>
                                <p:cond delay="0"/>
                              </p:stCondLst>
                              <p:childTnLst>
                                <p:par>
                                  <p:cTn id="1009" presetID="10" presetClass="entr" presetSubtype="0" fill="hold" grpId="0" nodeType="clickEffect">
                                    <p:stCondLst>
                                      <p:cond delay="0"/>
                                    </p:stCondLst>
                                    <p:childTnLst>
                                      <p:set>
                                        <p:cBhvr>
                                          <p:cTn id="1010" dur="1" fill="hold">
                                            <p:stCondLst>
                                              <p:cond delay="0"/>
                                            </p:stCondLst>
                                          </p:cTn>
                                          <p:tgtEl>
                                            <p:spTgt spid="7"/>
                                          </p:tgtEl>
                                          <p:attrNameLst>
                                            <p:attrName>style.visibility</p:attrName>
                                          </p:attrNameLst>
                                        </p:cBhvr>
                                        <p:to>
                                          <p:strVal val="visible"/>
                                        </p:to>
                                      </p:set>
                                      <p:animEffect transition="in" filter="fade">
                                        <p:cBhvr>
                                          <p:cTn id="1011" dur="350"/>
                                          <p:tgtEl>
                                            <p:spTgt spid="7"/>
                                          </p:tgtEl>
                                        </p:cBhvr>
                                      </p:animEffect>
                                    </p:childTnLst>
                                  </p:cTn>
                                </p:par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1012" fill="hold">
                        <p:stCondLst>
                          <p:cond delay="indefinite"/>
                        </p:stCondLst>
                        <p:childTnLst>
                          <p:par>
                            <p:cTn id="1013" fill="hold">
                              <p:stCondLst>
                                <p:cond delay="0"/>
                              </p:stCondLst>
                              <p:childTnLst>
                                <p:par>
                                  <p:cTn id="1014" presetID="10" presetClass="entr" presetSubtype="0" fill="hold" grpId="0" nodeType="clickEffect">
                                    <p:stCondLst>
                                      <p:cond delay="0"/>
                                    </p:stCondLst>
                                    <p:childTnLst>
                                      <p:set>
                                        <p:cBhvr>
                                          <p:cTn id="1015" dur="1" fill="hold">
                                            <p:stCondLst>
                                              <p:cond delay="0"/>
                                            </p:stCondLst>
                                          </p:cTn>
                                          <p:tgtEl>
                                            <p:spTgt spid="8"/>
                                          </p:tgtEl>
                                          <p:attrNameLst>
                                            <p:attrName>style.visibility</p:attrName>
                                          </p:attrNameLst>
                                        </p:cBhvr>
                                        <p:to>
                                          <p:strVal val="visible"/>
                                        </p:to>
                                      </p:set>
                                      <p:animEffect transition="in" filter="fade">
                                        <p:cBhvr>
                                          <p:cTn id="1016" dur="350"/>
                                          <p:tgtEl>
                                            <p:spTgt spid="8"/>
                                          </p:tgtEl>
                                        </p:cBhvr>
                                      </p:animEffect>
                                    </p:childTnLst>
                                  </p:cTn>
                                </p:par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1017" fill="hold">
                        <p:stCondLst>
                          <p:cond delay="indefinite"/>
                        </p:stCondLst>
                        <p:childTnLst>
                          <p:par>
                            <p:cTn id="1018" fill="hold">
                              <p:stCondLst>
                                <p:cond delay="0"/>
                              </p:stCondLst>
                              <p:childTnLst>
                                <p:par>
                                  <p:cTn id="1019" presetID="10" presetClass="entr" presetSubtype="0" fill="hold" grpId="0" nodeType="clickEffect">
                                    <p:stCondLst>
                                      <p:cond delay="0"/>
                                    </p:stCondLst>
                                    <p:childTnLst>
                                      <p:set>
                                        <p:cBhvr>
                                          <p:cTn id="1020" dur="1" fill="hold">
                                            <p:stCondLst>
                                              <p:cond delay="0"/>
                                            </p:stCondLst>
                                          </p:cTn>
                                          <p:tgtEl>
                                            <p:spTgt spid="9"/>
                                          </p:tgtEl>
                                          <p:attrNameLst>
                                            <p:attrName>style.visibility</p:attrName>
                                          </p:attrNameLst>
                                        </p:cBhvr>
                                        <p:to>
                                          <p:strVal val="visible"/>
                                        </p:to>
                                      </p:set>
                                      <p:animEffect transition="in" filter="fade">
                                        <p:cBhvr>
                                          <p:cTn id="1021" dur="350"/>
                                          <p:tgtEl>
                                            <p:spTgt spid="9"/>
                                          </p:tgtEl>
                                        </p:cBhvr>
                                      </p:animEffect>
                                    </p:childTnLst>
                                  </p:cTn>
                                </p:par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1022" fill="hold">
                        <p:stCondLst>
                          <p:cond delay="indefinite"/>
                        </p:stCondLst>
                        <p:childTnLst>
                          <p:par>
                            <p:cTn id="1023" fill="hold">
                              <p:stCondLst>
                                <p:cond delay="0"/>
                              </p:stCondLst>
                              <p:childTnLst>
                                <p:par>
                                  <p:cTn id="1024" presetID="10" presetClass="entr" presetSubtype="0" fill="hold" grpId="0" nodeType="clickEffect">
                                    <p:stCondLst>
                                      <p:cond delay="0"/>
                                    </p:stCondLst>
                                    <p:childTnLst>
                                      <p:set>
                                        <p:cBhvr>
                                          <p:cTn id="1025" dur="1" fill="hold">
                                            <p:stCondLst>
                                              <p:cond delay="0"/>
                                            </p:stCondLst>
                                          </p:cTn>
                                          <p:tgtEl>
                                            <p:spTgt spid="10"/>
                                          </p:tgtEl>
                                          <p:attrNameLst>
                                            <p:attrName>style.visibility</p:attrName>
                                          </p:attrNameLst>
                                        </p:cBhvr>
                                        <p:to>
                                          <p:strVal val="visible"/>
                                        </p:to>
                                      </p:set>
                                      <p:animEffect transition="in" filter="fade">
                                        <p:cBhvr>
                                          <p:cTn id="1026" dur="350"/>
                                          <p:tgtEl>
                                            <p:spTgt spid="10"/>
                                          </p:tgtEl>
                                        </p:cBhvr>
                                      </p:animEffect>
                                    </p:childTnLst>
                                  </p:cTn>
                                </p:par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1027" fill="hold">
                        <p:stCondLst>
                          <p:cond delay="indefinite"/>
                        </p:stCondLst>
                        <p:childTnLst>
                          <p:par>
                            <p:cTn id="1028" fill="hold">
                              <p:stCondLst>
                                <p:cond delay="0"/>
                              </p:stCondLst>
                              <p:childTnLst>
                                <p:par>
                                  <p:cTn id="1029" presetID="10" presetClass="entr" presetSubtype="0" fill="hold" grpId="0" nodeType="clickEffect">
                                    <p:stCondLst>
                                      <p:cond delay="0"/>
                                    </p:stCondLst>
                                    <p:childTnLst>
                                      <p:set>
                                        <p:cBhvr>
                                          <p:cTn id="1030" dur="1" fill="hold">
                                            <p:stCondLst>
                                              <p:cond delay="0"/>
                                            </p:stCondLst>
                                          </p:cTn>
                                          <p:tgtEl>
                                            <p:spTgt spid="11"/>
                                          </p:tgtEl>
                                          <p:attrNameLst>
                                            <p:attrName>style.visibility</p:attrName>
                                          </p:attrNameLst>
                                        </p:cBhvr>
                                        <p:to>
                                          <p:strVal val="visible"/>
                                        </p:to>
                                      </p:set>
                                      <p:animEffect transition="in" filter="fade">
                                        <p:cBhvr>
                                          <p:cTn id="1031" dur="350"/>
                                          <p:tgtEl>
                                            <p:spTgt spid="11"/>
                                          </p:tgtEl>
                                        </p:cBhvr>
                                      </p:animEffect>
                                    </p:childTnLst>
                                  </p:cTn>
                                </p:par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1032" fill="hold">
                        <p:stCondLst>
                          <p:cond delay="indefinite"/>
                        </p:stCondLst>
                        <p:childTnLst>
                          <p:par>
                            <p:cTn id="1033" fill="hold">
                              <p:stCondLst>
                                <p:cond delay="0"/>
                              </p:stCondLst>
                              <p:childTnLst>
                                <p:par>
                                  <p:cTn id="1034" presetID="10" presetClass="entr" presetSubtype="0" fill="hold" grpId="0" nodeType="clickEffect">
                                    <p:stCondLst>
                                      <p:cond delay="0"/>
                                    </p:stCondLst>
                                    <p:childTnLst>
                                      <p:set>
                                        <p:cBhvr>
                                          <p:cTn id="1035" dur="1" fill="hold">
                                            <p:stCondLst>
                                              <p:cond delay="0"/>
                                            </p:stCondLst>
                                          </p:cTn>
                                          <p:tgtEl>
                                            <p:spTgt spid="12"/>
                                          </p:tgtEl>
                                          <p:attrNameLst>
                                            <p:attrName>style.visibility</p:attrName>
                                          </p:attrNameLst>
                                        </p:cBhvr>
                                        <p:to>
                                          <p:strVal val="visible"/>
                                        </p:to>
                                      </p:set>
                                      <p:animEffect transition="in" filter="fade">
                                        <p:cBhvr>
                                          <p:cTn id="1036" dur="350"/>
                                          <p:tgtEl>
                                            <p:spTgt spid="12"/>
                                          </p:tgtEl>
                                        </p:cBhvr>
                                      </p:animEffect>
                                    </p:childTnLst>
                                  </p:cTn>
                                </p:par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1037" fill="hold">
                        <p:stCondLst>
                          <p:cond delay="indefinite"/>
                        </p:stCondLst>
                        <p:childTnLst>
                          <p:par>
                            <p:cTn id="1038" fill="hold">
                              <p:stCondLst>
                                <p:cond delay="0"/>
                              </p:stCondLst>
                              <p:childTnLst>
                                <p:par>
                                  <p:cTn id="1039" presetID="10" presetClass="entr" presetSubtype="0" fill="hold" grpId="0" nodeType="clickEffect">
                                    <p:stCondLst>
                                      <p:cond delay="0"/>
                                    </p:stCondLst>
                                    <p:childTnLst>
                                      <p:set>
                                        <p:cBhvr>
                                          <p:cTn id="1040" dur="1" fill="hold">
                                            <p:stCondLst>
                                              <p:cond delay="0"/>
                                            </p:stCondLst>
                                          </p:cTn>
                                          <p:tgtEl>
                                            <p:spTgt spid="13"/>
                                          </p:tgtEl>
                                          <p:attrNameLst>
                                            <p:attrName>style.visibility</p:attrName>
                                          </p:attrNameLst>
                                        </p:cBhvr>
                                        <p:to>
                                          <p:strVal val="visible"/>
                                        </p:to>
                                      </p:set>
                                      <p:animEffect transition="in" filter="fade">
                                        <p:cBhvr>
                                          <p:cTn id="1041" dur="350"/>
                                          <p:tgtEl>
                                            <p:spTgt spid="13"/>
                                          </p:tgtEl>
                                        </p:cBhvr>
                                      </p:animEffect>
                                    </p:childTnLst>
                                  </p:cTn>
                                </p:par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1042" fill="hold">
                        <p:stCondLst>
                          <p:cond delay="indefinite"/>
                        </p:stCondLst>
                        <p:childTnLst>
                          <p:par>
                            <p:cTn id="1043" fill="hold">
                              <p:stCondLst>
                                <p:cond delay="0"/>
                              </p:stCondLst>
                              <p:childTnLst>
                                <p:par>
                                  <p:cTn id="1044" presetID="10" presetClass="entr" presetSubtype="0" fill="hold" grpId="0" nodeType="clickEffect">
                                    <p:stCondLst>
                                      <p:cond delay="0"/>
                                    </p:stCondLst>
                                    <p:childTnLst>
                                      <p:set>
                                        <p:cBhvr>
                                          <p:cTn id="1045" dur="1" fill="hold">
                                            <p:stCondLst>
                                              <p:cond delay="0"/>
                                            </p:stCondLst>
                                          </p:cTn>
                                          <p:tgtEl>
                                            <p:spTgt spid="14"/>
                                          </p:tgtEl>
                                          <p:attrNameLst>
                                            <p:attrName>style.visibility</p:attrName>
                                          </p:attrNameLst>
                                        </p:cBhvr>
                                        <p:to>
                                          <p:strVal val="visible"/>
                                        </p:to>
                                      </p:set>
                                      <p:animEffect transition="in" filter="fade">
                                        <p:cBhvr>
                                          <p:cTn id="1046" dur="350"/>
                                          <p:tgtEl>
                                            <p:spTgt spid="14"/>
                                          </p:tgtEl>
                                        </p:cBhvr>
                                      </p:animEffect>
                                    </p:childTnLst>
                                  </p:cTn>
                                </p:par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1047" fill="hold">
                        <p:stCondLst>
                          <p:cond delay="indefinite"/>
                        </p:stCondLst>
                        <p:childTnLst>
                          <p:par>
                            <p:cTn id="1048" fill="hold">
                              <p:stCondLst>
                                <p:cond delay="0"/>
                              </p:stCondLst>
                              <p:childTnLst>
                                <p:par>
                                  <p:cTn id="1049" presetID="10" presetClass="entr" presetSubtype="0" fill="hold" grpId="0" nodeType="clickEffect">
                                    <p:stCondLst>
                                      <p:cond delay="0"/>
                                    </p:stCondLst>
                                    <p:childTnLst>
                                      <p:set>
                                        <p:cBhvr>
                                          <p:cTn id="1050" dur="1" fill="hold">
                                            <p:stCondLst>
                                              <p:cond delay="0"/>
                                            </p:stCondLst>
                                          </p:cTn>
                                          <p:tgtEl>
                                            <p:spTgt spid="15"/>
                                          </p:tgtEl>
                                          <p:attrNameLst>
                                            <p:attrName>style.visibility</p:attrName>
                                          </p:attrNameLst>
                                        </p:cBhvr>
                                        <p:to>
                                          <p:strVal val="visible"/>
                                        </p:to>
                                      </p:set>
                                      <p:animEffect transition="in" filter="fade">
                                        <p:cBhvr>
                                          <p:cTn id="1051" dur="350"/>
                                          <p:tgtEl>
                                            <p:spTgt spid="15"/>
                                          </p:tgtEl>
                                        </p:cBhvr>
                                      </p:animEffect>
                                    </p:childTnLst>
                                  </p:cTn>
                                </p:par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1052" fill="hold">
                        <p:stCondLst>
                          <p:cond delay="indefinite"/>
                        </p:stCondLst>
                        <p:childTnLst>
                          <p:par>
                            <p:cTn id="1053" fill="hold">
                              <p:stCondLst>
                                <p:cond delay="0"/>
                              </p:stCondLst>
                              <p:childTnLst>
                                <p:par>
                                  <p:cTn id="1054" presetID="10" presetClass="entr" presetSubtype="0" fill="hold" grpId="0" nodeType="clickEffect">
                                    <p:stCondLst>
                                      <p:cond delay="0"/>
                                    </p:stCondLst>
                                    <p:childTnLst>
                                      <p:set>
                                        <p:cBhvr>
                                          <p:cTn id="1055" dur="1" fill="hold">
                                            <p:stCondLst>
                                              <p:cond delay="0"/>
                                            </p:stCondLst>
                                          </p:cTn>
                                          <p:tgtEl>
                                            <p:spTgt spid="16"/>
                                          </p:tgtEl>
                                          <p:attrNameLst>
                                            <p:attrName>style.visibility</p:attrName>
                                          </p:attrNameLst>
                                        </p:cBhvr>
                                        <p:to>
                                          <p:strVal val="visible"/>
                                        </p:to>
                                      </p:set>
                                      <p:animEffect transition="in" filter="fade">
                                        <p:cBhvr>
                                          <p:cTn id="1056" dur="350"/>
                                          <p:tgtEl>
                                            <p:spTgt spid="16"/>
                                          </p:tgtEl>
                                        </p:cBhvr>
                                      </p:animEffect>
                                    </p:childTnLst>
                                  </p:cTn>
                                </p:par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1057" fill="hold">
                        <p:stCondLst>
                          <p:cond delay="indefinite"/>
                        </p:stCondLst>
                        <p:childTnLst>
                          <p:par>
                            <p:cTn id="1058" fill="hold">
                              <p:stCondLst>
                                <p:cond delay="0"/>
                              </p:stCondLst>
                              <p:childTnLst>
                                <p:par>
                                  <p:cTn id="1059" presetID="10" presetClass="entr" presetSubtype="0" fill="hold" grpId="0" nodeType="clickEffect">
                                    <p:stCondLst>
                                      <p:cond delay="0"/>
                                    </p:stCondLst>
                                    <p:childTnLst>
                                      <p:set>
                                        <p:cBhvr>
                                          <p:cTn id="1060" dur="1" fill="hold">
                                            <p:stCondLst>
                                              <p:cond delay="0"/>
                                            </p:stCondLst>
                                          </p:cTn>
                                          <p:tgtEl>
                                            <p:spTgt spid="17"/>
                                          </p:tgtEl>
                                          <p:attrNameLst>
                                            <p:attrName>style.visibility</p:attrName>
                                          </p:attrNameLst>
                                        </p:cBhvr>
                                        <p:to>
                                          <p:strVal val="visible"/>
                                        </p:to>
                                      </p:set>
                                      <p:animEffect transition="in" filter="fade">
                                        <p:cBhvr>
                                          <p:cTn id="1061" dur="350"/>
                                          <p:tgtEl>
                                            <p:spTgt spid="17"/>
                                          </p:tgtEl>
                                        </p:cBhvr>
                                      </p:animEffect>
                                    </p:childTnLst>
                                  </p:cTn>
                                </p:par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1062" fill="hold">
                        <p:stCondLst>
                          <p:cond delay="indefinite"/>
                        </p:stCondLst>
                        <p:childTnLst>
                          <p:par>
                            <p:cTn id="1063" fill="hold">
                              <p:stCondLst>
                                <p:cond delay="0"/>
                              </p:stCondLst>
                              <p:childTnLst>
                                <p:par>
                                  <p:cTn id="1064" presetID="10" presetClass="entr" presetSubtype="0" fill="hold" grpId="0" nodeType="clickEffect">
                                    <p:stCondLst>
                                      <p:cond delay="0"/>
                                    </p:stCondLst>
                                    <p:childTnLst>
                                      <p:set>
                                        <p:cBhvr>
                                          <p:cTn id="1065" dur="1" fill="hold">
                                            <p:stCondLst>
                                              <p:cond delay="0"/>
                                            </p:stCondLst>
                                          </p:cTn>
                                          <p:tgtEl>
                                            <p:spTgt spid="18"/>
                                          </p:tgtEl>
                                          <p:attrNameLst>
                                            <p:attrName>style.visibility</p:attrName>
                                          </p:attrNameLst>
                                        </p:cBhvr>
                                        <p:to>
                                          <p:strVal val="visible"/>
                                        </p:to>
                                      </p:set>
                                      <p:animEffect transition="in" filter="fade">
                                        <p:cBhvr>
                                          <p:cTn id="1066" dur="350"/>
                                          <p:tgtEl>
                                            <p:spTgt spid="18"/>
                                          </p:tgtEl>
                                        </p:cBhvr>
                                      </p:animEffect>
                                    </p:childTnLst>
                                  </p:cTn>
                                </p:par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1067" fill="hold">
                        <p:stCondLst>
                          <p:cond delay="indefinite"/>
                        </p:stCondLst>
                        <p:childTnLst>
                          <p:par>
                            <p:cTn id="1068" fill="hold">
                              <p:stCondLst>
                                <p:cond delay="0"/>
                              </p:stCondLst>
                              <p:childTnLst>
                                <p:par>
                                  <p:cTn id="1069" presetID="10" presetClass="entr" presetSubtype="0" fill="hold" grpId="0" nodeType="clickEffect">
                                    <p:stCondLst>
                                      <p:cond delay="0"/>
                                    </p:stCondLst>
                                    <p:childTnLst>
                                      <p:set>
                                        <p:cBhvr>
                                          <p:cTn id="1070" dur="1" fill="hold">
                                            <p:stCondLst>
                                              <p:cond delay="0"/>
                                            </p:stCondLst>
                                          </p:cTn>
                                          <p:tgtEl>
                                            <p:spTgt spid="19"/>
                                          </p:tgtEl>
                                          <p:attrNameLst>
                                            <p:attrName>style.visibility</p:attrName>
                                          </p:attrNameLst>
                                        </p:cBhvr>
                                        <p:to>
                                          <p:strVal val="visible"/>
                                        </p:to>
                                      </p:set>
                                      <p:animEffect transition="in" filter="fade">
                                        <p:cBhvr>
                                          <p:cTn id="1071" dur="350"/>
                                          <p:tgtEl>
                                            <p:spTgt spid="19"/>
                                          </p:tgtEl>
                                        </p:cBhvr>
                                      </p:animEffect>
                                    </p:childTnLst>
                                  </p:cTn>
                                </p:par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1072" fill="hold">
                        <p:stCondLst>
                          <p:cond delay="indefinite"/>
                        </p:stCondLst>
                        <p:childTnLst>
                          <p:par>
                            <p:cTn id="1073" fill="hold">
                              <p:stCondLst>
                                <p:cond delay="0"/>
                              </p:stCondLst>
                              <p:childTnLst>
                                <p:par>
                                  <p:cTn id="1074" presetID="10" presetClass="entr" presetSubtype="0" fill="hold" grpId="0" nodeType="clickEffect">
                                    <p:stCondLst>
                                      <p:cond delay="0"/>
                                    </p:stCondLst>
                                    <p:childTnLst>
                                      <p:set>
                                        <p:cBhvr>
                                          <p:cTn id="1075" dur="1" fill="hold">
                                            <p:stCondLst>
                                              <p:cond delay="0"/>
                                            </p:stCondLst>
                                          </p:cTn>
                                          <p:tgtEl>
                                            <p:spTgt spid="20"/>
                                          </p:tgtEl>
                                          <p:attrNameLst>
                                            <p:attrName>style.visibility</p:attrName>
                                          </p:attrNameLst>
                                        </p:cBhvr>
                                        <p:to>
                                          <p:strVal val="visible"/>
                                        </p:to>
                                      </p:set>
                                      <p:animEffect transition="in" filter="fade">
                                        <p:cBhvr>
                                          <p:cTn id="1076" dur="350"/>
                                          <p:tgtEl>
                                            <p:spTgt spid="20"/>
                                          </p:tgtEl>
                                        </p:cBhvr>
                                      </p:animEffect>
                                    </p:childTnLst>
                                  </p:cTn>
                                </p:par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1077" fill="hold">
                        <p:stCondLst>
                          <p:cond delay="indefinite"/>
                        </p:stCondLst>
                        <p:childTnLst>
                          <p:par>
                            <p:cTn id="1078" fill="hold">
                              <p:stCondLst>
                                <p:cond delay="0"/>
                              </p:stCondLst>
                              <p:childTnLst>
                                <p:par>
                                  <p:cTn id="1079" presetID="10" presetClass="entr" presetSubtype="0" fill="hold" grpId="0" nodeType="clickEffect">
                                    <p:stCondLst>
                                      <p:cond delay="0"/>
                                    </p:stCondLst>
                                    <p:childTnLst>
                                      <p:set>
                                        <p:cBhvr>
                                          <p:cTn id="1080" dur="1" fill="hold">
                                            <p:stCondLst>
                                              <p:cond delay="0"/>
                                            </p:stCondLst>
                                          </p:cTn>
                                          <p:tgtEl>
                                            <p:spTgt spid="21"/>
                                          </p:tgtEl>
                                          <p:attrNameLst>
                                            <p:attrName>style.visibility</p:attrName>
                                          </p:attrNameLst>
                                        </p:cBhvr>
                                        <p:to>
                                          <p:strVal val="visible"/>
                                        </p:to>
                                      </p:set>
                                      <p:animEffect transition="in" filter="fade">
                                        <p:cBhvr>
                                          <p:cTn id="1081" dur="350"/>
                                          <p:tgtEl>
                                            <p:spTgt spid="21"/>
                                          </p:tgtEl>
                                        </p:cBhvr>
                                      </p:animEffect>
                                    </p:childTnLst>
                                  </p:cTn>
                                </p:par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1082" fill="hold">
                        <p:stCondLst>
                          <p:cond delay="indefinite"/>
                        </p:stCondLst>
                        <p:childTnLst>
                          <p:par>
                            <p:cTn id="1083" fill="hold">
                              <p:stCondLst>
                                <p:cond delay="0"/>
                              </p:stCondLst>
                              <p:childTnLst>
                                <p:par>
                                  <p:cTn id="1084" presetID="10" presetClass="entr" presetSubtype="0" fill="hold" grpId="0" nodeType="clickEffect">
                                    <p:stCondLst>
                                      <p:cond delay="0"/>
                                    </p:stCondLst>
                                    <p:childTnLst>
                                      <p:set>
                                        <p:cBhvr>
                                          <p:cTn id="1085" dur="1" fill="hold">
                                            <p:stCondLst>
                                              <p:cond delay="0"/>
                                            </p:stCondLst>
                                          </p:cTn>
                                          <p:tgtEl>
                                            <p:spTgt spid="22"/>
                                          </p:tgtEl>
                                          <p:attrNameLst>
                                            <p:attrName>style.visibility</p:attrName>
                                          </p:attrNameLst>
                                        </p:cBhvr>
                                        <p:to>
                                          <p:strVal val="visible"/>
                                        </p:to>
                                      </p:set>
                                      <p:animEffect transition="in" filter="fade">
                                        <p:cBhvr>
                                          <p:cTn id="1086" dur="350"/>
                                          <p:tgtEl>
                                            <p:spTgt spid="22"/>
                                          </p:tgtEl>
                                        </p:cBhvr>
                                      </p:animEffect>
                                    </p:childTnLst>
                                  </p:cTn>
                                </p:par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1087" fill="hold">
                        <p:stCondLst>
                          <p:cond delay="indefinite"/>
                        </p:stCondLst>
                        <p:childTnLst>
                          <p:par>
                            <p:cTn id="1088" fill="hold">
                              <p:stCondLst>
                                <p:cond delay="0"/>
                              </p:stCondLst>
                              <p:childTnLst>
                                <p:par>
                                  <p:cTn id="1089" presetID="10" presetClass="entr" presetSubtype="0" fill="hold" grpId="0" nodeType="clickEffect">
                                    <p:stCondLst>
                                      <p:cond delay="0"/>
                                    </p:stCondLst>
                                    <p:childTnLst>
                                      <p:set>
                                        <p:cBhvr>
                                          <p:cTn id="1090" dur="1" fill="hold">
                                            <p:stCondLst>
                                              <p:cond delay="0"/>
                                            </p:stCondLst>
                                          </p:cTn>
                                          <p:tgtEl>
                                            <p:spTgt spid="23"/>
                                          </p:tgtEl>
                                          <p:attrNameLst>
                                            <p:attrName>style.visibility</p:attrName>
                                          </p:attrNameLst>
                                        </p:cBhvr>
                                        <p:to>
                                          <p:strVal val="visible"/>
                                        </p:to>
                                      </p:set>
                                      <p:animEffect transition="in" filter="fade">
                                        <p:cBhvr>
                                          <p:cTn id="1091" dur="350"/>
                                          <p:tgtEl>
                                            <p:spTgt spid="23"/>
                                          </p:tgtEl>
                                        </p:cBhvr>
                                      </p:animEffect>
                                    </p:childTnLst>
                                  </p:cTn>
                                </p:par>
                              </p:childTnLst>
                            </p:cTn>
                          </p:par>
                        </p:childTnLst>
                      </p:cTn>
                    </p:par>
                  </p:childTnLst>
                </p:cTn>
                <p:prevCondLst>
                  <p:cond evt="onPrev" delay="0">
                    <p:tgtEl>
                      <p:sldTgt/>
                    </p:tgtEl>
                  </p:cond>
                </p:prevCondLst>
                <p:nextCondLst>
                  <p:cond evt="onNext" delay="0">
                    <p:tgtEl>
                      <p:sldTgt/>
                    </p:tgtEl>
                  </p:cond>
                </p:nextCondLst>
              </p:seq>
            </p:childTnLst>
          </p:cTn>
        </p:par>
      </p:tnLst>
    </p:timing>
    <p:extLst>
      <p:ext uri="{BB962C8B-B14F-4D97-AF65-F5344CB8AC3E}">
        <p14:creationId xmlns:p14="http://schemas.microsoft.com/office/powerpoint/2010/main" val="98403810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section-11">
            <a:extLst xmlns:a="http://schemas.openxmlformats.org/drawingml/2006/main">
              <a:ext uri="{FF2B5EF4-FFF2-40B4-BE49-F238E27FC236}">
                <a16:creationId xmlns:a16="http://schemas.microsoft.com/office/drawing/2014/main" id="{BAECA6A7-373F-4A35-B95D-CB1EDE672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47650"/>
            <a:ext cx="419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769E0"/>
                </a:solidFill>
              </a:defRPr>
            </a:pPr>
            <a:r>
              <a:rPr sz="1050" b="1">
                <a:solidFill>
                  <a:srgbClr val="1769E0"/>
                </a:solidFill>
              </a:rPr>
              <a:t>08 / THEO KHỐI LỚP</a:t>
            </a:r>
          </a:p>
        </p:txBody>
      </p:sp>
      <p:sp>
        <p:nvSpPr>
          <p:cNvPr id="2" name="title-11">
            <a:extLst xmlns:a="http://schemas.openxmlformats.org/drawingml/2006/main">
              <a:ext uri="{FF2B5EF4-FFF2-40B4-BE49-F238E27FC236}">
                <a16:creationId xmlns:a16="http://schemas.microsoft.com/office/drawing/2014/main" id="{CCD01526-85F2-41B1-A904-56D639560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0550"/>
            <a:ext cx="11144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0131A"/>
                </a:solidFill>
              </a:defRPr>
            </a:pPr>
            <a:r>
              <a:rPr sz="2400" b="1">
                <a:solidFill>
                  <a:srgbClr val="10131A"/>
                </a:solidFill>
              </a:rPr>
              <a:t>Lớp 6: hình thành thói quen sử dụng số an toàn và có hướng dẫn</a:t>
            </a:r>
          </a:p>
        </p:txBody>
      </p:sp>
      <p:sp>
        <p:nvSpPr>
          <p:cNvPr id="3" name="rule-11">
            <a:extLst xmlns:a="http://schemas.openxmlformats.org/drawingml/2006/main">
              <a:ext uri="{FF2B5EF4-FFF2-40B4-BE49-F238E27FC236}">
                <a16:creationId xmlns:a16="http://schemas.microsoft.com/office/drawing/2014/main" id="{394CDB81-C05E-4C3D-830D-5545C6046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04950"/>
            <a:ext cx="11391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4" name="page-11">
            <a:extLst xmlns:a="http://schemas.openxmlformats.org/drawingml/2006/main">
              <a:ext uri="{FF2B5EF4-FFF2-40B4-BE49-F238E27FC236}">
                <a16:creationId xmlns:a16="http://schemas.microsoft.com/office/drawing/2014/main" id="{3C0A75F2-5DE9-4457-B37A-8BA379C82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86500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E6673"/>
                </a:solidFill>
              </a:defRPr>
            </a:pPr>
            <a:r>
              <a:rPr sz="975" b="0">
                <a:solidFill>
                  <a:srgbClr val="5E6673"/>
                </a:solidFill>
              </a:rPr>
              <a:t>11</a:t>
            </a:r>
          </a:p>
        </p:txBody>
      </p:sp>
      <p:sp>
        <p:nvSpPr>
          <p:cNvPr id="5" name="anim-11g">
            <a:extLst xmlns:a="http://schemas.openxmlformats.org/drawingml/2006/main">
              <a:ext uri="{FF2B5EF4-FFF2-40B4-BE49-F238E27FC236}">
                <a16:creationId xmlns:a16="http://schemas.microsoft.com/office/drawing/2014/main" id="{DCA7D5E8-8E74-42C1-B6F7-3D37FC453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90750"/>
            <a:ext cx="2476500" cy="2476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69E0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0" b="1">
                <a:solidFill>
                  <a:srgbClr val="FFFFFF"/>
                </a:solidFill>
              </a:defRPr>
            </a:pPr>
            <a:r>
              <a:rPr sz="9750" b="1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6" name="anim-11b">
            <a:extLst xmlns:a="http://schemas.openxmlformats.org/drawingml/2006/main">
              <a:ext uri="{FF2B5EF4-FFF2-40B4-BE49-F238E27FC236}">
                <a16:creationId xmlns:a16="http://schemas.microsoft.com/office/drawing/2014/main" id="{C3FB0C16-D20F-4FED-A243-4D1555656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2047875"/>
            <a:ext cx="7048500" cy="3524250"/>
          </a:xfrm>
          <a:prstGeom xmlns:a="http://schemas.openxmlformats.org/drawingml/2006/main" prst="roundRect">
            <a:avLst>
              <a:gd name="adj" fmla="val 3243"/>
            </a:avLst>
          </a:prstGeom>
          <a:solidFill xmlns:a="http://schemas.openxmlformats.org/drawingml/2006/main">
            <a:srgbClr val="F0F2F5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0131A"/>
                </a:solidFill>
              </a:defRPr>
            </a:pPr>
            <a:r>
              <a:rPr sz="1725" b="0">
                <a:solidFill>
                  <a:srgbClr val="10131A"/>
                </a:solidFill>
              </a:rPr>
              <a:t>• Tìm được thông tin theo yêu cầu đơn giản; bước đầu nhận biết nguồn đáng tin.</a:t>
            </a:r>
          </a:p>
          <a:p xmlns:a="http://schemas.openxmlformats.org/drawingml/2006/main">
            <a:pPr algn="l">
              <a:defRPr sz="1725" b="0">
                <a:solidFill>
                  <a:srgbClr val="10131A"/>
                </a:solidFill>
              </a:defRPr>
            </a:pPr>
            <a:r>
              <a:rPr sz="1725" b="0">
                <a:solidFill>
                  <a:srgbClr val="10131A"/>
                </a:solidFill>
              </a:rPr>
              <a:t>• Tạo, lưu và chia sẻ sản phẩm số đơn giản theo hướng dẫn.</a:t>
            </a:r>
          </a:p>
          <a:p xmlns:a="http://schemas.openxmlformats.org/drawingml/2006/main">
            <a:pPr algn="l">
              <a:defRPr sz="1725" b="0">
                <a:solidFill>
                  <a:srgbClr val="10131A"/>
                </a:solidFill>
              </a:defRPr>
            </a:pPr>
            <a:r>
              <a:rPr sz="1725" b="0">
                <a:solidFill>
                  <a:srgbClr val="10131A"/>
                </a:solidFill>
              </a:rPr>
              <a:t>• Biết quy tắc bảo vệ thông tin cá nhân, thời gian sử dụng thiết bị và giao tiếp lịch sự.</a:t>
            </a:r>
          </a:p>
          <a:p xmlns:a="http://schemas.openxmlformats.org/drawingml/2006/main">
            <a:pPr algn="l">
              <a:defRPr sz="1725" b="0">
                <a:solidFill>
                  <a:srgbClr val="10131A"/>
                </a:solidFill>
              </a:defRPr>
            </a:pPr>
            <a:r>
              <a:rPr sz="1725" b="0">
                <a:solidFill>
                  <a:srgbClr val="10131A"/>
                </a:solidFill>
              </a:rPr>
              <a:t>• Biết hỏi người lớn khi gặp nội dung không phù hợp hoặc sự cố số.</a:t>
            </a:r>
          </a:p>
        </p:txBody>
      </p:sp>
      <p:sp>
        <p:nvSpPr>
          <p:cNvPr id="7" name="anim-11tag">
            <a:extLst xmlns:a="http://schemas.openxmlformats.org/drawingml/2006/main">
              <a:ext uri="{FF2B5EF4-FFF2-40B4-BE49-F238E27FC236}">
                <a16:creationId xmlns:a16="http://schemas.microsoft.com/office/drawing/2014/main" id="{F54E2089-F853-4566-80CE-7C84D2046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5715000"/>
            <a:ext cx="8572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769E0"/>
                </a:solidFill>
              </a:defRPr>
            </a:pPr>
            <a:r>
              <a:rPr sz="1575" b="1">
                <a:solidFill>
                  <a:srgbClr val="1769E0"/>
                </a:solidFill>
              </a:rPr>
              <a:t>Từ khóa triển khai: AN TOÀN • HƯỚNG DẪN • THÓI QUEN</a:t>
            </a:r>
          </a:p>
        </p:txBody>
      </p:sp>
      <p:sp>
        <p:nvSpPr>
          <p:cNvPr id="8" name="source-11">
            <a:extLst xmlns:a="http://schemas.openxmlformats.org/drawingml/2006/main">
              <a:ext uri="{FF2B5EF4-FFF2-40B4-BE49-F238E27FC236}">
                <a16:creationId xmlns:a16="http://schemas.microsoft.com/office/drawing/2014/main" id="{C08223F4-0D0C-401F-8EB3-0B4719CD5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0"/>
            <a:ext cx="990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E6673"/>
                </a:solidFill>
              </a:defRPr>
            </a:pPr>
            <a:r>
              <a:rPr sz="825" b="0">
                <a:solidFill>
                  <a:srgbClr val="5E6673"/>
                </a:solidFill>
              </a:rPr>
              <a:t>Nguồn: Phụ lục hướng dẫn thực hiện Khung NLS cho học sinh phổ thông.</a:t>
            </a:r>
          </a:p>
        </p:txBody>
      </p:sp>
    </p:spTree>
    <p:transition spd="fast">
      <p:fade/>
    </p:transition>
    <p:timing>
      <p:tnLst>
        <p:par>
          <p:cTn id="1000" dur="indefinite" restart="never" nodeType="tmRoot">
            <p:childTnLst>
              <p:seq concurrent="1" nextAc="seek">
                <p:cTn id="1001" dur="indefinite" nodeType="mainSeq">
                  <p:childTnLst>
                    <p:par>
                      <p:cTn id="1002" fill="hold">
                        <p:stCondLst>
                          <p:cond delay="indefinite"/>
                        </p:stCondLst>
                        <p:childTnLst>
                          <p:par>
                            <p:cTn id="1003" fill="hold">
                              <p:stCondLst>
                                <p:cond delay="0"/>
                              </p:stCondLst>
                              <p:childTnLst>
                                <p:par>
                                  <p:cTn id="1004" presetID="10" presetClass="entr" presetSubtype="0" fill="hold" grpId="0" nodeType="clickEffect">
                                    <p:stCondLst>
                                      <p:cond delay="0"/>
                                    </p:stCondLst>
                                    <p:childTnLst>
                                      <p:set>
                                        <p:cBhvr>
                                          <p:cTn id="1005" dur="1" fill="hold">
                                            <p:stCondLst>
                                              <p:cond delay="0"/>
                                            </p:stCondLst>
                                          </p:cTn>
                                          <p:tgtEl>
                                            <p:spTgt spid="5"/>
                                          </p:tgtEl>
                                          <p:attrNameLst>
                                            <p:attrName>style.visibility</p:attrName>
                                          </p:attrNameLst>
                                        </p:cBhvr>
                                        <p:to>
                                          <p:strVal val="visible"/>
                                        </p:to>
                                      </p:set>
                                      <p:animEffect transition="in" filter="fade">
                                        <p:cBhvr>
                                          <p:cTn id="1006" dur="350"/>
                                          <p:tgtEl>
                                            <p:spTgt spid="5"/>
                                          </p:tgtEl>
                                        </p:cBhvr>
                                      </p:animEffect>
                                    </p:childTnLst>
                                  </p:cTn>
                                </p:par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1007" fill="hold">
                        <p:stCondLst>
                          <p:cond delay="indefinite"/>
                        </p:stCondLst>
                        <p:childTnLst>
                          <p:par>
                            <p:cTn id="1008" fill="hold">
                              <p:stCondLst>
                                <p:cond delay="0"/>
                              </p:stCondLst>
                              <p:childTnLst>
                                <p:par>
                                  <p:cTn id="1009" presetID="10" presetClass="entr" presetSubtype="0" fill="hold" grpId="0" nodeType="clickEffect">
                                    <p:stCondLst>
                                      <p:cond delay="0"/>
                                    </p:stCondLst>
                                    <p:childTnLst>
                                      <p:set>
                                        <p:cBhvr>
                                          <p:cTn id="1010" dur="1" fill="hold">
                                            <p:stCondLst>
                                              <p:cond delay="0"/>
                                            </p:stCondLst>
                                          </p:cTn>
                                          <p:tgtEl>
                                            <p:spTgt spid="6"/>
                                          </p:tgtEl>
                                          <p:attrNameLst>
                                            <p:attrName>style.visibility</p:attrName>
                                          </p:attrNameLst>
                                        </p:cBhvr>
                                        <p:to>
                                          <p:strVal val="visible"/>
                                        </p:to>
                                      </p:set>
                                      <p:animEffect transition="in" filter="fade">
                                        <p:cBhvr>
                                          <p:cTn id="1011" dur="350"/>
                                          <p:tgtEl>
                                            <p:spTgt spid="6"/>
                                          </p:tgtEl>
                                        </p:cBhvr>
                                      </p:animEffect>
                                    </p:childTnLst>
                                  </p:cTn>
                                </p:par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1012" fill="hold">
                        <p:stCondLst>
                          <p:cond delay="indefinite"/>
                        </p:stCondLst>
                        <p:childTnLst>
                          <p:par>
                            <p:cTn id="1013" fill="hold">
                              <p:stCondLst>
                                <p:cond delay="0"/>
                              </p:stCondLst>
                              <p:childTnLst>
                                <p:par>
                                  <p:cTn id="1014" presetID="10" presetClass="entr" presetSubtype="0" fill="hold" grpId="0" nodeType="clickEffect">
                                    <p:stCondLst>
                                      <p:cond delay="0"/>
                                    </p:stCondLst>
                                    <p:childTnLst>
                                      <p:set>
                                        <p:cBhvr>
                                          <p:cTn id="1015" dur="1" fill="hold">
                                            <p:stCondLst>
                                              <p:cond delay="0"/>
                                            </p:stCondLst>
                                          </p:cTn>
                                          <p:tgtEl>
                                            <p:spTgt spid="7"/>
                                          </p:tgtEl>
                                          <p:attrNameLst>
                                            <p:attrName>style.visibility</p:attrName>
                                          </p:attrNameLst>
                                        </p:cBhvr>
                                        <p:to>
                                          <p:strVal val="visible"/>
                                        </p:to>
                                      </p:set>
                                      <p:animEffect transition="in" filter="fade">
                                        <p:cBhvr>
                                          <p:cTn id="1016" dur="350"/>
                                          <p:tgtEl>
                                            <p:spTgt spid="7"/>
                                          </p:tgtEl>
                                        </p:cBhvr>
                                      </p:animEffect>
                                    </p:childTnLst>
                                  </p:cTn>
                                </p:par>
                              </p:childTnLst>
                            </p:cTn>
                          </p:par>
                        </p:childTnLst>
                      </p:cTn>
                    </p:par>
                  </p:childTnLst>
                </p:cTn>
                <p:prevCondLst>
                  <p:cond evt="onPrev" delay="0">
                    <p:tgtEl>
                      <p:sldTgt/>
                    </p:tgtEl>
                  </p:cond>
                </p:prevCondLst>
                <p:nextCondLst>
                  <p:cond evt="onNext" delay="0">
                    <p:tgtEl>
                      <p:sldTgt/>
                    </p:tgtEl>
                  </p:cond>
                </p:nextCondLst>
              </p:seq>
            </p:childTnLst>
          </p:cTn>
        </p:par>
      </p:tnLst>
    </p:timing>
    <p:extLst>
      <p:ext uri="{BB962C8B-B14F-4D97-AF65-F5344CB8AC3E}">
        <p14:creationId xmlns:p14="http://schemas.microsoft.com/office/powerpoint/2010/main" val="841781412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section-12">
            <a:extLst xmlns:a="http://schemas.openxmlformats.org/drawingml/2006/main">
              <a:ext uri="{FF2B5EF4-FFF2-40B4-BE49-F238E27FC236}">
                <a16:creationId xmlns:a16="http://schemas.microsoft.com/office/drawing/2014/main" id="{51A3D438-E9E5-4CAB-A61C-C72E5125D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47650"/>
            <a:ext cx="419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769E0"/>
                </a:solidFill>
              </a:defRPr>
            </a:pPr>
            <a:r>
              <a:rPr sz="1050" b="1">
                <a:solidFill>
                  <a:srgbClr val="1769E0"/>
                </a:solidFill>
              </a:rPr>
              <a:t>08 / THEO KHỐI LỚP</a:t>
            </a:r>
          </a:p>
        </p:txBody>
      </p:sp>
      <p:sp>
        <p:nvSpPr>
          <p:cNvPr id="2" name="title-12">
            <a:extLst xmlns:a="http://schemas.openxmlformats.org/drawingml/2006/main">
              <a:ext uri="{FF2B5EF4-FFF2-40B4-BE49-F238E27FC236}">
                <a16:creationId xmlns:a16="http://schemas.microsoft.com/office/drawing/2014/main" id="{F031D88C-BCE3-4913-9673-E233188B1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0550"/>
            <a:ext cx="11144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0131A"/>
                </a:solidFill>
              </a:defRPr>
            </a:pPr>
            <a:r>
              <a:rPr sz="2400" b="1">
                <a:solidFill>
                  <a:srgbClr val="10131A"/>
                </a:solidFill>
              </a:rPr>
              <a:t>Lớp 7: biết đánh giá nguồn, hợp tác và quản lí danh tính số</a:t>
            </a:r>
          </a:p>
        </p:txBody>
      </p:sp>
      <p:sp>
        <p:nvSpPr>
          <p:cNvPr id="3" name="rule-12">
            <a:extLst xmlns:a="http://schemas.openxmlformats.org/drawingml/2006/main">
              <a:ext uri="{FF2B5EF4-FFF2-40B4-BE49-F238E27FC236}">
                <a16:creationId xmlns:a16="http://schemas.microsoft.com/office/drawing/2014/main" id="{EB6BDA24-B9A5-4B84-9742-FF80EF51A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04950"/>
            <a:ext cx="11391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4" name="page-12">
            <a:extLst xmlns:a="http://schemas.openxmlformats.org/drawingml/2006/main">
              <a:ext uri="{FF2B5EF4-FFF2-40B4-BE49-F238E27FC236}">
                <a16:creationId xmlns:a16="http://schemas.microsoft.com/office/drawing/2014/main" id="{7037E244-B2B5-43FA-813B-A381F97B4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86500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E6673"/>
                </a:solidFill>
              </a:defRPr>
            </a:pPr>
            <a:r>
              <a:rPr sz="975" b="0">
                <a:solidFill>
                  <a:srgbClr val="5E6673"/>
                </a:solidFill>
              </a:rPr>
              <a:t>12</a:t>
            </a:r>
          </a:p>
        </p:txBody>
      </p:sp>
      <p:sp>
        <p:nvSpPr>
          <p:cNvPr id="5" name="anim-12g">
            <a:extLst xmlns:a="http://schemas.openxmlformats.org/drawingml/2006/main">
              <a:ext uri="{FF2B5EF4-FFF2-40B4-BE49-F238E27FC236}">
                <a16:creationId xmlns:a16="http://schemas.microsoft.com/office/drawing/2014/main" id="{10A32307-3867-4737-9A40-B187F7B2D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90750"/>
            <a:ext cx="2476500" cy="2476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4C2F0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0" b="1">
                <a:solidFill>
                  <a:srgbClr val="FFFFFF"/>
                </a:solidFill>
              </a:defRPr>
            </a:pPr>
            <a:r>
              <a:rPr sz="9750" b="1">
                <a:solidFill>
                  <a:srgbClr val="FFFFFF"/>
                </a:solidFill>
              </a:rPr>
              <a:t>7</a:t>
            </a:r>
          </a:p>
        </p:txBody>
      </p:sp>
      <p:sp>
        <p:nvSpPr>
          <p:cNvPr id="6" name="anim-12b">
            <a:extLst xmlns:a="http://schemas.openxmlformats.org/drawingml/2006/main">
              <a:ext uri="{FF2B5EF4-FFF2-40B4-BE49-F238E27FC236}">
                <a16:creationId xmlns:a16="http://schemas.microsoft.com/office/drawing/2014/main" id="{34FDD1DC-97E3-499D-B6F1-FFA544160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2047875"/>
            <a:ext cx="7048500" cy="3524250"/>
          </a:xfrm>
          <a:prstGeom xmlns:a="http://schemas.openxmlformats.org/drawingml/2006/main" prst="roundRect">
            <a:avLst>
              <a:gd name="adj" fmla="val 3243"/>
            </a:avLst>
          </a:prstGeom>
          <a:solidFill xmlns:a="http://schemas.openxmlformats.org/drawingml/2006/main">
            <a:srgbClr val="F0F2F5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0131A"/>
                </a:solidFill>
              </a:defRPr>
            </a:pPr>
            <a:r>
              <a:rPr sz="1725" b="0">
                <a:solidFill>
                  <a:srgbClr val="10131A"/>
                </a:solidFill>
              </a:rPr>
              <a:t>• So sánh được nguồn, nhận biết thông tin thiếu căn cứ hoặc quảng cáo.</a:t>
            </a:r>
          </a:p>
          <a:p xmlns:a="http://schemas.openxmlformats.org/drawingml/2006/main">
            <a:pPr algn="l">
              <a:defRPr sz="1725" b="0">
                <a:solidFill>
                  <a:srgbClr val="10131A"/>
                </a:solidFill>
              </a:defRPr>
            </a:pPr>
            <a:r>
              <a:rPr sz="1725" b="0">
                <a:solidFill>
                  <a:srgbClr val="10131A"/>
                </a:solidFill>
              </a:rPr>
              <a:t>• Hợp tác trên môi trường số; biết ghi nguồn khi chia sẻ.</a:t>
            </a:r>
          </a:p>
          <a:p xmlns:a="http://schemas.openxmlformats.org/drawingml/2006/main">
            <a:pPr algn="l">
              <a:defRPr sz="1725" b="0">
                <a:solidFill>
                  <a:srgbClr val="10131A"/>
                </a:solidFill>
              </a:defRPr>
            </a:pPr>
            <a:r>
              <a:rPr sz="1725" b="0">
                <a:solidFill>
                  <a:srgbClr val="10131A"/>
                </a:solidFill>
              </a:rPr>
              <a:t>• Hiểu dấu vết số và rủi ro của việc công khai thông tin.</a:t>
            </a:r>
          </a:p>
          <a:p xmlns:a="http://schemas.openxmlformats.org/drawingml/2006/main">
            <a:pPr algn="l">
              <a:defRPr sz="1725" b="0">
                <a:solidFill>
                  <a:srgbClr val="10131A"/>
                </a:solidFill>
              </a:defRPr>
            </a:pPr>
            <a:r>
              <a:rPr sz="1725" b="0">
                <a:solidFill>
                  <a:srgbClr val="10131A"/>
                </a:solidFill>
              </a:rPr>
              <a:t>• Vận dụng công cụ số để trình bày, phản hồi và cải thiện sản phẩm.</a:t>
            </a:r>
          </a:p>
        </p:txBody>
      </p:sp>
      <p:sp>
        <p:nvSpPr>
          <p:cNvPr id="7" name="anim-12tag">
            <a:extLst xmlns:a="http://schemas.openxmlformats.org/drawingml/2006/main">
              <a:ext uri="{FF2B5EF4-FFF2-40B4-BE49-F238E27FC236}">
                <a16:creationId xmlns:a16="http://schemas.microsoft.com/office/drawing/2014/main" id="{58AF666D-97AC-442D-B044-A2FE66EB6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5715000"/>
            <a:ext cx="8572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44C2F0"/>
                </a:solidFill>
              </a:defRPr>
            </a:pPr>
            <a:r>
              <a:rPr sz="1575" b="1">
                <a:solidFill>
                  <a:srgbClr val="44C2F0"/>
                </a:solidFill>
              </a:rPr>
              <a:t>Từ khóa triển khai: KIỂM CHỨNG • HỢP TÁC • DANH TÍNH</a:t>
            </a:r>
          </a:p>
        </p:txBody>
      </p:sp>
      <p:sp>
        <p:nvSpPr>
          <p:cNvPr id="8" name="source-12">
            <a:extLst xmlns:a="http://schemas.openxmlformats.org/drawingml/2006/main">
              <a:ext uri="{FF2B5EF4-FFF2-40B4-BE49-F238E27FC236}">
                <a16:creationId xmlns:a16="http://schemas.microsoft.com/office/drawing/2014/main" id="{7E06D382-0051-4EC0-A2C4-14BC32FEB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0"/>
            <a:ext cx="990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E6673"/>
                </a:solidFill>
              </a:defRPr>
            </a:pPr>
            <a:r>
              <a:rPr sz="825" b="0">
                <a:solidFill>
                  <a:srgbClr val="5E6673"/>
                </a:solidFill>
              </a:rPr>
              <a:t>Nguồn: Phụ lục hướng dẫn thực hiện Khung NLS cho học sinh phổ thông.</a:t>
            </a:r>
          </a:p>
        </p:txBody>
      </p:sp>
    </p:spTree>
    <p:transition spd="fast">
      <p:fade/>
    </p:transition>
    <p:timing>
      <p:tnLst>
        <p:par>
          <p:cTn id="1000" dur="indefinite" restart="never" nodeType="tmRoot">
            <p:childTnLst>
              <p:seq concurrent="1" nextAc="seek">
                <p:cTn id="1001" dur="indefinite" nodeType="mainSeq">
                  <p:childTnLst>
                    <p:par>
                      <p:cTn id="1002" fill="hold">
                        <p:stCondLst>
                          <p:cond delay="indefinite"/>
                        </p:stCondLst>
                        <p:childTnLst>
                          <p:par>
                            <p:cTn id="1003" fill="hold">
                              <p:stCondLst>
                                <p:cond delay="0"/>
                              </p:stCondLst>
                              <p:childTnLst>
                                <p:par>
                                  <p:cTn id="1004" presetID="10" presetClass="entr" presetSubtype="0" fill="hold" grpId="0" nodeType="clickEffect">
                                    <p:stCondLst>
                                      <p:cond delay="0"/>
                                    </p:stCondLst>
                                    <p:childTnLst>
                                      <p:set>
                                        <p:cBhvr>
                                          <p:cTn id="1005" dur="1" fill="hold">
                                            <p:stCondLst>
                                              <p:cond delay="0"/>
                                            </p:stCondLst>
                                          </p:cTn>
                                          <p:tgtEl>
                                            <p:spTgt spid="5"/>
                                          </p:tgtEl>
                                          <p:attrNameLst>
                                            <p:attrName>style.visibility</p:attrName>
                                          </p:attrNameLst>
                                        </p:cBhvr>
                                        <p:to>
                                          <p:strVal val="visible"/>
                                        </p:to>
                                      </p:set>
                                      <p:animEffect transition="in" filter="fade">
                                        <p:cBhvr>
                                          <p:cTn id="1006" dur="350"/>
                                          <p:tgtEl>
                                            <p:spTgt spid="5"/>
                                          </p:tgtEl>
                                        </p:cBhvr>
                                      </p:animEffect>
                                    </p:childTnLst>
                                  </p:cTn>
                                </p:par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1007" fill="hold">
                        <p:stCondLst>
                          <p:cond delay="indefinite"/>
                        </p:stCondLst>
                        <p:childTnLst>
                          <p:par>
                            <p:cTn id="1008" fill="hold">
                              <p:stCondLst>
                                <p:cond delay="0"/>
                              </p:stCondLst>
                              <p:childTnLst>
                                <p:par>
                                  <p:cTn id="1009" presetID="10" presetClass="entr" presetSubtype="0" fill="hold" grpId="0" nodeType="clickEffect">
                                    <p:stCondLst>
                                      <p:cond delay="0"/>
                                    </p:stCondLst>
                                    <p:childTnLst>
                                      <p:set>
                                        <p:cBhvr>
                                          <p:cTn id="1010" dur="1" fill="hold">
                                            <p:stCondLst>
                                              <p:cond delay="0"/>
                                            </p:stCondLst>
                                          </p:cTn>
                                          <p:tgtEl>
                                            <p:spTgt spid="6"/>
                                          </p:tgtEl>
                                          <p:attrNameLst>
                                            <p:attrName>style.visibility</p:attrName>
                                          </p:attrNameLst>
                                        </p:cBhvr>
                                        <p:to>
                                          <p:strVal val="visible"/>
                                        </p:to>
                                      </p:set>
                                      <p:animEffect transition="in" filter="fade">
                                        <p:cBhvr>
                                          <p:cTn id="1011" dur="350"/>
                                          <p:tgtEl>
                                            <p:spTgt spid="6"/>
                                          </p:tgtEl>
                                        </p:cBhvr>
                                      </p:animEffect>
                                    </p:childTnLst>
                                  </p:cTn>
                                </p:par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1012" fill="hold">
                        <p:stCondLst>
                          <p:cond delay="indefinite"/>
                        </p:stCondLst>
                        <p:childTnLst>
                          <p:par>
                            <p:cTn id="1013" fill="hold">
                              <p:stCondLst>
                                <p:cond delay="0"/>
                              </p:stCondLst>
                              <p:childTnLst>
                                <p:par>
                                  <p:cTn id="1014" presetID="10" presetClass="entr" presetSubtype="0" fill="hold" grpId="0" nodeType="clickEffect">
                                    <p:stCondLst>
                                      <p:cond delay="0"/>
                                    </p:stCondLst>
                                    <p:childTnLst>
                                      <p:set>
                                        <p:cBhvr>
                                          <p:cTn id="1015" dur="1" fill="hold">
                                            <p:stCondLst>
                                              <p:cond delay="0"/>
                                            </p:stCondLst>
                                          </p:cTn>
                                          <p:tgtEl>
                                            <p:spTgt spid="7"/>
                                          </p:tgtEl>
                                          <p:attrNameLst>
                                            <p:attrName>style.visibility</p:attrName>
                                          </p:attrNameLst>
                                        </p:cBhvr>
                                        <p:to>
                                          <p:strVal val="visible"/>
                                        </p:to>
                                      </p:set>
                                      <p:animEffect transition="in" filter="fade">
                                        <p:cBhvr>
                                          <p:cTn id="1016" dur="350"/>
                                          <p:tgtEl>
                                            <p:spTgt spid="7"/>
                                          </p:tgtEl>
                                        </p:cBhvr>
                                      </p:animEffect>
                                    </p:childTnLst>
                                  </p:cTn>
                                </p:par>
                              </p:childTnLst>
                            </p:cTn>
                          </p:par>
                        </p:childTnLst>
                      </p:cTn>
                    </p:par>
                  </p:childTnLst>
                </p:cTn>
                <p:prevCondLst>
                  <p:cond evt="onPrev" delay="0">
                    <p:tgtEl>
                      <p:sldTgt/>
                    </p:tgtEl>
                  </p:cond>
                </p:prevCondLst>
                <p:nextCondLst>
                  <p:cond evt="onNext" delay="0">
                    <p:tgtEl>
                      <p:sldTgt/>
                    </p:tgtEl>
                  </p:cond>
                </p:nextCondLst>
              </p:seq>
            </p:childTnLst>
          </p:cTn>
        </p:par>
      </p:tnLst>
    </p:timing>
    <p:extLst>
      <p:ext uri="{BB962C8B-B14F-4D97-AF65-F5344CB8AC3E}">
        <p14:creationId xmlns:p14="http://schemas.microsoft.com/office/powerpoint/2010/main" val="1232754940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section-13">
            <a:extLst xmlns:a="http://schemas.openxmlformats.org/drawingml/2006/main">
              <a:ext uri="{FF2B5EF4-FFF2-40B4-BE49-F238E27FC236}">
                <a16:creationId xmlns:a16="http://schemas.microsoft.com/office/drawing/2014/main" id="{438B4FFC-EF41-4A31-9F1F-98ED18C69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47650"/>
            <a:ext cx="419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769E0"/>
                </a:solidFill>
              </a:defRPr>
            </a:pPr>
            <a:r>
              <a:rPr sz="1050" b="1">
                <a:solidFill>
                  <a:srgbClr val="1769E0"/>
                </a:solidFill>
              </a:rPr>
              <a:t>08 / THEO KHỐI LỚP</a:t>
            </a:r>
          </a:p>
        </p:txBody>
      </p:sp>
      <p:sp>
        <p:nvSpPr>
          <p:cNvPr id="2" name="title-13">
            <a:extLst xmlns:a="http://schemas.openxmlformats.org/drawingml/2006/main">
              <a:ext uri="{FF2B5EF4-FFF2-40B4-BE49-F238E27FC236}">
                <a16:creationId xmlns:a16="http://schemas.microsoft.com/office/drawing/2014/main" id="{FE282CA1-1E23-434B-98FA-915714081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0550"/>
            <a:ext cx="11144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0131A"/>
                </a:solidFill>
              </a:defRPr>
            </a:pPr>
            <a:r>
              <a:rPr sz="2400" b="1">
                <a:solidFill>
                  <a:srgbClr val="10131A"/>
                </a:solidFill>
              </a:rPr>
              <a:t>Lớp 8: chuyển từ sử dụng sang phân tích rủi ro và thiết kế giải pháp</a:t>
            </a:r>
          </a:p>
        </p:txBody>
      </p:sp>
      <p:sp>
        <p:nvSpPr>
          <p:cNvPr id="3" name="rule-13">
            <a:extLst xmlns:a="http://schemas.openxmlformats.org/drawingml/2006/main">
              <a:ext uri="{FF2B5EF4-FFF2-40B4-BE49-F238E27FC236}">
                <a16:creationId xmlns:a16="http://schemas.microsoft.com/office/drawing/2014/main" id="{0D712C72-87DE-4A5E-BE28-8D7C00F1E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04950"/>
            <a:ext cx="11391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4" name="page-13">
            <a:extLst xmlns:a="http://schemas.openxmlformats.org/drawingml/2006/main">
              <a:ext uri="{FF2B5EF4-FFF2-40B4-BE49-F238E27FC236}">
                <a16:creationId xmlns:a16="http://schemas.microsoft.com/office/drawing/2014/main" id="{98A9957C-AE3D-483E-8CB3-ECE5073CD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86500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E6673"/>
                </a:solidFill>
              </a:defRPr>
            </a:pPr>
            <a:r>
              <a:rPr sz="975" b="0">
                <a:solidFill>
                  <a:srgbClr val="5E6673"/>
                </a:solidFill>
              </a:rPr>
              <a:t>13</a:t>
            </a:r>
          </a:p>
        </p:txBody>
      </p:sp>
      <p:sp>
        <p:nvSpPr>
          <p:cNvPr id="5" name="anim-13g">
            <a:extLst xmlns:a="http://schemas.openxmlformats.org/drawingml/2006/main">
              <a:ext uri="{FF2B5EF4-FFF2-40B4-BE49-F238E27FC236}">
                <a16:creationId xmlns:a16="http://schemas.microsoft.com/office/drawing/2014/main" id="{9C5F476C-7369-4C02-B0BB-144E2D6AB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90750"/>
            <a:ext cx="2476500" cy="2476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0" b="1">
                <a:solidFill>
                  <a:srgbClr val="FFFFFF"/>
                </a:solidFill>
              </a:defRPr>
            </a:pPr>
            <a:r>
              <a:rPr sz="9750" b="1">
                <a:solidFill>
                  <a:srgbClr val="FFFFFF"/>
                </a:solidFill>
              </a:rPr>
              <a:t>8</a:t>
            </a:r>
          </a:p>
        </p:txBody>
      </p:sp>
      <p:sp>
        <p:nvSpPr>
          <p:cNvPr id="6" name="anim-13b">
            <a:extLst xmlns:a="http://schemas.openxmlformats.org/drawingml/2006/main">
              <a:ext uri="{FF2B5EF4-FFF2-40B4-BE49-F238E27FC236}">
                <a16:creationId xmlns:a16="http://schemas.microsoft.com/office/drawing/2014/main" id="{1F142C38-1609-4412-A556-1C61BE579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2047875"/>
            <a:ext cx="7048500" cy="3524250"/>
          </a:xfrm>
          <a:prstGeom xmlns:a="http://schemas.openxmlformats.org/drawingml/2006/main" prst="roundRect">
            <a:avLst>
              <a:gd name="adj" fmla="val 3243"/>
            </a:avLst>
          </a:prstGeom>
          <a:solidFill xmlns:a="http://schemas.openxmlformats.org/drawingml/2006/main">
            <a:srgbClr val="FFF4E5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0131A"/>
                </a:solidFill>
              </a:defRPr>
            </a:pPr>
            <a:r>
              <a:rPr sz="1725" b="0">
                <a:solidFill>
                  <a:srgbClr val="10131A"/>
                </a:solidFill>
              </a:rPr>
              <a:t>• Tổ chức dữ liệu, đọc bảng/biểu đồ và nhận xét có bằng chứng.</a:t>
            </a:r>
          </a:p>
          <a:p xmlns:a="http://schemas.openxmlformats.org/drawingml/2006/main">
            <a:pPr algn="l">
              <a:defRPr sz="1725" b="0">
                <a:solidFill>
                  <a:srgbClr val="10131A"/>
                </a:solidFill>
              </a:defRPr>
            </a:pPr>
            <a:r>
              <a:rPr sz="1725" b="0">
                <a:solidFill>
                  <a:srgbClr val="10131A"/>
                </a:solidFill>
              </a:rPr>
              <a:t>• Tạo nội dung số có bản quyền, trích dẫn và thông điệp phù hợp.</a:t>
            </a:r>
          </a:p>
          <a:p xmlns:a="http://schemas.openxmlformats.org/drawingml/2006/main">
            <a:pPr algn="l">
              <a:defRPr sz="1725" b="0">
                <a:solidFill>
                  <a:srgbClr val="10131A"/>
                </a:solidFill>
              </a:defRPr>
            </a:pPr>
            <a:r>
              <a:rPr sz="1725" b="0">
                <a:solidFill>
                  <a:srgbClr val="10131A"/>
                </a:solidFill>
              </a:rPr>
              <a:t>• Phân tích lừa đảo, bắt nạt trực tuyến, thiên kiến và an sinh số.</a:t>
            </a:r>
          </a:p>
          <a:p xmlns:a="http://schemas.openxmlformats.org/drawingml/2006/main">
            <a:pPr algn="l">
              <a:defRPr sz="1725" b="0">
                <a:solidFill>
                  <a:srgbClr val="10131A"/>
                </a:solidFill>
              </a:defRPr>
            </a:pPr>
            <a:r>
              <a:rPr sz="1725" b="0">
                <a:solidFill>
                  <a:srgbClr val="10131A"/>
                </a:solidFill>
              </a:rPr>
              <a:t>• Thử nghiệm công cụ số để giải quyết một vấn đề gần gũi.</a:t>
            </a:r>
          </a:p>
        </p:txBody>
      </p:sp>
      <p:sp>
        <p:nvSpPr>
          <p:cNvPr id="7" name="anim-13tag">
            <a:extLst xmlns:a="http://schemas.openxmlformats.org/drawingml/2006/main">
              <a:ext uri="{FF2B5EF4-FFF2-40B4-BE49-F238E27FC236}">
                <a16:creationId xmlns:a16="http://schemas.microsoft.com/office/drawing/2014/main" id="{95014ED4-EBFE-4806-9B8A-AC56DF78C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5715000"/>
            <a:ext cx="8572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59E0B"/>
                </a:solidFill>
              </a:defRPr>
            </a:pPr>
            <a:r>
              <a:rPr sz="1575" b="1">
                <a:solidFill>
                  <a:srgbClr val="F59E0B"/>
                </a:solidFill>
              </a:rPr>
              <a:t>Từ khóa triển khai: DỮ LIỆU • BẢN QUYỀN • RỦI RO</a:t>
            </a:r>
          </a:p>
        </p:txBody>
      </p:sp>
      <p:sp>
        <p:nvSpPr>
          <p:cNvPr id="8" name="source-13">
            <a:extLst xmlns:a="http://schemas.openxmlformats.org/drawingml/2006/main">
              <a:ext uri="{FF2B5EF4-FFF2-40B4-BE49-F238E27FC236}">
                <a16:creationId xmlns:a16="http://schemas.microsoft.com/office/drawing/2014/main" id="{BA70B7C8-1433-45CA-B717-3A59E8EA6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0"/>
            <a:ext cx="990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E6673"/>
                </a:solidFill>
              </a:defRPr>
            </a:pPr>
            <a:r>
              <a:rPr sz="825" b="0">
                <a:solidFill>
                  <a:srgbClr val="5E6673"/>
                </a:solidFill>
              </a:rPr>
              <a:t>Nguồn: Phụ lục hướng dẫn thực hiện Khung NLS cho học sinh phổ thông.</a:t>
            </a:r>
          </a:p>
        </p:txBody>
      </p:sp>
    </p:spTree>
    <p:transition spd="fast">
      <p:fade/>
    </p:transition>
    <p:timing>
      <p:tnLst>
        <p:par>
          <p:cTn id="1000" dur="indefinite" restart="never" nodeType="tmRoot">
            <p:childTnLst>
              <p:seq concurrent="1" nextAc="seek">
                <p:cTn id="1001" dur="indefinite" nodeType="mainSeq">
                  <p:childTnLst>
                    <p:par>
                      <p:cTn id="1002" fill="hold">
                        <p:stCondLst>
                          <p:cond delay="indefinite"/>
                        </p:stCondLst>
                        <p:childTnLst>
                          <p:par>
                            <p:cTn id="1003" fill="hold">
                              <p:stCondLst>
                                <p:cond delay="0"/>
                              </p:stCondLst>
                              <p:childTnLst>
                                <p:par>
                                  <p:cTn id="1004" presetID="10" presetClass="entr" presetSubtype="0" fill="hold" grpId="0" nodeType="clickEffect">
                                    <p:stCondLst>
                                      <p:cond delay="0"/>
                                    </p:stCondLst>
                                    <p:childTnLst>
                                      <p:set>
                                        <p:cBhvr>
                                          <p:cTn id="1005" dur="1" fill="hold">
                                            <p:stCondLst>
                                              <p:cond delay="0"/>
                                            </p:stCondLst>
                                          </p:cTn>
                                          <p:tgtEl>
                                            <p:spTgt spid="5"/>
                                          </p:tgtEl>
                                          <p:attrNameLst>
                                            <p:attrName>style.visibility</p:attrName>
                                          </p:attrNameLst>
                                        </p:cBhvr>
                                        <p:to>
                                          <p:strVal val="visible"/>
                                        </p:to>
                                      </p:set>
                                      <p:animEffect transition="in" filter="fade">
                                        <p:cBhvr>
                                          <p:cTn id="1006" dur="350"/>
                                          <p:tgtEl>
                                            <p:spTgt spid="5"/>
                                          </p:tgtEl>
                                        </p:cBhvr>
                                      </p:animEffect>
                                    </p:childTnLst>
                                  </p:cTn>
                                </p:par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1007" fill="hold">
                        <p:stCondLst>
                          <p:cond delay="indefinite"/>
                        </p:stCondLst>
                        <p:childTnLst>
                          <p:par>
                            <p:cTn id="1008" fill="hold">
                              <p:stCondLst>
                                <p:cond delay="0"/>
                              </p:stCondLst>
                              <p:childTnLst>
                                <p:par>
                                  <p:cTn id="1009" presetID="10" presetClass="entr" presetSubtype="0" fill="hold" grpId="0" nodeType="clickEffect">
                                    <p:stCondLst>
                                      <p:cond delay="0"/>
                                    </p:stCondLst>
                                    <p:childTnLst>
                                      <p:set>
                                        <p:cBhvr>
                                          <p:cTn id="1010" dur="1" fill="hold">
                                            <p:stCondLst>
                                              <p:cond delay="0"/>
                                            </p:stCondLst>
                                          </p:cTn>
                                          <p:tgtEl>
                                            <p:spTgt spid="6"/>
                                          </p:tgtEl>
                                          <p:attrNameLst>
                                            <p:attrName>style.visibility</p:attrName>
                                          </p:attrNameLst>
                                        </p:cBhvr>
                                        <p:to>
                                          <p:strVal val="visible"/>
                                        </p:to>
                                      </p:set>
                                      <p:animEffect transition="in" filter="fade">
                                        <p:cBhvr>
                                          <p:cTn id="1011" dur="350"/>
                                          <p:tgtEl>
                                            <p:spTgt spid="6"/>
                                          </p:tgtEl>
                                        </p:cBhvr>
                                      </p:animEffect>
                                    </p:childTnLst>
                                  </p:cTn>
                                </p:par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1012" fill="hold">
                        <p:stCondLst>
                          <p:cond delay="indefinite"/>
                        </p:stCondLst>
                        <p:childTnLst>
                          <p:par>
                            <p:cTn id="1013" fill="hold">
                              <p:stCondLst>
                                <p:cond delay="0"/>
                              </p:stCondLst>
                              <p:childTnLst>
                                <p:par>
                                  <p:cTn id="1014" presetID="10" presetClass="entr" presetSubtype="0" fill="hold" grpId="0" nodeType="clickEffect">
                                    <p:stCondLst>
                                      <p:cond delay="0"/>
                                    </p:stCondLst>
                                    <p:childTnLst>
                                      <p:set>
                                        <p:cBhvr>
                                          <p:cTn id="1015" dur="1" fill="hold">
                                            <p:stCondLst>
                                              <p:cond delay="0"/>
                                            </p:stCondLst>
                                          </p:cTn>
                                          <p:tgtEl>
                                            <p:spTgt spid="7"/>
                                          </p:tgtEl>
                                          <p:attrNameLst>
                                            <p:attrName>style.visibility</p:attrName>
                                          </p:attrNameLst>
                                        </p:cBhvr>
                                        <p:to>
                                          <p:strVal val="visible"/>
                                        </p:to>
                                      </p:set>
                                      <p:animEffect transition="in" filter="fade">
                                        <p:cBhvr>
                                          <p:cTn id="1016" dur="350"/>
                                          <p:tgtEl>
                                            <p:spTgt spid="7"/>
                                          </p:tgtEl>
                                        </p:cBhvr>
                                      </p:animEffect>
                                    </p:childTnLst>
                                  </p:cTn>
                                </p:par>
                              </p:childTnLst>
                            </p:cTn>
                          </p:par>
                        </p:childTnLst>
                      </p:cTn>
                    </p:par>
                  </p:childTnLst>
                </p:cTn>
                <p:prevCondLst>
                  <p:cond evt="onPrev" delay="0">
                    <p:tgtEl>
                      <p:sldTgt/>
                    </p:tgtEl>
                  </p:cond>
                </p:prevCondLst>
                <p:nextCondLst>
                  <p:cond evt="onNext" delay="0">
                    <p:tgtEl>
                      <p:sldTgt/>
                    </p:tgtEl>
                  </p:cond>
                </p:nextCondLst>
              </p:seq>
            </p:childTnLst>
          </p:cTn>
        </p:par>
      </p:tnLst>
    </p:timing>
    <p:extLst>
      <p:ext uri="{BB962C8B-B14F-4D97-AF65-F5344CB8AC3E}">
        <p14:creationId xmlns:p14="http://schemas.microsoft.com/office/powerpoint/2010/main" val="1012995213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section-14">
            <a:extLst xmlns:a="http://schemas.openxmlformats.org/drawingml/2006/main">
              <a:ext uri="{FF2B5EF4-FFF2-40B4-BE49-F238E27FC236}">
                <a16:creationId xmlns:a16="http://schemas.microsoft.com/office/drawing/2014/main" id="{8C531C85-F7AF-45F6-98C3-28918350A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47650"/>
            <a:ext cx="419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769E0"/>
                </a:solidFill>
              </a:defRPr>
            </a:pPr>
            <a:r>
              <a:rPr sz="1050" b="1">
                <a:solidFill>
                  <a:srgbClr val="1769E0"/>
                </a:solidFill>
              </a:rPr>
              <a:t>08 / THEO KHỐI LỚP</a:t>
            </a:r>
          </a:p>
        </p:txBody>
      </p:sp>
      <p:sp>
        <p:nvSpPr>
          <p:cNvPr id="2" name="title-14">
            <a:extLst xmlns:a="http://schemas.openxmlformats.org/drawingml/2006/main">
              <a:ext uri="{FF2B5EF4-FFF2-40B4-BE49-F238E27FC236}">
                <a16:creationId xmlns:a16="http://schemas.microsoft.com/office/drawing/2014/main" id="{EFFF567C-328C-4CED-BF41-D98342413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0550"/>
            <a:ext cx="11144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0131A"/>
                </a:solidFill>
              </a:defRPr>
            </a:pPr>
            <a:r>
              <a:rPr sz="2400" b="1">
                <a:solidFill>
                  <a:srgbClr val="10131A"/>
                </a:solidFill>
              </a:rPr>
              <a:t>Lớp 9: làm chủ dự án số, phản biện và chuẩn bị cho bậc học sau</a:t>
            </a:r>
          </a:p>
        </p:txBody>
      </p:sp>
      <p:sp>
        <p:nvSpPr>
          <p:cNvPr id="3" name="rule-14">
            <a:extLst xmlns:a="http://schemas.openxmlformats.org/drawingml/2006/main">
              <a:ext uri="{FF2B5EF4-FFF2-40B4-BE49-F238E27FC236}">
                <a16:creationId xmlns:a16="http://schemas.microsoft.com/office/drawing/2014/main" id="{4531B9A5-F372-4EFE-8D12-6D58F6A35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04950"/>
            <a:ext cx="11391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4" name="page-14">
            <a:extLst xmlns:a="http://schemas.openxmlformats.org/drawingml/2006/main">
              <a:ext uri="{FF2B5EF4-FFF2-40B4-BE49-F238E27FC236}">
                <a16:creationId xmlns:a16="http://schemas.microsoft.com/office/drawing/2014/main" id="{567C91DB-F7E1-4D9C-AA38-289DF6799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86500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E6673"/>
                </a:solidFill>
              </a:defRPr>
            </a:pPr>
            <a:r>
              <a:rPr sz="975" b="0">
                <a:solidFill>
                  <a:srgbClr val="5E6673"/>
                </a:solidFill>
              </a:rPr>
              <a:t>14</a:t>
            </a:r>
          </a:p>
        </p:txBody>
      </p:sp>
      <p:sp>
        <p:nvSpPr>
          <p:cNvPr id="5" name="anim-14g">
            <a:extLst xmlns:a="http://schemas.openxmlformats.org/drawingml/2006/main">
              <a:ext uri="{FF2B5EF4-FFF2-40B4-BE49-F238E27FC236}">
                <a16:creationId xmlns:a16="http://schemas.microsoft.com/office/drawing/2014/main" id="{88D780D8-36AD-4940-BB7B-72A5F0309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90750"/>
            <a:ext cx="2476500" cy="2476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B8A5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0" b="1">
                <a:solidFill>
                  <a:srgbClr val="FFFFFF"/>
                </a:solidFill>
              </a:defRPr>
            </a:pPr>
            <a:r>
              <a:rPr sz="9750" b="1">
                <a:solidFill>
                  <a:srgbClr val="FFFFFF"/>
                </a:solidFill>
              </a:rPr>
              <a:t>9</a:t>
            </a:r>
          </a:p>
        </p:txBody>
      </p:sp>
      <p:sp>
        <p:nvSpPr>
          <p:cNvPr id="6" name="anim-14b">
            <a:extLst xmlns:a="http://schemas.openxmlformats.org/drawingml/2006/main">
              <a:ext uri="{FF2B5EF4-FFF2-40B4-BE49-F238E27FC236}">
                <a16:creationId xmlns:a16="http://schemas.microsoft.com/office/drawing/2014/main" id="{C24EE86C-1B17-4492-B5B2-3C19AEC08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2047875"/>
            <a:ext cx="7048500" cy="3524250"/>
          </a:xfrm>
          <a:prstGeom xmlns:a="http://schemas.openxmlformats.org/drawingml/2006/main" prst="roundRect">
            <a:avLst>
              <a:gd name="adj" fmla="val 3243"/>
            </a:avLst>
          </a:prstGeom>
          <a:solidFill xmlns:a="http://schemas.openxmlformats.org/drawingml/2006/main">
            <a:srgbClr val="EAF7F0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0131A"/>
                </a:solidFill>
              </a:defRPr>
            </a:pPr>
            <a:r>
              <a:rPr sz="1725" b="0">
                <a:solidFill>
                  <a:srgbClr val="10131A"/>
                </a:solidFill>
              </a:rPr>
              <a:t>• Kiểm chứng thông tin từ nhiều nguồn; giải thích lựa chọn nguồn.</a:t>
            </a:r>
          </a:p>
          <a:p xmlns:a="http://schemas.openxmlformats.org/drawingml/2006/main">
            <a:pPr algn="l">
              <a:defRPr sz="1725" b="0">
                <a:solidFill>
                  <a:srgbClr val="10131A"/>
                </a:solidFill>
              </a:defRPr>
            </a:pPr>
            <a:r>
              <a:rPr sz="1725" b="0">
                <a:solidFill>
                  <a:srgbClr val="10131A"/>
                </a:solidFill>
              </a:rPr>
              <a:t>• Quản lí danh tính, quyền riêng tư và sự hiện diện số có trách nhiệm.</a:t>
            </a:r>
          </a:p>
          <a:p xmlns:a="http://schemas.openxmlformats.org/drawingml/2006/main">
            <a:pPr algn="l">
              <a:defRPr sz="1725" b="0">
                <a:solidFill>
                  <a:srgbClr val="10131A"/>
                </a:solidFill>
              </a:defRPr>
            </a:pPr>
            <a:r>
              <a:rPr sz="1725" b="0">
                <a:solidFill>
                  <a:srgbClr val="10131A"/>
                </a:solidFill>
              </a:rPr>
              <a:t>• Tạo sản phẩm/dự án số, thu phản hồi, kiểm thử và cải tiến.</a:t>
            </a:r>
          </a:p>
          <a:p xmlns:a="http://schemas.openxmlformats.org/drawingml/2006/main">
            <a:pPr algn="l">
              <a:defRPr sz="1725" b="0">
                <a:solidFill>
                  <a:srgbClr val="10131A"/>
                </a:solidFill>
              </a:defRPr>
            </a:pPr>
            <a:r>
              <a:rPr sz="1725" b="0">
                <a:solidFill>
                  <a:srgbClr val="10131A"/>
                </a:solidFill>
              </a:rPr>
              <a:t>• Đánh giá tác động xã hội - đạo đức của công nghệ và AI.</a:t>
            </a:r>
          </a:p>
        </p:txBody>
      </p:sp>
      <p:sp>
        <p:nvSpPr>
          <p:cNvPr id="7" name="anim-14tag">
            <a:extLst xmlns:a="http://schemas.openxmlformats.org/drawingml/2006/main">
              <a:ext uri="{FF2B5EF4-FFF2-40B4-BE49-F238E27FC236}">
                <a16:creationId xmlns:a16="http://schemas.microsoft.com/office/drawing/2014/main" id="{051A9B3A-625D-41CB-B72B-006D458BD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5715000"/>
            <a:ext cx="8572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B8A5A"/>
                </a:solidFill>
              </a:defRPr>
            </a:pPr>
            <a:r>
              <a:rPr sz="1575" b="1">
                <a:solidFill>
                  <a:srgbClr val="1B8A5A"/>
                </a:solidFill>
              </a:rPr>
              <a:t>Từ khóa triển khai: DỰ ÁN • PHẢN BIỆN • CẢI TIẾN</a:t>
            </a:r>
          </a:p>
        </p:txBody>
      </p:sp>
      <p:sp>
        <p:nvSpPr>
          <p:cNvPr id="8" name="source-14">
            <a:extLst xmlns:a="http://schemas.openxmlformats.org/drawingml/2006/main">
              <a:ext uri="{FF2B5EF4-FFF2-40B4-BE49-F238E27FC236}">
                <a16:creationId xmlns:a16="http://schemas.microsoft.com/office/drawing/2014/main" id="{C9F3EE84-3BE1-46EB-8896-1AE948FFB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0"/>
            <a:ext cx="990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E6673"/>
                </a:solidFill>
              </a:defRPr>
            </a:pPr>
            <a:r>
              <a:rPr sz="825" b="0">
                <a:solidFill>
                  <a:srgbClr val="5E6673"/>
                </a:solidFill>
              </a:rPr>
              <a:t>Nguồn: Phụ lục hướng dẫn thực hiện Khung NLS cho học sinh phổ thông.</a:t>
            </a:r>
          </a:p>
        </p:txBody>
      </p:sp>
    </p:spTree>
    <p:transition spd="fast">
      <p:fade/>
    </p:transition>
    <p:timing>
      <p:tnLst>
        <p:par>
          <p:cTn id="1000" dur="indefinite" restart="never" nodeType="tmRoot">
            <p:childTnLst>
              <p:seq concurrent="1" nextAc="seek">
                <p:cTn id="1001" dur="indefinite" nodeType="mainSeq">
                  <p:childTnLst>
                    <p:par>
                      <p:cTn id="1002" fill="hold">
                        <p:stCondLst>
                          <p:cond delay="indefinite"/>
                        </p:stCondLst>
                        <p:childTnLst>
                          <p:par>
                            <p:cTn id="1003" fill="hold">
                              <p:stCondLst>
                                <p:cond delay="0"/>
                              </p:stCondLst>
                              <p:childTnLst>
                                <p:par>
                                  <p:cTn id="1004" presetID="10" presetClass="entr" presetSubtype="0" fill="hold" grpId="0" nodeType="clickEffect">
                                    <p:stCondLst>
                                      <p:cond delay="0"/>
                                    </p:stCondLst>
                                    <p:childTnLst>
                                      <p:set>
                                        <p:cBhvr>
                                          <p:cTn id="1005" dur="1" fill="hold">
                                            <p:stCondLst>
                                              <p:cond delay="0"/>
                                            </p:stCondLst>
                                          </p:cTn>
                                          <p:tgtEl>
                                            <p:spTgt spid="5"/>
                                          </p:tgtEl>
                                          <p:attrNameLst>
                                            <p:attrName>style.visibility</p:attrName>
                                          </p:attrNameLst>
                                        </p:cBhvr>
                                        <p:to>
                                          <p:strVal val="visible"/>
                                        </p:to>
                                      </p:set>
                                      <p:animEffect transition="in" filter="fade">
                                        <p:cBhvr>
                                          <p:cTn id="1006" dur="350"/>
                                          <p:tgtEl>
                                            <p:spTgt spid="5"/>
                                          </p:tgtEl>
                                        </p:cBhvr>
                                      </p:animEffect>
                                    </p:childTnLst>
                                  </p:cTn>
                                </p:par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1007" fill="hold">
                        <p:stCondLst>
                          <p:cond delay="indefinite"/>
                        </p:stCondLst>
                        <p:childTnLst>
                          <p:par>
                            <p:cTn id="1008" fill="hold">
                              <p:stCondLst>
                                <p:cond delay="0"/>
                              </p:stCondLst>
                              <p:childTnLst>
                                <p:par>
                                  <p:cTn id="1009" presetID="10" presetClass="entr" presetSubtype="0" fill="hold" grpId="0" nodeType="clickEffect">
                                    <p:stCondLst>
                                      <p:cond delay="0"/>
                                    </p:stCondLst>
                                    <p:childTnLst>
                                      <p:set>
                                        <p:cBhvr>
                                          <p:cTn id="1010" dur="1" fill="hold">
                                            <p:stCondLst>
                                              <p:cond delay="0"/>
                                            </p:stCondLst>
                                          </p:cTn>
                                          <p:tgtEl>
                                            <p:spTgt spid="6"/>
                                          </p:tgtEl>
                                          <p:attrNameLst>
                                            <p:attrName>style.visibility</p:attrName>
                                          </p:attrNameLst>
                                        </p:cBhvr>
                                        <p:to>
                                          <p:strVal val="visible"/>
                                        </p:to>
                                      </p:set>
                                      <p:animEffect transition="in" filter="fade">
                                        <p:cBhvr>
                                          <p:cTn id="1011" dur="350"/>
                                          <p:tgtEl>
                                            <p:spTgt spid="6"/>
                                          </p:tgtEl>
                                        </p:cBhvr>
                                      </p:animEffect>
                                    </p:childTnLst>
                                  </p:cTn>
                                </p:par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1012" fill="hold">
                        <p:stCondLst>
                          <p:cond delay="indefinite"/>
                        </p:stCondLst>
                        <p:childTnLst>
                          <p:par>
                            <p:cTn id="1013" fill="hold">
                              <p:stCondLst>
                                <p:cond delay="0"/>
                              </p:stCondLst>
                              <p:childTnLst>
                                <p:par>
                                  <p:cTn id="1014" presetID="10" presetClass="entr" presetSubtype="0" fill="hold" grpId="0" nodeType="clickEffect">
                                    <p:stCondLst>
                                      <p:cond delay="0"/>
                                    </p:stCondLst>
                                    <p:childTnLst>
                                      <p:set>
                                        <p:cBhvr>
                                          <p:cTn id="1015" dur="1" fill="hold">
                                            <p:stCondLst>
                                              <p:cond delay="0"/>
                                            </p:stCondLst>
                                          </p:cTn>
                                          <p:tgtEl>
                                            <p:spTgt spid="7"/>
                                          </p:tgtEl>
                                          <p:attrNameLst>
                                            <p:attrName>style.visibility</p:attrName>
                                          </p:attrNameLst>
                                        </p:cBhvr>
                                        <p:to>
                                          <p:strVal val="visible"/>
                                        </p:to>
                                      </p:set>
                                      <p:animEffect transition="in" filter="fade">
                                        <p:cBhvr>
                                          <p:cTn id="1016" dur="350"/>
                                          <p:tgtEl>
                                            <p:spTgt spid="7"/>
                                          </p:tgtEl>
                                        </p:cBhvr>
                                      </p:animEffect>
                                    </p:childTnLst>
                                  </p:cTn>
                                </p:par>
                              </p:childTnLst>
                            </p:cTn>
                          </p:par>
                        </p:childTnLst>
                      </p:cTn>
                    </p:par>
                  </p:childTnLst>
                </p:cTn>
                <p:prevCondLst>
                  <p:cond evt="onPrev" delay="0">
                    <p:tgtEl>
                      <p:sldTgt/>
                    </p:tgtEl>
                  </p:cond>
                </p:prevCondLst>
                <p:nextCondLst>
                  <p:cond evt="onNext" delay="0">
                    <p:tgtEl>
                      <p:sldTgt/>
                    </p:tgtEl>
                  </p:cond>
                </p:nextCondLst>
              </p:seq>
            </p:childTnLst>
          </p:cTn>
        </p:par>
      </p:tnLst>
    </p:timing>
    <p:extLst>
      <p:ext uri="{BB962C8B-B14F-4D97-AF65-F5344CB8AC3E}">
        <p14:creationId xmlns:p14="http://schemas.microsoft.com/office/powerpoint/2010/main" val="1857773366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section-15">
            <a:extLst xmlns:a="http://schemas.openxmlformats.org/drawingml/2006/main">
              <a:ext uri="{FF2B5EF4-FFF2-40B4-BE49-F238E27FC236}">
                <a16:creationId xmlns:a16="http://schemas.microsoft.com/office/drawing/2014/main" id="{19BC1061-1BBE-4AF7-BF8D-7337E713D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47650"/>
            <a:ext cx="419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769E0"/>
                </a:solidFill>
              </a:defRPr>
            </a:pPr>
            <a:r>
              <a:rPr sz="1050" b="1">
                <a:solidFill>
                  <a:srgbClr val="1769E0"/>
                </a:solidFill>
              </a:rPr>
              <a:t>09 / TRỌNG TÂM MINH HỌA TOÁN 6</a:t>
            </a:r>
          </a:p>
        </p:txBody>
      </p:sp>
      <p:sp>
        <p:nvSpPr>
          <p:cNvPr id="2" name="title-15">
            <a:extLst xmlns:a="http://schemas.openxmlformats.org/drawingml/2006/main">
              <a:ext uri="{FF2B5EF4-FFF2-40B4-BE49-F238E27FC236}">
                <a16:creationId xmlns:a16="http://schemas.microsoft.com/office/drawing/2014/main" id="{592B8BCE-5589-484C-A853-4F8DD4AC5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0550"/>
            <a:ext cx="11144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0131A"/>
                </a:solidFill>
              </a:defRPr>
            </a:pPr>
            <a:r>
              <a:rPr sz="2400" b="1">
                <a:solidFill>
                  <a:srgbClr val="10131A"/>
                </a:solidFill>
              </a:rPr>
              <a:t>Số nguyên là một bài học thuận lợi để học sinh làm việc với dữ liệu số</a:t>
            </a:r>
          </a:p>
        </p:txBody>
      </p:sp>
      <p:sp>
        <p:nvSpPr>
          <p:cNvPr id="3" name="rule-15">
            <a:extLst xmlns:a="http://schemas.openxmlformats.org/drawingml/2006/main">
              <a:ext uri="{FF2B5EF4-FFF2-40B4-BE49-F238E27FC236}">
                <a16:creationId xmlns:a16="http://schemas.microsoft.com/office/drawing/2014/main" id="{5799CCC3-4859-4965-A5E2-28C38DF3C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04950"/>
            <a:ext cx="11391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4" name="page-15">
            <a:extLst xmlns:a="http://schemas.openxmlformats.org/drawingml/2006/main">
              <a:ext uri="{FF2B5EF4-FFF2-40B4-BE49-F238E27FC236}">
                <a16:creationId xmlns:a16="http://schemas.microsoft.com/office/drawing/2014/main" id="{72E0B5FA-5BEF-4ADF-8C2F-72E461248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86500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E6673"/>
                </a:solidFill>
              </a:defRPr>
            </a:pPr>
            <a:r>
              <a:rPr sz="975" b="0">
                <a:solidFill>
                  <a:srgbClr val="5E6673"/>
                </a:solidFill>
              </a:rPr>
              <a:t>15</a:t>
            </a:r>
          </a:p>
        </p:txBody>
      </p:sp>
      <p:sp>
        <p:nvSpPr>
          <p:cNvPr id="5" name="anim-15-a">
            <a:extLst xmlns:a="http://schemas.openxmlformats.org/drawingml/2006/main">
              <a:ext uri="{FF2B5EF4-FFF2-40B4-BE49-F238E27FC236}">
                <a16:creationId xmlns:a16="http://schemas.microsoft.com/office/drawing/2014/main" id="{A7ACC1B3-83D1-4E8D-8D23-E7496DF89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000250"/>
            <a:ext cx="4953000" cy="200025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0131A"/>
                </a:solidFill>
              </a:defRPr>
            </a:pPr>
            <a:r>
              <a:rPr sz="1800" b="0">
                <a:solidFill>
                  <a:srgbClr val="10131A"/>
                </a:solidFill>
              </a:rPr>
              <a:t>YÊU CẦU TOÁN</a:t>
            </a:r>
          </a:p>
          <a:p xmlns:a="http://schemas.openxmlformats.org/drawingml/2006/main">
            <a:pPr algn="l">
              <a:defRPr sz="1800" b="0">
                <a:solidFill>
                  <a:srgbClr val="10131A"/>
                </a:solidFill>
              </a:defRPr>
            </a:pPr>
            <a:r>
              <a:rPr sz="1800" b="0">
                <a:solidFill>
                  <a:srgbClr val="10131A"/>
                </a:solidFill>
              </a:rPr>
              <a:t>Đọc, viết, biểu diễn và so sánh số nguyên; giải thích số âm/dương trong ngữ cảnh nhiệt độ, độ cao, thu - chi.</a:t>
            </a:r>
          </a:p>
        </p:txBody>
      </p:sp>
      <p:sp>
        <p:nvSpPr>
          <p:cNvPr id="6" name="anim-15-a-accent">
            <a:extLst xmlns:a="http://schemas.openxmlformats.org/drawingml/2006/main">
              <a:ext uri="{FF2B5EF4-FFF2-40B4-BE49-F238E27FC236}">
                <a16:creationId xmlns:a16="http://schemas.microsoft.com/office/drawing/2014/main" id="{5BA5CD2D-AE23-416F-B756-8890B41F9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000250"/>
            <a:ext cx="7620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9E0"/>
          </a:solidFill>
          <a:ln xmlns:a="http://schemas.openxmlformats.org/drawingml/2006/main" w="0">
            <a:solidFill>
              <a:srgbClr val="1769E0"/>
            </a:solidFill>
            <a:prstDash val="solid"/>
          </a:ln>
        </p:spPr>
      </p:sp>
      <p:sp>
        <p:nvSpPr>
          <p:cNvPr id="7" name="anim-15-b">
            <a:extLst xmlns:a="http://schemas.openxmlformats.org/drawingml/2006/main">
              <a:ext uri="{FF2B5EF4-FFF2-40B4-BE49-F238E27FC236}">
                <a16:creationId xmlns:a16="http://schemas.microsoft.com/office/drawing/2014/main" id="{7ED6E426-E09F-483C-A9A2-96B6C43E1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000250"/>
            <a:ext cx="4953000" cy="200025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0F2F5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0131A"/>
                </a:solidFill>
              </a:defRPr>
            </a:pPr>
            <a:r>
              <a:rPr sz="1800" b="0">
                <a:solidFill>
                  <a:srgbClr val="10131A"/>
                </a:solidFill>
              </a:rPr>
              <a:t>ĐỊA CHỈ NĂNG LỰC SỐ</a:t>
            </a:r>
          </a:p>
          <a:p xmlns:a="http://schemas.openxmlformats.org/drawingml/2006/main">
            <a:pPr algn="l">
              <a:defRPr sz="1800" b="0">
                <a:solidFill>
                  <a:srgbClr val="10131A"/>
                </a:solidFill>
              </a:defRPr>
            </a:pPr>
            <a:r>
              <a:rPr sz="1800" b="0">
                <a:solidFill>
                  <a:srgbClr val="10131A"/>
                </a:solidFill>
              </a:rPr>
              <a:t>Khai thác dữ liệu và thông tin; tạo bảng dữ liệu; đánh giá tính đúng của nguồn/kết quả; giao tiếp và hợp tác trong nhóm.</a:t>
            </a:r>
          </a:p>
        </p:txBody>
      </p:sp>
      <p:sp>
        <p:nvSpPr>
          <p:cNvPr id="8" name="anim-15-b-accent">
            <a:extLst xmlns:a="http://schemas.openxmlformats.org/drawingml/2006/main">
              <a:ext uri="{FF2B5EF4-FFF2-40B4-BE49-F238E27FC236}">
                <a16:creationId xmlns:a16="http://schemas.microsoft.com/office/drawing/2014/main" id="{99EDD198-3D39-4783-8156-D422DF870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000250"/>
            <a:ext cx="7620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4C2F0"/>
          </a:solidFill>
          <a:ln xmlns:a="http://schemas.openxmlformats.org/drawingml/2006/main" w="0">
            <a:solidFill>
              <a:srgbClr val="44C2F0"/>
            </a:solidFill>
            <a:prstDash val="solid"/>
          </a:ln>
        </p:spPr>
      </p:sp>
      <p:sp>
        <p:nvSpPr>
          <p:cNvPr id="9" name="anim-15-close">
            <a:extLst xmlns:a="http://schemas.openxmlformats.org/drawingml/2006/main">
              <a:ext uri="{FF2B5EF4-FFF2-40B4-BE49-F238E27FC236}">
                <a16:creationId xmlns:a16="http://schemas.microsoft.com/office/drawing/2014/main" id="{B6EE2500-1239-41B5-82CE-36463C0B1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5000625"/>
            <a:ext cx="9525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0B2B5B"/>
                </a:solidFill>
              </a:defRPr>
            </a:pPr>
            <a:r>
              <a:rPr sz="2100" b="1">
                <a:solidFill>
                  <a:srgbClr val="0B2B5B"/>
                </a:solidFill>
              </a:rPr>
              <a:t>Bài Toán giữ nguyên yêu cầu cần đạt; thay đổi là cách học sinh thu thập, kiểm tra, trình bày và chia sẻ bằng chứng.</a:t>
            </a:r>
          </a:p>
        </p:txBody>
      </p:sp>
    </p:spTree>
    <p:transition spd="fast">
      <p:fade/>
    </p:transition>
    <p:timing>
      <p:tnLst>
        <p:par>
          <p:cTn id="1000" dur="indefinite" restart="never" nodeType="tmRoot">
            <p:childTnLst>
              <p:seq concurrent="1" nextAc="seek">
                <p:cTn id="1001" dur="indefinite" nodeType="mainSeq">
                  <p:childTnLst>
                    <p:par>
                      <p:cTn id="1002" fill="hold">
                        <p:stCondLst>
                          <p:cond delay="indefinite"/>
                        </p:stCondLst>
                        <p:childTnLst>
                          <p:par>
                            <p:cTn id="1003" fill="hold">
                              <p:stCondLst>
                                <p:cond delay="0"/>
                              </p:stCondLst>
                              <p:childTnLst>
                                <p:par>
                                  <p:cTn id="1004" presetID="10" presetClass="entr" presetSubtype="0" fill="hold" grpId="0" nodeType="clickEffect">
                                    <p:stCondLst>
                                      <p:cond delay="0"/>
                                    </p:stCondLst>
                                    <p:childTnLst>
                                      <p:set>
                                        <p:cBhvr>
                                          <p:cTn id="1005" dur="1" fill="hold">
                                            <p:stCondLst>
                                              <p:cond delay="0"/>
                                            </p:stCondLst>
                                          </p:cTn>
                                          <p:tgtEl>
                                            <p:spTgt spid="5"/>
                                          </p:tgtEl>
                                          <p:attrNameLst>
                                            <p:attrName>style.visibility</p:attrName>
                                          </p:attrNameLst>
                                        </p:cBhvr>
                                        <p:to>
                                          <p:strVal val="visible"/>
                                        </p:to>
                                      </p:set>
                                      <p:animEffect transition="in" filter="fade">
                                        <p:cBhvr>
                                          <p:cTn id="1006" dur="350"/>
                                          <p:tgtEl>
                                            <p:spTgt spid="5"/>
                                          </p:tgtEl>
                                        </p:cBhvr>
                                      </p:animEffect>
                                    </p:childTnLst>
                                  </p:cTn>
                                </p:par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1007" fill="hold">
                        <p:stCondLst>
                          <p:cond delay="indefinite"/>
                        </p:stCondLst>
                        <p:childTnLst>
                          <p:par>
                            <p:cTn id="1008" fill="hold">
                              <p:stCondLst>
                                <p:cond delay="0"/>
                              </p:stCondLst>
                              <p:childTnLst>
                                <p:par>
                                  <p:cTn id="1009" presetID="10" presetClass="entr" presetSubtype="0" fill="hold" grpId="0" nodeType="clickEffect">
                                    <p:stCondLst>
                                      <p:cond delay="0"/>
                                    </p:stCondLst>
                                    <p:childTnLst>
                                      <p:set>
                                        <p:cBhvr>
                                          <p:cTn id="1010" dur="1" fill="hold">
                                            <p:stCondLst>
                                              <p:cond delay="0"/>
                                            </p:stCondLst>
                                          </p:cTn>
                                          <p:tgtEl>
                                            <p:spTgt spid="7"/>
                                          </p:tgtEl>
                                          <p:attrNameLst>
                                            <p:attrName>style.visibility</p:attrName>
                                          </p:attrNameLst>
                                        </p:cBhvr>
                                        <p:to>
                                          <p:strVal val="visible"/>
                                        </p:to>
                                      </p:set>
                                      <p:animEffect transition="in" filter="fade">
                                        <p:cBhvr>
                                          <p:cTn id="1011" dur="350"/>
                                          <p:tgtEl>
                                            <p:spTgt spid="7"/>
                                          </p:tgtEl>
                                        </p:cBhvr>
                                      </p:animEffect>
                                    </p:childTnLst>
                                  </p:cTn>
                                </p:par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1012" fill="hold">
                        <p:stCondLst>
                          <p:cond delay="indefinite"/>
                        </p:stCondLst>
                        <p:childTnLst>
                          <p:par>
                            <p:cTn id="1013" fill="hold">
                              <p:stCondLst>
                                <p:cond delay="0"/>
                              </p:stCondLst>
                              <p:childTnLst>
                                <p:par>
                                  <p:cTn id="1014" presetID="10" presetClass="entr" presetSubtype="0" fill="hold" grpId="0" nodeType="clickEffect">
                                    <p:stCondLst>
                                      <p:cond delay="0"/>
                                    </p:stCondLst>
                                    <p:childTnLst>
                                      <p:set>
                                        <p:cBhvr>
                                          <p:cTn id="1015" dur="1" fill="hold">
                                            <p:stCondLst>
                                              <p:cond delay="0"/>
                                            </p:stCondLst>
                                          </p:cTn>
                                          <p:tgtEl>
                                            <p:spTgt spid="9"/>
                                          </p:tgtEl>
                                          <p:attrNameLst>
                                            <p:attrName>style.visibility</p:attrName>
                                          </p:attrNameLst>
                                        </p:cBhvr>
                                        <p:to>
                                          <p:strVal val="visible"/>
                                        </p:to>
                                      </p:set>
                                      <p:animEffect transition="in" filter="fade">
                                        <p:cBhvr>
                                          <p:cTn id="1016" dur="350"/>
                                          <p:tgtEl>
                                            <p:spTgt spid="9"/>
                                          </p:tgtEl>
                                        </p:cBhvr>
                                      </p:animEffect>
                                    </p:childTnLst>
                                  </p:cTn>
                                </p:par>
                              </p:childTnLst>
                            </p:cTn>
                          </p:par>
                        </p:childTnLst>
                      </p:cTn>
                    </p:par>
                  </p:childTnLst>
                </p:cTn>
                <p:prevCondLst>
                  <p:cond evt="onPrev" delay="0">
                    <p:tgtEl>
                      <p:sldTgt/>
                    </p:tgtEl>
                  </p:cond>
                </p:prevCondLst>
                <p:nextCondLst>
                  <p:cond evt="onNext" delay="0">
                    <p:tgtEl>
                      <p:sldTgt/>
                    </p:tgtEl>
                  </p:cond>
                </p:nextCondLst>
              </p:seq>
            </p:childTnLst>
          </p:cTn>
        </p:par>
      </p:tnLst>
    </p:timing>
    <p:extLst>
      <p:ext uri="{BB962C8B-B14F-4D97-AF65-F5344CB8AC3E}">
        <p14:creationId xmlns:p14="http://schemas.microsoft.com/office/powerpoint/2010/main" val="1683133036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section-16">
            <a:extLst xmlns:a="http://schemas.openxmlformats.org/drawingml/2006/main">
              <a:ext uri="{FF2B5EF4-FFF2-40B4-BE49-F238E27FC236}">
                <a16:creationId xmlns:a16="http://schemas.microsoft.com/office/drawing/2014/main" id="{71C9FDE5-C60E-4CB0-BEE4-61B61123E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47650"/>
            <a:ext cx="419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769E0"/>
                </a:solidFill>
              </a:defRPr>
            </a:pPr>
            <a:r>
              <a:rPr sz="1050" b="1">
                <a:solidFill>
                  <a:srgbClr val="1769E0"/>
                </a:solidFill>
              </a:rPr>
              <a:t>09 / TRỌNG TÂM MINH HỌA TOÁN 6</a:t>
            </a:r>
          </a:p>
        </p:txBody>
      </p:sp>
      <p:sp>
        <p:nvSpPr>
          <p:cNvPr id="2" name="title-16">
            <a:extLst xmlns:a="http://schemas.openxmlformats.org/drawingml/2006/main">
              <a:ext uri="{FF2B5EF4-FFF2-40B4-BE49-F238E27FC236}">
                <a16:creationId xmlns:a16="http://schemas.microsoft.com/office/drawing/2014/main" id="{A5A6C73D-5E95-4DC9-A36C-ED3BEB3C1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0550"/>
            <a:ext cx="11144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0131A"/>
                </a:solidFill>
              </a:defRPr>
            </a:pPr>
            <a:r>
              <a:rPr sz="2400" b="1">
                <a:solidFill>
                  <a:srgbClr val="10131A"/>
                </a:solidFill>
              </a:rPr>
              <a:t>Hoạt động 1: từ dữ liệu nhiệt độ đến bảng số liệu có kiểm chứng</a:t>
            </a:r>
          </a:p>
        </p:txBody>
      </p:sp>
      <p:sp>
        <p:nvSpPr>
          <p:cNvPr id="3" name="subtitle-16">
            <a:extLst xmlns:a="http://schemas.openxmlformats.org/drawingml/2006/main">
              <a:ext uri="{FF2B5EF4-FFF2-40B4-BE49-F238E27FC236}">
                <a16:creationId xmlns:a16="http://schemas.microsoft.com/office/drawing/2014/main" id="{64000B54-B8A2-4267-8F0B-C350DFCF8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381125"/>
            <a:ext cx="1104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E6673"/>
                </a:solidFill>
              </a:defRPr>
            </a:pPr>
            <a:r>
              <a:rPr sz="1275" b="0">
                <a:solidFill>
                  <a:srgbClr val="5E6673"/>
                </a:solidFill>
              </a:rPr>
              <a:t>Nhóm 4 học sinh • 12-15 phút • có thể dùng 1 thiết bị chung</a:t>
            </a:r>
          </a:p>
        </p:txBody>
      </p:sp>
      <p:sp>
        <p:nvSpPr>
          <p:cNvPr id="4" name="rule-16">
            <a:extLst xmlns:a="http://schemas.openxmlformats.org/drawingml/2006/main">
              <a:ext uri="{FF2B5EF4-FFF2-40B4-BE49-F238E27FC236}">
                <a16:creationId xmlns:a16="http://schemas.microsoft.com/office/drawing/2014/main" id="{AA43FD25-0B9B-4592-B053-9ADF1F473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95450"/>
            <a:ext cx="11391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5" name="page-16">
            <a:extLst xmlns:a="http://schemas.openxmlformats.org/drawingml/2006/main">
              <a:ext uri="{FF2B5EF4-FFF2-40B4-BE49-F238E27FC236}">
                <a16:creationId xmlns:a16="http://schemas.microsoft.com/office/drawing/2014/main" id="{0BE4F1C8-0D2B-4EEC-AA04-CE23E2D59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86500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E6673"/>
                </a:solidFill>
              </a:defRPr>
            </a:pPr>
            <a:r>
              <a:rPr sz="975" b="0">
                <a:solidFill>
                  <a:srgbClr val="5E6673"/>
                </a:solidFill>
              </a:rPr>
              <a:t>16</a:t>
            </a:r>
          </a:p>
        </p:txBody>
      </p:sp>
      <p:sp>
        <p:nvSpPr>
          <p:cNvPr id="6" name="anim-16-a">
            <a:extLst xmlns:a="http://schemas.openxmlformats.org/drawingml/2006/main">
              <a:ext uri="{FF2B5EF4-FFF2-40B4-BE49-F238E27FC236}">
                <a16:creationId xmlns:a16="http://schemas.microsoft.com/office/drawing/2014/main" id="{6A602982-0084-4C3A-9553-81AF6B71A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095500"/>
            <a:ext cx="504825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0131A"/>
                </a:solidFill>
              </a:defRPr>
            </a:pPr>
            <a:r>
              <a:rPr sz="1650" b="0">
                <a:solidFill>
                  <a:srgbClr val="10131A"/>
                </a:solidFill>
              </a:rPr>
              <a:t>NHIỆM VỤ</a:t>
            </a:r>
          </a:p>
          <a:p xmlns:a="http://schemas.openxmlformats.org/drawingml/2006/main">
            <a:pPr algn="l">
              <a:defRPr sz="1650" b="0">
                <a:solidFill>
                  <a:srgbClr val="10131A"/>
                </a:solidFill>
              </a:defRPr>
            </a:pPr>
            <a:r>
              <a:rPr sz="1650" b="0">
                <a:solidFill>
                  <a:srgbClr val="10131A"/>
                </a:solidFill>
              </a:rPr>
              <a:t>Nhóm nhận 6 dữ liệu nhiệt độ của các thành phố. Tìm thêm 1 nguồn thời tiết/khí hậu đáng tin cậy hoặc dùng bộ dữ liệu giáo viên cung cấp.</a:t>
            </a:r>
          </a:p>
        </p:txBody>
      </p:sp>
      <p:sp>
        <p:nvSpPr>
          <p:cNvPr id="7" name="anim-16-a-accent">
            <a:extLst xmlns:a="http://schemas.openxmlformats.org/drawingml/2006/main">
              <a:ext uri="{FF2B5EF4-FFF2-40B4-BE49-F238E27FC236}">
                <a16:creationId xmlns:a16="http://schemas.microsoft.com/office/drawing/2014/main" id="{08263015-F380-4070-86FC-045D8EEDF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095500"/>
            <a:ext cx="762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9E0"/>
          </a:solidFill>
          <a:ln xmlns:a="http://schemas.openxmlformats.org/drawingml/2006/main" w="0">
            <a:solidFill>
              <a:srgbClr val="1769E0"/>
            </a:solidFill>
            <a:prstDash val="solid"/>
          </a:ln>
        </p:spPr>
      </p:sp>
      <p:sp>
        <p:nvSpPr>
          <p:cNvPr id="8" name="anim-16-b">
            <a:extLst xmlns:a="http://schemas.openxmlformats.org/drawingml/2006/main">
              <a:ext uri="{FF2B5EF4-FFF2-40B4-BE49-F238E27FC236}">
                <a16:creationId xmlns:a16="http://schemas.microsoft.com/office/drawing/2014/main" id="{74584D20-8552-4D07-B2AE-85C2548E9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2095500"/>
            <a:ext cx="504825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0F2F5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0131A"/>
                </a:solidFill>
              </a:defRPr>
            </a:pPr>
            <a:r>
              <a:rPr sz="1650" b="0">
                <a:solidFill>
                  <a:srgbClr val="10131A"/>
                </a:solidFill>
              </a:rPr>
              <a:t>HỌC SINH PHẢI LÀM</a:t>
            </a:r>
          </a:p>
          <a:p xmlns:a="http://schemas.openxmlformats.org/drawingml/2006/main">
            <a:pPr algn="l">
              <a:defRPr sz="1650" b="0">
                <a:solidFill>
                  <a:srgbClr val="10131A"/>
                </a:solidFill>
              </a:defRPr>
            </a:pPr>
            <a:r>
              <a:rPr sz="1650" b="0">
                <a:solidFill>
                  <a:srgbClr val="10131A"/>
                </a:solidFill>
              </a:rPr>
              <a:t>Nhập dữ liệu vào bảng: địa điểm | nhiệt độ | nguồn | thời điểm. Sắp xếp từ thấp đến cao và đối chiếu lại bằng trục số.</a:t>
            </a:r>
          </a:p>
        </p:txBody>
      </p:sp>
      <p:sp>
        <p:nvSpPr>
          <p:cNvPr id="9" name="anim-16-b-accent">
            <a:extLst xmlns:a="http://schemas.openxmlformats.org/drawingml/2006/main">
              <a:ext uri="{FF2B5EF4-FFF2-40B4-BE49-F238E27FC236}">
                <a16:creationId xmlns:a16="http://schemas.microsoft.com/office/drawing/2014/main" id="{7764F0C6-6274-4041-A994-0215790B4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2095500"/>
            <a:ext cx="762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4C2F0"/>
          </a:solidFill>
          <a:ln xmlns:a="http://schemas.openxmlformats.org/drawingml/2006/main" w="0">
            <a:solidFill>
              <a:srgbClr val="44C2F0"/>
            </a:solidFill>
            <a:prstDash val="solid"/>
          </a:ln>
        </p:spPr>
      </p:sp>
      <p:sp>
        <p:nvSpPr>
          <p:cNvPr id="10" name="anim-16-c">
            <a:extLst xmlns:a="http://schemas.openxmlformats.org/drawingml/2006/main">
              <a:ext uri="{FF2B5EF4-FFF2-40B4-BE49-F238E27FC236}">
                <a16:creationId xmlns:a16="http://schemas.microsoft.com/office/drawing/2014/main" id="{B6C7DAC1-1128-4897-8B10-C54AD66CF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143375"/>
            <a:ext cx="5048250" cy="1238250"/>
          </a:xfrm>
          <a:prstGeom xmlns:a="http://schemas.openxmlformats.org/drawingml/2006/main" prst="roundRect">
            <a:avLst>
              <a:gd name="adj" fmla="val 9231"/>
            </a:avLst>
          </a:prstGeom>
          <a:solidFill xmlns:a="http://schemas.openxmlformats.org/drawingml/2006/main">
            <a:srgbClr val="EAF7F0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131A"/>
                </a:solidFill>
              </a:defRPr>
            </a:pPr>
            <a:r>
              <a:rPr sz="1575" b="0">
                <a:solidFill>
                  <a:srgbClr val="10131A"/>
                </a:solidFill>
              </a:rPr>
              <a:t>MINH CHỨNG</a:t>
            </a:r>
          </a:p>
          <a:p xmlns:a="http://schemas.openxmlformats.org/drawingml/2006/main">
            <a:pPr algn="l">
              <a:defRPr sz="1575" b="0">
                <a:solidFill>
                  <a:srgbClr val="10131A"/>
                </a:solidFill>
              </a:defRPr>
            </a:pPr>
            <a:r>
              <a:rPr sz="1575" b="0">
                <a:solidFill>
                  <a:srgbClr val="10131A"/>
                </a:solidFill>
              </a:rPr>
              <a:t>Bảng số liệu có ghi nguồn; ảnh/chụp lịch sử tìm kiếm hoặc phiếu nguồn; một câu giải thích vì sao nguồn được chọn.</a:t>
            </a:r>
          </a:p>
        </p:txBody>
      </p:sp>
      <p:sp>
        <p:nvSpPr>
          <p:cNvPr id="11" name="anim-16-c-accent">
            <a:extLst xmlns:a="http://schemas.openxmlformats.org/drawingml/2006/main">
              <a:ext uri="{FF2B5EF4-FFF2-40B4-BE49-F238E27FC236}">
                <a16:creationId xmlns:a16="http://schemas.microsoft.com/office/drawing/2014/main" id="{559EE2F3-8D68-4EE3-8DC6-A649618D1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143375"/>
            <a:ext cx="7620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8A5A"/>
          </a:solidFill>
          <a:ln xmlns:a="http://schemas.openxmlformats.org/drawingml/2006/main" w="0">
            <a:solidFill>
              <a:srgbClr val="1B8A5A"/>
            </a:solidFill>
            <a:prstDash val="solid"/>
          </a:ln>
        </p:spPr>
      </p:sp>
      <p:sp>
        <p:nvSpPr>
          <p:cNvPr id="12" name="anim-16-d">
            <a:extLst xmlns:a="http://schemas.openxmlformats.org/drawingml/2006/main">
              <a:ext uri="{FF2B5EF4-FFF2-40B4-BE49-F238E27FC236}">
                <a16:creationId xmlns:a16="http://schemas.microsoft.com/office/drawing/2014/main" id="{074FCA66-FF85-4E21-B73F-60235A6F8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4143375"/>
            <a:ext cx="5048250" cy="1238250"/>
          </a:xfrm>
          <a:prstGeom xmlns:a="http://schemas.openxmlformats.org/drawingml/2006/main" prst="roundRect">
            <a:avLst>
              <a:gd name="adj" fmla="val 9231"/>
            </a:avLst>
          </a:prstGeom>
          <a:solidFill xmlns:a="http://schemas.openxmlformats.org/drawingml/2006/main">
            <a:srgbClr val="FFF0F0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131A"/>
                </a:solidFill>
              </a:defRPr>
            </a:pPr>
            <a:r>
              <a:rPr sz="1575" b="0">
                <a:solidFill>
                  <a:srgbClr val="10131A"/>
                </a:solidFill>
              </a:rPr>
              <a:t>GIÁO VIÊN QUAN SÁT</a:t>
            </a:r>
          </a:p>
          <a:p xmlns:a="http://schemas.openxmlformats.org/drawingml/2006/main">
            <a:pPr algn="l">
              <a:defRPr sz="1575" b="0">
                <a:solidFill>
                  <a:srgbClr val="10131A"/>
                </a:solidFill>
              </a:defRPr>
            </a:pPr>
            <a:r>
              <a:rPr sz="1575" b="0">
                <a:solidFill>
                  <a:srgbClr val="10131A"/>
                </a:solidFill>
              </a:rPr>
              <a:t>Học sinh có biết phân biệt dữ liệu với kết luận? Có kiểm tra dấu âm, đơn vị °C và thời điểm cập nhật?</a:t>
            </a:r>
          </a:p>
        </p:txBody>
      </p:sp>
      <p:sp>
        <p:nvSpPr>
          <p:cNvPr id="13" name="anim-16-d-accent">
            <a:extLst xmlns:a="http://schemas.openxmlformats.org/drawingml/2006/main">
              <a:ext uri="{FF2B5EF4-FFF2-40B4-BE49-F238E27FC236}">
                <a16:creationId xmlns:a16="http://schemas.microsoft.com/office/drawing/2014/main" id="{E481672F-909D-418C-9D0C-6BBC6DF31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4143375"/>
            <a:ext cx="7620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4A4A"/>
          </a:solidFill>
          <a:ln xmlns:a="http://schemas.openxmlformats.org/drawingml/2006/main" w="0">
            <a:solidFill>
              <a:srgbClr val="D84A4A"/>
            </a:solidFill>
            <a:prstDash val="solid"/>
          </a:ln>
        </p:spPr>
      </p:sp>
    </p:spTree>
    <p:transition spd="fast">
      <p:fade/>
    </p:transition>
    <p:timing>
      <p:tnLst>
        <p:par>
          <p:cTn id="1000" dur="indefinite" restart="never" nodeType="tmRoot">
            <p:childTnLst>
              <p:seq concurrent="1" nextAc="seek">
                <p:cTn id="1001" dur="indefinite" nodeType="mainSeq">
                  <p:childTnLst>
                    <p:par>
                      <p:cTn id="1002" fill="hold">
                        <p:stCondLst>
                          <p:cond delay="indefinite"/>
                        </p:stCondLst>
                        <p:childTnLst>
                          <p:par>
                            <p:cTn id="1003" fill="hold">
                              <p:stCondLst>
                                <p:cond delay="0"/>
                              </p:stCondLst>
                              <p:childTnLst>
                                <p:par>
                                  <p:cTn id="1004" presetID="10" presetClass="entr" presetSubtype="0" fill="hold" grpId="0" nodeType="clickEffect">
                                    <p:stCondLst>
                                      <p:cond delay="0"/>
                                    </p:stCondLst>
                                    <p:childTnLst>
                                      <p:set>
                                        <p:cBhvr>
                                          <p:cTn id="1005" dur="1" fill="hold">
                                            <p:stCondLst>
                                              <p:cond delay="0"/>
                                            </p:stCondLst>
                                          </p:cTn>
                                          <p:tgtEl>
                                            <p:spTgt spid="6"/>
                                          </p:tgtEl>
                                          <p:attrNameLst>
                                            <p:attrName>style.visibility</p:attrName>
                                          </p:attrNameLst>
                                        </p:cBhvr>
                                        <p:to>
                                          <p:strVal val="visible"/>
                                        </p:to>
                                      </p:set>
                                      <p:animEffect transition="in" filter="fade">
                                        <p:cBhvr>
                                          <p:cTn id="1006" dur="350"/>
                                          <p:tgtEl>
                                            <p:spTgt spid="6"/>
                                          </p:tgtEl>
                                        </p:cBhvr>
                                      </p:animEffect>
                                    </p:childTnLst>
                                  </p:cTn>
                                </p:par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1007" fill="hold">
                        <p:stCondLst>
                          <p:cond delay="indefinite"/>
                        </p:stCondLst>
                        <p:childTnLst>
                          <p:par>
                            <p:cTn id="1008" fill="hold">
                              <p:stCondLst>
                                <p:cond delay="0"/>
                              </p:stCondLst>
                              <p:childTnLst>
                                <p:par>
                                  <p:cTn id="1009" presetID="10" presetClass="entr" presetSubtype="0" fill="hold" grpId="0" nodeType="clickEffect">
                                    <p:stCondLst>
                                      <p:cond delay="0"/>
                                    </p:stCondLst>
                                    <p:childTnLst>
                                      <p:set>
                                        <p:cBhvr>
                                          <p:cTn id="1010" dur="1" fill="hold">
                                            <p:stCondLst>
                                              <p:cond delay="0"/>
                                            </p:stCondLst>
                                          </p:cTn>
                                          <p:tgtEl>
                                            <p:spTgt spid="8"/>
                                          </p:tgtEl>
                                          <p:attrNameLst>
                                            <p:attrName>style.visibility</p:attrName>
                                          </p:attrNameLst>
                                        </p:cBhvr>
                                        <p:to>
                                          <p:strVal val="visible"/>
                                        </p:to>
                                      </p:set>
                                      <p:animEffect transition="in" filter="fade">
                                        <p:cBhvr>
                                          <p:cTn id="1011" dur="350"/>
                                          <p:tgtEl>
                                            <p:spTgt spid="8"/>
                                          </p:tgtEl>
                                        </p:cBhvr>
                                      </p:animEffect>
                                    </p:childTnLst>
                                  </p:cTn>
                                </p:par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1012" fill="hold">
                        <p:stCondLst>
                          <p:cond delay="indefinite"/>
                        </p:stCondLst>
                        <p:childTnLst>
                          <p:par>
                            <p:cTn id="1013" fill="hold">
                              <p:stCondLst>
                                <p:cond delay="0"/>
                              </p:stCondLst>
                              <p:childTnLst>
                                <p:par>
                                  <p:cTn id="1014" presetID="10" presetClass="entr" presetSubtype="0" fill="hold" grpId="0" nodeType="clickEffect">
                                    <p:stCondLst>
                                      <p:cond delay="0"/>
                                    </p:stCondLst>
                                    <p:childTnLst>
                                      <p:set>
                                        <p:cBhvr>
                                          <p:cTn id="1015" dur="1" fill="hold">
                                            <p:stCondLst>
                                              <p:cond delay="0"/>
                                            </p:stCondLst>
                                          </p:cTn>
                                          <p:tgtEl>
                                            <p:spTgt spid="10"/>
                                          </p:tgtEl>
                                          <p:attrNameLst>
                                            <p:attrName>style.visibility</p:attrName>
                                          </p:attrNameLst>
                                        </p:cBhvr>
                                        <p:to>
                                          <p:strVal val="visible"/>
                                        </p:to>
                                      </p:set>
                                      <p:animEffect transition="in" filter="fade">
                                        <p:cBhvr>
                                          <p:cTn id="1016" dur="350"/>
                                          <p:tgtEl>
                                            <p:spTgt spid="10"/>
                                          </p:tgtEl>
                                        </p:cBhvr>
                                      </p:animEffect>
                                    </p:childTnLst>
                                  </p:cTn>
                                </p:par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1017" fill="hold">
                        <p:stCondLst>
                          <p:cond delay="indefinite"/>
                        </p:stCondLst>
                        <p:childTnLst>
                          <p:par>
                            <p:cTn id="1018" fill="hold">
                              <p:stCondLst>
                                <p:cond delay="0"/>
                              </p:stCondLst>
                              <p:childTnLst>
                                <p:par>
                                  <p:cTn id="1019" presetID="10" presetClass="entr" presetSubtype="0" fill="hold" grpId="0" nodeType="clickEffect">
                                    <p:stCondLst>
                                      <p:cond delay="0"/>
                                    </p:stCondLst>
                                    <p:childTnLst>
                                      <p:set>
                                        <p:cBhvr>
                                          <p:cTn id="1020" dur="1" fill="hold">
                                            <p:stCondLst>
                                              <p:cond delay="0"/>
                                            </p:stCondLst>
                                          </p:cTn>
                                          <p:tgtEl>
                                            <p:spTgt spid="12"/>
                                          </p:tgtEl>
                                          <p:attrNameLst>
                                            <p:attrName>style.visibility</p:attrName>
                                          </p:attrNameLst>
                                        </p:cBhvr>
                                        <p:to>
                                          <p:strVal val="visible"/>
                                        </p:to>
                                      </p:set>
                                      <p:animEffect transition="in" filter="fade">
                                        <p:cBhvr>
                                          <p:cTn id="1021" dur="350"/>
                                          <p:tgtEl>
                                            <p:spTgt spid="12"/>
                                          </p:tgtEl>
                                        </p:cBhvr>
                                      </p:animEffect>
                                    </p:childTnLst>
                                  </p:cTn>
                                </p:par>
                              </p:childTnLst>
                            </p:cTn>
                          </p:par>
                        </p:childTnLst>
                      </p:cTn>
                    </p:par>
                  </p:childTnLst>
                </p:cTn>
                <p:prevCondLst>
                  <p:cond evt="onPrev" delay="0">
                    <p:tgtEl>
                      <p:sldTgt/>
                    </p:tgtEl>
                  </p:cond>
                </p:prevCondLst>
                <p:nextCondLst>
                  <p:cond evt="onNext" delay="0">
                    <p:tgtEl>
                      <p:sldTgt/>
                    </p:tgtEl>
                  </p:cond>
                </p:nextCondLst>
              </p:seq>
            </p:childTnLst>
          </p:cTn>
        </p:par>
      </p:tnLst>
    </p:timing>
    <p:extLst>
      <p:ext uri="{BB962C8B-B14F-4D97-AF65-F5344CB8AC3E}">
        <p14:creationId xmlns:p14="http://schemas.microsoft.com/office/powerpoint/2010/main" val="415624855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section-17">
            <a:extLst xmlns:a="http://schemas.openxmlformats.org/drawingml/2006/main">
              <a:ext uri="{FF2B5EF4-FFF2-40B4-BE49-F238E27FC236}">
                <a16:creationId xmlns:a16="http://schemas.microsoft.com/office/drawing/2014/main" id="{530E971A-9535-423C-B2DA-2BAAB50FA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47650"/>
            <a:ext cx="419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769E0"/>
                </a:solidFill>
              </a:defRPr>
            </a:pPr>
            <a:r>
              <a:rPr sz="1050" b="1">
                <a:solidFill>
                  <a:srgbClr val="1769E0"/>
                </a:solidFill>
              </a:rPr>
              <a:t>09 / TRỌNG TÂM MINH HỌA TOÁN 6</a:t>
            </a:r>
          </a:p>
        </p:txBody>
      </p:sp>
      <p:sp>
        <p:nvSpPr>
          <p:cNvPr id="2" name="title-17">
            <a:extLst xmlns:a="http://schemas.openxmlformats.org/drawingml/2006/main">
              <a:ext uri="{FF2B5EF4-FFF2-40B4-BE49-F238E27FC236}">
                <a16:creationId xmlns:a16="http://schemas.microsoft.com/office/drawing/2014/main" id="{49827D58-C49A-4563-BD3D-5FCECA71F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0550"/>
            <a:ext cx="11144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0131A"/>
                </a:solidFill>
              </a:defRPr>
            </a:pPr>
            <a:r>
              <a:rPr sz="2400" b="1">
                <a:solidFill>
                  <a:srgbClr val="10131A"/>
                </a:solidFill>
              </a:rPr>
              <a:t>Hoạt động 2: dùng bảng tính để kiểm tra trục số và thứ tự</a:t>
            </a:r>
          </a:p>
        </p:txBody>
      </p:sp>
      <p:sp>
        <p:nvSpPr>
          <p:cNvPr id="3" name="subtitle-17">
            <a:extLst xmlns:a="http://schemas.openxmlformats.org/drawingml/2006/main">
              <a:ext uri="{FF2B5EF4-FFF2-40B4-BE49-F238E27FC236}">
                <a16:creationId xmlns:a16="http://schemas.microsoft.com/office/drawing/2014/main" id="{9402859F-4395-4255-B9E6-990025CFA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381125"/>
            <a:ext cx="1104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E6673"/>
                </a:solidFill>
              </a:defRPr>
            </a:pPr>
            <a:r>
              <a:rPr sz="1275" b="0">
                <a:solidFill>
                  <a:srgbClr val="5E6673"/>
                </a:solidFill>
              </a:rPr>
              <a:t>Nhóm 2-4 học sinh • 15 phút • có phương án không thiết bị</a:t>
            </a:r>
          </a:p>
        </p:txBody>
      </p:sp>
      <p:sp>
        <p:nvSpPr>
          <p:cNvPr id="4" name="rule-17">
            <a:extLst xmlns:a="http://schemas.openxmlformats.org/drawingml/2006/main">
              <a:ext uri="{FF2B5EF4-FFF2-40B4-BE49-F238E27FC236}">
                <a16:creationId xmlns:a16="http://schemas.microsoft.com/office/drawing/2014/main" id="{D528A9BF-DF62-41FC-ACD9-390585A0E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95450"/>
            <a:ext cx="11391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5" name="page-17">
            <a:extLst xmlns:a="http://schemas.openxmlformats.org/drawingml/2006/main">
              <a:ext uri="{FF2B5EF4-FFF2-40B4-BE49-F238E27FC236}">
                <a16:creationId xmlns:a16="http://schemas.microsoft.com/office/drawing/2014/main" id="{2C382940-0455-468D-8491-00224052D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86500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E6673"/>
                </a:solidFill>
              </a:defRPr>
            </a:pPr>
            <a:r>
              <a:rPr sz="975" b="0">
                <a:solidFill>
                  <a:srgbClr val="5E6673"/>
                </a:solidFill>
              </a:rPr>
              <a:t>17</a:t>
            </a:r>
          </a:p>
        </p:txBody>
      </p:sp>
      <p:sp>
        <p:nvSpPr>
          <p:cNvPr id="6" name="anim-17-left">
            <a:extLst xmlns:a="http://schemas.openxmlformats.org/drawingml/2006/main">
              <a:ext uri="{FF2B5EF4-FFF2-40B4-BE49-F238E27FC236}">
                <a16:creationId xmlns:a16="http://schemas.microsoft.com/office/drawing/2014/main" id="{8ED85B07-9453-4A18-BAB2-8F244AC1B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95500"/>
            <a:ext cx="4476750" cy="2667000"/>
          </a:xfrm>
          <a:prstGeom xmlns:a="http://schemas.openxmlformats.org/drawingml/2006/main" prst="roundRect">
            <a:avLst>
              <a:gd name="adj" fmla="val 4286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0131A"/>
                </a:solidFill>
              </a:defRPr>
            </a:pPr>
            <a:r>
              <a:rPr sz="1875" b="0">
                <a:solidFill>
                  <a:srgbClr val="10131A"/>
                </a:solidFill>
              </a:rPr>
              <a:t>DỮ LIỆU GỐC</a:t>
            </a:r>
          </a:p>
          <a:p xmlns:a="http://schemas.openxmlformats.org/drawingml/2006/main">
            <a:pPr algn="l">
              <a:defRPr sz="1875" b="0">
                <a:solidFill>
                  <a:srgbClr val="10131A"/>
                </a:solidFill>
              </a:defRPr>
            </a:pPr>
            <a:r>
              <a:rPr sz="1875" b="0">
                <a:solidFill>
                  <a:srgbClr val="10131A"/>
                </a:solidFill>
              </a:rPr>
              <a:t>3; -3; -5; 6; -4; 4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875" b="0">
                <a:solidFill>
                  <a:srgbClr val="10131A"/>
                </a:solidFill>
              </a:defRPr>
            </a:pPr>
            <a:r>
              <a:rPr sz="1875" b="0">
                <a:solidFill>
                  <a:srgbClr val="10131A"/>
                </a:solidFill>
              </a:rPr>
              <a:t>Yêu cầu: nhập dữ liệu vào bảng, dùng chức năng sắp xếp, sau đó tự vẽ trục số và đối chiếu kết quả.</a:t>
            </a:r>
          </a:p>
        </p:txBody>
      </p:sp>
      <p:sp>
        <p:nvSpPr>
          <p:cNvPr id="7" name="anim-17-mid">
            <a:extLst xmlns:a="http://schemas.openxmlformats.org/drawingml/2006/main">
              <a:ext uri="{FF2B5EF4-FFF2-40B4-BE49-F238E27FC236}">
                <a16:creationId xmlns:a16="http://schemas.microsoft.com/office/drawing/2014/main" id="{57D1582A-FD88-4521-BEAA-D9581DD93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095500"/>
            <a:ext cx="4857750" cy="2667000"/>
          </a:xfrm>
          <a:prstGeom xmlns:a="http://schemas.openxmlformats.org/drawingml/2006/main" prst="roundRect">
            <a:avLst>
              <a:gd name="adj" fmla="val 4286"/>
            </a:avLst>
          </a:prstGeom>
          <a:solidFill xmlns:a="http://schemas.openxmlformats.org/drawingml/2006/main">
            <a:srgbClr val="F0F2F5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0131A"/>
                </a:solidFill>
              </a:defRPr>
            </a:pPr>
            <a:r>
              <a:rPr sz="1725" b="0">
                <a:solidFill>
                  <a:srgbClr val="10131A"/>
                </a:solidFill>
              </a:rPr>
              <a:t>KIỂM TRA</a:t>
            </a:r>
          </a:p>
          <a:p xmlns:a="http://schemas.openxmlformats.org/drawingml/2006/main">
            <a:pPr algn="l">
              <a:defRPr sz="1725" b="0">
                <a:solidFill>
                  <a:srgbClr val="10131A"/>
                </a:solidFill>
              </a:defRPr>
            </a:pPr>
            <a:r>
              <a:rPr sz="1725" b="0">
                <a:solidFill>
                  <a:srgbClr val="10131A"/>
                </a:solidFill>
              </a:rPr>
              <a:t>• Có giữ nguyên dấu âm?</a:t>
            </a:r>
          </a:p>
          <a:p xmlns:a="http://schemas.openxmlformats.org/drawingml/2006/main">
            <a:pPr algn="l">
              <a:defRPr sz="1725" b="0">
                <a:solidFill>
                  <a:srgbClr val="10131A"/>
                </a:solidFill>
              </a:defRPr>
            </a:pPr>
            <a:r>
              <a:rPr sz="1725" b="0">
                <a:solidFill>
                  <a:srgbClr val="10131A"/>
                </a:solidFill>
              </a:rPr>
              <a:t>• Thứ tự tăng dần có đúng?</a:t>
            </a:r>
          </a:p>
          <a:p xmlns:a="http://schemas.openxmlformats.org/drawingml/2006/main">
            <a:pPr algn="l">
              <a:defRPr sz="1725" b="0">
                <a:solidFill>
                  <a:srgbClr val="10131A"/>
                </a:solidFill>
              </a:defRPr>
            </a:pPr>
            <a:r>
              <a:rPr sz="1725" b="0">
                <a:solidFill>
                  <a:srgbClr val="10131A"/>
                </a:solidFill>
              </a:rPr>
              <a:t>• Bảng tính chỉ hỗ trợ hay đã thay thế lập luận?</a:t>
            </a:r>
          </a:p>
          <a:p xmlns:a="http://schemas.openxmlformats.org/drawingml/2006/main">
            <a:pPr algn="l">
              <a:defRPr sz="1725" b="0">
                <a:solidFill>
                  <a:srgbClr val="10131A"/>
                </a:solidFill>
              </a:defRPr>
            </a:pPr>
            <a:r>
              <a:rPr sz="1725" b="0">
                <a:solidFill>
                  <a:srgbClr val="10131A"/>
                </a:solidFill>
              </a:rPr>
              <a:t>• Có thể giải thích lại bằng ngôn ngữ Toán học?</a:t>
            </a:r>
          </a:p>
        </p:txBody>
      </p:sp>
      <p:sp>
        <p:nvSpPr>
          <p:cNvPr id="8" name="anim-17-note">
            <a:extLst xmlns:a="http://schemas.openxmlformats.org/drawingml/2006/main">
              <a:ext uri="{FF2B5EF4-FFF2-40B4-BE49-F238E27FC236}">
                <a16:creationId xmlns:a16="http://schemas.microsoft.com/office/drawing/2014/main" id="{C635BDEB-E464-4781-AECF-2460EB70B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5381625"/>
            <a:ext cx="9048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D84A4A"/>
                </a:solidFill>
              </a:defRPr>
            </a:pPr>
            <a:r>
              <a:rPr sz="1875" b="1">
                <a:solidFill>
                  <a:srgbClr val="D84A4A"/>
                </a:solidFill>
              </a:rPr>
              <a:t>Phương án không thiết bị: giáo viên phát ba bảng kết quả mô phỏng; học sinh phát hiện lỗi nhập/sắp xếp và ghi lí do.</a:t>
            </a:r>
          </a:p>
        </p:txBody>
      </p:sp>
    </p:spTree>
    <p:transition spd="fast">
      <p:fade/>
    </p:transition>
    <p:timing>
      <p:tnLst>
        <p:par>
          <p:cTn id="1000" dur="indefinite" restart="never" nodeType="tmRoot">
            <p:childTnLst>
              <p:seq concurrent="1" nextAc="seek">
                <p:cTn id="1001" dur="indefinite" nodeType="mainSeq">
                  <p:childTnLst>
                    <p:par>
                      <p:cTn id="1002" fill="hold">
                        <p:stCondLst>
                          <p:cond delay="indefinite"/>
                        </p:stCondLst>
                        <p:childTnLst>
                          <p:par>
                            <p:cTn id="1003" fill="hold">
                              <p:stCondLst>
                                <p:cond delay="0"/>
                              </p:stCondLst>
                              <p:childTnLst>
                                <p:par>
                                  <p:cTn id="1004" presetID="10" presetClass="entr" presetSubtype="0" fill="hold" grpId="0" nodeType="clickEffect">
                                    <p:stCondLst>
                                      <p:cond delay="0"/>
                                    </p:stCondLst>
                                    <p:childTnLst>
                                      <p:set>
                                        <p:cBhvr>
                                          <p:cTn id="1005" dur="1" fill="hold">
                                            <p:stCondLst>
                                              <p:cond delay="0"/>
                                            </p:stCondLst>
                                          </p:cTn>
                                          <p:tgtEl>
                                            <p:spTgt spid="6"/>
                                          </p:tgtEl>
                                          <p:attrNameLst>
                                            <p:attrName>style.visibility</p:attrName>
                                          </p:attrNameLst>
                                        </p:cBhvr>
                                        <p:to>
                                          <p:strVal val="visible"/>
                                        </p:to>
                                      </p:set>
                                      <p:animEffect transition="in" filter="fade">
                                        <p:cBhvr>
                                          <p:cTn id="1006" dur="350"/>
                                          <p:tgtEl>
                                            <p:spTgt spid="6"/>
                                          </p:tgtEl>
                                        </p:cBhvr>
                                      </p:animEffect>
                                    </p:childTnLst>
                                  </p:cTn>
                                </p:par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1007" fill="hold">
                        <p:stCondLst>
                          <p:cond delay="indefinite"/>
                        </p:stCondLst>
                        <p:childTnLst>
                          <p:par>
                            <p:cTn id="1008" fill="hold">
                              <p:stCondLst>
                                <p:cond delay="0"/>
                              </p:stCondLst>
                              <p:childTnLst>
                                <p:par>
                                  <p:cTn id="1009" presetID="10" presetClass="entr" presetSubtype="0" fill="hold" grpId="0" nodeType="clickEffect">
                                    <p:stCondLst>
                                      <p:cond delay="0"/>
                                    </p:stCondLst>
                                    <p:childTnLst>
                                      <p:set>
                                        <p:cBhvr>
                                          <p:cTn id="1010" dur="1" fill="hold">
                                            <p:stCondLst>
                                              <p:cond delay="0"/>
                                            </p:stCondLst>
                                          </p:cTn>
                                          <p:tgtEl>
                                            <p:spTgt spid="7"/>
                                          </p:tgtEl>
                                          <p:attrNameLst>
                                            <p:attrName>style.visibility</p:attrName>
                                          </p:attrNameLst>
                                        </p:cBhvr>
                                        <p:to>
                                          <p:strVal val="visible"/>
                                        </p:to>
                                      </p:set>
                                      <p:animEffect transition="in" filter="fade">
                                        <p:cBhvr>
                                          <p:cTn id="1011" dur="350"/>
                                          <p:tgtEl>
                                            <p:spTgt spid="7"/>
                                          </p:tgtEl>
                                        </p:cBhvr>
                                      </p:animEffect>
                                    </p:childTnLst>
                                  </p:cTn>
                                </p:par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1012" fill="hold">
                        <p:stCondLst>
                          <p:cond delay="indefinite"/>
                        </p:stCondLst>
                        <p:childTnLst>
                          <p:par>
                            <p:cTn id="1013" fill="hold">
                              <p:stCondLst>
                                <p:cond delay="0"/>
                              </p:stCondLst>
                              <p:childTnLst>
                                <p:par>
                                  <p:cTn id="1014" presetID="10" presetClass="entr" presetSubtype="0" fill="hold" grpId="0" nodeType="clickEffect">
                                    <p:stCondLst>
                                      <p:cond delay="0"/>
                                    </p:stCondLst>
                                    <p:childTnLst>
                                      <p:set>
                                        <p:cBhvr>
                                          <p:cTn id="1015" dur="1" fill="hold">
                                            <p:stCondLst>
                                              <p:cond delay="0"/>
                                            </p:stCondLst>
                                          </p:cTn>
                                          <p:tgtEl>
                                            <p:spTgt spid="8"/>
                                          </p:tgtEl>
                                          <p:attrNameLst>
                                            <p:attrName>style.visibility</p:attrName>
                                          </p:attrNameLst>
                                        </p:cBhvr>
                                        <p:to>
                                          <p:strVal val="visible"/>
                                        </p:to>
                                      </p:set>
                                      <p:animEffect transition="in" filter="fade">
                                        <p:cBhvr>
                                          <p:cTn id="1016" dur="350"/>
                                          <p:tgtEl>
                                            <p:spTgt spid="8"/>
                                          </p:tgtEl>
                                        </p:cBhvr>
                                      </p:animEffect>
                                    </p:childTnLst>
                                  </p:cTn>
                                </p:par>
                              </p:childTnLst>
                            </p:cTn>
                          </p:par>
                        </p:childTnLst>
                      </p:cTn>
                    </p:par>
                  </p:childTnLst>
                </p:cTn>
                <p:prevCondLst>
                  <p:cond evt="onPrev" delay="0">
                    <p:tgtEl>
                      <p:sldTgt/>
                    </p:tgtEl>
                  </p:cond>
                </p:prevCondLst>
                <p:nextCondLst>
                  <p:cond evt="onNext" delay="0">
                    <p:tgtEl>
                      <p:sldTgt/>
                    </p:tgtEl>
                  </p:cond>
                </p:nextCondLst>
              </p:seq>
            </p:childTnLst>
          </p:cTn>
        </p:par>
      </p:tnLst>
    </p:timing>
    <p:extLst>
      <p:ext uri="{BB962C8B-B14F-4D97-AF65-F5344CB8AC3E}">
        <p14:creationId xmlns:p14="http://schemas.microsoft.com/office/powerpoint/2010/main" val="155539369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section-18">
            <a:extLst xmlns:a="http://schemas.openxmlformats.org/drawingml/2006/main">
              <a:ext uri="{FF2B5EF4-FFF2-40B4-BE49-F238E27FC236}">
                <a16:creationId xmlns:a16="http://schemas.microsoft.com/office/drawing/2014/main" id="{4A14DA45-0C96-4BC7-AE73-B4D06D302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47650"/>
            <a:ext cx="419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769E0"/>
                </a:solidFill>
              </a:defRPr>
            </a:pPr>
            <a:r>
              <a:rPr sz="1050" b="1">
                <a:solidFill>
                  <a:srgbClr val="1769E0"/>
                </a:solidFill>
              </a:rPr>
              <a:t>09 / TRỌNG TÂM MINH HỌA TOÁN 6</a:t>
            </a:r>
          </a:p>
        </p:txBody>
      </p:sp>
      <p:sp>
        <p:nvSpPr>
          <p:cNvPr id="2" name="title-18">
            <a:extLst xmlns:a="http://schemas.openxmlformats.org/drawingml/2006/main">
              <a:ext uri="{FF2B5EF4-FFF2-40B4-BE49-F238E27FC236}">
                <a16:creationId xmlns:a16="http://schemas.microsoft.com/office/drawing/2014/main" id="{3F779C35-74A8-47EA-9405-C21466C84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0550"/>
            <a:ext cx="11144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0131A"/>
                </a:solidFill>
              </a:defRPr>
            </a:pPr>
            <a:r>
              <a:rPr sz="2400" b="1">
                <a:solidFill>
                  <a:srgbClr val="10131A"/>
                </a:solidFill>
              </a:rPr>
              <a:t>Đánh giá bằng minh chứng: đúng Toán, đúng dữ liệu và đúng cách làm</a:t>
            </a:r>
          </a:p>
        </p:txBody>
      </p:sp>
      <p:sp>
        <p:nvSpPr>
          <p:cNvPr id="3" name="rule-18">
            <a:extLst xmlns:a="http://schemas.openxmlformats.org/drawingml/2006/main">
              <a:ext uri="{FF2B5EF4-FFF2-40B4-BE49-F238E27FC236}">
                <a16:creationId xmlns:a16="http://schemas.microsoft.com/office/drawing/2014/main" id="{5E25DAD4-4624-4E73-9187-6D143A0CF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04950"/>
            <a:ext cx="11391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4" name="page-18">
            <a:extLst xmlns:a="http://schemas.openxmlformats.org/drawingml/2006/main">
              <a:ext uri="{FF2B5EF4-FFF2-40B4-BE49-F238E27FC236}">
                <a16:creationId xmlns:a16="http://schemas.microsoft.com/office/drawing/2014/main" id="{50AE1466-EB6B-40D3-8C9F-41C2A3ACC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86500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E6673"/>
                </a:solidFill>
              </a:defRPr>
            </a:pPr>
            <a:r>
              <a:rPr sz="975" b="0">
                <a:solidFill>
                  <a:srgbClr val="5E6673"/>
                </a:solidFill>
              </a:rPr>
              <a:t>18</a:t>
            </a:r>
          </a:p>
        </p:txBody>
      </p:sp>
      <p:sp>
        <p:nvSpPr>
          <p:cNvPr id="5" name="anim-18-0">
            <a:extLst xmlns:a="http://schemas.openxmlformats.org/drawingml/2006/main">
              <a:ext uri="{FF2B5EF4-FFF2-40B4-BE49-F238E27FC236}">
                <a16:creationId xmlns:a16="http://schemas.microsoft.com/office/drawing/2014/main" id="{A690981E-8D4D-45B8-ADB5-03C686F55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95500"/>
            <a:ext cx="2667000" cy="3333750"/>
          </a:xfrm>
          <a:prstGeom xmlns:a="http://schemas.openxmlformats.org/drawingml/2006/main" prst="roundRect">
            <a:avLst>
              <a:gd name="adj" fmla="val 4286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1769E0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10131A"/>
                </a:solidFill>
              </a:defRPr>
            </a:pPr>
            <a:r>
              <a:rPr sz="1425" b="0">
                <a:solidFill>
                  <a:srgbClr val="10131A"/>
                </a:solidFill>
              </a:rPr>
              <a:t>1</a:t>
            </a:r>
          </a:p>
          <a:p xmlns:a="http://schemas.openxmlformats.org/drawingml/2006/main">
            <a:pPr algn="ctr">
              <a:defRPr sz="1425" b="0">
                <a:solidFill>
                  <a:srgbClr val="10131A"/>
                </a:solidFill>
              </a:defRPr>
            </a:pPr>
            <a:r>
              <a:rPr sz="1425" b="0">
                <a:solidFill>
                  <a:srgbClr val="10131A"/>
                </a:solidFill>
              </a:rPr>
              <a:t>ĐÚNG TOÁN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defRPr sz="1425" b="0">
                <a:solidFill>
                  <a:srgbClr val="10131A"/>
                </a:solidFill>
              </a:defRPr>
            </a:pPr>
            <a:r>
              <a:rPr sz="1425" b="0">
                <a:solidFill>
                  <a:srgbClr val="10131A"/>
                </a:solidFill>
              </a:rPr>
              <a:t>Biểu diễn, so sánh, sắp xếp và giải thích số nguyên đúng.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defRPr sz="1425" b="0">
                <a:solidFill>
                  <a:srgbClr val="10131A"/>
                </a:solidFill>
              </a:defRPr>
            </a:pPr>
            <a:r>
              <a:rPr sz="1425" b="0">
                <a:solidFill>
                  <a:srgbClr val="10131A"/>
                </a:solidFill>
              </a:rPr>
              <a:t>0: cần hỗ trợ</a:t>
            </a:r>
          </a:p>
          <a:p xmlns:a="http://schemas.openxmlformats.org/drawingml/2006/main">
            <a:pPr algn="ctr">
              <a:defRPr sz="1425" b="0">
                <a:solidFill>
                  <a:srgbClr val="10131A"/>
                </a:solidFill>
              </a:defRPr>
            </a:pPr>
            <a:r>
              <a:rPr sz="1425" b="0">
                <a:solidFill>
                  <a:srgbClr val="10131A"/>
                </a:solidFill>
              </a:rPr>
              <a:t>1: đạt một phần</a:t>
            </a:r>
          </a:p>
          <a:p xmlns:a="http://schemas.openxmlformats.org/drawingml/2006/main">
            <a:pPr algn="ctr">
              <a:defRPr sz="1425" b="0">
                <a:solidFill>
                  <a:srgbClr val="10131A"/>
                </a:solidFill>
              </a:defRPr>
            </a:pPr>
            <a:r>
              <a:rPr sz="1425" b="0">
                <a:solidFill>
                  <a:srgbClr val="10131A"/>
                </a:solidFill>
              </a:rPr>
              <a:t>2: đạt rõ</a:t>
            </a:r>
          </a:p>
        </p:txBody>
      </p:sp>
      <p:sp>
        <p:nvSpPr>
          <p:cNvPr id="6" name="anim-18-1">
            <a:extLst xmlns:a="http://schemas.openxmlformats.org/drawingml/2006/main">
              <a:ext uri="{FF2B5EF4-FFF2-40B4-BE49-F238E27FC236}">
                <a16:creationId xmlns:a16="http://schemas.microsoft.com/office/drawing/2014/main" id="{ED130D95-8F09-4744-9BDC-28591A2C1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62325" y="2095500"/>
            <a:ext cx="2667000" cy="3333750"/>
          </a:xfrm>
          <a:prstGeom xmlns:a="http://schemas.openxmlformats.org/drawingml/2006/main" prst="roundRect">
            <a:avLst>
              <a:gd name="adj" fmla="val 4286"/>
            </a:avLst>
          </a:prstGeom>
          <a:solidFill xmlns:a="http://schemas.openxmlformats.org/drawingml/2006/main">
            <a:srgbClr val="F0F2F5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10131A"/>
                </a:solidFill>
              </a:defRPr>
            </a:pPr>
            <a:r>
              <a:rPr sz="1425" b="0">
                <a:solidFill>
                  <a:srgbClr val="10131A"/>
                </a:solidFill>
              </a:rPr>
              <a:t>2</a:t>
            </a:r>
          </a:p>
          <a:p xmlns:a="http://schemas.openxmlformats.org/drawingml/2006/main">
            <a:pPr algn="ctr">
              <a:defRPr sz="1425" b="0">
                <a:solidFill>
                  <a:srgbClr val="10131A"/>
                </a:solidFill>
              </a:defRPr>
            </a:pPr>
            <a:r>
              <a:rPr sz="1425" b="0">
                <a:solidFill>
                  <a:srgbClr val="10131A"/>
                </a:solidFill>
              </a:rPr>
              <a:t>ĐÚNG DỮ LIỆU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defRPr sz="1425" b="0">
                <a:solidFill>
                  <a:srgbClr val="10131A"/>
                </a:solidFill>
              </a:defRPr>
            </a:pPr>
            <a:r>
              <a:rPr sz="1425" b="0">
                <a:solidFill>
                  <a:srgbClr val="10131A"/>
                </a:solidFill>
              </a:rPr>
              <a:t>Ghi nguồn, đơn vị, thời điểm; phát hiện dữ liệu thiếu/ngược dấu.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defRPr sz="1425" b="0">
                <a:solidFill>
                  <a:srgbClr val="10131A"/>
                </a:solidFill>
              </a:defRPr>
            </a:pPr>
            <a:r>
              <a:rPr sz="1425" b="0">
                <a:solidFill>
                  <a:srgbClr val="10131A"/>
                </a:solidFill>
              </a:rPr>
              <a:t>0: cần hỗ trợ</a:t>
            </a:r>
          </a:p>
          <a:p xmlns:a="http://schemas.openxmlformats.org/drawingml/2006/main">
            <a:pPr algn="ctr">
              <a:defRPr sz="1425" b="0">
                <a:solidFill>
                  <a:srgbClr val="10131A"/>
                </a:solidFill>
              </a:defRPr>
            </a:pPr>
            <a:r>
              <a:rPr sz="1425" b="0">
                <a:solidFill>
                  <a:srgbClr val="10131A"/>
                </a:solidFill>
              </a:rPr>
              <a:t>1: đạt một phần</a:t>
            </a:r>
          </a:p>
          <a:p xmlns:a="http://schemas.openxmlformats.org/drawingml/2006/main">
            <a:pPr algn="ctr">
              <a:defRPr sz="1425" b="0">
                <a:solidFill>
                  <a:srgbClr val="10131A"/>
                </a:solidFill>
              </a:defRPr>
            </a:pPr>
            <a:r>
              <a:rPr sz="1425" b="0">
                <a:solidFill>
                  <a:srgbClr val="10131A"/>
                </a:solidFill>
              </a:rPr>
              <a:t>2: đạt rõ</a:t>
            </a:r>
          </a:p>
        </p:txBody>
      </p:sp>
      <p:sp>
        <p:nvSpPr>
          <p:cNvPr id="7" name="anim-18-2">
            <a:extLst xmlns:a="http://schemas.openxmlformats.org/drawingml/2006/main">
              <a:ext uri="{FF2B5EF4-FFF2-40B4-BE49-F238E27FC236}">
                <a16:creationId xmlns:a16="http://schemas.microsoft.com/office/drawing/2014/main" id="{D1A21FCC-6BAE-4FCA-84EF-BF345CF95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095500"/>
            <a:ext cx="2667000" cy="3333750"/>
          </a:xfrm>
          <a:prstGeom xmlns:a="http://schemas.openxmlformats.org/drawingml/2006/main" prst="roundRect">
            <a:avLst>
              <a:gd name="adj" fmla="val 4286"/>
            </a:avLst>
          </a:prstGeom>
          <a:solidFill xmlns:a="http://schemas.openxmlformats.org/drawingml/2006/main">
            <a:srgbClr val="F0F2F5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10131A"/>
                </a:solidFill>
              </a:defRPr>
            </a:pPr>
            <a:r>
              <a:rPr sz="1425" b="0">
                <a:solidFill>
                  <a:srgbClr val="10131A"/>
                </a:solidFill>
              </a:rPr>
              <a:t>3</a:t>
            </a:r>
          </a:p>
          <a:p xmlns:a="http://schemas.openxmlformats.org/drawingml/2006/main">
            <a:pPr algn="ctr">
              <a:defRPr sz="1425" b="0">
                <a:solidFill>
                  <a:srgbClr val="10131A"/>
                </a:solidFill>
              </a:defRPr>
            </a:pPr>
            <a:r>
              <a:rPr sz="1425" b="0">
                <a:solidFill>
                  <a:srgbClr val="10131A"/>
                </a:solidFill>
              </a:rPr>
              <a:t>ĐÚNG QUY TRÌNH SỐ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defRPr sz="1425" b="0">
                <a:solidFill>
                  <a:srgbClr val="10131A"/>
                </a:solidFill>
              </a:defRPr>
            </a:pPr>
            <a:r>
              <a:rPr sz="1425" b="0">
                <a:solidFill>
                  <a:srgbClr val="10131A"/>
                </a:solidFill>
              </a:rPr>
              <a:t>Dùng công cụ phù hợp, lưu tệp khoa học, chia sẻ đúng nhóm.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defRPr sz="1425" b="0">
                <a:solidFill>
                  <a:srgbClr val="10131A"/>
                </a:solidFill>
              </a:defRPr>
            </a:pPr>
            <a:r>
              <a:rPr sz="1425" b="0">
                <a:solidFill>
                  <a:srgbClr val="10131A"/>
                </a:solidFill>
              </a:rPr>
              <a:t>0: cần hỗ trợ</a:t>
            </a:r>
          </a:p>
          <a:p xmlns:a="http://schemas.openxmlformats.org/drawingml/2006/main">
            <a:pPr algn="ctr">
              <a:defRPr sz="1425" b="0">
                <a:solidFill>
                  <a:srgbClr val="10131A"/>
                </a:solidFill>
              </a:defRPr>
            </a:pPr>
            <a:r>
              <a:rPr sz="1425" b="0">
                <a:solidFill>
                  <a:srgbClr val="10131A"/>
                </a:solidFill>
              </a:rPr>
              <a:t>1: đạt một phần</a:t>
            </a:r>
          </a:p>
          <a:p xmlns:a="http://schemas.openxmlformats.org/drawingml/2006/main">
            <a:pPr algn="ctr">
              <a:defRPr sz="1425" b="0">
                <a:solidFill>
                  <a:srgbClr val="10131A"/>
                </a:solidFill>
              </a:defRPr>
            </a:pPr>
            <a:r>
              <a:rPr sz="1425" b="0">
                <a:solidFill>
                  <a:srgbClr val="10131A"/>
                </a:solidFill>
              </a:rPr>
              <a:t>2: đạt rõ</a:t>
            </a:r>
          </a:p>
        </p:txBody>
      </p:sp>
      <p:sp>
        <p:nvSpPr>
          <p:cNvPr id="8" name="anim-18-3">
            <a:extLst xmlns:a="http://schemas.openxmlformats.org/drawingml/2006/main">
              <a:ext uri="{FF2B5EF4-FFF2-40B4-BE49-F238E27FC236}">
                <a16:creationId xmlns:a16="http://schemas.microsoft.com/office/drawing/2014/main" id="{D0572DC5-B8A1-4FA3-967E-C3EF98828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2575" y="2095500"/>
            <a:ext cx="2667000" cy="3333750"/>
          </a:xfrm>
          <a:prstGeom xmlns:a="http://schemas.openxmlformats.org/drawingml/2006/main" prst="roundRect">
            <a:avLst>
              <a:gd name="adj" fmla="val 4286"/>
            </a:avLst>
          </a:prstGeom>
          <a:solidFill xmlns:a="http://schemas.openxmlformats.org/drawingml/2006/main">
            <a:srgbClr val="F0F2F5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10131A"/>
                </a:solidFill>
              </a:defRPr>
            </a:pPr>
            <a:r>
              <a:rPr sz="1425" b="0">
                <a:solidFill>
                  <a:srgbClr val="10131A"/>
                </a:solidFill>
              </a:rPr>
              <a:t>4</a:t>
            </a:r>
          </a:p>
          <a:p xmlns:a="http://schemas.openxmlformats.org/drawingml/2006/main">
            <a:pPr algn="ctr">
              <a:defRPr sz="1425" b="0">
                <a:solidFill>
                  <a:srgbClr val="10131A"/>
                </a:solidFill>
              </a:defRPr>
            </a:pPr>
            <a:r>
              <a:rPr sz="1425" b="0">
                <a:solidFill>
                  <a:srgbClr val="10131A"/>
                </a:solidFill>
              </a:rPr>
              <a:t>TRUNG THỰC - AN TOÀN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defRPr sz="1425" b="0">
                <a:solidFill>
                  <a:srgbClr val="10131A"/>
                </a:solidFill>
              </a:defRPr>
            </a:pPr>
            <a:r>
              <a:rPr sz="1425" b="0">
                <a:solidFill>
                  <a:srgbClr val="10131A"/>
                </a:solidFill>
              </a:rPr>
              <a:t>Khai báo nguồn/công cụ; không đưa dữ liệu cá nhân không cần thiết.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defRPr sz="1425" b="0">
                <a:solidFill>
                  <a:srgbClr val="10131A"/>
                </a:solidFill>
              </a:defRPr>
            </a:pPr>
            <a:r>
              <a:rPr sz="1425" b="0">
                <a:solidFill>
                  <a:srgbClr val="10131A"/>
                </a:solidFill>
              </a:rPr>
              <a:t>0: cần hỗ trợ</a:t>
            </a:r>
          </a:p>
          <a:p xmlns:a="http://schemas.openxmlformats.org/drawingml/2006/main">
            <a:pPr algn="ctr">
              <a:defRPr sz="1425" b="0">
                <a:solidFill>
                  <a:srgbClr val="10131A"/>
                </a:solidFill>
              </a:defRPr>
            </a:pPr>
            <a:r>
              <a:rPr sz="1425" b="0">
                <a:solidFill>
                  <a:srgbClr val="10131A"/>
                </a:solidFill>
              </a:rPr>
              <a:t>1: đạt một phần</a:t>
            </a:r>
          </a:p>
          <a:p xmlns:a="http://schemas.openxmlformats.org/drawingml/2006/main">
            <a:pPr algn="ctr">
              <a:defRPr sz="1425" b="0">
                <a:solidFill>
                  <a:srgbClr val="10131A"/>
                </a:solidFill>
              </a:defRPr>
            </a:pPr>
            <a:r>
              <a:rPr sz="1425" b="0">
                <a:solidFill>
                  <a:srgbClr val="10131A"/>
                </a:solidFill>
              </a:rPr>
              <a:t>2: đạt rõ</a:t>
            </a:r>
          </a:p>
        </p:txBody>
      </p:sp>
      <p:sp>
        <p:nvSpPr>
          <p:cNvPr id="9" name="anim-18-close">
            <a:extLst xmlns:a="http://schemas.openxmlformats.org/drawingml/2006/main">
              <a:ext uri="{FF2B5EF4-FFF2-40B4-BE49-F238E27FC236}">
                <a16:creationId xmlns:a16="http://schemas.microsoft.com/office/drawing/2014/main" id="{C67658EF-6125-4573-86E4-F7D7FFAF6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715000"/>
            <a:ext cx="990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B2B5B"/>
                </a:solidFill>
              </a:defRPr>
            </a:pPr>
            <a:r>
              <a:rPr sz="1800" b="1">
                <a:solidFill>
                  <a:srgbClr val="0B2B5B"/>
                </a:solidFill>
              </a:rPr>
              <a:t>Giáo viên dùng rubric để nhận xét trong quá trình học; không biến thành đầu điểm công nghệ riêng.</a:t>
            </a:r>
          </a:p>
        </p:txBody>
      </p:sp>
    </p:spTree>
    <p:transition spd="fast">
      <p:fade/>
    </p:transition>
    <p:timing>
      <p:tnLst>
        <p:par>
          <p:cTn id="1000" dur="indefinite" restart="never" nodeType="tmRoot">
            <p:childTnLst>
              <p:seq concurrent="1" nextAc="seek">
                <p:cTn id="1001" dur="indefinite" nodeType="mainSeq">
                  <p:childTnLst>
                    <p:par>
                      <p:cTn id="1002" fill="hold">
                        <p:stCondLst>
                          <p:cond delay="indefinite"/>
                        </p:stCondLst>
                        <p:childTnLst>
                          <p:par>
                            <p:cTn id="1003" fill="hold">
                              <p:stCondLst>
                                <p:cond delay="0"/>
                              </p:stCondLst>
                              <p:childTnLst>
                                <p:par>
                                  <p:cTn id="1004" presetID="10" presetClass="entr" presetSubtype="0" fill="hold" grpId="0" nodeType="clickEffect">
                                    <p:stCondLst>
                                      <p:cond delay="0"/>
                                    </p:stCondLst>
                                    <p:childTnLst>
                                      <p:set>
                                        <p:cBhvr>
                                          <p:cTn id="1005" dur="1" fill="hold">
                                            <p:stCondLst>
                                              <p:cond delay="0"/>
                                            </p:stCondLst>
                                          </p:cTn>
                                          <p:tgtEl>
                                            <p:spTgt spid="5"/>
                                          </p:tgtEl>
                                          <p:attrNameLst>
                                            <p:attrName>style.visibility</p:attrName>
                                          </p:attrNameLst>
                                        </p:cBhvr>
                                        <p:to>
                                          <p:strVal val="visible"/>
                                        </p:to>
                                      </p:set>
                                      <p:animEffect transition="in" filter="fade">
                                        <p:cBhvr>
                                          <p:cTn id="1006" dur="350"/>
                                          <p:tgtEl>
                                            <p:spTgt spid="5"/>
                                          </p:tgtEl>
                                        </p:cBhvr>
                                      </p:animEffect>
                                    </p:childTnLst>
                                  </p:cTn>
                                </p:par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1007" fill="hold">
                        <p:stCondLst>
                          <p:cond delay="indefinite"/>
                        </p:stCondLst>
                        <p:childTnLst>
                          <p:par>
                            <p:cTn id="1008" fill="hold">
                              <p:stCondLst>
                                <p:cond delay="0"/>
                              </p:stCondLst>
                              <p:childTnLst>
                                <p:par>
                                  <p:cTn id="1009" presetID="10" presetClass="entr" presetSubtype="0" fill="hold" grpId="0" nodeType="clickEffect">
                                    <p:stCondLst>
                                      <p:cond delay="0"/>
                                    </p:stCondLst>
                                    <p:childTnLst>
                                      <p:set>
                                        <p:cBhvr>
                                          <p:cTn id="1010" dur="1" fill="hold">
                                            <p:stCondLst>
                                              <p:cond delay="0"/>
                                            </p:stCondLst>
                                          </p:cTn>
                                          <p:tgtEl>
                                            <p:spTgt spid="6"/>
                                          </p:tgtEl>
                                          <p:attrNameLst>
                                            <p:attrName>style.visibility</p:attrName>
                                          </p:attrNameLst>
                                        </p:cBhvr>
                                        <p:to>
                                          <p:strVal val="visible"/>
                                        </p:to>
                                      </p:set>
                                      <p:animEffect transition="in" filter="fade">
                                        <p:cBhvr>
                                          <p:cTn id="1011" dur="350"/>
                                          <p:tgtEl>
                                            <p:spTgt spid="6"/>
                                          </p:tgtEl>
                                        </p:cBhvr>
                                      </p:animEffect>
                                    </p:childTnLst>
                                  </p:cTn>
                                </p:par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1012" fill="hold">
                        <p:stCondLst>
                          <p:cond delay="indefinite"/>
                        </p:stCondLst>
                        <p:childTnLst>
                          <p:par>
                            <p:cTn id="1013" fill="hold">
                              <p:stCondLst>
                                <p:cond delay="0"/>
                              </p:stCondLst>
                              <p:childTnLst>
                                <p:par>
                                  <p:cTn id="1014" presetID="10" presetClass="entr" presetSubtype="0" fill="hold" grpId="0" nodeType="clickEffect">
                                    <p:stCondLst>
                                      <p:cond delay="0"/>
                                    </p:stCondLst>
                                    <p:childTnLst>
                                      <p:set>
                                        <p:cBhvr>
                                          <p:cTn id="1015" dur="1" fill="hold">
                                            <p:stCondLst>
                                              <p:cond delay="0"/>
                                            </p:stCondLst>
                                          </p:cTn>
                                          <p:tgtEl>
                                            <p:spTgt spid="7"/>
                                          </p:tgtEl>
                                          <p:attrNameLst>
                                            <p:attrName>style.visibility</p:attrName>
                                          </p:attrNameLst>
                                        </p:cBhvr>
                                        <p:to>
                                          <p:strVal val="visible"/>
                                        </p:to>
                                      </p:set>
                                      <p:animEffect transition="in" filter="fade">
                                        <p:cBhvr>
                                          <p:cTn id="1016" dur="350"/>
                                          <p:tgtEl>
                                            <p:spTgt spid="7"/>
                                          </p:tgtEl>
                                        </p:cBhvr>
                                      </p:animEffect>
                                    </p:childTnLst>
                                  </p:cTn>
                                </p:par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1017" fill="hold">
                        <p:stCondLst>
                          <p:cond delay="indefinite"/>
                        </p:stCondLst>
                        <p:childTnLst>
                          <p:par>
                            <p:cTn id="1018" fill="hold">
                              <p:stCondLst>
                                <p:cond delay="0"/>
                              </p:stCondLst>
                              <p:childTnLst>
                                <p:par>
                                  <p:cTn id="1019" presetID="10" presetClass="entr" presetSubtype="0" fill="hold" grpId="0" nodeType="clickEffect">
                                    <p:stCondLst>
                                      <p:cond delay="0"/>
                                    </p:stCondLst>
                                    <p:childTnLst>
                                      <p:set>
                                        <p:cBhvr>
                                          <p:cTn id="1020" dur="1" fill="hold">
                                            <p:stCondLst>
                                              <p:cond delay="0"/>
                                            </p:stCondLst>
                                          </p:cTn>
                                          <p:tgtEl>
                                            <p:spTgt spid="8"/>
                                          </p:tgtEl>
                                          <p:attrNameLst>
                                            <p:attrName>style.visibility</p:attrName>
                                          </p:attrNameLst>
                                        </p:cBhvr>
                                        <p:to>
                                          <p:strVal val="visible"/>
                                        </p:to>
                                      </p:set>
                                      <p:animEffect transition="in" filter="fade">
                                        <p:cBhvr>
                                          <p:cTn id="1021" dur="350"/>
                                          <p:tgtEl>
                                            <p:spTgt spid="8"/>
                                          </p:tgtEl>
                                        </p:cBhvr>
                                      </p:animEffect>
                                    </p:childTnLst>
                                  </p:cTn>
                                </p:par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1022" fill="hold">
                        <p:stCondLst>
                          <p:cond delay="indefinite"/>
                        </p:stCondLst>
                        <p:childTnLst>
                          <p:par>
                            <p:cTn id="1023" fill="hold">
                              <p:stCondLst>
                                <p:cond delay="0"/>
                              </p:stCondLst>
                              <p:childTnLst>
                                <p:par>
                                  <p:cTn id="1024" presetID="10" presetClass="entr" presetSubtype="0" fill="hold" grpId="0" nodeType="clickEffect">
                                    <p:stCondLst>
                                      <p:cond delay="0"/>
                                    </p:stCondLst>
                                    <p:childTnLst>
                                      <p:set>
                                        <p:cBhvr>
                                          <p:cTn id="1025" dur="1" fill="hold">
                                            <p:stCondLst>
                                              <p:cond delay="0"/>
                                            </p:stCondLst>
                                          </p:cTn>
                                          <p:tgtEl>
                                            <p:spTgt spid="9"/>
                                          </p:tgtEl>
                                          <p:attrNameLst>
                                            <p:attrName>style.visibility</p:attrName>
                                          </p:attrNameLst>
                                        </p:cBhvr>
                                        <p:to>
                                          <p:strVal val="visible"/>
                                        </p:to>
                                      </p:set>
                                      <p:animEffect transition="in" filter="fade">
                                        <p:cBhvr>
                                          <p:cTn id="1026" dur="350"/>
                                          <p:tgtEl>
                                            <p:spTgt spid="9"/>
                                          </p:tgtEl>
                                        </p:cBhvr>
                                      </p:animEffect>
                                    </p:childTnLst>
                                  </p:cTn>
                                </p:par>
                              </p:childTnLst>
                            </p:cTn>
                          </p:par>
                        </p:childTnLst>
                      </p:cTn>
                    </p:par>
                  </p:childTnLst>
                </p:cTn>
                <p:prevCondLst>
                  <p:cond evt="onPrev" delay="0">
                    <p:tgtEl>
                      <p:sldTgt/>
                    </p:tgtEl>
                  </p:cond>
                </p:prevCondLst>
                <p:nextCondLst>
                  <p:cond evt="onNext" delay="0">
                    <p:tgtEl>
                      <p:sldTgt/>
                    </p:tgtEl>
                  </p:cond>
                </p:nextCondLst>
              </p:seq>
            </p:childTnLst>
          </p:cTn>
        </p:par>
      </p:tnLst>
    </p:timing>
    <p:extLst>
      <p:ext uri="{BB962C8B-B14F-4D97-AF65-F5344CB8AC3E}">
        <p14:creationId xmlns:p14="http://schemas.microsoft.com/office/powerpoint/2010/main" val="630795879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section-19">
            <a:extLst xmlns:a="http://schemas.openxmlformats.org/drawingml/2006/main">
              <a:ext uri="{FF2B5EF4-FFF2-40B4-BE49-F238E27FC236}">
                <a16:creationId xmlns:a16="http://schemas.microsoft.com/office/drawing/2014/main" id="{BBB6FF89-46BC-4C85-BD70-EB8201FB6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47650"/>
            <a:ext cx="419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769E0"/>
                </a:solidFill>
              </a:defRPr>
            </a:pPr>
            <a:r>
              <a:rPr sz="1050" b="1">
                <a:solidFill>
                  <a:srgbClr val="1769E0"/>
                </a:solidFill>
              </a:rPr>
              <a:t>10 / VÍ DỤ LIÊN MÔN</a:t>
            </a:r>
          </a:p>
        </p:txBody>
      </p:sp>
      <p:sp>
        <p:nvSpPr>
          <p:cNvPr id="2" name="title-19">
            <a:extLst xmlns:a="http://schemas.openxmlformats.org/drawingml/2006/main">
              <a:ext uri="{FF2B5EF4-FFF2-40B4-BE49-F238E27FC236}">
                <a16:creationId xmlns:a16="http://schemas.microsoft.com/office/drawing/2014/main" id="{81A6BBC9-F370-408D-9910-66578CE9C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0550"/>
            <a:ext cx="11144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0131A"/>
                </a:solidFill>
              </a:defRPr>
            </a:pPr>
            <a:r>
              <a:rPr sz="2400" b="1">
                <a:solidFill>
                  <a:srgbClr val="10131A"/>
                </a:solidFill>
              </a:rPr>
              <a:t>Ngữ văn: học sinh tìm nguồn, đối chiếu và làm chủ tiếng nói của mình</a:t>
            </a:r>
          </a:p>
        </p:txBody>
      </p:sp>
      <p:sp>
        <p:nvSpPr>
          <p:cNvPr id="3" name="rule-19">
            <a:extLst xmlns:a="http://schemas.openxmlformats.org/drawingml/2006/main">
              <a:ext uri="{FF2B5EF4-FFF2-40B4-BE49-F238E27FC236}">
                <a16:creationId xmlns:a16="http://schemas.microsoft.com/office/drawing/2014/main" id="{4D4162D2-B6C2-44F0-B176-A33C34468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04950"/>
            <a:ext cx="11391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4" name="page-19">
            <a:extLst xmlns:a="http://schemas.openxmlformats.org/drawingml/2006/main">
              <a:ext uri="{FF2B5EF4-FFF2-40B4-BE49-F238E27FC236}">
                <a16:creationId xmlns:a16="http://schemas.microsoft.com/office/drawing/2014/main" id="{81012779-790C-44C2-83D0-E40904D6B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86500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E6673"/>
                </a:solidFill>
              </a:defRPr>
            </a:pPr>
            <a:r>
              <a:rPr sz="975" b="0">
                <a:solidFill>
                  <a:srgbClr val="5E6673"/>
                </a:solidFill>
              </a:rPr>
              <a:t>19</a:t>
            </a:r>
          </a:p>
        </p:txBody>
      </p:sp>
      <p:sp>
        <p:nvSpPr>
          <p:cNvPr id="5" name="anim-19-a">
            <a:extLst xmlns:a="http://schemas.openxmlformats.org/drawingml/2006/main">
              <a:ext uri="{FF2B5EF4-FFF2-40B4-BE49-F238E27FC236}">
                <a16:creationId xmlns:a16="http://schemas.microsoft.com/office/drawing/2014/main" id="{65EE421A-3F36-49EA-B5EF-E3FD34392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95500"/>
            <a:ext cx="5143500" cy="200025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0131A"/>
                </a:solidFill>
              </a:defRPr>
            </a:pPr>
            <a:r>
              <a:rPr sz="1725" b="0">
                <a:solidFill>
                  <a:srgbClr val="10131A"/>
                </a:solidFill>
              </a:rPr>
              <a:t>NHIỆM VỤ</a:t>
            </a:r>
          </a:p>
          <a:p xmlns:a="http://schemas.openxmlformats.org/drawingml/2006/main">
            <a:pPr algn="l">
              <a:defRPr sz="1725" b="0">
                <a:solidFill>
                  <a:srgbClr val="10131A"/>
                </a:solidFill>
              </a:defRPr>
            </a:pPr>
            <a:r>
              <a:rPr sz="1725" b="0">
                <a:solidFill>
                  <a:srgbClr val="10131A"/>
                </a:solidFill>
              </a:rPr>
              <a:t>Tìm 2-3 bài viết về một vấn đề gần gũi. Lập bảng so sánh: tác giả, thời điểm, mục đích, bằng chứng và ý kiến còn cần kiểm tra.</a:t>
            </a:r>
          </a:p>
        </p:txBody>
      </p:sp>
      <p:sp>
        <p:nvSpPr>
          <p:cNvPr id="6" name="anim-19-a-accent">
            <a:extLst xmlns:a="http://schemas.openxmlformats.org/drawingml/2006/main">
              <a:ext uri="{FF2B5EF4-FFF2-40B4-BE49-F238E27FC236}">
                <a16:creationId xmlns:a16="http://schemas.microsoft.com/office/drawing/2014/main" id="{3BFD1747-D1E6-4F6F-84AF-1F154469F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95500"/>
            <a:ext cx="7620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9E0"/>
          </a:solidFill>
          <a:ln xmlns:a="http://schemas.openxmlformats.org/drawingml/2006/main" w="0">
            <a:solidFill>
              <a:srgbClr val="1769E0"/>
            </a:solidFill>
            <a:prstDash val="solid"/>
          </a:ln>
        </p:spPr>
      </p:sp>
      <p:sp>
        <p:nvSpPr>
          <p:cNvPr id="7" name="anim-19-b">
            <a:extLst xmlns:a="http://schemas.openxmlformats.org/drawingml/2006/main">
              <a:ext uri="{FF2B5EF4-FFF2-40B4-BE49-F238E27FC236}">
                <a16:creationId xmlns:a16="http://schemas.microsoft.com/office/drawing/2014/main" id="{A9FF3A83-F62C-4F56-B30A-632B09C94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2095500"/>
            <a:ext cx="5143500" cy="200025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0F2F5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0131A"/>
                </a:solidFill>
              </a:defRPr>
            </a:pPr>
            <a:r>
              <a:rPr sz="1725" b="0">
                <a:solidFill>
                  <a:srgbClr val="10131A"/>
                </a:solidFill>
              </a:rPr>
              <a:t>SẢN PHẨM</a:t>
            </a:r>
          </a:p>
          <a:p xmlns:a="http://schemas.openxmlformats.org/drawingml/2006/main">
            <a:pPr algn="l">
              <a:defRPr sz="1725" b="0">
                <a:solidFill>
                  <a:srgbClr val="10131A"/>
                </a:solidFill>
              </a:defRPr>
            </a:pPr>
            <a:r>
              <a:rPr sz="1725" b="0">
                <a:solidFill>
                  <a:srgbClr val="10131A"/>
                </a:solidFill>
              </a:rPr>
              <a:t>Bản tóm tắt 150 từ do học sinh tự viết; cuối bài ghi nguồn đã dùng và một chi tiết đã loại vì chưa kiểm chứng.</a:t>
            </a:r>
          </a:p>
        </p:txBody>
      </p:sp>
      <p:sp>
        <p:nvSpPr>
          <p:cNvPr id="8" name="anim-19-b-accent">
            <a:extLst xmlns:a="http://schemas.openxmlformats.org/drawingml/2006/main">
              <a:ext uri="{FF2B5EF4-FFF2-40B4-BE49-F238E27FC236}">
                <a16:creationId xmlns:a16="http://schemas.microsoft.com/office/drawing/2014/main" id="{6D44948E-A690-4B90-BFB5-29AFF3A1C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2095500"/>
            <a:ext cx="7620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4C2F0"/>
          </a:solidFill>
          <a:ln xmlns:a="http://schemas.openxmlformats.org/drawingml/2006/main" w="0">
            <a:solidFill>
              <a:srgbClr val="44C2F0"/>
            </a:solidFill>
            <a:prstDash val="solid"/>
          </a:ln>
        </p:spPr>
      </p:sp>
      <p:sp>
        <p:nvSpPr>
          <p:cNvPr id="9" name="anim-19-close">
            <a:extLst xmlns:a="http://schemas.openxmlformats.org/drawingml/2006/main">
              <a:ext uri="{FF2B5EF4-FFF2-40B4-BE49-F238E27FC236}">
                <a16:creationId xmlns:a16="http://schemas.microsoft.com/office/drawing/2014/main" id="{6AA20B79-9805-4AE6-B175-B03910319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286375"/>
            <a:ext cx="9334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0B2B5B"/>
                </a:solidFill>
              </a:defRPr>
            </a:pPr>
            <a:r>
              <a:rPr sz="1875" b="1">
                <a:solidFill>
                  <a:srgbClr val="0B2B5B"/>
                </a:solidFill>
              </a:rPr>
              <a:t>Năng lực số: tìm kiếm - đánh giá độ tin cậy - bản quyền/trích dẫn - tạo nội dung số có trách nhiệm.</a:t>
            </a:r>
          </a:p>
        </p:txBody>
      </p:sp>
    </p:spTree>
    <p:transition spd="fast">
      <p:fade/>
    </p:transition>
    <p:timing>
      <p:tnLst>
        <p:par>
          <p:cTn id="1000" dur="indefinite" restart="never" nodeType="tmRoot">
            <p:childTnLst>
              <p:seq concurrent="1" nextAc="seek">
                <p:cTn id="1001" dur="indefinite" nodeType="mainSeq">
                  <p:childTnLst>
                    <p:par>
                      <p:cTn id="1002" fill="hold">
                        <p:stCondLst>
                          <p:cond delay="indefinite"/>
                        </p:stCondLst>
                        <p:childTnLst>
                          <p:par>
                            <p:cTn id="1003" fill="hold">
                              <p:stCondLst>
                                <p:cond delay="0"/>
                              </p:stCondLst>
                              <p:childTnLst>
                                <p:par>
                                  <p:cTn id="1004" presetID="10" presetClass="entr" presetSubtype="0" fill="hold" grpId="0" nodeType="clickEffect">
                                    <p:stCondLst>
                                      <p:cond delay="0"/>
                                    </p:stCondLst>
                                    <p:childTnLst>
                                      <p:set>
                                        <p:cBhvr>
                                          <p:cTn id="1005" dur="1" fill="hold">
                                            <p:stCondLst>
                                              <p:cond delay="0"/>
                                            </p:stCondLst>
                                          </p:cTn>
                                          <p:tgtEl>
                                            <p:spTgt spid="5"/>
                                          </p:tgtEl>
                                          <p:attrNameLst>
                                            <p:attrName>style.visibility</p:attrName>
                                          </p:attrNameLst>
                                        </p:cBhvr>
                                        <p:to>
                                          <p:strVal val="visible"/>
                                        </p:to>
                                      </p:set>
                                      <p:animEffect transition="in" filter="fade">
                                        <p:cBhvr>
                                          <p:cTn id="1006" dur="350"/>
                                          <p:tgtEl>
                                            <p:spTgt spid="5"/>
                                          </p:tgtEl>
                                        </p:cBhvr>
                                      </p:animEffect>
                                    </p:childTnLst>
                                  </p:cTn>
                                </p:par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1007" fill="hold">
                        <p:stCondLst>
                          <p:cond delay="indefinite"/>
                        </p:stCondLst>
                        <p:childTnLst>
                          <p:par>
                            <p:cTn id="1008" fill="hold">
                              <p:stCondLst>
                                <p:cond delay="0"/>
                              </p:stCondLst>
                              <p:childTnLst>
                                <p:par>
                                  <p:cTn id="1009" presetID="10" presetClass="entr" presetSubtype="0" fill="hold" grpId="0" nodeType="clickEffect">
                                    <p:stCondLst>
                                      <p:cond delay="0"/>
                                    </p:stCondLst>
                                    <p:childTnLst>
                                      <p:set>
                                        <p:cBhvr>
                                          <p:cTn id="1010" dur="1" fill="hold">
                                            <p:stCondLst>
                                              <p:cond delay="0"/>
                                            </p:stCondLst>
                                          </p:cTn>
                                          <p:tgtEl>
                                            <p:spTgt spid="7"/>
                                          </p:tgtEl>
                                          <p:attrNameLst>
                                            <p:attrName>style.visibility</p:attrName>
                                          </p:attrNameLst>
                                        </p:cBhvr>
                                        <p:to>
                                          <p:strVal val="visible"/>
                                        </p:to>
                                      </p:set>
                                      <p:animEffect transition="in" filter="fade">
                                        <p:cBhvr>
                                          <p:cTn id="1011" dur="350"/>
                                          <p:tgtEl>
                                            <p:spTgt spid="7"/>
                                          </p:tgtEl>
                                        </p:cBhvr>
                                      </p:animEffect>
                                    </p:childTnLst>
                                  </p:cTn>
                                </p:par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1012" fill="hold">
                        <p:stCondLst>
                          <p:cond delay="indefinite"/>
                        </p:stCondLst>
                        <p:childTnLst>
                          <p:par>
                            <p:cTn id="1013" fill="hold">
                              <p:stCondLst>
                                <p:cond delay="0"/>
                              </p:stCondLst>
                              <p:childTnLst>
                                <p:par>
                                  <p:cTn id="1014" presetID="10" presetClass="entr" presetSubtype="0" fill="hold" grpId="0" nodeType="clickEffect">
                                    <p:stCondLst>
                                      <p:cond delay="0"/>
                                    </p:stCondLst>
                                    <p:childTnLst>
                                      <p:set>
                                        <p:cBhvr>
                                          <p:cTn id="1015" dur="1" fill="hold">
                                            <p:stCondLst>
                                              <p:cond delay="0"/>
                                            </p:stCondLst>
                                          </p:cTn>
                                          <p:tgtEl>
                                            <p:spTgt spid="9"/>
                                          </p:tgtEl>
                                          <p:attrNameLst>
                                            <p:attrName>style.visibility</p:attrName>
                                          </p:attrNameLst>
                                        </p:cBhvr>
                                        <p:to>
                                          <p:strVal val="visible"/>
                                        </p:to>
                                      </p:set>
                                      <p:animEffect transition="in" filter="fade">
                                        <p:cBhvr>
                                          <p:cTn id="1016" dur="350"/>
                                          <p:tgtEl>
                                            <p:spTgt spid="9"/>
                                          </p:tgtEl>
                                        </p:cBhvr>
                                      </p:animEffect>
                                    </p:childTnLst>
                                  </p:cTn>
                                </p:par>
                              </p:childTnLst>
                            </p:cTn>
                          </p:par>
                        </p:childTnLst>
                      </p:cTn>
                    </p:par>
                  </p:childTnLst>
                </p:cTn>
                <p:prevCondLst>
                  <p:cond evt="onPrev" delay="0">
                    <p:tgtEl>
                      <p:sldTgt/>
                    </p:tgtEl>
                  </p:cond>
                </p:prevCondLst>
                <p:nextCondLst>
                  <p:cond evt="onNext" delay="0">
                    <p:tgtEl>
                      <p:sldTgt/>
                    </p:tgtEl>
                  </p:cond>
                </p:nextCondLst>
              </p:seq>
            </p:childTnLst>
          </p:cTn>
        </p:par>
      </p:tnLst>
    </p:timing>
    <p:extLst>
      <p:ext uri="{BB962C8B-B14F-4D97-AF65-F5344CB8AC3E}">
        <p14:creationId xmlns:p14="http://schemas.microsoft.com/office/powerpoint/2010/main" val="438196077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section-20">
            <a:extLst xmlns:a="http://schemas.openxmlformats.org/drawingml/2006/main">
              <a:ext uri="{FF2B5EF4-FFF2-40B4-BE49-F238E27FC236}">
                <a16:creationId xmlns:a16="http://schemas.microsoft.com/office/drawing/2014/main" id="{D31F8318-00FA-457C-8B9B-6C2CC9C35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47650"/>
            <a:ext cx="419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769E0"/>
                </a:solidFill>
              </a:defRPr>
            </a:pPr>
            <a:r>
              <a:rPr sz="1050" b="1">
                <a:solidFill>
                  <a:srgbClr val="1769E0"/>
                </a:solidFill>
              </a:rPr>
              <a:t>10 / VÍ DỤ LIÊN MÔN</a:t>
            </a:r>
          </a:p>
        </p:txBody>
      </p:sp>
      <p:sp>
        <p:nvSpPr>
          <p:cNvPr id="2" name="title-20">
            <a:extLst xmlns:a="http://schemas.openxmlformats.org/drawingml/2006/main">
              <a:ext uri="{FF2B5EF4-FFF2-40B4-BE49-F238E27FC236}">
                <a16:creationId xmlns:a16="http://schemas.microsoft.com/office/drawing/2014/main" id="{7C588CDE-2466-478A-B7A7-B35BD4457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0550"/>
            <a:ext cx="11144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0131A"/>
                </a:solidFill>
              </a:defRPr>
            </a:pPr>
            <a:r>
              <a:rPr sz="2400" b="1">
                <a:solidFill>
                  <a:srgbClr val="10131A"/>
                </a:solidFill>
              </a:rPr>
              <a:t>Tiếng Anh và KHTN: số hóa phản hồi và dữ liệu để học sinh tự cải thiện</a:t>
            </a:r>
          </a:p>
        </p:txBody>
      </p:sp>
      <p:sp>
        <p:nvSpPr>
          <p:cNvPr id="3" name="rule-20">
            <a:extLst xmlns:a="http://schemas.openxmlformats.org/drawingml/2006/main">
              <a:ext uri="{FF2B5EF4-FFF2-40B4-BE49-F238E27FC236}">
                <a16:creationId xmlns:a16="http://schemas.microsoft.com/office/drawing/2014/main" id="{D6888F53-2A42-4A3D-A04B-2A219C7CD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04950"/>
            <a:ext cx="11391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4" name="page-20">
            <a:extLst xmlns:a="http://schemas.openxmlformats.org/drawingml/2006/main">
              <a:ext uri="{FF2B5EF4-FFF2-40B4-BE49-F238E27FC236}">
                <a16:creationId xmlns:a16="http://schemas.microsoft.com/office/drawing/2014/main" id="{BBF88D37-52AC-477D-A5A2-2773EAD75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86500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E6673"/>
                </a:solidFill>
              </a:defRPr>
            </a:pPr>
            <a:r>
              <a:rPr sz="975" b="0">
                <a:solidFill>
                  <a:srgbClr val="5E6673"/>
                </a:solidFill>
              </a:rPr>
              <a:t>20</a:t>
            </a:r>
          </a:p>
        </p:txBody>
      </p:sp>
      <p:sp>
        <p:nvSpPr>
          <p:cNvPr id="5" name="anim-20a">
            <a:extLst xmlns:a="http://schemas.openxmlformats.org/drawingml/2006/main">
              <a:ext uri="{FF2B5EF4-FFF2-40B4-BE49-F238E27FC236}">
                <a16:creationId xmlns:a16="http://schemas.microsoft.com/office/drawing/2014/main" id="{A0826718-68DF-4755-9A6D-529545828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095500"/>
            <a:ext cx="5048250" cy="1476375"/>
          </a:xfrm>
          <a:prstGeom xmlns:a="http://schemas.openxmlformats.org/drawingml/2006/main" prst="roundRect">
            <a:avLst>
              <a:gd name="adj" fmla="val 7742"/>
            </a:avLst>
          </a:prstGeom>
          <a:solidFill xmlns:a="http://schemas.openxmlformats.org/drawingml/2006/main">
            <a:srgbClr val="F0F2F5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131A"/>
                </a:solidFill>
              </a:defRPr>
            </a:pPr>
            <a:r>
              <a:rPr sz="1575" b="0">
                <a:solidFill>
                  <a:srgbClr val="10131A"/>
                </a:solidFill>
              </a:rPr>
              <a:t>TIẾNG ANH</a:t>
            </a:r>
          </a:p>
          <a:p xmlns:a="http://schemas.openxmlformats.org/drawingml/2006/main">
            <a:pPr algn="l">
              <a:defRPr sz="1575" b="0">
                <a:solidFill>
                  <a:srgbClr val="10131A"/>
                </a:solidFill>
              </a:defRPr>
            </a:pPr>
            <a:r>
              <a:rPr sz="1575" b="0">
                <a:solidFill>
                  <a:srgbClr val="10131A"/>
                </a:solidFill>
              </a:rPr>
              <a:t>Học sinh ghi âm hội thoại, nhận phản hồi theo tiêu chí phát âm/từ vựng, chọn phản hồi phù hợp và nộp bản 2 cùng phần tự nhận xét.</a:t>
            </a:r>
          </a:p>
        </p:txBody>
      </p:sp>
      <p:sp>
        <p:nvSpPr>
          <p:cNvPr id="6" name="anim-20a-accent">
            <a:extLst xmlns:a="http://schemas.openxmlformats.org/drawingml/2006/main">
              <a:ext uri="{FF2B5EF4-FFF2-40B4-BE49-F238E27FC236}">
                <a16:creationId xmlns:a16="http://schemas.microsoft.com/office/drawing/2014/main" id="{B3AD091D-075B-4126-813C-13514DA86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095500"/>
            <a:ext cx="76200" cy="1476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4C2F0"/>
          </a:solidFill>
          <a:ln xmlns:a="http://schemas.openxmlformats.org/drawingml/2006/main" w="0">
            <a:solidFill>
              <a:srgbClr val="44C2F0"/>
            </a:solidFill>
            <a:prstDash val="solid"/>
          </a:ln>
        </p:spPr>
      </p:sp>
      <p:sp>
        <p:nvSpPr>
          <p:cNvPr id="7" name="anim-20b">
            <a:extLst xmlns:a="http://schemas.openxmlformats.org/drawingml/2006/main">
              <a:ext uri="{FF2B5EF4-FFF2-40B4-BE49-F238E27FC236}">
                <a16:creationId xmlns:a16="http://schemas.microsoft.com/office/drawing/2014/main" id="{60BD488E-603E-4D25-8467-603CE0BF0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2095500"/>
            <a:ext cx="5048250" cy="1476375"/>
          </a:xfrm>
          <a:prstGeom xmlns:a="http://schemas.openxmlformats.org/drawingml/2006/main" prst="roundRect">
            <a:avLst>
              <a:gd name="adj" fmla="val 7742"/>
            </a:avLst>
          </a:prstGeom>
          <a:solidFill xmlns:a="http://schemas.openxmlformats.org/drawingml/2006/main">
            <a:srgbClr val="EAF7F0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131A"/>
                </a:solidFill>
              </a:defRPr>
            </a:pPr>
            <a:r>
              <a:rPr sz="1575" b="0">
                <a:solidFill>
                  <a:srgbClr val="10131A"/>
                </a:solidFill>
              </a:rPr>
              <a:t>KHTN</a:t>
            </a:r>
          </a:p>
          <a:p xmlns:a="http://schemas.openxmlformats.org/drawingml/2006/main">
            <a:pPr algn="l">
              <a:defRPr sz="1575" b="0">
                <a:solidFill>
                  <a:srgbClr val="10131A"/>
                </a:solidFill>
              </a:defRPr>
            </a:pPr>
            <a:r>
              <a:rPr sz="1575" b="0">
                <a:solidFill>
                  <a:srgbClr val="10131A"/>
                </a:solidFill>
              </a:rPr>
              <a:t>Nhập số liệu thí nghiệm vào bảng, tạo biểu đồ, kiểm tra điểm bất thường và kết luận có điều kiện từ dữ liệu gốc.</a:t>
            </a:r>
          </a:p>
        </p:txBody>
      </p:sp>
      <p:sp>
        <p:nvSpPr>
          <p:cNvPr id="8" name="anim-20b-accent">
            <a:extLst xmlns:a="http://schemas.openxmlformats.org/drawingml/2006/main">
              <a:ext uri="{FF2B5EF4-FFF2-40B4-BE49-F238E27FC236}">
                <a16:creationId xmlns:a16="http://schemas.microsoft.com/office/drawing/2014/main" id="{8D11B839-0ACD-4EE4-AFFE-1A5A47EE1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2095500"/>
            <a:ext cx="76200" cy="1476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8A5A"/>
          </a:solidFill>
          <a:ln xmlns:a="http://schemas.openxmlformats.org/drawingml/2006/main" w="0">
            <a:solidFill>
              <a:srgbClr val="1B8A5A"/>
            </a:solidFill>
            <a:prstDash val="solid"/>
          </a:ln>
        </p:spPr>
      </p:sp>
      <p:sp>
        <p:nvSpPr>
          <p:cNvPr id="9" name="anim-20-close">
            <a:extLst xmlns:a="http://schemas.openxmlformats.org/drawingml/2006/main">
              <a:ext uri="{FF2B5EF4-FFF2-40B4-BE49-F238E27FC236}">
                <a16:creationId xmlns:a16="http://schemas.microsoft.com/office/drawing/2014/main" id="{B1C4FFDC-4DBC-4E51-8586-EB94DDF8C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5334000"/>
            <a:ext cx="9620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0B2B5B"/>
                </a:solidFill>
              </a:defRPr>
            </a:pPr>
            <a:r>
              <a:rPr sz="1875" b="1">
                <a:solidFill>
                  <a:srgbClr val="0B2B5B"/>
                </a:solidFill>
              </a:rPr>
              <a:t>Yêu cầu chung: học sinh làm bản đầu trước; công cụ số phản hồi sau; học sinh giải thích phần đã sửa.</a:t>
            </a:r>
          </a:p>
        </p:txBody>
      </p:sp>
    </p:spTree>
    <p:transition spd="fast">
      <p:fade/>
    </p:transition>
    <p:timing>
      <p:tnLst>
        <p:par>
          <p:cTn id="1000" dur="indefinite" restart="never" nodeType="tmRoot">
            <p:childTnLst>
              <p:seq concurrent="1" nextAc="seek">
                <p:cTn id="1001" dur="indefinite" nodeType="mainSeq">
                  <p:childTnLst>
                    <p:par>
                      <p:cTn id="1002" fill="hold">
                        <p:stCondLst>
                          <p:cond delay="indefinite"/>
                        </p:stCondLst>
                        <p:childTnLst>
                          <p:par>
                            <p:cTn id="1003" fill="hold">
                              <p:stCondLst>
                                <p:cond delay="0"/>
                              </p:stCondLst>
                              <p:childTnLst>
                                <p:par>
                                  <p:cTn id="1004" presetID="10" presetClass="entr" presetSubtype="0" fill="hold" grpId="0" nodeType="clickEffect">
                                    <p:stCondLst>
                                      <p:cond delay="0"/>
                                    </p:stCondLst>
                                    <p:childTnLst>
                                      <p:set>
                                        <p:cBhvr>
                                          <p:cTn id="1005" dur="1" fill="hold">
                                            <p:stCondLst>
                                              <p:cond delay="0"/>
                                            </p:stCondLst>
                                          </p:cTn>
                                          <p:tgtEl>
                                            <p:spTgt spid="5"/>
                                          </p:tgtEl>
                                          <p:attrNameLst>
                                            <p:attrName>style.visibility</p:attrName>
                                          </p:attrNameLst>
                                        </p:cBhvr>
                                        <p:to>
                                          <p:strVal val="visible"/>
                                        </p:to>
                                      </p:set>
                                      <p:animEffect transition="in" filter="fade">
                                        <p:cBhvr>
                                          <p:cTn id="1006" dur="350"/>
                                          <p:tgtEl>
                                            <p:spTgt spid="5"/>
                                          </p:tgtEl>
                                        </p:cBhvr>
                                      </p:animEffect>
                                    </p:childTnLst>
                                  </p:cTn>
                                </p:par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1007" fill="hold">
                        <p:stCondLst>
                          <p:cond delay="indefinite"/>
                        </p:stCondLst>
                        <p:childTnLst>
                          <p:par>
                            <p:cTn id="1008" fill="hold">
                              <p:stCondLst>
                                <p:cond delay="0"/>
                              </p:stCondLst>
                              <p:childTnLst>
                                <p:par>
                                  <p:cTn id="1009" presetID="10" presetClass="entr" presetSubtype="0" fill="hold" grpId="0" nodeType="clickEffect">
                                    <p:stCondLst>
                                      <p:cond delay="0"/>
                                    </p:stCondLst>
                                    <p:childTnLst>
                                      <p:set>
                                        <p:cBhvr>
                                          <p:cTn id="1010" dur="1" fill="hold">
                                            <p:stCondLst>
                                              <p:cond delay="0"/>
                                            </p:stCondLst>
                                          </p:cTn>
                                          <p:tgtEl>
                                            <p:spTgt spid="7"/>
                                          </p:tgtEl>
                                          <p:attrNameLst>
                                            <p:attrName>style.visibility</p:attrName>
                                          </p:attrNameLst>
                                        </p:cBhvr>
                                        <p:to>
                                          <p:strVal val="visible"/>
                                        </p:to>
                                      </p:set>
                                      <p:animEffect transition="in" filter="fade">
                                        <p:cBhvr>
                                          <p:cTn id="1011" dur="350"/>
                                          <p:tgtEl>
                                            <p:spTgt spid="7"/>
                                          </p:tgtEl>
                                        </p:cBhvr>
                                      </p:animEffect>
                                    </p:childTnLst>
                                  </p:cTn>
                                </p:par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1012" fill="hold">
                        <p:stCondLst>
                          <p:cond delay="indefinite"/>
                        </p:stCondLst>
                        <p:childTnLst>
                          <p:par>
                            <p:cTn id="1013" fill="hold">
                              <p:stCondLst>
                                <p:cond delay="0"/>
                              </p:stCondLst>
                              <p:childTnLst>
                                <p:par>
                                  <p:cTn id="1014" presetID="10" presetClass="entr" presetSubtype="0" fill="hold" grpId="0" nodeType="clickEffect">
                                    <p:stCondLst>
                                      <p:cond delay="0"/>
                                    </p:stCondLst>
                                    <p:childTnLst>
                                      <p:set>
                                        <p:cBhvr>
                                          <p:cTn id="1015" dur="1" fill="hold">
                                            <p:stCondLst>
                                              <p:cond delay="0"/>
                                            </p:stCondLst>
                                          </p:cTn>
                                          <p:tgtEl>
                                            <p:spTgt spid="9"/>
                                          </p:tgtEl>
                                          <p:attrNameLst>
                                            <p:attrName>style.visibility</p:attrName>
                                          </p:attrNameLst>
                                        </p:cBhvr>
                                        <p:to>
                                          <p:strVal val="visible"/>
                                        </p:to>
                                      </p:set>
                                      <p:animEffect transition="in" filter="fade">
                                        <p:cBhvr>
                                          <p:cTn id="1016" dur="350"/>
                                          <p:tgtEl>
                                            <p:spTgt spid="9"/>
                                          </p:tgtEl>
                                        </p:cBhvr>
                                      </p:animEffect>
                                    </p:childTnLst>
                                  </p:cTn>
                                </p:par>
                              </p:childTnLst>
                            </p:cTn>
                          </p:par>
                        </p:childTnLst>
                      </p:cTn>
                    </p:par>
                  </p:childTnLst>
                </p:cTn>
                <p:prevCondLst>
                  <p:cond evt="onPrev" delay="0">
                    <p:tgtEl>
                      <p:sldTgt/>
                    </p:tgtEl>
                  </p:cond>
                </p:prevCondLst>
                <p:nextCondLst>
                  <p:cond evt="onNext" delay="0">
                    <p:tgtEl>
                      <p:sldTgt/>
                    </p:tgtEl>
                  </p:cond>
                </p:nextCondLst>
              </p:seq>
            </p:childTnLst>
          </p:cTn>
        </p:par>
      </p:tnLst>
    </p:timing>
    <p:extLst>
      <p:ext uri="{BB962C8B-B14F-4D97-AF65-F5344CB8AC3E}">
        <p14:creationId xmlns:p14="http://schemas.microsoft.com/office/powerpoint/2010/main" val="379378514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ection-21">
            <a:extLst xmlns:a="http://schemas.openxmlformats.org/drawingml/2006/main">
              <a:ext uri="{FF2B5EF4-FFF2-40B4-BE49-F238E27FC236}">
                <a16:creationId xmlns:a16="http://schemas.microsoft.com/office/drawing/2014/main" id="{71EE610B-79B8-45EC-A1CC-8124B4451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47650"/>
            <a:ext cx="419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769E0"/>
                </a:solidFill>
              </a:defRPr>
            </a:pPr>
            <a:r>
              <a:rPr sz="1050" b="1">
                <a:solidFill>
                  <a:srgbClr val="1769E0"/>
                </a:solidFill>
              </a:rPr>
              <a:t>10 / VÍ DỤ LIÊN MÔN</a:t>
            </a:r>
          </a:p>
        </p:txBody>
      </p:sp>
      <p:sp>
        <p:nvSpPr>
          <p:cNvPr id="2" name="title-21">
            <a:extLst xmlns:a="http://schemas.openxmlformats.org/drawingml/2006/main">
              <a:ext uri="{FF2B5EF4-FFF2-40B4-BE49-F238E27FC236}">
                <a16:creationId xmlns:a16="http://schemas.microsoft.com/office/drawing/2014/main" id="{DAF8546E-9F48-43A5-8482-457EA72E5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0550"/>
            <a:ext cx="11144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0131A"/>
                </a:solidFill>
              </a:defRPr>
            </a:pPr>
            <a:r>
              <a:rPr sz="2400" b="1">
                <a:solidFill>
                  <a:srgbClr val="10131A"/>
                </a:solidFill>
              </a:rPr>
              <a:t>Lịch sử - Địa lí, Tin học và HĐTN tạo cơ hội thực hành công dân số</a:t>
            </a:r>
          </a:p>
        </p:txBody>
      </p:sp>
      <p:sp>
        <p:nvSpPr>
          <p:cNvPr id="3" name="rule-21">
            <a:extLst xmlns:a="http://schemas.openxmlformats.org/drawingml/2006/main">
              <a:ext uri="{FF2B5EF4-FFF2-40B4-BE49-F238E27FC236}">
                <a16:creationId xmlns:a16="http://schemas.microsoft.com/office/drawing/2014/main" id="{8E6B6325-BA04-461F-8820-B08576E07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04950"/>
            <a:ext cx="11391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4" name="page-21">
            <a:extLst xmlns:a="http://schemas.openxmlformats.org/drawingml/2006/main">
              <a:ext uri="{FF2B5EF4-FFF2-40B4-BE49-F238E27FC236}">
                <a16:creationId xmlns:a16="http://schemas.microsoft.com/office/drawing/2014/main" id="{7181ED6A-D085-4088-B5C4-A266D3D99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86500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E6673"/>
                </a:solidFill>
              </a:defRPr>
            </a:pPr>
            <a:r>
              <a:rPr sz="975" b="0">
                <a:solidFill>
                  <a:srgbClr val="5E6673"/>
                </a:solidFill>
              </a:rPr>
              <a:t>21</a:t>
            </a:r>
          </a:p>
        </p:txBody>
      </p:sp>
      <p:sp>
        <p:nvSpPr>
          <p:cNvPr id="5" name="anim-21a">
            <a:extLst xmlns:a="http://schemas.openxmlformats.org/drawingml/2006/main">
              <a:ext uri="{FF2B5EF4-FFF2-40B4-BE49-F238E27FC236}">
                <a16:creationId xmlns:a16="http://schemas.microsoft.com/office/drawing/2014/main" id="{23F6D657-82B0-4460-93A9-80E19ADF0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000250"/>
            <a:ext cx="5048250" cy="1476375"/>
          </a:xfrm>
          <a:prstGeom xmlns:a="http://schemas.openxmlformats.org/drawingml/2006/main" prst="roundRect">
            <a:avLst>
              <a:gd name="adj" fmla="val 7742"/>
            </a:avLst>
          </a:prstGeom>
          <a:solidFill xmlns:a="http://schemas.openxmlformats.org/drawingml/2006/main">
            <a:srgbClr val="F0F2F5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131A"/>
                </a:solidFill>
              </a:defRPr>
            </a:pPr>
            <a:r>
              <a:rPr sz="1575" b="0">
                <a:solidFill>
                  <a:srgbClr val="10131A"/>
                </a:solidFill>
              </a:rPr>
              <a:t>LỊCH SỬ - ĐỊA LÍ</a:t>
            </a:r>
          </a:p>
          <a:p xmlns:a="http://schemas.openxmlformats.org/drawingml/2006/main">
            <a:pPr algn="l">
              <a:defRPr sz="1575" b="0">
                <a:solidFill>
                  <a:srgbClr val="10131A"/>
                </a:solidFill>
              </a:defRPr>
            </a:pPr>
            <a:r>
              <a:rPr sz="1575" b="0">
                <a:solidFill>
                  <a:srgbClr val="10131A"/>
                </a:solidFill>
              </a:rPr>
              <a:t>So sánh niên đại, bản đồ, số liệu từ nhiều nguồn; nhận diện phát biểu thiếu dẫn chứng hoặc định kiến.</a:t>
            </a:r>
          </a:p>
        </p:txBody>
      </p:sp>
      <p:sp>
        <p:nvSpPr>
          <p:cNvPr id="6" name="anim-21a-accent">
            <a:extLst xmlns:a="http://schemas.openxmlformats.org/drawingml/2006/main">
              <a:ext uri="{FF2B5EF4-FFF2-40B4-BE49-F238E27FC236}">
                <a16:creationId xmlns:a16="http://schemas.microsoft.com/office/drawing/2014/main" id="{BE1A1E9B-3D1A-4429-B802-37F7A2825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000250"/>
            <a:ext cx="76200" cy="1476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F59E0B"/>
            </a:solidFill>
            <a:prstDash val="solid"/>
          </a:ln>
        </p:spPr>
      </p:sp>
      <p:sp>
        <p:nvSpPr>
          <p:cNvPr id="7" name="anim-21b">
            <a:extLst xmlns:a="http://schemas.openxmlformats.org/drawingml/2006/main">
              <a:ext uri="{FF2B5EF4-FFF2-40B4-BE49-F238E27FC236}">
                <a16:creationId xmlns:a16="http://schemas.microsoft.com/office/drawing/2014/main" id="{98BC00BD-82D1-413B-B427-050FA34C6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2000250"/>
            <a:ext cx="5048250" cy="1476375"/>
          </a:xfrm>
          <a:prstGeom xmlns:a="http://schemas.openxmlformats.org/drawingml/2006/main" prst="roundRect">
            <a:avLst>
              <a:gd name="adj" fmla="val 7742"/>
            </a:avLst>
          </a:prstGeom>
          <a:solidFill xmlns:a="http://schemas.openxmlformats.org/drawingml/2006/main">
            <a:srgbClr val="F0F2F5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131A"/>
                </a:solidFill>
              </a:defRPr>
            </a:pPr>
            <a:r>
              <a:rPr sz="1575" b="0">
                <a:solidFill>
                  <a:srgbClr val="10131A"/>
                </a:solidFill>
              </a:rPr>
              <a:t>TIN HỌC</a:t>
            </a:r>
          </a:p>
          <a:p xmlns:a="http://schemas.openxmlformats.org/drawingml/2006/main">
            <a:pPr algn="l">
              <a:defRPr sz="1575" b="0">
                <a:solidFill>
                  <a:srgbClr val="10131A"/>
                </a:solidFill>
              </a:defRPr>
            </a:pPr>
            <a:r>
              <a:rPr sz="1575" b="0">
                <a:solidFill>
                  <a:srgbClr val="10131A"/>
                </a:solidFill>
              </a:rPr>
              <a:t>Tổ chức dữ liệu, tạo sản phẩm số, thực hành mật khẩu, quyền riêng tư, an toàn thiết bị và giải quyết sự cố cơ bản.</a:t>
            </a:r>
          </a:p>
        </p:txBody>
      </p:sp>
      <p:sp>
        <p:nvSpPr>
          <p:cNvPr id="8" name="anim-21b-accent">
            <a:extLst xmlns:a="http://schemas.openxmlformats.org/drawingml/2006/main">
              <a:ext uri="{FF2B5EF4-FFF2-40B4-BE49-F238E27FC236}">
                <a16:creationId xmlns:a16="http://schemas.microsoft.com/office/drawing/2014/main" id="{1CEAF61D-6637-446C-ADE1-37A5CFD2E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2000250"/>
            <a:ext cx="76200" cy="1476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9E0"/>
          </a:solidFill>
          <a:ln xmlns:a="http://schemas.openxmlformats.org/drawingml/2006/main" w="0">
            <a:solidFill>
              <a:srgbClr val="1769E0"/>
            </a:solidFill>
            <a:prstDash val="solid"/>
          </a:ln>
        </p:spPr>
      </p:sp>
      <p:sp>
        <p:nvSpPr>
          <p:cNvPr id="9" name="anim-21c">
            <a:extLst xmlns:a="http://schemas.openxmlformats.org/drawingml/2006/main">
              <a:ext uri="{FF2B5EF4-FFF2-40B4-BE49-F238E27FC236}">
                <a16:creationId xmlns:a16="http://schemas.microsoft.com/office/drawing/2014/main" id="{600F0009-F0AB-474A-934B-78FE72A57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905250"/>
            <a:ext cx="5048250" cy="1476375"/>
          </a:xfrm>
          <a:prstGeom xmlns:a="http://schemas.openxmlformats.org/drawingml/2006/main" prst="roundRect">
            <a:avLst>
              <a:gd name="adj" fmla="val 7742"/>
            </a:avLst>
          </a:prstGeom>
          <a:solidFill xmlns:a="http://schemas.openxmlformats.org/drawingml/2006/main">
            <a:srgbClr val="FFF0F0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131A"/>
                </a:solidFill>
              </a:defRPr>
            </a:pPr>
            <a:r>
              <a:rPr sz="1575" b="0">
                <a:solidFill>
                  <a:srgbClr val="10131A"/>
                </a:solidFill>
              </a:rPr>
              <a:t>HĐTN - HƯỚNG NGHIỆP</a:t>
            </a:r>
          </a:p>
          <a:p xmlns:a="http://schemas.openxmlformats.org/drawingml/2006/main">
            <a:pPr algn="l">
              <a:defRPr sz="1575" b="0">
                <a:solidFill>
                  <a:srgbClr val="10131A"/>
                </a:solidFill>
              </a:defRPr>
            </a:pPr>
            <a:r>
              <a:rPr sz="1575" b="0">
                <a:solidFill>
                  <a:srgbClr val="10131A"/>
                </a:solidFill>
              </a:rPr>
              <a:t>Đóng vai xử lí lừa đảo/deepfake: dừng - kiểm tra - báo người lớn - báo cáo nền tảng.</a:t>
            </a:r>
          </a:p>
        </p:txBody>
      </p:sp>
      <p:sp>
        <p:nvSpPr>
          <p:cNvPr id="10" name="anim-21c-accent">
            <a:extLst xmlns:a="http://schemas.openxmlformats.org/drawingml/2006/main">
              <a:ext uri="{FF2B5EF4-FFF2-40B4-BE49-F238E27FC236}">
                <a16:creationId xmlns:a16="http://schemas.microsoft.com/office/drawing/2014/main" id="{F5221480-0A0E-471B-9722-2877CCFDA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905250"/>
            <a:ext cx="76200" cy="1476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4A4A"/>
          </a:solidFill>
          <a:ln xmlns:a="http://schemas.openxmlformats.org/drawingml/2006/main" w="0">
            <a:solidFill>
              <a:srgbClr val="D84A4A"/>
            </a:solidFill>
            <a:prstDash val="solid"/>
          </a:ln>
        </p:spPr>
      </p:sp>
      <p:sp>
        <p:nvSpPr>
          <p:cNvPr id="11" name="anim-21d">
            <a:extLst xmlns:a="http://schemas.openxmlformats.org/drawingml/2006/main">
              <a:ext uri="{FF2B5EF4-FFF2-40B4-BE49-F238E27FC236}">
                <a16:creationId xmlns:a16="http://schemas.microsoft.com/office/drawing/2014/main" id="{E5643D4C-BF65-4AC8-9DB4-9F109DF57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3905250"/>
            <a:ext cx="5048250" cy="1476375"/>
          </a:xfrm>
          <a:prstGeom xmlns:a="http://schemas.openxmlformats.org/drawingml/2006/main" prst="roundRect">
            <a:avLst>
              <a:gd name="adj" fmla="val 7742"/>
            </a:avLst>
          </a:prstGeom>
          <a:solidFill xmlns:a="http://schemas.openxmlformats.org/drawingml/2006/main">
            <a:srgbClr val="EAF7F0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131A"/>
                </a:solidFill>
              </a:defRPr>
            </a:pPr>
            <a:r>
              <a:rPr sz="1575" b="0">
                <a:solidFill>
                  <a:srgbClr val="10131A"/>
                </a:solidFill>
              </a:rPr>
              <a:t>STEM - DỰ ÁN</a:t>
            </a:r>
          </a:p>
          <a:p xmlns:a="http://schemas.openxmlformats.org/drawingml/2006/main">
            <a:pPr algn="l">
              <a:defRPr sz="1575" b="0">
                <a:solidFill>
                  <a:srgbClr val="10131A"/>
                </a:solidFill>
              </a:defRPr>
            </a:pPr>
            <a:r>
              <a:rPr sz="1575" b="0">
                <a:solidFill>
                  <a:srgbClr val="10131A"/>
                </a:solidFill>
              </a:rPr>
              <a:t>Nhóm xác định vấn đề, chọn công cụ, tạo mẫu, thử nghiệm, thu phản hồi và cải tiến.</a:t>
            </a:r>
          </a:p>
        </p:txBody>
      </p:sp>
      <p:sp>
        <p:nvSpPr>
          <p:cNvPr id="12" name="anim-21d-accent">
            <a:extLst xmlns:a="http://schemas.openxmlformats.org/drawingml/2006/main">
              <a:ext uri="{FF2B5EF4-FFF2-40B4-BE49-F238E27FC236}">
                <a16:creationId xmlns:a16="http://schemas.microsoft.com/office/drawing/2014/main" id="{6BF9F30D-EA56-42E2-8AF8-E97FA221F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3905250"/>
            <a:ext cx="76200" cy="1476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8A5A"/>
          </a:solidFill>
          <a:ln xmlns:a="http://schemas.openxmlformats.org/drawingml/2006/main" w="0">
            <a:solidFill>
              <a:srgbClr val="1B8A5A"/>
            </a:solidFill>
            <a:prstDash val="solid"/>
          </a:ln>
        </p:spPr>
      </p:sp>
    </p:spTree>
    <p:transition spd="fast">
      <p:fade/>
    </p:transition>
    <p:timing>
      <p:tnLst>
        <p:par>
          <p:cTn id="1000" dur="indefinite" restart="never" nodeType="tmRoot">
            <p:childTnLst>
              <p:seq concurrent="1" nextAc="seek">
                <p:cTn id="1001" dur="indefinite" nodeType="mainSeq">
                  <p:childTnLst>
                    <p:par>
                      <p:cTn id="1002" fill="hold">
                        <p:stCondLst>
                          <p:cond delay="indefinite"/>
                        </p:stCondLst>
                        <p:childTnLst>
                          <p:par>
                            <p:cTn id="1003" fill="hold">
                              <p:stCondLst>
                                <p:cond delay="0"/>
                              </p:stCondLst>
                              <p:childTnLst>
                                <p:par>
                                  <p:cTn id="1004" presetID="10" presetClass="entr" presetSubtype="0" fill="hold" grpId="0" nodeType="clickEffect">
                                    <p:stCondLst>
                                      <p:cond delay="0"/>
                                    </p:stCondLst>
                                    <p:childTnLst>
                                      <p:set>
                                        <p:cBhvr>
                                          <p:cTn id="1005" dur="1" fill="hold">
                                            <p:stCondLst>
                                              <p:cond delay="0"/>
                                            </p:stCondLst>
                                          </p:cTn>
                                          <p:tgtEl>
                                            <p:spTgt spid="5"/>
                                          </p:tgtEl>
                                          <p:attrNameLst>
                                            <p:attrName>style.visibility</p:attrName>
                                          </p:attrNameLst>
                                        </p:cBhvr>
                                        <p:to>
                                          <p:strVal val="visible"/>
                                        </p:to>
                                      </p:set>
                                      <p:animEffect transition="in" filter="fade">
                                        <p:cBhvr>
                                          <p:cTn id="1006" dur="350"/>
                                          <p:tgtEl>
                                            <p:spTgt spid="5"/>
                                          </p:tgtEl>
                                        </p:cBhvr>
                                      </p:animEffect>
                                    </p:childTnLst>
                                  </p:cTn>
                                </p:par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1007" fill="hold">
                        <p:stCondLst>
                          <p:cond delay="indefinite"/>
                        </p:stCondLst>
                        <p:childTnLst>
                          <p:par>
                            <p:cTn id="1008" fill="hold">
                              <p:stCondLst>
                                <p:cond delay="0"/>
                              </p:stCondLst>
                              <p:childTnLst>
                                <p:par>
                                  <p:cTn id="1009" presetID="10" presetClass="entr" presetSubtype="0" fill="hold" grpId="0" nodeType="clickEffect">
                                    <p:stCondLst>
                                      <p:cond delay="0"/>
                                    </p:stCondLst>
                                    <p:childTnLst>
                                      <p:set>
                                        <p:cBhvr>
                                          <p:cTn id="1010" dur="1" fill="hold">
                                            <p:stCondLst>
                                              <p:cond delay="0"/>
                                            </p:stCondLst>
                                          </p:cTn>
                                          <p:tgtEl>
                                            <p:spTgt spid="7"/>
                                          </p:tgtEl>
                                          <p:attrNameLst>
                                            <p:attrName>style.visibility</p:attrName>
                                          </p:attrNameLst>
                                        </p:cBhvr>
                                        <p:to>
                                          <p:strVal val="visible"/>
                                        </p:to>
                                      </p:set>
                                      <p:animEffect transition="in" filter="fade">
                                        <p:cBhvr>
                                          <p:cTn id="1011" dur="350"/>
                                          <p:tgtEl>
                                            <p:spTgt spid="7"/>
                                          </p:tgtEl>
                                        </p:cBhvr>
                                      </p:animEffect>
                                    </p:childTnLst>
                                  </p:cTn>
                                </p:par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1012" fill="hold">
                        <p:stCondLst>
                          <p:cond delay="indefinite"/>
                        </p:stCondLst>
                        <p:childTnLst>
                          <p:par>
                            <p:cTn id="1013" fill="hold">
                              <p:stCondLst>
                                <p:cond delay="0"/>
                              </p:stCondLst>
                              <p:childTnLst>
                                <p:par>
                                  <p:cTn id="1014" presetID="10" presetClass="entr" presetSubtype="0" fill="hold" grpId="0" nodeType="clickEffect">
                                    <p:stCondLst>
                                      <p:cond delay="0"/>
                                    </p:stCondLst>
                                    <p:childTnLst>
                                      <p:set>
                                        <p:cBhvr>
                                          <p:cTn id="1015" dur="1" fill="hold">
                                            <p:stCondLst>
                                              <p:cond delay="0"/>
                                            </p:stCondLst>
                                          </p:cTn>
                                          <p:tgtEl>
                                            <p:spTgt spid="9"/>
                                          </p:tgtEl>
                                          <p:attrNameLst>
                                            <p:attrName>style.visibility</p:attrName>
                                          </p:attrNameLst>
                                        </p:cBhvr>
                                        <p:to>
                                          <p:strVal val="visible"/>
                                        </p:to>
                                      </p:set>
                                      <p:animEffect transition="in" filter="fade">
                                        <p:cBhvr>
                                          <p:cTn id="1016" dur="350"/>
                                          <p:tgtEl>
                                            <p:spTgt spid="9"/>
                                          </p:tgtEl>
                                        </p:cBhvr>
                                      </p:animEffect>
                                    </p:childTnLst>
                                  </p:cTn>
                                </p:par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1017" fill="hold">
                        <p:stCondLst>
                          <p:cond delay="indefinite"/>
                        </p:stCondLst>
                        <p:childTnLst>
                          <p:par>
                            <p:cTn id="1018" fill="hold">
                              <p:stCondLst>
                                <p:cond delay="0"/>
                              </p:stCondLst>
                              <p:childTnLst>
                                <p:par>
                                  <p:cTn id="1019" presetID="10" presetClass="entr" presetSubtype="0" fill="hold" grpId="0" nodeType="clickEffect">
                                    <p:stCondLst>
                                      <p:cond delay="0"/>
                                    </p:stCondLst>
                                    <p:childTnLst>
                                      <p:set>
                                        <p:cBhvr>
                                          <p:cTn id="1020" dur="1" fill="hold">
                                            <p:stCondLst>
                                              <p:cond delay="0"/>
                                            </p:stCondLst>
                                          </p:cTn>
                                          <p:tgtEl>
                                            <p:spTgt spid="11"/>
                                          </p:tgtEl>
                                          <p:attrNameLst>
                                            <p:attrName>style.visibility</p:attrName>
                                          </p:attrNameLst>
                                        </p:cBhvr>
                                        <p:to>
                                          <p:strVal val="visible"/>
                                        </p:to>
                                      </p:set>
                                      <p:animEffect transition="in" filter="fade">
                                        <p:cBhvr>
                                          <p:cTn id="1021" dur="350"/>
                                          <p:tgtEl>
                                            <p:spTgt spid="11"/>
                                          </p:tgtEl>
                                        </p:cBhvr>
                                      </p:animEffect>
                                    </p:childTnLst>
                                  </p:cTn>
                                </p:par>
                              </p:childTnLst>
                            </p:cTn>
                          </p:par>
                        </p:childTnLst>
                      </p:cTn>
                    </p:par>
                  </p:childTnLst>
                </p:cTn>
                <p:prevCondLst>
                  <p:cond evt="onPrev" delay="0">
                    <p:tgtEl>
                      <p:sldTgt/>
                    </p:tgtEl>
                  </p:cond>
                </p:prevCondLst>
                <p:nextCondLst>
                  <p:cond evt="onNext" delay="0">
                    <p:tgtEl>
                      <p:sldTgt/>
                    </p:tgtEl>
                  </p:cond>
                </p:nextCondLst>
              </p:seq>
            </p:childTnLst>
          </p:cTn>
        </p:par>
      </p:tnLst>
    </p:timing>
    <p:extLst>
      <p:ext uri="{BB962C8B-B14F-4D97-AF65-F5344CB8AC3E}">
        <p14:creationId xmlns:p14="http://schemas.microsoft.com/office/powerpoint/2010/main" val="1120234140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section-22">
            <a:extLst xmlns:a="http://schemas.openxmlformats.org/drawingml/2006/main">
              <a:ext uri="{FF2B5EF4-FFF2-40B4-BE49-F238E27FC236}">
                <a16:creationId xmlns:a16="http://schemas.microsoft.com/office/drawing/2014/main" id="{21AEC8A7-29B2-47A4-9ED7-386F94DBC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47650"/>
            <a:ext cx="419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769E0"/>
                </a:solidFill>
              </a:defRPr>
            </a:pPr>
            <a:r>
              <a:rPr sz="1050" b="1">
                <a:solidFill>
                  <a:srgbClr val="1769E0"/>
                </a:solidFill>
              </a:rPr>
              <a:t>11 / AI VÀ NĂNG LỰC SỐ</a:t>
            </a:r>
          </a:p>
        </p:txBody>
      </p:sp>
      <p:sp>
        <p:nvSpPr>
          <p:cNvPr id="2" name="title-22">
            <a:extLst xmlns:a="http://schemas.openxmlformats.org/drawingml/2006/main">
              <a:ext uri="{FF2B5EF4-FFF2-40B4-BE49-F238E27FC236}">
                <a16:creationId xmlns:a16="http://schemas.microsoft.com/office/drawing/2014/main" id="{D322BD9D-28EE-470B-AE1C-E5473DC86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0550"/>
            <a:ext cx="11144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0131A"/>
                </a:solidFill>
              </a:defRPr>
            </a:pPr>
            <a:r>
              <a:rPr sz="2400" b="1">
                <a:solidFill>
                  <a:srgbClr val="10131A"/>
                </a:solidFill>
              </a:rPr>
              <a:t>AI là một miền năng lực số: sử dụng có đạo đức, minh bạch và kiểm chứng</a:t>
            </a:r>
          </a:p>
        </p:txBody>
      </p:sp>
      <p:sp>
        <p:nvSpPr>
          <p:cNvPr id="3" name="rule-22">
            <a:extLst xmlns:a="http://schemas.openxmlformats.org/drawingml/2006/main">
              <a:ext uri="{FF2B5EF4-FFF2-40B4-BE49-F238E27FC236}">
                <a16:creationId xmlns:a16="http://schemas.microsoft.com/office/drawing/2014/main" id="{AF2E1638-F607-4883-AEB4-10CA58A97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04950"/>
            <a:ext cx="11391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4" name="page-22">
            <a:extLst xmlns:a="http://schemas.openxmlformats.org/drawingml/2006/main">
              <a:ext uri="{FF2B5EF4-FFF2-40B4-BE49-F238E27FC236}">
                <a16:creationId xmlns:a16="http://schemas.microsoft.com/office/drawing/2014/main" id="{74B3057D-FFD6-4E2F-BD74-DF4CE47B2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86500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E6673"/>
                </a:solidFill>
              </a:defRPr>
            </a:pPr>
            <a:r>
              <a:rPr sz="975" b="0">
                <a:solidFill>
                  <a:srgbClr val="5E6673"/>
                </a:solidFill>
              </a:rPr>
              <a:t>22</a:t>
            </a:r>
          </a:p>
        </p:txBody>
      </p:sp>
      <p:sp>
        <p:nvSpPr>
          <p:cNvPr id="5" name="anim-22-0">
            <a:extLst xmlns:a="http://schemas.openxmlformats.org/drawingml/2006/main">
              <a:ext uri="{FF2B5EF4-FFF2-40B4-BE49-F238E27FC236}">
                <a16:creationId xmlns:a16="http://schemas.microsoft.com/office/drawing/2014/main" id="{18272A0A-DE6F-43BF-8D68-B80F044C1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190750"/>
            <a:ext cx="2476500" cy="26193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69E0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1</a:t>
            </a:r>
          </a:p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MỤC ĐÍCH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AI có thật sự cần cho nhiệm vụ? Có cách đơn giản hơn?</a:t>
            </a:r>
          </a:p>
        </p:txBody>
      </p:sp>
      <p:sp>
        <p:nvSpPr>
          <p:cNvPr id="6" name="anim-22-1">
            <a:extLst xmlns:a="http://schemas.openxmlformats.org/drawingml/2006/main">
              <a:ext uri="{FF2B5EF4-FFF2-40B4-BE49-F238E27FC236}">
                <a16:creationId xmlns:a16="http://schemas.microsoft.com/office/drawing/2014/main" id="{F6F78964-E274-4B39-B4B5-63DD7D0F0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2190750"/>
            <a:ext cx="2476500" cy="26193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4A4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2</a:t>
            </a:r>
          </a:p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DỮ LIỆU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Không nhập thông tin cá nhân, hình ảnh, điểm số hoặc dữ liệu nhạy cảm.</a:t>
            </a:r>
          </a:p>
        </p:txBody>
      </p:sp>
      <p:sp>
        <p:nvSpPr>
          <p:cNvPr id="7" name="anim-22-2">
            <a:extLst xmlns:a="http://schemas.openxmlformats.org/drawingml/2006/main">
              <a:ext uri="{FF2B5EF4-FFF2-40B4-BE49-F238E27FC236}">
                <a16:creationId xmlns:a16="http://schemas.microsoft.com/office/drawing/2014/main" id="{B799B848-D96F-42EE-AA3A-4FB2D4763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2190750"/>
            <a:ext cx="2476500" cy="26193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3</a:t>
            </a:r>
          </a:p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KIỂM CHỨNG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Đối chiếu nguồn, dữ kiện, thử nhiều trường hợp; không tin chỉ vì câu trả lời trôi chảy.</a:t>
            </a:r>
          </a:p>
        </p:txBody>
      </p:sp>
      <p:sp>
        <p:nvSpPr>
          <p:cNvPr id="8" name="anim-22-3">
            <a:extLst xmlns:a="http://schemas.openxmlformats.org/drawingml/2006/main">
              <a:ext uri="{FF2B5EF4-FFF2-40B4-BE49-F238E27FC236}">
                <a16:creationId xmlns:a16="http://schemas.microsoft.com/office/drawing/2014/main" id="{F1138954-58CE-4520-99A4-B0FCED27F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2190750"/>
            <a:ext cx="2476500" cy="26193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B8A5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4</a:t>
            </a:r>
          </a:p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TRÁCH NHIỆM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Khai báo AI hỗ trợ gì; con người chịu trách nhiệm về sản phẩm cuối.</a:t>
            </a:r>
          </a:p>
        </p:txBody>
      </p:sp>
      <p:sp>
        <p:nvSpPr>
          <p:cNvPr id="9" name="anim-22-close">
            <a:extLst xmlns:a="http://schemas.openxmlformats.org/drawingml/2006/main">
              <a:ext uri="{FF2B5EF4-FFF2-40B4-BE49-F238E27FC236}">
                <a16:creationId xmlns:a16="http://schemas.microsoft.com/office/drawing/2014/main" id="{A4716D80-4095-4474-9D24-0BBE81C2A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5524500"/>
            <a:ext cx="9525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D84A4A"/>
                </a:solidFill>
              </a:defRPr>
            </a:pPr>
            <a:r>
              <a:rPr sz="1875" b="1">
                <a:solidFill>
                  <a:srgbClr val="D84A4A"/>
                </a:solidFill>
              </a:rPr>
              <a:t>Tích hợp AI phải làm rõ thêm năng lực số, không thay thế tư duy và trách nhiệm của học sinh.</a:t>
            </a:r>
          </a:p>
        </p:txBody>
      </p:sp>
    </p:spTree>
    <p:transition spd="fast">
      <p:fade/>
    </p:transition>
    <p:timing>
      <p:tnLst>
        <p:par>
          <p:cTn id="1000" dur="indefinite" restart="never" nodeType="tmRoot">
            <p:childTnLst>
              <p:seq concurrent="1" nextAc="seek">
                <p:cTn id="1001" dur="indefinite" nodeType="mainSeq">
                  <p:childTnLst>
                    <p:par>
                      <p:cTn id="1002" fill="hold">
                        <p:stCondLst>
                          <p:cond delay="indefinite"/>
                        </p:stCondLst>
                        <p:childTnLst>
                          <p:par>
                            <p:cTn id="1003" fill="hold">
                              <p:stCondLst>
                                <p:cond delay="0"/>
                              </p:stCondLst>
                              <p:childTnLst>
                                <p:par>
                                  <p:cTn id="1004" presetID="10" presetClass="entr" presetSubtype="0" fill="hold" grpId="0" nodeType="clickEffect">
                                    <p:stCondLst>
                                      <p:cond delay="0"/>
                                    </p:stCondLst>
                                    <p:childTnLst>
                                      <p:set>
                                        <p:cBhvr>
                                          <p:cTn id="1005" dur="1" fill="hold">
                                            <p:stCondLst>
                                              <p:cond delay="0"/>
                                            </p:stCondLst>
                                          </p:cTn>
                                          <p:tgtEl>
                                            <p:spTgt spid="5"/>
                                          </p:tgtEl>
                                          <p:attrNameLst>
                                            <p:attrName>style.visibility</p:attrName>
                                          </p:attrNameLst>
                                        </p:cBhvr>
                                        <p:to>
                                          <p:strVal val="visible"/>
                                        </p:to>
                                      </p:set>
                                      <p:animEffect transition="in" filter="fade">
                                        <p:cBhvr>
                                          <p:cTn id="1006" dur="350"/>
                                          <p:tgtEl>
                                            <p:spTgt spid="5"/>
                                          </p:tgtEl>
                                        </p:cBhvr>
                                      </p:animEffect>
                                    </p:childTnLst>
                                  </p:cTn>
                                </p:par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1007" fill="hold">
                        <p:stCondLst>
                          <p:cond delay="indefinite"/>
                        </p:stCondLst>
                        <p:childTnLst>
                          <p:par>
                            <p:cTn id="1008" fill="hold">
                              <p:stCondLst>
                                <p:cond delay="0"/>
                              </p:stCondLst>
                              <p:childTnLst>
                                <p:par>
                                  <p:cTn id="1009" presetID="10" presetClass="entr" presetSubtype="0" fill="hold" grpId="0" nodeType="clickEffect">
                                    <p:stCondLst>
                                      <p:cond delay="0"/>
                                    </p:stCondLst>
                                    <p:childTnLst>
                                      <p:set>
                                        <p:cBhvr>
                                          <p:cTn id="1010" dur="1" fill="hold">
                                            <p:stCondLst>
                                              <p:cond delay="0"/>
                                            </p:stCondLst>
                                          </p:cTn>
                                          <p:tgtEl>
                                            <p:spTgt spid="6"/>
                                          </p:tgtEl>
                                          <p:attrNameLst>
                                            <p:attrName>style.visibility</p:attrName>
                                          </p:attrNameLst>
                                        </p:cBhvr>
                                        <p:to>
                                          <p:strVal val="visible"/>
                                        </p:to>
                                      </p:set>
                                      <p:animEffect transition="in" filter="fade">
                                        <p:cBhvr>
                                          <p:cTn id="1011" dur="350"/>
                                          <p:tgtEl>
                                            <p:spTgt spid="6"/>
                                          </p:tgtEl>
                                        </p:cBhvr>
                                      </p:animEffect>
                                    </p:childTnLst>
                                  </p:cTn>
                                </p:par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1012" fill="hold">
                        <p:stCondLst>
                          <p:cond delay="indefinite"/>
                        </p:stCondLst>
                        <p:childTnLst>
                          <p:par>
                            <p:cTn id="1013" fill="hold">
                              <p:stCondLst>
                                <p:cond delay="0"/>
                              </p:stCondLst>
                              <p:childTnLst>
                                <p:par>
                                  <p:cTn id="1014" presetID="10" presetClass="entr" presetSubtype="0" fill="hold" grpId="0" nodeType="clickEffect">
                                    <p:stCondLst>
                                      <p:cond delay="0"/>
                                    </p:stCondLst>
                                    <p:childTnLst>
                                      <p:set>
                                        <p:cBhvr>
                                          <p:cTn id="1015" dur="1" fill="hold">
                                            <p:stCondLst>
                                              <p:cond delay="0"/>
                                            </p:stCondLst>
                                          </p:cTn>
                                          <p:tgtEl>
                                            <p:spTgt spid="7"/>
                                          </p:tgtEl>
                                          <p:attrNameLst>
                                            <p:attrName>style.visibility</p:attrName>
                                          </p:attrNameLst>
                                        </p:cBhvr>
                                        <p:to>
                                          <p:strVal val="visible"/>
                                        </p:to>
                                      </p:set>
                                      <p:animEffect transition="in" filter="fade">
                                        <p:cBhvr>
                                          <p:cTn id="1016" dur="350"/>
                                          <p:tgtEl>
                                            <p:spTgt spid="7"/>
                                          </p:tgtEl>
                                        </p:cBhvr>
                                      </p:animEffect>
                                    </p:childTnLst>
                                  </p:cTn>
                                </p:par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1017" fill="hold">
                        <p:stCondLst>
                          <p:cond delay="indefinite"/>
                        </p:stCondLst>
                        <p:childTnLst>
                          <p:par>
                            <p:cTn id="1018" fill="hold">
                              <p:stCondLst>
                                <p:cond delay="0"/>
                              </p:stCondLst>
                              <p:childTnLst>
                                <p:par>
                                  <p:cTn id="1019" presetID="10" presetClass="entr" presetSubtype="0" fill="hold" grpId="0" nodeType="clickEffect">
                                    <p:stCondLst>
                                      <p:cond delay="0"/>
                                    </p:stCondLst>
                                    <p:childTnLst>
                                      <p:set>
                                        <p:cBhvr>
                                          <p:cTn id="1020" dur="1" fill="hold">
                                            <p:stCondLst>
                                              <p:cond delay="0"/>
                                            </p:stCondLst>
                                          </p:cTn>
                                          <p:tgtEl>
                                            <p:spTgt spid="8"/>
                                          </p:tgtEl>
                                          <p:attrNameLst>
                                            <p:attrName>style.visibility</p:attrName>
                                          </p:attrNameLst>
                                        </p:cBhvr>
                                        <p:to>
                                          <p:strVal val="visible"/>
                                        </p:to>
                                      </p:set>
                                      <p:animEffect transition="in" filter="fade">
                                        <p:cBhvr>
                                          <p:cTn id="1021" dur="350"/>
                                          <p:tgtEl>
                                            <p:spTgt spid="8"/>
                                          </p:tgtEl>
                                        </p:cBhvr>
                                      </p:animEffect>
                                    </p:childTnLst>
                                  </p:cTn>
                                </p:par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1022" fill="hold">
                        <p:stCondLst>
                          <p:cond delay="indefinite"/>
                        </p:stCondLst>
                        <p:childTnLst>
                          <p:par>
                            <p:cTn id="1023" fill="hold">
                              <p:stCondLst>
                                <p:cond delay="0"/>
                              </p:stCondLst>
                              <p:childTnLst>
                                <p:par>
                                  <p:cTn id="1024" presetID="10" presetClass="entr" presetSubtype="0" fill="hold" grpId="0" nodeType="clickEffect">
                                    <p:stCondLst>
                                      <p:cond delay="0"/>
                                    </p:stCondLst>
                                    <p:childTnLst>
                                      <p:set>
                                        <p:cBhvr>
                                          <p:cTn id="1025" dur="1" fill="hold">
                                            <p:stCondLst>
                                              <p:cond delay="0"/>
                                            </p:stCondLst>
                                          </p:cTn>
                                          <p:tgtEl>
                                            <p:spTgt spid="9"/>
                                          </p:tgtEl>
                                          <p:attrNameLst>
                                            <p:attrName>style.visibility</p:attrName>
                                          </p:attrNameLst>
                                        </p:cBhvr>
                                        <p:to>
                                          <p:strVal val="visible"/>
                                        </p:to>
                                      </p:set>
                                      <p:animEffect transition="in" filter="fade">
                                        <p:cBhvr>
                                          <p:cTn id="1026" dur="350"/>
                                          <p:tgtEl>
                                            <p:spTgt spid="9"/>
                                          </p:tgtEl>
                                        </p:cBhvr>
                                      </p:animEffect>
                                    </p:childTnLst>
                                  </p:cTn>
                                </p:par>
                              </p:childTnLst>
                            </p:cTn>
                          </p:par>
                        </p:childTnLst>
                      </p:cTn>
                    </p:par>
                  </p:childTnLst>
                </p:cTn>
                <p:prevCondLst>
                  <p:cond evt="onPrev" delay="0">
                    <p:tgtEl>
                      <p:sldTgt/>
                    </p:tgtEl>
                  </p:cond>
                </p:prevCondLst>
                <p:nextCondLst>
                  <p:cond evt="onNext" delay="0">
                    <p:tgtEl>
                      <p:sldTgt/>
                    </p:tgtEl>
                  </p:cond>
                </p:nextCondLst>
              </p:seq>
            </p:childTnLst>
          </p:cTn>
        </p:par>
      </p:tnLst>
    </p:timing>
    <p:extLst>
      <p:ext uri="{BB962C8B-B14F-4D97-AF65-F5344CB8AC3E}">
        <p14:creationId xmlns:p14="http://schemas.microsoft.com/office/powerpoint/2010/main" val="1724208996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section-23">
            <a:extLst xmlns:a="http://schemas.openxmlformats.org/drawingml/2006/main">
              <a:ext uri="{FF2B5EF4-FFF2-40B4-BE49-F238E27FC236}">
                <a16:creationId xmlns:a16="http://schemas.microsoft.com/office/drawing/2014/main" id="{167B34F0-A38F-4868-AB19-3DC805E42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47650"/>
            <a:ext cx="419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769E0"/>
                </a:solidFill>
              </a:defRPr>
            </a:pPr>
            <a:r>
              <a:rPr sz="1050" b="1">
                <a:solidFill>
                  <a:srgbClr val="1769E0"/>
                </a:solidFill>
              </a:rPr>
              <a:t>12 / AN TOÀN - ĐẠO ĐỨC</a:t>
            </a:r>
          </a:p>
        </p:txBody>
      </p:sp>
      <p:sp>
        <p:nvSpPr>
          <p:cNvPr id="2" name="title-23">
            <a:extLst xmlns:a="http://schemas.openxmlformats.org/drawingml/2006/main">
              <a:ext uri="{FF2B5EF4-FFF2-40B4-BE49-F238E27FC236}">
                <a16:creationId xmlns:a16="http://schemas.microsoft.com/office/drawing/2014/main" id="{C9FC33B9-BA24-4B97-9938-CBD3713C7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0550"/>
            <a:ext cx="11144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0131A"/>
                </a:solidFill>
              </a:defRPr>
            </a:pPr>
            <a:r>
              <a:rPr sz="2400" b="1">
                <a:solidFill>
                  <a:srgbClr val="10131A"/>
                </a:solidFill>
              </a:rPr>
              <a:t>Mọi hoạt động số của học sinh phải qua bốn cửa kiểm soát</a:t>
            </a:r>
          </a:p>
        </p:txBody>
      </p:sp>
      <p:sp>
        <p:nvSpPr>
          <p:cNvPr id="3" name="rule-23">
            <a:extLst xmlns:a="http://schemas.openxmlformats.org/drawingml/2006/main">
              <a:ext uri="{FF2B5EF4-FFF2-40B4-BE49-F238E27FC236}">
                <a16:creationId xmlns:a16="http://schemas.microsoft.com/office/drawing/2014/main" id="{75E493D6-2C6F-4D18-B549-1E6077C51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04950"/>
            <a:ext cx="11391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4" name="page-23">
            <a:extLst xmlns:a="http://schemas.openxmlformats.org/drawingml/2006/main">
              <a:ext uri="{FF2B5EF4-FFF2-40B4-BE49-F238E27FC236}">
                <a16:creationId xmlns:a16="http://schemas.microsoft.com/office/drawing/2014/main" id="{B42C22D3-ECC1-4110-B57B-56EAC09ED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86500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E6673"/>
                </a:solidFill>
              </a:defRPr>
            </a:pPr>
            <a:r>
              <a:rPr sz="975" b="0">
                <a:solidFill>
                  <a:srgbClr val="5E6673"/>
                </a:solidFill>
              </a:rPr>
              <a:t>23</a:t>
            </a:r>
          </a:p>
        </p:txBody>
      </p:sp>
      <p:sp>
        <p:nvSpPr>
          <p:cNvPr id="5" name="anim-23-0">
            <a:extLst xmlns:a="http://schemas.openxmlformats.org/drawingml/2006/main">
              <a:ext uri="{FF2B5EF4-FFF2-40B4-BE49-F238E27FC236}">
                <a16:creationId xmlns:a16="http://schemas.microsoft.com/office/drawing/2014/main" id="{8DCD3F28-097F-4E6D-92E2-2292C8768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190750"/>
            <a:ext cx="2286000" cy="1714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69E0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</a:defRPr>
            </a:pPr>
            <a:r>
              <a:rPr sz="1875" b="1">
                <a:solidFill>
                  <a:srgbClr val="FFFFFF"/>
                </a:solidFill>
              </a:rPr>
              <a:t>1</a:t>
            </a:r>
          </a:p>
          <a:p xmlns:a="http://schemas.openxmlformats.org/drawingml/2006/main">
            <a:pPr algn="ctr">
              <a:defRPr sz="1875" b="1">
                <a:solidFill>
                  <a:srgbClr val="FFFFFF"/>
                </a:solidFill>
              </a:defRPr>
            </a:pPr>
            <a:r>
              <a:rPr sz="1875" b="1">
                <a:solidFill>
                  <a:srgbClr val="FFFFFF"/>
                </a:solidFill>
              </a:rPr>
              <a:t>MỤC ĐÍCH</a:t>
            </a:r>
          </a:p>
        </p:txBody>
      </p:sp>
      <p:sp>
        <p:nvSpPr>
          <p:cNvPr id="6" name="anim-23b-0">
            <a:extLst xmlns:a="http://schemas.openxmlformats.org/drawingml/2006/main">
              <a:ext uri="{FF2B5EF4-FFF2-40B4-BE49-F238E27FC236}">
                <a16:creationId xmlns:a16="http://schemas.microsoft.com/office/drawing/2014/main" id="{5D0E6399-B96F-40E5-B10A-2227D4C24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286250"/>
            <a:ext cx="2095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10131A"/>
                </a:solidFill>
              </a:defRPr>
            </a:pPr>
            <a:r>
              <a:rPr sz="1425" b="0">
                <a:solidFill>
                  <a:srgbClr val="10131A"/>
                </a:solidFill>
              </a:rPr>
              <a:t>Có thật sự cần dùng công nghệ?</a:t>
            </a:r>
          </a:p>
        </p:txBody>
      </p:sp>
      <p:sp>
        <p:nvSpPr>
          <p:cNvPr id="7" name="anim-23-1">
            <a:extLst xmlns:a="http://schemas.openxmlformats.org/drawingml/2006/main">
              <a:ext uri="{FF2B5EF4-FFF2-40B4-BE49-F238E27FC236}">
                <a16:creationId xmlns:a16="http://schemas.microsoft.com/office/drawing/2014/main" id="{80F5ABDB-E41C-4584-AE45-8F5BE8260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2190750"/>
            <a:ext cx="2286000" cy="1714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4A4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</a:defRPr>
            </a:pPr>
            <a:r>
              <a:rPr sz="1875" b="1">
                <a:solidFill>
                  <a:srgbClr val="FFFFFF"/>
                </a:solidFill>
              </a:rPr>
              <a:t>2</a:t>
            </a:r>
          </a:p>
          <a:p xmlns:a="http://schemas.openxmlformats.org/drawingml/2006/main">
            <a:pPr algn="ctr">
              <a:defRPr sz="1875" b="1">
                <a:solidFill>
                  <a:srgbClr val="FFFFFF"/>
                </a:solidFill>
              </a:defRPr>
            </a:pPr>
            <a:r>
              <a:rPr sz="1875" b="1">
                <a:solidFill>
                  <a:srgbClr val="FFFFFF"/>
                </a:solidFill>
              </a:rPr>
              <a:t>DỮ LIỆU</a:t>
            </a:r>
          </a:p>
        </p:txBody>
      </p:sp>
      <p:sp>
        <p:nvSpPr>
          <p:cNvPr id="8" name="anim-23b-1">
            <a:extLst xmlns:a="http://schemas.openxmlformats.org/drawingml/2006/main">
              <a:ext uri="{FF2B5EF4-FFF2-40B4-BE49-F238E27FC236}">
                <a16:creationId xmlns:a16="http://schemas.microsoft.com/office/drawing/2014/main" id="{4DE52CB3-2B11-40F7-B68F-6E16A0DFA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4286250"/>
            <a:ext cx="2095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10131A"/>
                </a:solidFill>
              </a:defRPr>
            </a:pPr>
            <a:r>
              <a:rPr sz="1425" b="0">
                <a:solidFill>
                  <a:srgbClr val="10131A"/>
                </a:solidFill>
              </a:rPr>
              <a:t>Không lộ thông tin cá nhân và tôn trọng bản quyền.</a:t>
            </a:r>
          </a:p>
        </p:txBody>
      </p:sp>
      <p:sp>
        <p:nvSpPr>
          <p:cNvPr id="9" name="anim-23-2">
            <a:extLst xmlns:a="http://schemas.openxmlformats.org/drawingml/2006/main">
              <a:ext uri="{FF2B5EF4-FFF2-40B4-BE49-F238E27FC236}">
                <a16:creationId xmlns:a16="http://schemas.microsoft.com/office/drawing/2014/main" id="{ED35DF47-F139-49BE-9D14-CE003F947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2190750"/>
            <a:ext cx="2286000" cy="1714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</a:defRPr>
            </a:pPr>
            <a:r>
              <a:rPr sz="1875" b="1">
                <a:solidFill>
                  <a:srgbClr val="FFFFFF"/>
                </a:solidFill>
              </a:rPr>
              <a:t>3</a:t>
            </a:r>
          </a:p>
          <a:p xmlns:a="http://schemas.openxmlformats.org/drawingml/2006/main">
            <a:pPr algn="ctr">
              <a:defRPr sz="1875" b="1">
                <a:solidFill>
                  <a:srgbClr val="FFFFFF"/>
                </a:solidFill>
              </a:defRPr>
            </a:pPr>
            <a:r>
              <a:rPr sz="1875" b="1">
                <a:solidFill>
                  <a:srgbClr val="FFFFFF"/>
                </a:solidFill>
              </a:rPr>
              <a:t>KIỂM CHỨNG</a:t>
            </a:r>
          </a:p>
        </p:txBody>
      </p:sp>
      <p:sp>
        <p:nvSpPr>
          <p:cNvPr id="10" name="anim-23b-2">
            <a:extLst xmlns:a="http://schemas.openxmlformats.org/drawingml/2006/main">
              <a:ext uri="{FF2B5EF4-FFF2-40B4-BE49-F238E27FC236}">
                <a16:creationId xmlns:a16="http://schemas.microsoft.com/office/drawing/2014/main" id="{8EC1C85D-5017-4D76-AB4B-951F29BDE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4286250"/>
            <a:ext cx="2095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10131A"/>
                </a:solidFill>
              </a:defRPr>
            </a:pPr>
            <a:r>
              <a:rPr sz="1425" b="0">
                <a:solidFill>
                  <a:srgbClr val="10131A"/>
                </a:solidFill>
              </a:rPr>
              <a:t>Đối chiếu nguồn, dữ kiện và nhiều trường hợp.</a:t>
            </a:r>
          </a:p>
        </p:txBody>
      </p:sp>
      <p:sp>
        <p:nvSpPr>
          <p:cNvPr id="11" name="anim-23-3">
            <a:extLst xmlns:a="http://schemas.openxmlformats.org/drawingml/2006/main">
              <a:ext uri="{FF2B5EF4-FFF2-40B4-BE49-F238E27FC236}">
                <a16:creationId xmlns:a16="http://schemas.microsoft.com/office/drawing/2014/main" id="{CFAACBEC-5BBF-4B6E-83CA-66CEAD293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2190750"/>
            <a:ext cx="2286000" cy="1714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B8A5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</a:defRPr>
            </a:pPr>
            <a:r>
              <a:rPr sz="1875" b="1">
                <a:solidFill>
                  <a:srgbClr val="FFFFFF"/>
                </a:solidFill>
              </a:rPr>
              <a:t>4</a:t>
            </a:r>
          </a:p>
          <a:p xmlns:a="http://schemas.openxmlformats.org/drawingml/2006/main">
            <a:pPr algn="ctr">
              <a:defRPr sz="1875" b="1">
                <a:solidFill>
                  <a:srgbClr val="FFFFFF"/>
                </a:solidFill>
              </a:defRPr>
            </a:pPr>
            <a:r>
              <a:rPr sz="1875" b="1">
                <a:solidFill>
                  <a:srgbClr val="FFFFFF"/>
                </a:solidFill>
              </a:rPr>
              <a:t>TRÁCH NHIỆM</a:t>
            </a:r>
          </a:p>
        </p:txBody>
      </p:sp>
      <p:sp>
        <p:nvSpPr>
          <p:cNvPr id="12" name="anim-23b-3">
            <a:extLst xmlns:a="http://schemas.openxmlformats.org/drawingml/2006/main">
              <a:ext uri="{FF2B5EF4-FFF2-40B4-BE49-F238E27FC236}">
                <a16:creationId xmlns:a16="http://schemas.microsoft.com/office/drawing/2014/main" id="{DEFD3D82-5D72-42A7-9CDA-249329DB3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4286250"/>
            <a:ext cx="2095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10131A"/>
                </a:solidFill>
              </a:defRPr>
            </a:pPr>
            <a:r>
              <a:rPr sz="1425" b="0">
                <a:solidFill>
                  <a:srgbClr val="10131A"/>
                </a:solidFill>
              </a:rPr>
              <a:t>Khai báo hỗ trợ; con người chịu trách nhiệm.</a:t>
            </a:r>
          </a:p>
        </p:txBody>
      </p:sp>
      <p:sp>
        <p:nvSpPr>
          <p:cNvPr id="13" name="anim-23-close">
            <a:extLst xmlns:a="http://schemas.openxmlformats.org/drawingml/2006/main">
              <a:ext uri="{FF2B5EF4-FFF2-40B4-BE49-F238E27FC236}">
                <a16:creationId xmlns:a16="http://schemas.microsoft.com/office/drawing/2014/main" id="{DC16FE93-3B80-41C5-ADE2-9BF9DDDBE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619750"/>
            <a:ext cx="9906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D84A4A"/>
                </a:solidFill>
              </a:defRPr>
            </a:pPr>
            <a:r>
              <a:rPr sz="1875" b="1">
                <a:solidFill>
                  <a:srgbClr val="D84A4A"/>
                </a:solidFill>
              </a:rPr>
              <a:t>Không qua một cửa kiểm soát: dừng, đổi công cụ hoặc chuyển sang phương án không sử dụng thiết bị.</a:t>
            </a:r>
          </a:p>
        </p:txBody>
      </p:sp>
    </p:spTree>
    <p:transition spd="fast">
      <p:fade/>
    </p:transition>
    <p:timing>
      <p:tnLst>
        <p:par>
          <p:cTn id="1000" dur="indefinite" restart="never" nodeType="tmRoot">
            <p:childTnLst>
              <p:seq concurrent="1" nextAc="seek">
                <p:cTn id="1001" dur="indefinite" nodeType="mainSeq">
                  <p:childTnLst>
                    <p:par>
                      <p:cTn id="1002" fill="hold">
                        <p:stCondLst>
                          <p:cond delay="indefinite"/>
                        </p:stCondLst>
                        <p:childTnLst>
                          <p:par>
                            <p:cTn id="1003" fill="hold">
                              <p:stCondLst>
                                <p:cond delay="0"/>
                              </p:stCondLst>
                              <p:childTnLst>
                                <p:par>
                                  <p:cTn id="1004" presetID="10" presetClass="entr" presetSubtype="0" fill="hold" grpId="0" nodeType="clickEffect">
                                    <p:stCondLst>
                                      <p:cond delay="0"/>
                                    </p:stCondLst>
                                    <p:childTnLst>
                                      <p:set>
                                        <p:cBhvr>
                                          <p:cTn id="1005" dur="1" fill="hold">
                                            <p:stCondLst>
                                              <p:cond delay="0"/>
                                            </p:stCondLst>
                                          </p:cTn>
                                          <p:tgtEl>
                                            <p:spTgt spid="5"/>
                                          </p:tgtEl>
                                          <p:attrNameLst>
                                            <p:attrName>style.visibility</p:attrName>
                                          </p:attrNameLst>
                                        </p:cBhvr>
                                        <p:to>
                                          <p:strVal val="visible"/>
                                        </p:to>
                                      </p:set>
                                      <p:animEffect transition="in" filter="fade">
                                        <p:cBhvr>
                                          <p:cTn id="1006" dur="350"/>
                                          <p:tgtEl>
                                            <p:spTgt spid="5"/>
                                          </p:tgtEl>
                                        </p:cBhvr>
                                      </p:animEffect>
                                    </p:childTnLst>
                                  </p:cTn>
                                </p:par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1007" fill="hold">
                        <p:stCondLst>
                          <p:cond delay="indefinite"/>
                        </p:stCondLst>
                        <p:childTnLst>
                          <p:par>
                            <p:cTn id="1008" fill="hold">
                              <p:stCondLst>
                                <p:cond delay="0"/>
                              </p:stCondLst>
                              <p:childTnLst>
                                <p:par>
                                  <p:cTn id="1009" presetID="10" presetClass="entr" presetSubtype="0" fill="hold" grpId="0" nodeType="clickEffect">
                                    <p:stCondLst>
                                      <p:cond delay="0"/>
                                    </p:stCondLst>
                                    <p:childTnLst>
                                      <p:set>
                                        <p:cBhvr>
                                          <p:cTn id="1010" dur="1" fill="hold">
                                            <p:stCondLst>
                                              <p:cond delay="0"/>
                                            </p:stCondLst>
                                          </p:cTn>
                                          <p:tgtEl>
                                            <p:spTgt spid="6"/>
                                          </p:tgtEl>
                                          <p:attrNameLst>
                                            <p:attrName>style.visibility</p:attrName>
                                          </p:attrNameLst>
                                        </p:cBhvr>
                                        <p:to>
                                          <p:strVal val="visible"/>
                                        </p:to>
                                      </p:set>
                                      <p:animEffect transition="in" filter="fade">
                                        <p:cBhvr>
                                          <p:cTn id="1011" dur="350"/>
                                          <p:tgtEl>
                                            <p:spTgt spid="6"/>
                                          </p:tgtEl>
                                        </p:cBhvr>
                                      </p:animEffect>
                                    </p:childTnLst>
                                  </p:cTn>
                                </p:par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1012" fill="hold">
                        <p:stCondLst>
                          <p:cond delay="indefinite"/>
                        </p:stCondLst>
                        <p:childTnLst>
                          <p:par>
                            <p:cTn id="1013" fill="hold">
                              <p:stCondLst>
                                <p:cond delay="0"/>
                              </p:stCondLst>
                              <p:childTnLst>
                                <p:par>
                                  <p:cTn id="1014" presetID="10" presetClass="entr" presetSubtype="0" fill="hold" grpId="0" nodeType="clickEffect">
                                    <p:stCondLst>
                                      <p:cond delay="0"/>
                                    </p:stCondLst>
                                    <p:childTnLst>
                                      <p:set>
                                        <p:cBhvr>
                                          <p:cTn id="1015" dur="1" fill="hold">
                                            <p:stCondLst>
                                              <p:cond delay="0"/>
                                            </p:stCondLst>
                                          </p:cTn>
                                          <p:tgtEl>
                                            <p:spTgt spid="7"/>
                                          </p:tgtEl>
                                          <p:attrNameLst>
                                            <p:attrName>style.visibility</p:attrName>
                                          </p:attrNameLst>
                                        </p:cBhvr>
                                        <p:to>
                                          <p:strVal val="visible"/>
                                        </p:to>
                                      </p:set>
                                      <p:animEffect transition="in" filter="fade">
                                        <p:cBhvr>
                                          <p:cTn id="1016" dur="350"/>
                                          <p:tgtEl>
                                            <p:spTgt spid="7"/>
                                          </p:tgtEl>
                                        </p:cBhvr>
                                      </p:animEffect>
                                    </p:childTnLst>
                                  </p:cTn>
                                </p:par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1017" fill="hold">
                        <p:stCondLst>
                          <p:cond delay="indefinite"/>
                        </p:stCondLst>
                        <p:childTnLst>
                          <p:par>
                            <p:cTn id="1018" fill="hold">
                              <p:stCondLst>
                                <p:cond delay="0"/>
                              </p:stCondLst>
                              <p:childTnLst>
                                <p:par>
                                  <p:cTn id="1019" presetID="10" presetClass="entr" presetSubtype="0" fill="hold" grpId="0" nodeType="clickEffect">
                                    <p:stCondLst>
                                      <p:cond delay="0"/>
                                    </p:stCondLst>
                                    <p:childTnLst>
                                      <p:set>
                                        <p:cBhvr>
                                          <p:cTn id="1020" dur="1" fill="hold">
                                            <p:stCondLst>
                                              <p:cond delay="0"/>
                                            </p:stCondLst>
                                          </p:cTn>
                                          <p:tgtEl>
                                            <p:spTgt spid="8"/>
                                          </p:tgtEl>
                                          <p:attrNameLst>
                                            <p:attrName>style.visibility</p:attrName>
                                          </p:attrNameLst>
                                        </p:cBhvr>
                                        <p:to>
                                          <p:strVal val="visible"/>
                                        </p:to>
                                      </p:set>
                                      <p:animEffect transition="in" filter="fade">
                                        <p:cBhvr>
                                          <p:cTn id="1021" dur="350"/>
                                          <p:tgtEl>
                                            <p:spTgt spid="8"/>
                                          </p:tgtEl>
                                        </p:cBhvr>
                                      </p:animEffect>
                                    </p:childTnLst>
                                  </p:cTn>
                                </p:par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1022" fill="hold">
                        <p:stCondLst>
                          <p:cond delay="indefinite"/>
                        </p:stCondLst>
                        <p:childTnLst>
                          <p:par>
                            <p:cTn id="1023" fill="hold">
                              <p:stCondLst>
                                <p:cond delay="0"/>
                              </p:stCondLst>
                              <p:childTnLst>
                                <p:par>
                                  <p:cTn id="1024" presetID="10" presetClass="entr" presetSubtype="0" fill="hold" grpId="0" nodeType="clickEffect">
                                    <p:stCondLst>
                                      <p:cond delay="0"/>
                                    </p:stCondLst>
                                    <p:childTnLst>
                                      <p:set>
                                        <p:cBhvr>
                                          <p:cTn id="1025" dur="1" fill="hold">
                                            <p:stCondLst>
                                              <p:cond delay="0"/>
                                            </p:stCondLst>
                                          </p:cTn>
                                          <p:tgtEl>
                                            <p:spTgt spid="9"/>
                                          </p:tgtEl>
                                          <p:attrNameLst>
                                            <p:attrName>style.visibility</p:attrName>
                                          </p:attrNameLst>
                                        </p:cBhvr>
                                        <p:to>
                                          <p:strVal val="visible"/>
                                        </p:to>
                                      </p:set>
                                      <p:animEffect transition="in" filter="fade">
                                        <p:cBhvr>
                                          <p:cTn id="1026" dur="350"/>
                                          <p:tgtEl>
                                            <p:spTgt spid="9"/>
                                          </p:tgtEl>
                                        </p:cBhvr>
                                      </p:animEffect>
                                    </p:childTnLst>
                                  </p:cTn>
                                </p:par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1027" fill="hold">
                        <p:stCondLst>
                          <p:cond delay="indefinite"/>
                        </p:stCondLst>
                        <p:childTnLst>
                          <p:par>
                            <p:cTn id="1028" fill="hold">
                              <p:stCondLst>
                                <p:cond delay="0"/>
                              </p:stCondLst>
                              <p:childTnLst>
                                <p:par>
                                  <p:cTn id="1029" presetID="10" presetClass="entr" presetSubtype="0" fill="hold" grpId="0" nodeType="clickEffect">
                                    <p:stCondLst>
                                      <p:cond delay="0"/>
                                    </p:stCondLst>
                                    <p:childTnLst>
                                      <p:set>
                                        <p:cBhvr>
                                          <p:cTn id="1030" dur="1" fill="hold">
                                            <p:stCondLst>
                                              <p:cond delay="0"/>
                                            </p:stCondLst>
                                          </p:cTn>
                                          <p:tgtEl>
                                            <p:spTgt spid="10"/>
                                          </p:tgtEl>
                                          <p:attrNameLst>
                                            <p:attrName>style.visibility</p:attrName>
                                          </p:attrNameLst>
                                        </p:cBhvr>
                                        <p:to>
                                          <p:strVal val="visible"/>
                                        </p:to>
                                      </p:set>
                                      <p:animEffect transition="in" filter="fade">
                                        <p:cBhvr>
                                          <p:cTn id="1031" dur="350"/>
                                          <p:tgtEl>
                                            <p:spTgt spid="10"/>
                                          </p:tgtEl>
                                        </p:cBhvr>
                                      </p:animEffect>
                                    </p:childTnLst>
                                  </p:cTn>
                                </p:par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1032" fill="hold">
                        <p:stCondLst>
                          <p:cond delay="indefinite"/>
                        </p:stCondLst>
                        <p:childTnLst>
                          <p:par>
                            <p:cTn id="1033" fill="hold">
                              <p:stCondLst>
                                <p:cond delay="0"/>
                              </p:stCondLst>
                              <p:childTnLst>
                                <p:par>
                                  <p:cTn id="1034" presetID="10" presetClass="entr" presetSubtype="0" fill="hold" grpId="0" nodeType="clickEffect">
                                    <p:stCondLst>
                                      <p:cond delay="0"/>
                                    </p:stCondLst>
                                    <p:childTnLst>
                                      <p:set>
                                        <p:cBhvr>
                                          <p:cTn id="1035" dur="1" fill="hold">
                                            <p:stCondLst>
                                              <p:cond delay="0"/>
                                            </p:stCondLst>
                                          </p:cTn>
                                          <p:tgtEl>
                                            <p:spTgt spid="11"/>
                                          </p:tgtEl>
                                          <p:attrNameLst>
                                            <p:attrName>style.visibility</p:attrName>
                                          </p:attrNameLst>
                                        </p:cBhvr>
                                        <p:to>
                                          <p:strVal val="visible"/>
                                        </p:to>
                                      </p:set>
                                      <p:animEffect transition="in" filter="fade">
                                        <p:cBhvr>
                                          <p:cTn id="1036" dur="350"/>
                                          <p:tgtEl>
                                            <p:spTgt spid="11"/>
                                          </p:tgtEl>
                                        </p:cBhvr>
                                      </p:animEffect>
                                    </p:childTnLst>
                                  </p:cTn>
                                </p:par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1037" fill="hold">
                        <p:stCondLst>
                          <p:cond delay="indefinite"/>
                        </p:stCondLst>
                        <p:childTnLst>
                          <p:par>
                            <p:cTn id="1038" fill="hold">
                              <p:stCondLst>
                                <p:cond delay="0"/>
                              </p:stCondLst>
                              <p:childTnLst>
                                <p:par>
                                  <p:cTn id="1039" presetID="10" presetClass="entr" presetSubtype="0" fill="hold" grpId="0" nodeType="clickEffect">
                                    <p:stCondLst>
                                      <p:cond delay="0"/>
                                    </p:stCondLst>
                                    <p:childTnLst>
                                      <p:set>
                                        <p:cBhvr>
                                          <p:cTn id="1040" dur="1" fill="hold">
                                            <p:stCondLst>
                                              <p:cond delay="0"/>
                                            </p:stCondLst>
                                          </p:cTn>
                                          <p:tgtEl>
                                            <p:spTgt spid="12"/>
                                          </p:tgtEl>
                                          <p:attrNameLst>
                                            <p:attrName>style.visibility</p:attrName>
                                          </p:attrNameLst>
                                        </p:cBhvr>
                                        <p:to>
                                          <p:strVal val="visible"/>
                                        </p:to>
                                      </p:set>
                                      <p:animEffect transition="in" filter="fade">
                                        <p:cBhvr>
                                          <p:cTn id="1041" dur="350"/>
                                          <p:tgtEl>
                                            <p:spTgt spid="12"/>
                                          </p:tgtEl>
                                        </p:cBhvr>
                                      </p:animEffect>
                                    </p:childTnLst>
                                  </p:cTn>
                                </p:par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1042" fill="hold">
                        <p:stCondLst>
                          <p:cond delay="indefinite"/>
                        </p:stCondLst>
                        <p:childTnLst>
                          <p:par>
                            <p:cTn id="1043" fill="hold">
                              <p:stCondLst>
                                <p:cond delay="0"/>
                              </p:stCondLst>
                              <p:childTnLst>
                                <p:par>
                                  <p:cTn id="1044" presetID="10" presetClass="entr" presetSubtype="0" fill="hold" grpId="0" nodeType="clickEffect">
                                    <p:stCondLst>
                                      <p:cond delay="0"/>
                                    </p:stCondLst>
                                    <p:childTnLst>
                                      <p:set>
                                        <p:cBhvr>
                                          <p:cTn id="1045" dur="1" fill="hold">
                                            <p:stCondLst>
                                              <p:cond delay="0"/>
                                            </p:stCondLst>
                                          </p:cTn>
                                          <p:tgtEl>
                                            <p:spTgt spid="13"/>
                                          </p:tgtEl>
                                          <p:attrNameLst>
                                            <p:attrName>style.visibility</p:attrName>
                                          </p:attrNameLst>
                                        </p:cBhvr>
                                        <p:to>
                                          <p:strVal val="visible"/>
                                        </p:to>
                                      </p:set>
                                      <p:animEffect transition="in" filter="fade">
                                        <p:cBhvr>
                                          <p:cTn id="1046" dur="350"/>
                                          <p:tgtEl>
                                            <p:spTgt spid="13"/>
                                          </p:tgtEl>
                                        </p:cBhvr>
                                      </p:animEffect>
                                    </p:childTnLst>
                                  </p:cTn>
                                </p:par>
                              </p:childTnLst>
                            </p:cTn>
                          </p:par>
                        </p:childTnLst>
                      </p:cTn>
                    </p:par>
                  </p:childTnLst>
                </p:cTn>
                <p:prevCondLst>
                  <p:cond evt="onPrev" delay="0">
                    <p:tgtEl>
                      <p:sldTgt/>
                    </p:tgtEl>
                  </p:cond>
                </p:prevCondLst>
                <p:nextCondLst>
                  <p:cond evt="onNext" delay="0">
                    <p:tgtEl>
                      <p:sldTgt/>
                    </p:tgtEl>
                  </p:cond>
                </p:nextCondLst>
              </p:seq>
            </p:childTnLst>
          </p:cTn>
        </p:par>
      </p:tnLst>
    </p:timing>
    <p:extLst>
      <p:ext uri="{BB962C8B-B14F-4D97-AF65-F5344CB8AC3E}">
        <p14:creationId xmlns:p14="http://schemas.microsoft.com/office/powerpoint/2010/main" val="408277368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ection-24">
            <a:extLst xmlns:a="http://schemas.openxmlformats.org/drawingml/2006/main">
              <a:ext uri="{FF2B5EF4-FFF2-40B4-BE49-F238E27FC236}">
                <a16:creationId xmlns:a16="http://schemas.microsoft.com/office/drawing/2014/main" id="{C4EABDD7-8454-4037-BBC6-619BED4C0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47650"/>
            <a:ext cx="419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769E0"/>
                </a:solidFill>
              </a:defRPr>
            </a:pPr>
            <a:r>
              <a:rPr sz="1050" b="1">
                <a:solidFill>
                  <a:srgbClr val="1769E0"/>
                </a:solidFill>
              </a:rPr>
              <a:t>13 / ĐÁNH GIÁ</a:t>
            </a:r>
          </a:p>
        </p:txBody>
      </p:sp>
      <p:sp>
        <p:nvSpPr>
          <p:cNvPr id="2" name="title-24">
            <a:extLst xmlns:a="http://schemas.openxmlformats.org/drawingml/2006/main">
              <a:ext uri="{FF2B5EF4-FFF2-40B4-BE49-F238E27FC236}">
                <a16:creationId xmlns:a16="http://schemas.microsoft.com/office/drawing/2014/main" id="{F4C27FD1-2754-4320-A2D8-D6EDF0AB5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0550"/>
            <a:ext cx="11144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0131A"/>
                </a:solidFill>
              </a:defRPr>
            </a:pPr>
            <a:r>
              <a:rPr sz="2400" b="1">
                <a:solidFill>
                  <a:srgbClr val="10131A"/>
                </a:solidFill>
              </a:rPr>
              <a:t>Đánh giá năng lực số dựa trên tiêu chí, sản phẩm và quá trình</a:t>
            </a:r>
          </a:p>
        </p:txBody>
      </p:sp>
      <p:sp>
        <p:nvSpPr>
          <p:cNvPr id="3" name="rule-24">
            <a:extLst xmlns:a="http://schemas.openxmlformats.org/drawingml/2006/main">
              <a:ext uri="{FF2B5EF4-FFF2-40B4-BE49-F238E27FC236}">
                <a16:creationId xmlns:a16="http://schemas.microsoft.com/office/drawing/2014/main" id="{EA010E39-A3A5-4362-BDB6-1731004FD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04950"/>
            <a:ext cx="11391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4" name="page-24">
            <a:extLst xmlns:a="http://schemas.openxmlformats.org/drawingml/2006/main">
              <a:ext uri="{FF2B5EF4-FFF2-40B4-BE49-F238E27FC236}">
                <a16:creationId xmlns:a16="http://schemas.microsoft.com/office/drawing/2014/main" id="{9137FD19-B628-4EBB-AA68-CD800ACF7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86500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E6673"/>
                </a:solidFill>
              </a:defRPr>
            </a:pPr>
            <a:r>
              <a:rPr sz="975" b="0">
                <a:solidFill>
                  <a:srgbClr val="5E6673"/>
                </a:solidFill>
              </a:rPr>
              <a:t>24</a:t>
            </a:r>
          </a:p>
        </p:txBody>
      </p:sp>
      <p:sp>
        <p:nvSpPr>
          <p:cNvPr id="5" name="anim-24a">
            <a:extLst xmlns:a="http://schemas.openxmlformats.org/drawingml/2006/main">
              <a:ext uri="{FF2B5EF4-FFF2-40B4-BE49-F238E27FC236}">
                <a16:creationId xmlns:a16="http://schemas.microsoft.com/office/drawing/2014/main" id="{F9D48ADE-5285-466D-BCAC-D2D26F7CC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095500"/>
            <a:ext cx="3333750" cy="257175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0131A"/>
                </a:solidFill>
              </a:defRPr>
            </a:pPr>
            <a:r>
              <a:rPr sz="1650" b="0">
                <a:solidFill>
                  <a:srgbClr val="10131A"/>
                </a:solidFill>
              </a:rPr>
              <a:t>TRƯỚC KHI TRIỂN KHAI</a:t>
            </a:r>
          </a:p>
          <a:p xmlns:a="http://schemas.openxmlformats.org/drawingml/2006/main">
            <a:pPr algn="l">
              <a:defRPr sz="1650" b="0">
                <a:solidFill>
                  <a:srgbClr val="10131A"/>
                </a:solidFill>
              </a:defRPr>
            </a:pPr>
            <a:r>
              <a:rPr sz="1650" b="0">
                <a:solidFill>
                  <a:srgbClr val="10131A"/>
                </a:solidFill>
              </a:rPr>
              <a:t>Rà soát thực trạng NLS của học sinh; điều chỉnh mức độ phù hợp điều kiện nhà trường.</a:t>
            </a:r>
          </a:p>
        </p:txBody>
      </p:sp>
      <p:sp>
        <p:nvSpPr>
          <p:cNvPr id="6" name="anim-24a-accent">
            <a:extLst xmlns:a="http://schemas.openxmlformats.org/drawingml/2006/main">
              <a:ext uri="{FF2B5EF4-FFF2-40B4-BE49-F238E27FC236}">
                <a16:creationId xmlns:a16="http://schemas.microsoft.com/office/drawing/2014/main" id="{3048B96A-8A63-4CB9-8282-F98FF0B2A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095500"/>
            <a:ext cx="76200" cy="2571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9E0"/>
          </a:solidFill>
          <a:ln xmlns:a="http://schemas.openxmlformats.org/drawingml/2006/main" w="0">
            <a:solidFill>
              <a:srgbClr val="1769E0"/>
            </a:solidFill>
            <a:prstDash val="solid"/>
          </a:ln>
        </p:spPr>
      </p:sp>
      <p:sp>
        <p:nvSpPr>
          <p:cNvPr id="7" name="anim-24b">
            <a:extLst xmlns:a="http://schemas.openxmlformats.org/drawingml/2006/main">
              <a:ext uri="{FF2B5EF4-FFF2-40B4-BE49-F238E27FC236}">
                <a16:creationId xmlns:a16="http://schemas.microsoft.com/office/drawing/2014/main" id="{265334C3-590B-4087-8948-787F9541A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095500"/>
            <a:ext cx="3333750" cy="257175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F0F2F5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0131A"/>
                </a:solidFill>
              </a:defRPr>
            </a:pPr>
            <a:r>
              <a:rPr sz="1650" b="0">
                <a:solidFill>
                  <a:srgbClr val="10131A"/>
                </a:solidFill>
              </a:rPr>
              <a:t>TRONG QUÁ TRÌNH HỌC</a:t>
            </a:r>
          </a:p>
          <a:p xmlns:a="http://schemas.openxmlformats.org/drawingml/2006/main">
            <a:pPr algn="l">
              <a:defRPr sz="1650" b="0">
                <a:solidFill>
                  <a:srgbClr val="10131A"/>
                </a:solidFill>
              </a:defRPr>
            </a:pPr>
            <a:r>
              <a:rPr sz="1650" b="0">
                <a:solidFill>
                  <a:srgbClr val="10131A"/>
                </a:solidFill>
              </a:rPr>
              <a:t>Quan sát thao tác; xem lịch sử tìm kiếm, tệp sản phẩm, phản hồi nhóm, giải thích và lựa chọn nguồn.</a:t>
            </a:r>
          </a:p>
        </p:txBody>
      </p:sp>
      <p:sp>
        <p:nvSpPr>
          <p:cNvPr id="8" name="anim-24b-accent">
            <a:extLst xmlns:a="http://schemas.openxmlformats.org/drawingml/2006/main">
              <a:ext uri="{FF2B5EF4-FFF2-40B4-BE49-F238E27FC236}">
                <a16:creationId xmlns:a16="http://schemas.microsoft.com/office/drawing/2014/main" id="{6A1CBEE1-A9B6-4D74-B06F-F6D24C8F0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095500"/>
            <a:ext cx="76200" cy="2571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4C2F0"/>
          </a:solidFill>
          <a:ln xmlns:a="http://schemas.openxmlformats.org/drawingml/2006/main" w="0">
            <a:solidFill>
              <a:srgbClr val="44C2F0"/>
            </a:solidFill>
            <a:prstDash val="solid"/>
          </a:ln>
        </p:spPr>
      </p:sp>
      <p:sp>
        <p:nvSpPr>
          <p:cNvPr id="9" name="anim-24c">
            <a:extLst xmlns:a="http://schemas.openxmlformats.org/drawingml/2006/main">
              <a:ext uri="{FF2B5EF4-FFF2-40B4-BE49-F238E27FC236}">
                <a16:creationId xmlns:a16="http://schemas.microsoft.com/office/drawing/2014/main" id="{E1CE4A9A-D247-4C57-82A0-421B2A3CD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2095500"/>
            <a:ext cx="3333750" cy="257175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EAF7F0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0131A"/>
                </a:solidFill>
              </a:defRPr>
            </a:pPr>
            <a:r>
              <a:rPr sz="1650" b="0">
                <a:solidFill>
                  <a:srgbClr val="10131A"/>
                </a:solidFill>
              </a:rPr>
              <a:t>CUỐI NĂM HỌC</a:t>
            </a:r>
          </a:p>
          <a:p xmlns:a="http://schemas.openxmlformats.org/drawingml/2006/main">
            <a:pPr algn="l">
              <a:defRPr sz="1650" b="0">
                <a:solidFill>
                  <a:srgbClr val="10131A"/>
                </a:solidFill>
              </a:defRPr>
            </a:pPr>
            <a:r>
              <a:rPr sz="1650" b="0">
                <a:solidFill>
                  <a:srgbClr val="10131A"/>
                </a:solidFill>
              </a:rPr>
              <a:t>Đánh giá theo tiêu chí bám sát các miền năng lực và mức độ cần đạt; rà soát để điều chỉnh năm sau.</a:t>
            </a:r>
          </a:p>
        </p:txBody>
      </p:sp>
      <p:sp>
        <p:nvSpPr>
          <p:cNvPr id="10" name="anim-24c-accent">
            <a:extLst xmlns:a="http://schemas.openxmlformats.org/drawingml/2006/main">
              <a:ext uri="{FF2B5EF4-FFF2-40B4-BE49-F238E27FC236}">
                <a16:creationId xmlns:a16="http://schemas.microsoft.com/office/drawing/2014/main" id="{8E20285C-43AE-46FD-9973-E89858E17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2095500"/>
            <a:ext cx="76200" cy="2571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8A5A"/>
          </a:solidFill>
          <a:ln xmlns:a="http://schemas.openxmlformats.org/drawingml/2006/main" w="0">
            <a:solidFill>
              <a:srgbClr val="1B8A5A"/>
            </a:solidFill>
            <a:prstDash val="solid"/>
          </a:ln>
        </p:spPr>
      </p:sp>
      <p:sp>
        <p:nvSpPr>
          <p:cNvPr id="11" name="anim-24-close">
            <a:extLst xmlns:a="http://schemas.openxmlformats.org/drawingml/2006/main">
              <a:ext uri="{FF2B5EF4-FFF2-40B4-BE49-F238E27FC236}">
                <a16:creationId xmlns:a16="http://schemas.microsoft.com/office/drawing/2014/main" id="{7C04B7E9-55BF-4386-8B06-ADBFE4D8C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429250"/>
            <a:ext cx="10287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B2B5B"/>
                </a:solidFill>
              </a:defRPr>
            </a:pPr>
            <a:r>
              <a:rPr sz="1800" b="1">
                <a:solidFill>
                  <a:srgbClr val="0B2B5B"/>
                </a:solidFill>
              </a:rPr>
              <a:t>Minh chứng tốt hơn “điểm danh công cụ”: học sinh phải cho thấy mình biết làm gì, vì sao và an toàn ra sao.</a:t>
            </a:r>
          </a:p>
        </p:txBody>
      </p:sp>
      <p:sp>
        <p:nvSpPr>
          <p:cNvPr id="12" name="source-24">
            <a:extLst xmlns:a="http://schemas.openxmlformats.org/drawingml/2006/main">
              <a:ext uri="{FF2B5EF4-FFF2-40B4-BE49-F238E27FC236}">
                <a16:creationId xmlns:a16="http://schemas.microsoft.com/office/drawing/2014/main" id="{6EE9BCB9-3040-4B98-ABA1-650ECA8A7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0"/>
            <a:ext cx="990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E6673"/>
                </a:solidFill>
              </a:defRPr>
            </a:pPr>
            <a:r>
              <a:rPr sz="825" b="0">
                <a:solidFill>
                  <a:srgbClr val="5E6673"/>
                </a:solidFill>
              </a:rPr>
              <a:t>Nguồn: Công văn 3456/BGDĐT-GDPT, mục II.1.2 và II.2.</a:t>
            </a:r>
          </a:p>
        </p:txBody>
      </p:sp>
    </p:spTree>
    <p:transition spd="fast">
      <p:fade/>
    </p:transition>
    <p:timing>
      <p:tnLst>
        <p:par>
          <p:cTn id="1000" dur="indefinite" restart="never" nodeType="tmRoot">
            <p:childTnLst>
              <p:seq concurrent="1" nextAc="seek">
                <p:cTn id="1001" dur="indefinite" nodeType="mainSeq">
                  <p:childTnLst>
                    <p:par>
                      <p:cTn id="1002" fill="hold">
                        <p:stCondLst>
                          <p:cond delay="indefinite"/>
                        </p:stCondLst>
                        <p:childTnLst>
                          <p:par>
                            <p:cTn id="1003" fill="hold">
                              <p:stCondLst>
                                <p:cond delay="0"/>
                              </p:stCondLst>
                              <p:childTnLst>
                                <p:par>
                                  <p:cTn id="1004" presetID="10" presetClass="entr" presetSubtype="0" fill="hold" grpId="0" nodeType="clickEffect">
                                    <p:stCondLst>
                                      <p:cond delay="0"/>
                                    </p:stCondLst>
                                    <p:childTnLst>
                                      <p:set>
                                        <p:cBhvr>
                                          <p:cTn id="1005" dur="1" fill="hold">
                                            <p:stCondLst>
                                              <p:cond delay="0"/>
                                            </p:stCondLst>
                                          </p:cTn>
                                          <p:tgtEl>
                                            <p:spTgt spid="5"/>
                                          </p:tgtEl>
                                          <p:attrNameLst>
                                            <p:attrName>style.visibility</p:attrName>
                                          </p:attrNameLst>
                                        </p:cBhvr>
                                        <p:to>
                                          <p:strVal val="visible"/>
                                        </p:to>
                                      </p:set>
                                      <p:animEffect transition="in" filter="fade">
                                        <p:cBhvr>
                                          <p:cTn id="1006" dur="350"/>
                                          <p:tgtEl>
                                            <p:spTgt spid="5"/>
                                          </p:tgtEl>
                                        </p:cBhvr>
                                      </p:animEffect>
                                    </p:childTnLst>
                                  </p:cTn>
                                </p:par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1007" fill="hold">
                        <p:stCondLst>
                          <p:cond delay="indefinite"/>
                        </p:stCondLst>
                        <p:childTnLst>
                          <p:par>
                            <p:cTn id="1008" fill="hold">
                              <p:stCondLst>
                                <p:cond delay="0"/>
                              </p:stCondLst>
                              <p:childTnLst>
                                <p:par>
                                  <p:cTn id="1009" presetID="10" presetClass="entr" presetSubtype="0" fill="hold" grpId="0" nodeType="clickEffect">
                                    <p:stCondLst>
                                      <p:cond delay="0"/>
                                    </p:stCondLst>
                                    <p:childTnLst>
                                      <p:set>
                                        <p:cBhvr>
                                          <p:cTn id="1010" dur="1" fill="hold">
                                            <p:stCondLst>
                                              <p:cond delay="0"/>
                                            </p:stCondLst>
                                          </p:cTn>
                                          <p:tgtEl>
                                            <p:spTgt spid="7"/>
                                          </p:tgtEl>
                                          <p:attrNameLst>
                                            <p:attrName>style.visibility</p:attrName>
                                          </p:attrNameLst>
                                        </p:cBhvr>
                                        <p:to>
                                          <p:strVal val="visible"/>
                                        </p:to>
                                      </p:set>
                                      <p:animEffect transition="in" filter="fade">
                                        <p:cBhvr>
                                          <p:cTn id="1011" dur="350"/>
                                          <p:tgtEl>
                                            <p:spTgt spid="7"/>
                                          </p:tgtEl>
                                        </p:cBhvr>
                                      </p:animEffect>
                                    </p:childTnLst>
                                  </p:cTn>
                                </p:par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1012" fill="hold">
                        <p:stCondLst>
                          <p:cond delay="indefinite"/>
                        </p:stCondLst>
                        <p:childTnLst>
                          <p:par>
                            <p:cTn id="1013" fill="hold">
                              <p:stCondLst>
                                <p:cond delay="0"/>
                              </p:stCondLst>
                              <p:childTnLst>
                                <p:par>
                                  <p:cTn id="1014" presetID="10" presetClass="entr" presetSubtype="0" fill="hold" grpId="0" nodeType="clickEffect">
                                    <p:stCondLst>
                                      <p:cond delay="0"/>
                                    </p:stCondLst>
                                    <p:childTnLst>
                                      <p:set>
                                        <p:cBhvr>
                                          <p:cTn id="1015" dur="1" fill="hold">
                                            <p:stCondLst>
                                              <p:cond delay="0"/>
                                            </p:stCondLst>
                                          </p:cTn>
                                          <p:tgtEl>
                                            <p:spTgt spid="9"/>
                                          </p:tgtEl>
                                          <p:attrNameLst>
                                            <p:attrName>style.visibility</p:attrName>
                                          </p:attrNameLst>
                                        </p:cBhvr>
                                        <p:to>
                                          <p:strVal val="visible"/>
                                        </p:to>
                                      </p:set>
                                      <p:animEffect transition="in" filter="fade">
                                        <p:cBhvr>
                                          <p:cTn id="1016" dur="350"/>
                                          <p:tgtEl>
                                            <p:spTgt spid="9"/>
                                          </p:tgtEl>
                                        </p:cBhvr>
                                      </p:animEffect>
                                    </p:childTnLst>
                                  </p:cTn>
                                </p:par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1017" fill="hold">
                        <p:stCondLst>
                          <p:cond delay="indefinite"/>
                        </p:stCondLst>
                        <p:childTnLst>
                          <p:par>
                            <p:cTn id="1018" fill="hold">
                              <p:stCondLst>
                                <p:cond delay="0"/>
                              </p:stCondLst>
                              <p:childTnLst>
                                <p:par>
                                  <p:cTn id="1019" presetID="10" presetClass="entr" presetSubtype="0" fill="hold" grpId="0" nodeType="clickEffect">
                                    <p:stCondLst>
                                      <p:cond delay="0"/>
                                    </p:stCondLst>
                                    <p:childTnLst>
                                      <p:set>
                                        <p:cBhvr>
                                          <p:cTn id="1020" dur="1" fill="hold">
                                            <p:stCondLst>
                                              <p:cond delay="0"/>
                                            </p:stCondLst>
                                          </p:cTn>
                                          <p:tgtEl>
                                            <p:spTgt spid="11"/>
                                          </p:tgtEl>
                                          <p:attrNameLst>
                                            <p:attrName>style.visibility</p:attrName>
                                          </p:attrNameLst>
                                        </p:cBhvr>
                                        <p:to>
                                          <p:strVal val="visible"/>
                                        </p:to>
                                      </p:set>
                                      <p:animEffect transition="in" filter="fade">
                                        <p:cBhvr>
                                          <p:cTn id="1021" dur="350"/>
                                          <p:tgtEl>
                                            <p:spTgt spid="11"/>
                                          </p:tgtEl>
                                        </p:cBhvr>
                                      </p:animEffect>
                                    </p:childTnLst>
                                  </p:cTn>
                                </p:par>
                              </p:childTnLst>
                            </p:cTn>
                          </p:par>
                        </p:childTnLst>
                      </p:cTn>
                    </p:par>
                  </p:childTnLst>
                </p:cTn>
                <p:prevCondLst>
                  <p:cond evt="onPrev" delay="0">
                    <p:tgtEl>
                      <p:sldTgt/>
                    </p:tgtEl>
                  </p:cond>
                </p:prevCondLst>
                <p:nextCondLst>
                  <p:cond evt="onNext" delay="0">
                    <p:tgtEl>
                      <p:sldTgt/>
                    </p:tgtEl>
                  </p:cond>
                </p:nextCondLst>
              </p:seq>
            </p:childTnLst>
          </p:cTn>
        </p:par>
      </p:tnLst>
    </p:timing>
    <p:extLst>
      <p:ext uri="{BB962C8B-B14F-4D97-AF65-F5344CB8AC3E}">
        <p14:creationId xmlns:p14="http://schemas.microsoft.com/office/powerpoint/2010/main" val="1008969092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section-25">
            <a:extLst xmlns:a="http://schemas.openxmlformats.org/drawingml/2006/main">
              <a:ext uri="{FF2B5EF4-FFF2-40B4-BE49-F238E27FC236}">
                <a16:creationId xmlns:a16="http://schemas.microsoft.com/office/drawing/2014/main" id="{F3D82F40-79D5-4F21-91D9-4235B4037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47650"/>
            <a:ext cx="419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769E0"/>
                </a:solidFill>
              </a:defRPr>
            </a:pPr>
            <a:r>
              <a:rPr sz="1050" b="1">
                <a:solidFill>
                  <a:srgbClr val="1769E0"/>
                </a:solidFill>
              </a:rPr>
              <a:t>14 / LỘ TRÌNH NHÀ TRƯỜNG</a:t>
            </a:r>
          </a:p>
        </p:txBody>
      </p:sp>
      <p:sp>
        <p:nvSpPr>
          <p:cNvPr id="2" name="title-25">
            <a:extLst xmlns:a="http://schemas.openxmlformats.org/drawingml/2006/main">
              <a:ext uri="{FF2B5EF4-FFF2-40B4-BE49-F238E27FC236}">
                <a16:creationId xmlns:a16="http://schemas.microsoft.com/office/drawing/2014/main" id="{8BC0D73E-6FDE-497F-B27E-DC5ED881C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0550"/>
            <a:ext cx="11144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0131A"/>
                </a:solidFill>
              </a:defRPr>
            </a:pPr>
            <a:r>
              <a:rPr sz="2400" b="1">
                <a:solidFill>
                  <a:srgbClr val="10131A"/>
                </a:solidFill>
              </a:rPr>
              <a:t>Triển khai theo bốn giai đoạn để đi chắc và có minh chứng</a:t>
            </a:r>
          </a:p>
        </p:txBody>
      </p:sp>
      <p:sp>
        <p:nvSpPr>
          <p:cNvPr id="3" name="rule-25">
            <a:extLst xmlns:a="http://schemas.openxmlformats.org/drawingml/2006/main">
              <a:ext uri="{FF2B5EF4-FFF2-40B4-BE49-F238E27FC236}">
                <a16:creationId xmlns:a16="http://schemas.microsoft.com/office/drawing/2014/main" id="{445D287F-463D-4DD2-BA28-445784257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04950"/>
            <a:ext cx="11391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4" name="page-25">
            <a:extLst xmlns:a="http://schemas.openxmlformats.org/drawingml/2006/main">
              <a:ext uri="{FF2B5EF4-FFF2-40B4-BE49-F238E27FC236}">
                <a16:creationId xmlns:a16="http://schemas.microsoft.com/office/drawing/2014/main" id="{0170A064-04F5-489D-8A64-0F5E49371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86500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E6673"/>
                </a:solidFill>
              </a:defRPr>
            </a:pPr>
            <a:r>
              <a:rPr sz="975" b="0">
                <a:solidFill>
                  <a:srgbClr val="5E6673"/>
                </a:solidFill>
              </a:rPr>
              <a:t>25</a:t>
            </a:r>
          </a:p>
        </p:txBody>
      </p:sp>
      <p:sp>
        <p:nvSpPr>
          <p:cNvPr id="5" name="anim-25-0">
            <a:extLst xmlns:a="http://schemas.openxmlformats.org/drawingml/2006/main">
              <a:ext uri="{FF2B5EF4-FFF2-40B4-BE49-F238E27FC236}">
                <a16:creationId xmlns:a16="http://schemas.microsoft.com/office/drawing/2014/main" id="{DA95C7AE-3D4C-49FF-BD5E-1E9F0F9D7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238375"/>
            <a:ext cx="2476500" cy="3095625"/>
          </a:xfrm>
          <a:prstGeom xmlns:a="http://schemas.openxmlformats.org/drawingml/2006/main" prst="roundRect">
            <a:avLst>
              <a:gd name="adj" fmla="val 4615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19050">
            <a:solidFill>
              <a:srgbClr val="1769E0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10131A"/>
                </a:solidFill>
              </a:defRPr>
            </a:pPr>
            <a:r>
              <a:rPr sz="1425" b="0">
                <a:solidFill>
                  <a:srgbClr val="10131A"/>
                </a:solidFill>
              </a:rPr>
              <a:t>08-09/2026</a:t>
            </a:r>
          </a:p>
          <a:p xmlns:a="http://schemas.openxmlformats.org/drawingml/2006/main">
            <a:pPr algn="ctr">
              <a:defRPr sz="1425" b="0">
                <a:solidFill>
                  <a:srgbClr val="10131A"/>
                </a:solidFill>
              </a:defRPr>
            </a:pPr>
            <a:r>
              <a:rPr sz="1425" b="0">
                <a:solidFill>
                  <a:srgbClr val="10131A"/>
                </a:solidFill>
              </a:rPr>
              <a:t>CHUẨN BỊ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defRPr sz="1425" b="0">
                <a:solidFill>
                  <a:srgbClr val="10131A"/>
                </a:solidFill>
              </a:defRPr>
            </a:pPr>
            <a:r>
              <a:rPr sz="1425" b="0">
                <a:solidFill>
                  <a:srgbClr val="10131A"/>
                </a:solidFill>
              </a:rPr>
              <a:t>Nhóm nòng cốt; rà thiết bị/tài khoản; khảo sát thực trạng; thống nhất quy tắc và tiêu chí.</a:t>
            </a:r>
          </a:p>
        </p:txBody>
      </p:sp>
      <p:sp>
        <p:nvSpPr>
          <p:cNvPr id="6" name="anim-25-1">
            <a:extLst xmlns:a="http://schemas.openxmlformats.org/drawingml/2006/main">
              <a:ext uri="{FF2B5EF4-FFF2-40B4-BE49-F238E27FC236}">
                <a16:creationId xmlns:a16="http://schemas.microsoft.com/office/drawing/2014/main" id="{03FF1436-A75B-437C-9F02-80C7B987E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2238375"/>
            <a:ext cx="2476500" cy="3095625"/>
          </a:xfrm>
          <a:prstGeom xmlns:a="http://schemas.openxmlformats.org/drawingml/2006/main" prst="roundRect">
            <a:avLst>
              <a:gd name="adj" fmla="val 4615"/>
            </a:avLst>
          </a:prstGeom>
          <a:solidFill xmlns:a="http://schemas.openxmlformats.org/drawingml/2006/main">
            <a:srgbClr val="F0F2F5"/>
          </a:solidFill>
          <a:ln xmlns:a="http://schemas.openxmlformats.org/drawingml/2006/main" w="19050">
            <a:solidFill>
              <a:srgbClr val="44C2F0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10131A"/>
                </a:solidFill>
              </a:defRPr>
            </a:pPr>
            <a:r>
              <a:rPr sz="1425" b="0">
                <a:solidFill>
                  <a:srgbClr val="10131A"/>
                </a:solidFill>
              </a:rPr>
              <a:t>10-12/2026</a:t>
            </a:r>
          </a:p>
          <a:p xmlns:a="http://schemas.openxmlformats.org/drawingml/2006/main">
            <a:pPr algn="ctr">
              <a:defRPr sz="1425" b="0">
                <a:solidFill>
                  <a:srgbClr val="10131A"/>
                </a:solidFill>
              </a:defRPr>
            </a:pPr>
            <a:r>
              <a:rPr sz="1425" b="0">
                <a:solidFill>
                  <a:srgbClr val="10131A"/>
                </a:solidFill>
              </a:rPr>
              <a:t>THÍ ĐIỂM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defRPr sz="1425" b="0">
                <a:solidFill>
                  <a:srgbClr val="10131A"/>
                </a:solidFill>
              </a:defRPr>
            </a:pPr>
            <a:r>
              <a:rPr sz="1425" b="0">
                <a:solidFill>
                  <a:srgbClr val="10131A"/>
                </a:solidFill>
              </a:rPr>
              <a:t>Mỗi tổ chọn 1-2 bài; ưu tiên Toán 6 và một môn khác; dự giờ, thu sản phẩm.</a:t>
            </a:r>
          </a:p>
        </p:txBody>
      </p:sp>
      <p:sp>
        <p:nvSpPr>
          <p:cNvPr id="7" name="anim-25-2">
            <a:extLst xmlns:a="http://schemas.openxmlformats.org/drawingml/2006/main">
              <a:ext uri="{FF2B5EF4-FFF2-40B4-BE49-F238E27FC236}">
                <a16:creationId xmlns:a16="http://schemas.microsoft.com/office/drawing/2014/main" id="{D0130D15-EB9A-4536-9A2A-6D0E87C59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2238375"/>
            <a:ext cx="2476500" cy="3095625"/>
          </a:xfrm>
          <a:prstGeom xmlns:a="http://schemas.openxmlformats.org/drawingml/2006/main" prst="roundRect">
            <a:avLst>
              <a:gd name="adj" fmla="val 4615"/>
            </a:avLst>
          </a:prstGeom>
          <a:solidFill xmlns:a="http://schemas.openxmlformats.org/drawingml/2006/main">
            <a:srgbClr val="F0F2F5"/>
          </a:solidFill>
          <a:ln xmlns:a="http://schemas.openxmlformats.org/drawingml/2006/main" w="19050">
            <a:solidFill>
              <a:srgbClr val="F59E0B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10131A"/>
                </a:solidFill>
              </a:defRPr>
            </a:pPr>
            <a:r>
              <a:rPr sz="1425" b="0">
                <a:solidFill>
                  <a:srgbClr val="10131A"/>
                </a:solidFill>
              </a:rPr>
              <a:t>01-04/2027</a:t>
            </a:r>
          </a:p>
          <a:p xmlns:a="http://schemas.openxmlformats.org/drawingml/2006/main">
            <a:pPr algn="ctr">
              <a:defRPr sz="1425" b="0">
                <a:solidFill>
                  <a:srgbClr val="10131A"/>
                </a:solidFill>
              </a:defRPr>
            </a:pPr>
            <a:r>
              <a:rPr sz="1425" b="0">
                <a:solidFill>
                  <a:srgbClr val="10131A"/>
                </a:solidFill>
              </a:rPr>
              <a:t>MỞ RỘNG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defRPr sz="1425" b="0">
                <a:solidFill>
                  <a:srgbClr val="10131A"/>
                </a:solidFill>
              </a:defRPr>
            </a:pPr>
            <a:r>
              <a:rPr sz="1425" b="0">
                <a:solidFill>
                  <a:srgbClr val="10131A"/>
                </a:solidFill>
              </a:rPr>
              <a:t>Điều chỉnh địa chỉ tích hợp; mỗi môn có ít nhất một minh chứng; tổ chức dự án nhỏ.</a:t>
            </a:r>
          </a:p>
        </p:txBody>
      </p:sp>
      <p:sp>
        <p:nvSpPr>
          <p:cNvPr id="8" name="anim-25-3">
            <a:extLst xmlns:a="http://schemas.openxmlformats.org/drawingml/2006/main">
              <a:ext uri="{FF2B5EF4-FFF2-40B4-BE49-F238E27FC236}">
                <a16:creationId xmlns:a16="http://schemas.microsoft.com/office/drawing/2014/main" id="{090E2612-4534-4B54-B852-3D555155D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2238375"/>
            <a:ext cx="2476500" cy="3095625"/>
          </a:xfrm>
          <a:prstGeom xmlns:a="http://schemas.openxmlformats.org/drawingml/2006/main" prst="roundRect">
            <a:avLst>
              <a:gd name="adj" fmla="val 4615"/>
            </a:avLst>
          </a:prstGeom>
          <a:solidFill xmlns:a="http://schemas.openxmlformats.org/drawingml/2006/main">
            <a:srgbClr val="F0F2F5"/>
          </a:solidFill>
          <a:ln xmlns:a="http://schemas.openxmlformats.org/drawingml/2006/main" w="19050">
            <a:solidFill>
              <a:srgbClr val="1B8A5A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10131A"/>
                </a:solidFill>
              </a:defRPr>
            </a:pPr>
            <a:r>
              <a:rPr sz="1425" b="0">
                <a:solidFill>
                  <a:srgbClr val="10131A"/>
                </a:solidFill>
              </a:rPr>
              <a:t>05/2027</a:t>
            </a:r>
          </a:p>
          <a:p xmlns:a="http://schemas.openxmlformats.org/drawingml/2006/main">
            <a:pPr algn="ctr">
              <a:defRPr sz="1425" b="0">
                <a:solidFill>
                  <a:srgbClr val="10131A"/>
                </a:solidFill>
              </a:defRPr>
            </a:pPr>
            <a:r>
              <a:rPr sz="1425" b="0">
                <a:solidFill>
                  <a:srgbClr val="10131A"/>
                </a:solidFill>
              </a:rPr>
              <a:t>ĐÁNH GIÁ - CẬP NHẬT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defRPr sz="1425" b="0">
                <a:solidFill>
                  <a:srgbClr val="10131A"/>
                </a:solidFill>
              </a:defRPr>
            </a:pPr>
            <a:r>
              <a:rPr sz="1425" b="0">
                <a:solidFill>
                  <a:srgbClr val="10131A"/>
                </a:solidFill>
              </a:rPr>
              <a:t>Tổng hợp mức đáp ứng, khó khăn, rủi ro; cập nhật kế hoạch năm sau.</a:t>
            </a:r>
          </a:p>
        </p:txBody>
      </p:sp>
      <p:sp>
        <p:nvSpPr>
          <p:cNvPr id="9" name="anim-25-close">
            <a:extLst xmlns:a="http://schemas.openxmlformats.org/drawingml/2006/main">
              <a:ext uri="{FF2B5EF4-FFF2-40B4-BE49-F238E27FC236}">
                <a16:creationId xmlns:a16="http://schemas.microsoft.com/office/drawing/2014/main" id="{218AE3B4-CF89-4DC0-B9D1-365066F29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715000"/>
            <a:ext cx="1028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B2B5B"/>
                </a:solidFill>
              </a:defRPr>
            </a:pPr>
            <a:r>
              <a:rPr sz="1725" b="1">
                <a:solidFill>
                  <a:srgbClr val="0B2B5B"/>
                </a:solidFill>
              </a:rPr>
              <a:t>Minh chứng quản trị: kế hoạch giáo dục • bài dạy tích hợp • rubric • sản phẩm học sinh • biên bản rút kinh nghiệm.</a:t>
            </a:r>
          </a:p>
        </p:txBody>
      </p:sp>
    </p:spTree>
    <p:transition spd="fast">
      <p:fade/>
    </p:transition>
    <p:timing>
      <p:tnLst>
        <p:par>
          <p:cTn id="1000" dur="indefinite" restart="never" nodeType="tmRoot">
            <p:childTnLst>
              <p:seq concurrent="1" nextAc="seek">
                <p:cTn id="1001" dur="indefinite" nodeType="mainSeq">
                  <p:childTnLst>
                    <p:par>
                      <p:cTn id="1002" fill="hold">
                        <p:stCondLst>
                          <p:cond delay="indefinite"/>
                        </p:stCondLst>
                        <p:childTnLst>
                          <p:par>
                            <p:cTn id="1003" fill="hold">
                              <p:stCondLst>
                                <p:cond delay="0"/>
                              </p:stCondLst>
                              <p:childTnLst>
                                <p:par>
                                  <p:cTn id="1004" presetID="10" presetClass="entr" presetSubtype="0" fill="hold" grpId="0" nodeType="clickEffect">
                                    <p:stCondLst>
                                      <p:cond delay="0"/>
                                    </p:stCondLst>
                                    <p:childTnLst>
                                      <p:set>
                                        <p:cBhvr>
                                          <p:cTn id="1005" dur="1" fill="hold">
                                            <p:stCondLst>
                                              <p:cond delay="0"/>
                                            </p:stCondLst>
                                          </p:cTn>
                                          <p:tgtEl>
                                            <p:spTgt spid="5"/>
                                          </p:tgtEl>
                                          <p:attrNameLst>
                                            <p:attrName>style.visibility</p:attrName>
                                          </p:attrNameLst>
                                        </p:cBhvr>
                                        <p:to>
                                          <p:strVal val="visible"/>
                                        </p:to>
                                      </p:set>
                                      <p:animEffect transition="in" filter="fade">
                                        <p:cBhvr>
                                          <p:cTn id="1006" dur="350"/>
                                          <p:tgtEl>
                                            <p:spTgt spid="5"/>
                                          </p:tgtEl>
                                        </p:cBhvr>
                                      </p:animEffect>
                                    </p:childTnLst>
                                  </p:cTn>
                                </p:par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1007" fill="hold">
                        <p:stCondLst>
                          <p:cond delay="indefinite"/>
                        </p:stCondLst>
                        <p:childTnLst>
                          <p:par>
                            <p:cTn id="1008" fill="hold">
                              <p:stCondLst>
                                <p:cond delay="0"/>
                              </p:stCondLst>
                              <p:childTnLst>
                                <p:par>
                                  <p:cTn id="1009" presetID="10" presetClass="entr" presetSubtype="0" fill="hold" grpId="0" nodeType="clickEffect">
                                    <p:stCondLst>
                                      <p:cond delay="0"/>
                                    </p:stCondLst>
                                    <p:childTnLst>
                                      <p:set>
                                        <p:cBhvr>
                                          <p:cTn id="1010" dur="1" fill="hold">
                                            <p:stCondLst>
                                              <p:cond delay="0"/>
                                            </p:stCondLst>
                                          </p:cTn>
                                          <p:tgtEl>
                                            <p:spTgt spid="6"/>
                                          </p:tgtEl>
                                          <p:attrNameLst>
                                            <p:attrName>style.visibility</p:attrName>
                                          </p:attrNameLst>
                                        </p:cBhvr>
                                        <p:to>
                                          <p:strVal val="visible"/>
                                        </p:to>
                                      </p:set>
                                      <p:animEffect transition="in" filter="fade">
                                        <p:cBhvr>
                                          <p:cTn id="1011" dur="350"/>
                                          <p:tgtEl>
                                            <p:spTgt spid="6"/>
                                          </p:tgtEl>
                                        </p:cBhvr>
                                      </p:animEffect>
                                    </p:childTnLst>
                                  </p:cTn>
                                </p:par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1012" fill="hold">
                        <p:stCondLst>
                          <p:cond delay="indefinite"/>
                        </p:stCondLst>
                        <p:childTnLst>
                          <p:par>
                            <p:cTn id="1013" fill="hold">
                              <p:stCondLst>
                                <p:cond delay="0"/>
                              </p:stCondLst>
                              <p:childTnLst>
                                <p:par>
                                  <p:cTn id="1014" presetID="10" presetClass="entr" presetSubtype="0" fill="hold" grpId="0" nodeType="clickEffect">
                                    <p:stCondLst>
                                      <p:cond delay="0"/>
                                    </p:stCondLst>
                                    <p:childTnLst>
                                      <p:set>
                                        <p:cBhvr>
                                          <p:cTn id="1015" dur="1" fill="hold">
                                            <p:stCondLst>
                                              <p:cond delay="0"/>
                                            </p:stCondLst>
                                          </p:cTn>
                                          <p:tgtEl>
                                            <p:spTgt spid="7"/>
                                          </p:tgtEl>
                                          <p:attrNameLst>
                                            <p:attrName>style.visibility</p:attrName>
                                          </p:attrNameLst>
                                        </p:cBhvr>
                                        <p:to>
                                          <p:strVal val="visible"/>
                                        </p:to>
                                      </p:set>
                                      <p:animEffect transition="in" filter="fade">
                                        <p:cBhvr>
                                          <p:cTn id="1016" dur="350"/>
                                          <p:tgtEl>
                                            <p:spTgt spid="7"/>
                                          </p:tgtEl>
                                        </p:cBhvr>
                                      </p:animEffect>
                                    </p:childTnLst>
                                  </p:cTn>
                                </p:par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1017" fill="hold">
                        <p:stCondLst>
                          <p:cond delay="indefinite"/>
                        </p:stCondLst>
                        <p:childTnLst>
                          <p:par>
                            <p:cTn id="1018" fill="hold">
                              <p:stCondLst>
                                <p:cond delay="0"/>
                              </p:stCondLst>
                              <p:childTnLst>
                                <p:par>
                                  <p:cTn id="1019" presetID="10" presetClass="entr" presetSubtype="0" fill="hold" grpId="0" nodeType="clickEffect">
                                    <p:stCondLst>
                                      <p:cond delay="0"/>
                                    </p:stCondLst>
                                    <p:childTnLst>
                                      <p:set>
                                        <p:cBhvr>
                                          <p:cTn id="1020" dur="1" fill="hold">
                                            <p:stCondLst>
                                              <p:cond delay="0"/>
                                            </p:stCondLst>
                                          </p:cTn>
                                          <p:tgtEl>
                                            <p:spTgt spid="8"/>
                                          </p:tgtEl>
                                          <p:attrNameLst>
                                            <p:attrName>style.visibility</p:attrName>
                                          </p:attrNameLst>
                                        </p:cBhvr>
                                        <p:to>
                                          <p:strVal val="visible"/>
                                        </p:to>
                                      </p:set>
                                      <p:animEffect transition="in" filter="fade">
                                        <p:cBhvr>
                                          <p:cTn id="1021" dur="350"/>
                                          <p:tgtEl>
                                            <p:spTgt spid="8"/>
                                          </p:tgtEl>
                                        </p:cBhvr>
                                      </p:animEffect>
                                    </p:childTnLst>
                                  </p:cTn>
                                </p:par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1022" fill="hold">
                        <p:stCondLst>
                          <p:cond delay="indefinite"/>
                        </p:stCondLst>
                        <p:childTnLst>
                          <p:par>
                            <p:cTn id="1023" fill="hold">
                              <p:stCondLst>
                                <p:cond delay="0"/>
                              </p:stCondLst>
                              <p:childTnLst>
                                <p:par>
                                  <p:cTn id="1024" presetID="10" presetClass="entr" presetSubtype="0" fill="hold" grpId="0" nodeType="clickEffect">
                                    <p:stCondLst>
                                      <p:cond delay="0"/>
                                    </p:stCondLst>
                                    <p:childTnLst>
                                      <p:set>
                                        <p:cBhvr>
                                          <p:cTn id="1025" dur="1" fill="hold">
                                            <p:stCondLst>
                                              <p:cond delay="0"/>
                                            </p:stCondLst>
                                          </p:cTn>
                                          <p:tgtEl>
                                            <p:spTgt spid="9"/>
                                          </p:tgtEl>
                                          <p:attrNameLst>
                                            <p:attrName>style.visibility</p:attrName>
                                          </p:attrNameLst>
                                        </p:cBhvr>
                                        <p:to>
                                          <p:strVal val="visible"/>
                                        </p:to>
                                      </p:set>
                                      <p:animEffect transition="in" filter="fade">
                                        <p:cBhvr>
                                          <p:cTn id="1026" dur="350"/>
                                          <p:tgtEl>
                                            <p:spTgt spid="9"/>
                                          </p:tgtEl>
                                        </p:cBhvr>
                                      </p:animEffect>
                                    </p:childTnLst>
                                  </p:cTn>
                                </p:par>
                              </p:childTnLst>
                            </p:cTn>
                          </p:par>
                        </p:childTnLst>
                      </p:cTn>
                    </p:par>
                  </p:childTnLst>
                </p:cTn>
                <p:prevCondLst>
                  <p:cond evt="onPrev" delay="0">
                    <p:tgtEl>
                      <p:sldTgt/>
                    </p:tgtEl>
                  </p:cond>
                </p:prevCondLst>
                <p:nextCondLst>
                  <p:cond evt="onNext" delay="0">
                    <p:tgtEl>
                      <p:sldTgt/>
                    </p:tgtEl>
                  </p:cond>
                </p:nextCondLst>
              </p:seq>
            </p:childTnLst>
          </p:cTn>
        </p:par>
      </p:tnLst>
    </p:timing>
    <p:extLst>
      <p:ext uri="{BB962C8B-B14F-4D97-AF65-F5344CB8AC3E}">
        <p14:creationId xmlns:p14="http://schemas.microsoft.com/office/powerpoint/2010/main" val="17908298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10131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end-sec">
            <a:extLst xmlns:a="http://schemas.openxmlformats.org/drawingml/2006/main">
              <a:ext uri="{FF2B5EF4-FFF2-40B4-BE49-F238E27FC236}">
                <a16:creationId xmlns:a16="http://schemas.microsoft.com/office/drawing/2014/main" id="{07F373A4-5C27-4BD4-9D3F-B2DC046CD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66750"/>
            <a:ext cx="285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44C2F0"/>
                </a:solidFill>
              </a:defRPr>
            </a:pPr>
            <a:r>
              <a:rPr sz="1200" b="1">
                <a:solidFill>
                  <a:srgbClr val="44C2F0"/>
                </a:solidFill>
              </a:rPr>
              <a:t>KẾT LUẬN</a:t>
            </a:r>
          </a:p>
        </p:txBody>
      </p:sp>
      <p:sp>
        <p:nvSpPr>
          <p:cNvPr id="2" name="end-title">
            <a:extLst xmlns:a="http://schemas.openxmlformats.org/drawingml/2006/main">
              <a:ext uri="{FF2B5EF4-FFF2-40B4-BE49-F238E27FC236}">
                <a16:creationId xmlns:a16="http://schemas.microsoft.com/office/drawing/2014/main" id="{D672A0E3-203C-483D-B210-96D71D8DB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333500"/>
            <a:ext cx="6667500" cy="342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FFFFFF"/>
                </a:solidFill>
              </a:defRPr>
            </a:pPr>
            <a:r>
              <a:rPr sz="3600" b="1">
                <a:solidFill>
                  <a:srgbClr val="FFFFFF"/>
                </a:solidFill>
              </a:rPr>
              <a:t>Năng lực số không phải</a:t>
            </a:r>
          </a:p>
          <a:p xmlns:a="http://schemas.openxmlformats.org/drawingml/2006/main">
            <a:pPr algn="l">
              <a:defRPr sz="3600" b="1">
                <a:solidFill>
                  <a:srgbClr val="FFFFFF"/>
                </a:solidFill>
              </a:defRPr>
            </a:pPr>
            <a:r>
              <a:rPr sz="3600" b="1">
                <a:solidFill>
                  <a:srgbClr val="FFFFFF"/>
                </a:solidFill>
              </a:rPr>
              <a:t>là biết nhiều công cụ.</a:t>
            </a:r>
          </a:p>
          <a:p xmlns:a="http://schemas.openxmlformats.org/drawingml/2006/main">
            <a:pPr algn="l">
              <a:defRPr sz="3600" b="1">
                <a:solidFill>
                  <a:srgbClr val="FFFFFF"/>
                </a:solidFill>
              </a:defRPr>
            </a:pPr>
            <a:r>
              <a:rPr sz="3600" b="1">
                <a:solidFill>
                  <a:srgbClr val="FFFFFF"/>
                </a:solidFill>
              </a:rPr>
              <a:t>Đó là biết dùng công nghệ</a:t>
            </a:r>
          </a:p>
          <a:p xmlns:a="http://schemas.openxmlformats.org/drawingml/2006/main">
            <a:pPr algn="l">
              <a:defRPr sz="3600" b="1">
                <a:solidFill>
                  <a:srgbClr val="FFFFFF"/>
                </a:solidFill>
              </a:defRPr>
            </a:pPr>
            <a:r>
              <a:rPr sz="3600" b="1">
                <a:solidFill>
                  <a:srgbClr val="FFFFFF"/>
                </a:solidFill>
              </a:rPr>
              <a:t>đúng mục đích, an toàn</a:t>
            </a:r>
          </a:p>
          <a:p xmlns:a="http://schemas.openxmlformats.org/drawingml/2006/main">
            <a:pPr algn="l">
              <a:defRPr sz="3600" b="1">
                <a:solidFill>
                  <a:srgbClr val="FFFFFF"/>
                </a:solidFill>
              </a:defRPr>
            </a:pPr>
            <a:r>
              <a:rPr sz="3600" b="1">
                <a:solidFill>
                  <a:srgbClr val="FFFFFF"/>
                </a:solidFill>
              </a:rPr>
              <a:t>và có trách nhiệm.</a:t>
            </a:r>
          </a:p>
        </p:txBody>
      </p:sp>
      <p:sp>
        <p:nvSpPr>
          <p:cNvPr id="3" name="anim-end-0">
            <a:extLst xmlns:a="http://schemas.openxmlformats.org/drawingml/2006/main">
              <a:ext uri="{FF2B5EF4-FFF2-40B4-BE49-F238E27FC236}">
                <a16:creationId xmlns:a16="http://schemas.microsoft.com/office/drawing/2014/main" id="{4D7D4F9A-299E-4B09-815C-C1976B109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143500"/>
            <a:ext cx="3048000" cy="1047750"/>
          </a:xfrm>
          <a:prstGeom xmlns:a="http://schemas.openxmlformats.org/drawingml/2006/main" prst="roundRect">
            <a:avLst>
              <a:gd name="adj" fmla="val 10909"/>
            </a:avLst>
          </a:prstGeom>
          <a:solidFill xmlns:a="http://schemas.openxmlformats.org/drawingml/2006/main">
            <a:srgbClr val="1769E0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NHÀ TRƯỜNG</a:t>
            </a:r>
          </a:p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thiết kế hệ thống triển khai</a:t>
            </a:r>
          </a:p>
        </p:txBody>
      </p:sp>
      <p:sp>
        <p:nvSpPr>
          <p:cNvPr id="4" name="anim-end-1">
            <a:extLst xmlns:a="http://schemas.openxmlformats.org/drawingml/2006/main">
              <a:ext uri="{FF2B5EF4-FFF2-40B4-BE49-F238E27FC236}">
                <a16:creationId xmlns:a16="http://schemas.microsoft.com/office/drawing/2014/main" id="{6D9ECD9C-F96B-4A8E-9EEB-7653EA501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5143500"/>
            <a:ext cx="3048000" cy="1047750"/>
          </a:xfrm>
          <a:prstGeom xmlns:a="http://schemas.openxmlformats.org/drawingml/2006/main" prst="roundRect">
            <a:avLst>
              <a:gd name="adj" fmla="val 10909"/>
            </a:avLst>
          </a:prstGeom>
          <a:solidFill xmlns:a="http://schemas.openxmlformats.org/drawingml/2006/main">
            <a:srgbClr val="44C2F0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B2B5B"/>
                </a:solidFill>
              </a:defRPr>
            </a:pPr>
            <a:r>
              <a:rPr sz="1500" b="1">
                <a:solidFill>
                  <a:srgbClr val="0B2B5B"/>
                </a:solidFill>
              </a:rPr>
              <a:t>GIÁO VIÊN</a:t>
            </a:r>
          </a:p>
          <a:p xmlns:a="http://schemas.openxmlformats.org/drawingml/2006/main">
            <a:pPr algn="ctr">
              <a:defRPr sz="1500" b="1">
                <a:solidFill>
                  <a:srgbClr val="0B2B5B"/>
                </a:solidFill>
              </a:defRPr>
            </a:pPr>
            <a:r>
              <a:rPr sz="1500" b="1">
                <a:solidFill>
                  <a:srgbClr val="0B2B5B"/>
                </a:solidFill>
              </a:rPr>
              <a:t>thiết kế nhiệm vụ và minh chứng</a:t>
            </a:r>
          </a:p>
        </p:txBody>
      </p:sp>
      <p:sp>
        <p:nvSpPr>
          <p:cNvPr id="5" name="anim-end-2">
            <a:extLst xmlns:a="http://schemas.openxmlformats.org/drawingml/2006/main">
              <a:ext uri="{FF2B5EF4-FFF2-40B4-BE49-F238E27FC236}">
                <a16:creationId xmlns:a16="http://schemas.microsoft.com/office/drawing/2014/main" id="{BA3C60D7-6EB9-40C0-BE67-E840AB23C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5143500"/>
            <a:ext cx="3048000" cy="1047750"/>
          </a:xfrm>
          <a:prstGeom xmlns:a="http://schemas.openxmlformats.org/drawingml/2006/main" prst="roundRect">
            <a:avLst>
              <a:gd name="adj" fmla="val 10909"/>
            </a:avLst>
          </a:prstGeom>
          <a:solidFill xmlns:a="http://schemas.openxmlformats.org/drawingml/2006/main">
            <a:srgbClr val="1B8A5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HỌC SINH</a:t>
            </a:r>
          </a:p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học cách làm chủ môi trường số</a:t>
            </a:r>
          </a:p>
        </p:txBody>
      </p:sp>
    </p:spTree>
    <p:transition spd="fast">
      <p:fade/>
    </p:transition>
    <p:timing>
      <p:tnLst>
        <p:par>
          <p:cTn id="1000" dur="indefinite" restart="never" nodeType="tmRoot">
            <p:childTnLst>
              <p:seq concurrent="1" nextAc="seek">
                <p:cTn id="1001" dur="indefinite" nodeType="mainSeq">
                  <p:childTnLst>
                    <p:par>
                      <p:cTn id="1002" fill="hold">
                        <p:stCondLst>
                          <p:cond delay="indefinite"/>
                        </p:stCondLst>
                        <p:childTnLst>
                          <p:par>
                            <p:cTn id="1003" fill="hold">
                              <p:stCondLst>
                                <p:cond delay="0"/>
                              </p:stCondLst>
                              <p:childTnLst>
                                <p:par>
                                  <p:cTn id="1004" presetID="10" presetClass="entr" presetSubtype="0" fill="hold" grpId="0" nodeType="clickEffect">
                                    <p:stCondLst>
                                      <p:cond delay="0"/>
                                    </p:stCondLst>
                                    <p:childTnLst>
                                      <p:set>
                                        <p:cBhvr>
                                          <p:cTn id="1005" dur="1" fill="hold">
                                            <p:stCondLst>
                                              <p:cond delay="0"/>
                                            </p:stCondLst>
                                          </p:cTn>
                                          <p:tgtEl>
                                            <p:spTgt spid="3"/>
                                          </p:tgtEl>
                                          <p:attrNameLst>
                                            <p:attrName>style.visibility</p:attrName>
                                          </p:attrNameLst>
                                        </p:cBhvr>
                                        <p:to>
                                          <p:strVal val="visible"/>
                                        </p:to>
                                      </p:set>
                                      <p:animEffect transition="in" filter="fade">
                                        <p:cBhvr>
                                          <p:cTn id="1006" dur="350"/>
                                          <p:tgtEl>
                                            <p:spTgt spid="3"/>
                                          </p:tgtEl>
                                        </p:cBhvr>
                                      </p:animEffect>
                                    </p:childTnLst>
                                  </p:cTn>
                                </p:par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1007" fill="hold">
                        <p:stCondLst>
                          <p:cond delay="indefinite"/>
                        </p:stCondLst>
                        <p:childTnLst>
                          <p:par>
                            <p:cTn id="1008" fill="hold">
                              <p:stCondLst>
                                <p:cond delay="0"/>
                              </p:stCondLst>
                              <p:childTnLst>
                                <p:par>
                                  <p:cTn id="1009" presetID="10" presetClass="entr" presetSubtype="0" fill="hold" grpId="0" nodeType="clickEffect">
                                    <p:stCondLst>
                                      <p:cond delay="0"/>
                                    </p:stCondLst>
                                    <p:childTnLst>
                                      <p:set>
                                        <p:cBhvr>
                                          <p:cTn id="1010" dur="1" fill="hold">
                                            <p:stCondLst>
                                              <p:cond delay="0"/>
                                            </p:stCondLst>
                                          </p:cTn>
                                          <p:tgtEl>
                                            <p:spTgt spid="4"/>
                                          </p:tgtEl>
                                          <p:attrNameLst>
                                            <p:attrName>style.visibility</p:attrName>
                                          </p:attrNameLst>
                                        </p:cBhvr>
                                        <p:to>
                                          <p:strVal val="visible"/>
                                        </p:to>
                                      </p:set>
                                      <p:animEffect transition="in" filter="fade">
                                        <p:cBhvr>
                                          <p:cTn id="1011" dur="350"/>
                                          <p:tgtEl>
                                            <p:spTgt spid="4"/>
                                          </p:tgtEl>
                                        </p:cBhvr>
                                      </p:animEffect>
                                    </p:childTnLst>
                                  </p:cTn>
                                </p:par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1012" fill="hold">
                        <p:stCondLst>
                          <p:cond delay="indefinite"/>
                        </p:stCondLst>
                        <p:childTnLst>
                          <p:par>
                            <p:cTn id="1013" fill="hold">
                              <p:stCondLst>
                                <p:cond delay="0"/>
                              </p:stCondLst>
                              <p:childTnLst>
                                <p:par>
                                  <p:cTn id="1014" presetID="10" presetClass="entr" presetSubtype="0" fill="hold" grpId="0" nodeType="clickEffect">
                                    <p:stCondLst>
                                      <p:cond delay="0"/>
                                    </p:stCondLst>
                                    <p:childTnLst>
                                      <p:set>
                                        <p:cBhvr>
                                          <p:cTn id="1015" dur="1" fill="hold">
                                            <p:stCondLst>
                                              <p:cond delay="0"/>
                                            </p:stCondLst>
                                          </p:cTn>
                                          <p:tgtEl>
                                            <p:spTgt spid="5"/>
                                          </p:tgtEl>
                                          <p:attrNameLst>
                                            <p:attrName>style.visibility</p:attrName>
                                          </p:attrNameLst>
                                        </p:cBhvr>
                                        <p:to>
                                          <p:strVal val="visible"/>
                                        </p:to>
                                      </p:set>
                                      <p:animEffect transition="in" filter="fade">
                                        <p:cBhvr>
                                          <p:cTn id="1016" dur="350"/>
                                          <p:tgtEl>
                                            <p:spTgt spid="5"/>
                                          </p:tgtEl>
                                        </p:cBhvr>
                                      </p:animEffect>
                                    </p:childTnLst>
                                  </p:cTn>
                                </p:par>
                              </p:childTnLst>
                            </p:cTn>
                          </p:par>
                        </p:childTnLst>
                      </p:cTn>
                    </p:par>
                  </p:childTnLst>
                </p:cTn>
                <p:prevCondLst>
                  <p:cond evt="onPrev" delay="0">
                    <p:tgtEl>
                      <p:sldTgt/>
                    </p:tgtEl>
                  </p:cond>
                </p:prevCondLst>
                <p:nextCondLst>
                  <p:cond evt="onNext" delay="0">
                    <p:tgtEl>
                      <p:sldTgt/>
                    </p:tgtEl>
                  </p:cond>
                </p:nextCondLst>
              </p:seq>
            </p:childTnLst>
          </p:cTn>
        </p:par>
      </p:tnLst>
    </p:timing>
    <p:extLst>
      <p:ext uri="{BB962C8B-B14F-4D97-AF65-F5344CB8AC3E}">
        <p14:creationId xmlns:p14="http://schemas.microsoft.com/office/powerpoint/2010/main" val="124190641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2026-08-25T02:48:23.4880000Z</dcterms:created>
  <dcterms:modified xsi:type="dcterms:W3CDTF">2026-08-25T02:48:23.4880000Z</dcterms:modified>
</coreProperties>
</file>